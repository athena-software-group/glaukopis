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3" r:id="rId1"/>
  </p:sldMasterIdLst>
  <p:notesMasterIdLst>
    <p:notesMasterId r:id="rId30"/>
  </p:notesMasterIdLst>
  <p:handoutMasterIdLst>
    <p:handoutMasterId r:id="rId31"/>
  </p:handoutMasterIdLst>
  <p:sldIdLst>
    <p:sldId id="256" r:id="rId2"/>
    <p:sldId id="276" r:id="rId3"/>
    <p:sldId id="509" r:id="rId4"/>
    <p:sldId id="305" r:id="rId5"/>
    <p:sldId id="310" r:id="rId6"/>
    <p:sldId id="308" r:id="rId7"/>
    <p:sldId id="507" r:id="rId8"/>
    <p:sldId id="265" r:id="rId9"/>
    <p:sldId id="511" r:id="rId10"/>
    <p:sldId id="273" r:id="rId11"/>
    <p:sldId id="318" r:id="rId12"/>
    <p:sldId id="316" r:id="rId13"/>
    <p:sldId id="502" r:id="rId14"/>
    <p:sldId id="292" r:id="rId15"/>
    <p:sldId id="503" r:id="rId16"/>
    <p:sldId id="309" r:id="rId17"/>
    <p:sldId id="311" r:id="rId18"/>
    <p:sldId id="510" r:id="rId19"/>
    <p:sldId id="321" r:id="rId20"/>
    <p:sldId id="317" r:id="rId21"/>
    <p:sldId id="320" r:id="rId22"/>
    <p:sldId id="504" r:id="rId23"/>
    <p:sldId id="505" r:id="rId24"/>
    <p:sldId id="506" r:id="rId25"/>
    <p:sldId id="508" r:id="rId26"/>
    <p:sldId id="297" r:id="rId27"/>
    <p:sldId id="288" r:id="rId28"/>
    <p:sldId id="303"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721"/>
    <p:restoredTop sz="86531"/>
  </p:normalViewPr>
  <p:slideViewPr>
    <p:cSldViewPr snapToGrid="0">
      <p:cViewPr varScale="1">
        <p:scale>
          <a:sx n="110" d="100"/>
          <a:sy n="110" d="100"/>
        </p:scale>
        <p:origin x="1488" y="17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97" d="100"/>
          <a:sy n="97" d="100"/>
        </p:scale>
        <p:origin x="3120" y="20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E03BD63-559D-3A65-C2E2-3094AF2A0E2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94C289E-5B77-7C7F-C72B-0A38A48D009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0B60C55-DA89-A743-AEC4-D5CDB8585989}" type="datetimeFigureOut">
              <a:rPr lang="en-US" smtClean="0"/>
              <a:t>4/27/25</a:t>
            </a:fld>
            <a:endParaRPr lang="en-US"/>
          </a:p>
        </p:txBody>
      </p:sp>
      <p:sp>
        <p:nvSpPr>
          <p:cNvPr id="4" name="Footer Placeholder 3">
            <a:extLst>
              <a:ext uri="{FF2B5EF4-FFF2-40B4-BE49-F238E27FC236}">
                <a16:creationId xmlns:a16="http://schemas.microsoft.com/office/drawing/2014/main" id="{FB6BFC54-C61F-FE63-C261-7099469BB19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C750CD4-05D6-B8E6-8E90-0C212549E79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07E640-CE89-B54B-9586-B6FC8349755D}" type="slidenum">
              <a:rPr lang="en-US" smtClean="0"/>
              <a:t>‹#›</a:t>
            </a:fld>
            <a:endParaRPr lang="en-US"/>
          </a:p>
        </p:txBody>
      </p:sp>
    </p:spTree>
    <p:extLst>
      <p:ext uri="{BB962C8B-B14F-4D97-AF65-F5344CB8AC3E}">
        <p14:creationId xmlns:p14="http://schemas.microsoft.com/office/powerpoint/2010/main" val="37574412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7691A4-062C-1345-8352-2ABD21CF9B05}" type="datetimeFigureOut">
              <a:rPr lang="en-US" smtClean="0"/>
              <a:t>4/27/25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881564-0C77-C641-92EE-90D8B4FBB46A}" type="slidenum">
              <a:rPr lang="en-US" smtClean="0"/>
              <a:t>‹#›</a:t>
            </a:fld>
            <a:endParaRPr lang="en-US"/>
          </a:p>
        </p:txBody>
      </p:sp>
    </p:spTree>
    <p:extLst>
      <p:ext uri="{BB962C8B-B14F-4D97-AF65-F5344CB8AC3E}">
        <p14:creationId xmlns:p14="http://schemas.microsoft.com/office/powerpoint/2010/main" val="34379057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Footer Placeholder 4">
            <a:extLst>
              <a:ext uri="{FF2B5EF4-FFF2-40B4-BE49-F238E27FC236}">
                <a16:creationId xmlns:a16="http://schemas.microsoft.com/office/drawing/2014/main" id="{5E45AD0F-4E17-69EF-FFEF-5A27BE10EFD0}"/>
              </a:ext>
            </a:extLst>
          </p:cNvPr>
          <p:cNvSpPr txBox="1">
            <a:spLocks/>
          </p:cNvSpPr>
          <p:nvPr userDrawn="1"/>
        </p:nvSpPr>
        <p:spPr>
          <a:xfrm rot="16200000">
            <a:off x="9214810"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18943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761549" y="1497713"/>
            <a:ext cx="10264414" cy="47754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a:xfrm>
            <a:off x="8205920" y="6495651"/>
            <a:ext cx="3859795" cy="304801"/>
          </a:xfrm>
        </p:spPr>
        <p:txBody>
          <a:bodyPr/>
          <a:lstStyle/>
          <a:p>
            <a:pPr algn="r"/>
            <a:fld id="{9C4FC681-3263-2441-8D4E-1B966C167F1A}" type="slidenum">
              <a:rPr lang="en-US" smtClean="0"/>
              <a:pPr algn="r"/>
              <a:t>‹#›</a:t>
            </a:fld>
            <a:endParaRPr lang="en-US" dirty="0"/>
          </a:p>
        </p:txBody>
      </p:sp>
    </p:spTree>
    <p:extLst>
      <p:ext uri="{BB962C8B-B14F-4D97-AF65-F5344CB8AC3E}">
        <p14:creationId xmlns:p14="http://schemas.microsoft.com/office/powerpoint/2010/main" val="1209009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userDrawn="1"/>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10989733" y="6425608"/>
            <a:ext cx="990599" cy="304799"/>
          </a:xfrm>
          <a:prstGeom prst="rect">
            <a:avLst/>
          </a:prstGeom>
        </p:spPr>
        <p:txBody>
          <a:bodyPr/>
          <a:lstStyle>
            <a:lvl1pPr algn="r">
              <a:defRPr sz="900" i="1"/>
            </a:lvl1pPr>
          </a:lstStyle>
          <a:p>
            <a:fld id="{F7BBDEBC-094A-3E44-A10F-D4B92F503C5D}" type="slidenum">
              <a:rPr lang="en-US" smtClean="0"/>
              <a:pPr/>
              <a:t>‹#›</a:t>
            </a:fld>
            <a:endParaRPr lang="en-US" dirty="0"/>
          </a:p>
        </p:txBody>
      </p:sp>
      <p:sp>
        <p:nvSpPr>
          <p:cNvPr id="6" name="Footer Placeholder 4">
            <a:extLst>
              <a:ext uri="{FF2B5EF4-FFF2-40B4-BE49-F238E27FC236}">
                <a16:creationId xmlns:a16="http://schemas.microsoft.com/office/drawing/2014/main" id="{B6D4F4C4-A7D4-7CE9-F738-F8C153960C3F}"/>
              </a:ext>
            </a:extLst>
          </p:cNvPr>
          <p:cNvSpPr txBox="1">
            <a:spLocks/>
          </p:cNvSpPr>
          <p:nvPr userDrawn="1"/>
        </p:nvSpPr>
        <p:spPr>
          <a:xfrm rot="16200000">
            <a:off x="9246707"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3209623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772180" y="1561512"/>
            <a:ext cx="5168126" cy="432892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51244" y="1561511"/>
            <a:ext cx="5168127" cy="432892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a:xfrm>
            <a:off x="10334847" y="6394937"/>
            <a:ext cx="1518217" cy="304801"/>
          </a:xfrm>
        </p:spPr>
        <p:txBody>
          <a:bodyPr/>
          <a:lstStyle/>
          <a:p>
            <a:pPr algn="r"/>
            <a:fld id="{1C9CC63D-7044-BB42-81DD-D2F8934B041B}" type="slidenum">
              <a:rPr lang="en-US" smtClean="0"/>
              <a:pPr algn="r"/>
              <a:t>‹#›</a:t>
            </a:fld>
            <a:endParaRPr lang="en-US" dirty="0"/>
          </a:p>
        </p:txBody>
      </p:sp>
    </p:spTree>
    <p:extLst>
      <p:ext uri="{BB962C8B-B14F-4D97-AF65-F5344CB8AC3E}">
        <p14:creationId xmlns:p14="http://schemas.microsoft.com/office/powerpoint/2010/main" val="162027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740282" y="1476445"/>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740281" y="2052707"/>
            <a:ext cx="5072431" cy="390152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81121" y="1476445"/>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81121" y="2052707"/>
            <a:ext cx="5072432" cy="3901526"/>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pPr algn="r"/>
            <a:fld id="{B3C9BB79-FD74-4C49-A196-2BEE401B79B8}" type="slidenum">
              <a:rPr lang="en-US" smtClean="0"/>
              <a:pPr algn="r"/>
              <a:t>‹#›</a:t>
            </a:fld>
            <a:endParaRPr lang="en-US" dirty="0"/>
          </a:p>
        </p:txBody>
      </p:sp>
    </p:spTree>
    <p:extLst>
      <p:ext uri="{BB962C8B-B14F-4D97-AF65-F5344CB8AC3E}">
        <p14:creationId xmlns:p14="http://schemas.microsoft.com/office/powerpoint/2010/main" val="564078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761548" y="293183"/>
            <a:ext cx="8761413" cy="706964"/>
          </a:xfrm>
        </p:spPr>
        <p:txBody>
          <a:bodyPr/>
          <a:lstStyle>
            <a:lvl1pPr>
              <a:defRPr/>
            </a:lvl1pPr>
          </a:lstStyle>
          <a:p>
            <a:r>
              <a:rPr lang="en-US"/>
              <a:t>Click to edit Master title style</a:t>
            </a:r>
            <a:endParaRPr lang="en-US" dirty="0"/>
          </a:p>
        </p:txBody>
      </p:sp>
      <p:sp>
        <p:nvSpPr>
          <p:cNvPr id="4" name="Footer Placeholder 3"/>
          <p:cNvSpPr>
            <a:spLocks noGrp="1"/>
          </p:cNvSpPr>
          <p:nvPr>
            <p:ph type="ftr" sz="quarter" idx="11"/>
          </p:nvPr>
        </p:nvSpPr>
        <p:spPr/>
        <p:txBody>
          <a:bodyPr/>
          <a:lstStyle/>
          <a:p>
            <a:pPr algn="r"/>
            <a:fld id="{B5C64A5F-1F59-3C4E-89E0-4BD8C4499B92}" type="slidenum">
              <a:rPr lang="en-US" smtClean="0"/>
              <a:pPr algn="r"/>
              <a:t>‹#›</a:t>
            </a:fld>
            <a:endParaRPr lang="en-US" dirty="0"/>
          </a:p>
        </p:txBody>
      </p:sp>
    </p:spTree>
    <p:extLst>
      <p:ext uri="{BB962C8B-B14F-4D97-AF65-F5344CB8AC3E}">
        <p14:creationId xmlns:p14="http://schemas.microsoft.com/office/powerpoint/2010/main" val="1597469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pPr algn="r"/>
            <a:fld id="{EA810688-59B9-8947-83B3-402BE705B2AB}" type="slidenum">
              <a:rPr lang="en-US" smtClean="0"/>
              <a:pPr algn="r"/>
              <a:t>‹#›</a:t>
            </a:fld>
            <a:endParaRPr lang="en-US" dirty="0"/>
          </a:p>
        </p:txBody>
      </p:sp>
      <p:sp>
        <p:nvSpPr>
          <p:cNvPr id="4" name="Footer Placeholder 4">
            <a:extLst>
              <a:ext uri="{FF2B5EF4-FFF2-40B4-BE49-F238E27FC236}">
                <a16:creationId xmlns:a16="http://schemas.microsoft.com/office/drawing/2014/main" id="{309F5638-830F-4095-4730-FC2AF7CB5628}"/>
              </a:ext>
            </a:extLst>
          </p:cNvPr>
          <p:cNvSpPr txBox="1">
            <a:spLocks/>
          </p:cNvSpPr>
          <p:nvPr userDrawn="1"/>
        </p:nvSpPr>
        <p:spPr>
          <a:xfrm rot="16200000">
            <a:off x="9295353" y="2934466"/>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pic>
        <p:nvPicPr>
          <p:cNvPr id="5" name="Picture 4">
            <a:extLst>
              <a:ext uri="{FF2B5EF4-FFF2-40B4-BE49-F238E27FC236}">
                <a16:creationId xmlns:a16="http://schemas.microsoft.com/office/drawing/2014/main" id="{FE857522-7A0E-871F-1012-E443B74AC09B}"/>
              </a:ext>
            </a:extLst>
          </p:cNvPr>
          <p:cNvPicPr>
            <a:picLocks noChangeAspect="1"/>
          </p:cNvPicPr>
          <p:nvPr userDrawn="1"/>
        </p:nvPicPr>
        <p:blipFill>
          <a:blip r:embed="rId2"/>
          <a:stretch>
            <a:fillRect/>
          </a:stretch>
        </p:blipFill>
        <p:spPr>
          <a:xfrm>
            <a:off x="76049" y="6368544"/>
            <a:ext cx="1048663" cy="368796"/>
          </a:xfrm>
          <a:prstGeom prst="rect">
            <a:avLst/>
          </a:prstGeom>
        </p:spPr>
      </p:pic>
    </p:spTree>
    <p:extLst>
      <p:ext uri="{BB962C8B-B14F-4D97-AF65-F5344CB8AC3E}">
        <p14:creationId xmlns:p14="http://schemas.microsoft.com/office/powerpoint/2010/main" val="3226582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10870287" y="6385780"/>
            <a:ext cx="1254558" cy="217039"/>
          </a:xfrm>
          <a:prstGeom prst="rect">
            <a:avLst/>
          </a:prstGeom>
        </p:spPr>
        <p:txBody>
          <a:bodyPr/>
          <a:lstStyle>
            <a:lvl1pPr algn="r">
              <a:defRPr sz="900" i="1"/>
            </a:lvl1pPr>
          </a:lstStyle>
          <a:p>
            <a:fld id="{C4ACEAA9-3A0B-3642-9455-D05A4C65DD03}" type="slidenum">
              <a:rPr lang="en-US" smtClean="0"/>
              <a:pPr/>
              <a:t>‹#›</a:t>
            </a:fld>
            <a:endParaRPr lang="en-US" dirty="0"/>
          </a:p>
        </p:txBody>
      </p:sp>
      <p:sp>
        <p:nvSpPr>
          <p:cNvPr id="6" name="Footer Placeholder 4">
            <a:extLst>
              <a:ext uri="{FF2B5EF4-FFF2-40B4-BE49-F238E27FC236}">
                <a16:creationId xmlns:a16="http://schemas.microsoft.com/office/drawing/2014/main" id="{743B1D88-2AB0-D058-7545-1123638EAF59}"/>
              </a:ext>
            </a:extLst>
          </p:cNvPr>
          <p:cNvSpPr txBox="1">
            <a:spLocks/>
          </p:cNvSpPr>
          <p:nvPr userDrawn="1"/>
        </p:nvSpPr>
        <p:spPr>
          <a:xfrm rot="16200000">
            <a:off x="9295353"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932320774"/>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9793" y="0"/>
            <a:ext cx="12268200" cy="6864877"/>
            <a:chOff x="0" y="0"/>
            <a:chExt cx="12268200" cy="6864877"/>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76200" y="846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pPr algn="r"/>
            <a:fld id="{10B50D97-ADDF-3D43-906B-48D9973569F9}" type="slidenum">
              <a:rPr lang="en-US" smtClean="0"/>
              <a:pPr algn="r"/>
              <a:t>‹#›</a:t>
            </a:fld>
            <a:endParaRPr lang="en-US" dirty="0"/>
          </a:p>
        </p:txBody>
      </p:sp>
      <p:sp>
        <p:nvSpPr>
          <p:cNvPr id="7" name="Footer Placeholder 4">
            <a:extLst>
              <a:ext uri="{FF2B5EF4-FFF2-40B4-BE49-F238E27FC236}">
                <a16:creationId xmlns:a16="http://schemas.microsoft.com/office/drawing/2014/main" id="{17AE52F1-D969-AAD5-8463-35F5D60A997B}"/>
              </a:ext>
            </a:extLst>
          </p:cNvPr>
          <p:cNvSpPr txBox="1">
            <a:spLocks/>
          </p:cNvSpPr>
          <p:nvPr userDrawn="1"/>
        </p:nvSpPr>
        <p:spPr>
          <a:xfrm rot="16200000">
            <a:off x="9266377"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3995883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pPr algn="r"/>
            <a:fld id="{45889B20-706B-AB40-B6C3-4ABCE1FF1F4F}" type="slidenum">
              <a:rPr lang="en-US" smtClean="0"/>
              <a:pPr algn="r"/>
              <a:t>‹#›</a:t>
            </a:fld>
            <a:endParaRPr lang="en-US" dirty="0"/>
          </a:p>
        </p:txBody>
      </p:sp>
    </p:spTree>
    <p:extLst>
      <p:ext uri="{BB962C8B-B14F-4D97-AF65-F5344CB8AC3E}">
        <p14:creationId xmlns:p14="http://schemas.microsoft.com/office/powerpoint/2010/main" val="4135788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1"/>
          </p:nvPr>
        </p:nvSpPr>
        <p:spPr/>
        <p:txBody>
          <a:bodyPr/>
          <a:lstStyle/>
          <a:p>
            <a:pPr algn="r"/>
            <a:fld id="{9D43E63A-512E-8940-A727-CCEAF33A22F7}" type="slidenum">
              <a:rPr lang="en-US" smtClean="0"/>
              <a:pPr algn="r"/>
              <a:t>‹#›</a:t>
            </a:fld>
            <a:endParaRPr lang="en-US" dirty="0"/>
          </a:p>
        </p:txBody>
      </p:sp>
      <p:sp>
        <p:nvSpPr>
          <p:cNvPr id="6" name="Footer Placeholder 4">
            <a:extLst>
              <a:ext uri="{FF2B5EF4-FFF2-40B4-BE49-F238E27FC236}">
                <a16:creationId xmlns:a16="http://schemas.microsoft.com/office/drawing/2014/main" id="{1372A244-1032-9CDF-176A-9A61E28A1ED3}"/>
              </a:ext>
            </a:extLst>
          </p:cNvPr>
          <p:cNvSpPr txBox="1">
            <a:spLocks/>
          </p:cNvSpPr>
          <p:nvPr userDrawn="1"/>
        </p:nvSpPr>
        <p:spPr>
          <a:xfrm rot="16200000">
            <a:off x="9330634"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36710325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1"/>
          </p:nvPr>
        </p:nvSpPr>
        <p:spPr/>
        <p:txBody>
          <a:bodyPr/>
          <a:lstStyle>
            <a:lvl1pPr algn="r">
              <a:defRPr/>
            </a:lvl1pPr>
          </a:lstStyle>
          <a:p>
            <a:fld id="{A274A649-B3F2-9E4B-BDA8-A9B0A7DCA3B1}" type="slidenum">
              <a:rPr lang="en-US" smtClean="0"/>
              <a:pPr/>
              <a:t>‹#›</a:t>
            </a:fld>
            <a:endParaRPr lang="en-US" dirty="0"/>
          </a:p>
        </p:txBody>
      </p:sp>
      <p:sp>
        <p:nvSpPr>
          <p:cNvPr id="6" name="Footer Placeholder 4">
            <a:extLst>
              <a:ext uri="{FF2B5EF4-FFF2-40B4-BE49-F238E27FC236}">
                <a16:creationId xmlns:a16="http://schemas.microsoft.com/office/drawing/2014/main" id="{D6AC0054-AD44-A4AB-4C9F-91885597AB4B}"/>
              </a:ext>
            </a:extLst>
          </p:cNvPr>
          <p:cNvSpPr txBox="1">
            <a:spLocks/>
          </p:cNvSpPr>
          <p:nvPr userDrawn="1"/>
        </p:nvSpPr>
        <p:spPr>
          <a:xfrm rot="16200000">
            <a:off x="9295353" y="2970752"/>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29897695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2182"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pPr algn="r"/>
            <a:fld id="{919DD00B-78BB-A446-B130-0D7CB0629925}" type="slidenum">
              <a:rPr lang="en-US" smtClean="0"/>
              <a:pPr algn="r"/>
              <a:t>‹#›</a:t>
            </a:fld>
            <a:endParaRPr lang="en-US" dirty="0"/>
          </a:p>
        </p:txBody>
      </p:sp>
      <p:sp>
        <p:nvSpPr>
          <p:cNvPr id="6" name="Footer Placeholder 4">
            <a:extLst>
              <a:ext uri="{FF2B5EF4-FFF2-40B4-BE49-F238E27FC236}">
                <a16:creationId xmlns:a16="http://schemas.microsoft.com/office/drawing/2014/main" id="{A02A7EC0-02E6-77E2-C80D-BDA4D58801DB}"/>
              </a:ext>
            </a:extLst>
          </p:cNvPr>
          <p:cNvSpPr txBox="1">
            <a:spLocks/>
          </p:cNvSpPr>
          <p:nvPr userDrawn="1"/>
        </p:nvSpPr>
        <p:spPr>
          <a:xfrm rot="16200000">
            <a:off x="9295353"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4098764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761545" y="420771"/>
            <a:ext cx="8825659" cy="706964"/>
          </a:xfrm>
        </p:spPr>
        <p:txBody>
          <a:bodyPr/>
          <a:lstStyle>
            <a:lvl1pPr>
              <a:defRPr sz="3600"/>
            </a:lvl1pPr>
          </a:lstStyle>
          <a:p>
            <a:r>
              <a:rPr lang="en-US" dirty="0"/>
              <a:t>Click to edit Master title style</a:t>
            </a:r>
          </a:p>
        </p:txBody>
      </p:sp>
      <p:sp>
        <p:nvSpPr>
          <p:cNvPr id="3" name="Text Placeholder 2"/>
          <p:cNvSpPr>
            <a:spLocks noGrp="1"/>
          </p:cNvSpPr>
          <p:nvPr>
            <p:ph type="body" idx="1"/>
          </p:nvPr>
        </p:nvSpPr>
        <p:spPr>
          <a:xfrm>
            <a:off x="804078" y="1604038"/>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6" name="Text Placeholder 3"/>
          <p:cNvSpPr>
            <a:spLocks noGrp="1"/>
          </p:cNvSpPr>
          <p:nvPr>
            <p:ph type="body" sz="half" idx="15"/>
          </p:nvPr>
        </p:nvSpPr>
        <p:spPr>
          <a:xfrm>
            <a:off x="804077" y="2180300"/>
            <a:ext cx="3141879" cy="36782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268175" y="1604036"/>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9" name="Text Placeholder 3"/>
          <p:cNvSpPr>
            <a:spLocks noGrp="1"/>
          </p:cNvSpPr>
          <p:nvPr>
            <p:ph type="body" sz="half" idx="16"/>
          </p:nvPr>
        </p:nvSpPr>
        <p:spPr>
          <a:xfrm>
            <a:off x="4268175" y="2180299"/>
            <a:ext cx="3147009" cy="36782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749919" y="1604037"/>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Text Placeholder 3"/>
          <p:cNvSpPr>
            <a:spLocks noGrp="1"/>
          </p:cNvSpPr>
          <p:nvPr>
            <p:ph type="body" sz="half" idx="17"/>
          </p:nvPr>
        </p:nvSpPr>
        <p:spPr>
          <a:xfrm>
            <a:off x="7750113" y="2180298"/>
            <a:ext cx="3145536" cy="36782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116893" y="1570169"/>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581016" y="1570169"/>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11"/>
          </p:nvPr>
        </p:nvSpPr>
        <p:spPr/>
        <p:txBody>
          <a:bodyPr/>
          <a:lstStyle>
            <a:lvl1pPr algn="r">
              <a:defRPr/>
            </a:lvl1pPr>
          </a:lstStyle>
          <a:p>
            <a:fld id="{E9DC7B75-34B3-9E4F-948B-B421779104D5}" type="slidenum">
              <a:rPr lang="en-US" smtClean="0"/>
              <a:pPr/>
              <a:t>‹#›</a:t>
            </a:fld>
            <a:endParaRPr lang="en-US" dirty="0"/>
          </a:p>
        </p:txBody>
      </p:sp>
    </p:spTree>
    <p:extLst>
      <p:ext uri="{BB962C8B-B14F-4D97-AF65-F5344CB8AC3E}">
        <p14:creationId xmlns:p14="http://schemas.microsoft.com/office/powerpoint/2010/main" val="25104105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772177" y="367610"/>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846612" y="3809832"/>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026211" y="1880488"/>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2" name="Text Placeholder 3"/>
          <p:cNvSpPr>
            <a:spLocks noGrp="1"/>
          </p:cNvSpPr>
          <p:nvPr>
            <p:ph type="body" sz="half" idx="18"/>
          </p:nvPr>
        </p:nvSpPr>
        <p:spPr>
          <a:xfrm>
            <a:off x="846612" y="4386094"/>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260523" y="3809832"/>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440120" y="1880488"/>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261830" y="4386093"/>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674433" y="3809833"/>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7854689" y="1880488"/>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674433" y="4386092"/>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086853" y="1952944"/>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478824" y="1952944"/>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11"/>
          </p:nvPr>
        </p:nvSpPr>
        <p:spPr>
          <a:xfrm>
            <a:off x="8301614" y="6413103"/>
            <a:ext cx="3644282" cy="304801"/>
          </a:xfrm>
        </p:spPr>
        <p:txBody>
          <a:bodyPr/>
          <a:lstStyle/>
          <a:p>
            <a:pPr algn="r"/>
            <a:fld id="{0FC58B0A-47B8-8447-86D0-77C22456110A}" type="slidenum">
              <a:rPr lang="en-US" smtClean="0"/>
              <a:pPr algn="r"/>
              <a:t>‹#›</a:t>
            </a:fld>
            <a:endParaRPr lang="en-US" dirty="0"/>
          </a:p>
        </p:txBody>
      </p:sp>
    </p:spTree>
    <p:extLst>
      <p:ext uri="{BB962C8B-B14F-4D97-AF65-F5344CB8AC3E}">
        <p14:creationId xmlns:p14="http://schemas.microsoft.com/office/powerpoint/2010/main" val="20221143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Service">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9219973" y="6356352"/>
            <a:ext cx="2365444" cy="365125"/>
          </a:xfrm>
        </p:spPr>
        <p:txBody>
          <a:bodyPr/>
          <a:lstStyle>
            <a:lvl1pPr algn="r">
              <a:defRPr>
                <a:solidFill>
                  <a:schemeClr val="tx1">
                    <a:lumMod val="50000"/>
                    <a:lumOff val="50000"/>
                  </a:schemeClr>
                </a:solidFill>
              </a:defRPr>
            </a:lvl1pPr>
          </a:lstStyle>
          <a:p>
            <a:fld id="{5421F489-ECA4-1846-9337-5F636F2B499F}" type="slidenum">
              <a:rPr lang="en-US" smtClean="0"/>
              <a:pPr/>
              <a:t>‹#›</a:t>
            </a:fld>
            <a:endParaRPr lang="en-US" dirty="0"/>
          </a:p>
        </p:txBody>
      </p:sp>
      <p:sp>
        <p:nvSpPr>
          <p:cNvPr id="8" name="Freeform: Shape 7">
            <a:extLst>
              <a:ext uri="{FF2B5EF4-FFF2-40B4-BE49-F238E27FC236}">
                <a16:creationId xmlns:a16="http://schemas.microsoft.com/office/drawing/2014/main" id="{8BEA795B-86DE-7FDD-829C-72225EB12DE5}"/>
              </a:ext>
            </a:extLst>
          </p:cNvPr>
          <p:cNvSpPr/>
          <p:nvPr/>
        </p:nvSpPr>
        <p:spPr>
          <a:xfrm>
            <a:off x="339609" y="306153"/>
            <a:ext cx="1259209" cy="1258881"/>
          </a:xfrm>
          <a:custGeom>
            <a:avLst/>
            <a:gdLst>
              <a:gd name="connsiteX0" fmla="*/ 0 w 2866967"/>
              <a:gd name="connsiteY0" fmla="*/ 0 h 2866967"/>
              <a:gd name="connsiteX1" fmla="*/ 2866967 w 2866967"/>
              <a:gd name="connsiteY1" fmla="*/ 0 h 2866967"/>
              <a:gd name="connsiteX2" fmla="*/ 2866967 w 2866967"/>
              <a:gd name="connsiteY2" fmla="*/ 1175489 h 2866967"/>
              <a:gd name="connsiteX3" fmla="*/ 742122 w 2866967"/>
              <a:gd name="connsiteY3" fmla="*/ 1175489 h 2866967"/>
              <a:gd name="connsiteX4" fmla="*/ 742122 w 2866967"/>
              <a:gd name="connsiteY4" fmla="*/ 2866967 h 2866967"/>
              <a:gd name="connsiteX5" fmla="*/ 0 w 2866967"/>
              <a:gd name="connsiteY5" fmla="*/ 2866967 h 2866967"/>
              <a:gd name="connsiteX6" fmla="*/ 0 w 2866967"/>
              <a:gd name="connsiteY6" fmla="*/ 0 h 2866967"/>
              <a:gd name="connsiteX0" fmla="*/ 742122 w 2866967"/>
              <a:gd name="connsiteY0" fmla="*/ 1175489 h 2866967"/>
              <a:gd name="connsiteX1" fmla="*/ 742122 w 2866967"/>
              <a:gd name="connsiteY1" fmla="*/ 2866967 h 2866967"/>
              <a:gd name="connsiteX2" fmla="*/ 0 w 2866967"/>
              <a:gd name="connsiteY2" fmla="*/ 2866967 h 2866967"/>
              <a:gd name="connsiteX3" fmla="*/ 0 w 2866967"/>
              <a:gd name="connsiteY3" fmla="*/ 0 h 2866967"/>
              <a:gd name="connsiteX4" fmla="*/ 2866967 w 2866967"/>
              <a:gd name="connsiteY4" fmla="*/ 0 h 2866967"/>
              <a:gd name="connsiteX5" fmla="*/ 2866967 w 2866967"/>
              <a:gd name="connsiteY5" fmla="*/ 1175489 h 2866967"/>
              <a:gd name="connsiteX6" fmla="*/ 833562 w 2866967"/>
              <a:gd name="connsiteY6" fmla="*/ 1266929 h 2866967"/>
              <a:gd name="connsiteX0" fmla="*/ 742122 w 2866967"/>
              <a:gd name="connsiteY0" fmla="*/ 1175489 h 2866967"/>
              <a:gd name="connsiteX1" fmla="*/ 742122 w 2866967"/>
              <a:gd name="connsiteY1" fmla="*/ 2866967 h 2866967"/>
              <a:gd name="connsiteX2" fmla="*/ 0 w 2866967"/>
              <a:gd name="connsiteY2" fmla="*/ 2866967 h 2866967"/>
              <a:gd name="connsiteX3" fmla="*/ 0 w 2866967"/>
              <a:gd name="connsiteY3" fmla="*/ 0 h 2866967"/>
              <a:gd name="connsiteX4" fmla="*/ 2866967 w 2866967"/>
              <a:gd name="connsiteY4" fmla="*/ 0 h 2866967"/>
              <a:gd name="connsiteX5" fmla="*/ 2866967 w 2866967"/>
              <a:gd name="connsiteY5" fmla="*/ 1175489 h 2866967"/>
              <a:gd name="connsiteX0" fmla="*/ 742122 w 2866967"/>
              <a:gd name="connsiteY0" fmla="*/ 2866967 h 2866967"/>
              <a:gd name="connsiteX1" fmla="*/ 0 w 2866967"/>
              <a:gd name="connsiteY1" fmla="*/ 2866967 h 2866967"/>
              <a:gd name="connsiteX2" fmla="*/ 0 w 2866967"/>
              <a:gd name="connsiteY2" fmla="*/ 0 h 2866967"/>
              <a:gd name="connsiteX3" fmla="*/ 2866967 w 2866967"/>
              <a:gd name="connsiteY3" fmla="*/ 0 h 2866967"/>
              <a:gd name="connsiteX4" fmla="*/ 2866967 w 2866967"/>
              <a:gd name="connsiteY4" fmla="*/ 1175489 h 28669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6967" h="2866967">
                <a:moveTo>
                  <a:pt x="742122" y="2866967"/>
                </a:moveTo>
                <a:lnTo>
                  <a:pt x="0" y="2866967"/>
                </a:lnTo>
                <a:lnTo>
                  <a:pt x="0" y="0"/>
                </a:lnTo>
                <a:lnTo>
                  <a:pt x="2866967" y="0"/>
                </a:lnTo>
                <a:lnTo>
                  <a:pt x="2866967" y="1175489"/>
                </a:lnTo>
              </a:path>
            </a:pathLst>
          </a:custGeom>
          <a:noFill/>
          <a:ln w="50800">
            <a:solidFill>
              <a:schemeClr val="accent1"/>
            </a:solidFill>
            <a:miter lim="800000"/>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9" name="Title 1">
            <a:extLst>
              <a:ext uri="{FF2B5EF4-FFF2-40B4-BE49-F238E27FC236}">
                <a16:creationId xmlns:a16="http://schemas.microsoft.com/office/drawing/2014/main" id="{6E8A15B2-F404-5D92-2136-F7B935BA6D8C}"/>
              </a:ext>
            </a:extLst>
          </p:cNvPr>
          <p:cNvSpPr>
            <a:spLocks noGrp="1"/>
          </p:cNvSpPr>
          <p:nvPr>
            <p:ph type="title" hasCustomPrompt="1"/>
          </p:nvPr>
        </p:nvSpPr>
        <p:spPr>
          <a:xfrm>
            <a:off x="676037" y="791474"/>
            <a:ext cx="4195508" cy="711081"/>
          </a:xfrm>
        </p:spPr>
        <p:txBody>
          <a:bodyPr>
            <a:noAutofit/>
          </a:bodyPr>
          <a:lstStyle>
            <a:lvl1pPr>
              <a:defRPr sz="4000" b="1">
                <a:solidFill>
                  <a:schemeClr val="tx2"/>
                </a:solidFill>
                <a:latin typeface="Segoe UI Black" panose="020B0A02040204020203" pitchFamily="34" charset="0"/>
                <a:ea typeface="Segoe UI Black" panose="020B0A02040204020203" pitchFamily="34" charset="0"/>
              </a:defRPr>
            </a:lvl1pPr>
          </a:lstStyle>
          <a:p>
            <a:r>
              <a:rPr lang="en-US" dirty="0"/>
              <a:t>CLICK TO EDIT</a:t>
            </a:r>
          </a:p>
        </p:txBody>
      </p:sp>
      <p:cxnSp>
        <p:nvCxnSpPr>
          <p:cNvPr id="16" name="Straight Connector 15">
            <a:extLst>
              <a:ext uri="{FF2B5EF4-FFF2-40B4-BE49-F238E27FC236}">
                <a16:creationId xmlns:a16="http://schemas.microsoft.com/office/drawing/2014/main" id="{814364D7-4C11-26C8-59DC-C326E807CD28}"/>
              </a:ext>
            </a:extLst>
          </p:cNvPr>
          <p:cNvCxnSpPr>
            <a:cxnSpLocks/>
          </p:cNvCxnSpPr>
          <p:nvPr userDrawn="1"/>
        </p:nvCxnSpPr>
        <p:spPr>
          <a:xfrm>
            <a:off x="1082848" y="6538913"/>
            <a:ext cx="813712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Picture Placeholder 6">
            <a:extLst>
              <a:ext uri="{FF2B5EF4-FFF2-40B4-BE49-F238E27FC236}">
                <a16:creationId xmlns:a16="http://schemas.microsoft.com/office/drawing/2014/main" id="{7C58743F-E9A9-C70F-8F6C-F1974B02D3BF}"/>
              </a:ext>
            </a:extLst>
          </p:cNvPr>
          <p:cNvSpPr>
            <a:spLocks noGrp="1"/>
          </p:cNvSpPr>
          <p:nvPr>
            <p:ph type="pic" sz="quarter" idx="13"/>
          </p:nvPr>
        </p:nvSpPr>
        <p:spPr>
          <a:xfrm>
            <a:off x="3572856" y="2189487"/>
            <a:ext cx="2422109" cy="2786550"/>
          </a:xfrm>
          <a:custGeom>
            <a:avLst/>
            <a:gdLst>
              <a:gd name="connsiteX0" fmla="*/ 0 w 2421478"/>
              <a:gd name="connsiteY0" fmla="*/ 0 h 2786550"/>
              <a:gd name="connsiteX1" fmla="*/ 2421478 w 2421478"/>
              <a:gd name="connsiteY1" fmla="*/ 0 h 2786550"/>
              <a:gd name="connsiteX2" fmla="*/ 2421478 w 2421478"/>
              <a:gd name="connsiteY2" fmla="*/ 2786550 h 2786550"/>
              <a:gd name="connsiteX3" fmla="*/ 0 w 2421478"/>
              <a:gd name="connsiteY3" fmla="*/ 2786550 h 2786550"/>
            </a:gdLst>
            <a:ahLst/>
            <a:cxnLst>
              <a:cxn ang="0">
                <a:pos x="connsiteX0" y="connsiteY0"/>
              </a:cxn>
              <a:cxn ang="0">
                <a:pos x="connsiteX1" y="connsiteY1"/>
              </a:cxn>
              <a:cxn ang="0">
                <a:pos x="connsiteX2" y="connsiteY2"/>
              </a:cxn>
              <a:cxn ang="0">
                <a:pos x="connsiteX3" y="connsiteY3"/>
              </a:cxn>
            </a:cxnLst>
            <a:rect l="l" t="t" r="r" b="b"/>
            <a:pathLst>
              <a:path w="2421478" h="2786550">
                <a:moveTo>
                  <a:pt x="0" y="0"/>
                </a:moveTo>
                <a:lnTo>
                  <a:pt x="2421478" y="0"/>
                </a:lnTo>
                <a:lnTo>
                  <a:pt x="2421478" y="2786550"/>
                </a:lnTo>
                <a:lnTo>
                  <a:pt x="0" y="2786550"/>
                </a:lnTo>
                <a:close/>
              </a:path>
            </a:pathLst>
          </a:custGeom>
        </p:spPr>
        <p:txBody>
          <a:bodyPr wrap="square" anchor="ctr">
            <a:noAutofit/>
          </a:bodyPr>
          <a:lstStyle>
            <a:lvl1pPr marL="0" indent="0" algn="ctr">
              <a:buFontTx/>
              <a:buNone/>
              <a:defRPr sz="2400"/>
            </a:lvl1pPr>
          </a:lstStyle>
          <a:p>
            <a:endParaRPr lang="en-US"/>
          </a:p>
        </p:txBody>
      </p:sp>
    </p:spTree>
    <p:extLst>
      <p:ext uri="{BB962C8B-B14F-4D97-AF65-F5344CB8AC3E}">
        <p14:creationId xmlns:p14="http://schemas.microsoft.com/office/powerpoint/2010/main" val="22487286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Departments And Teams">
    <p:spTree>
      <p:nvGrpSpPr>
        <p:cNvPr id="1" name=""/>
        <p:cNvGrpSpPr/>
        <p:nvPr/>
      </p:nvGrpSpPr>
      <p:grpSpPr>
        <a:xfrm>
          <a:off x="0" y="0"/>
          <a:ext cx="0" cy="0"/>
          <a:chOff x="0" y="0"/>
          <a:chExt cx="0" cy="0"/>
        </a:xfrm>
      </p:grpSpPr>
      <p:sp>
        <p:nvSpPr>
          <p:cNvPr id="2" name="Title 1"/>
          <p:cNvSpPr>
            <a:spLocks noGrp="1"/>
          </p:cNvSpPr>
          <p:nvPr>
            <p:ph type="title"/>
          </p:nvPr>
        </p:nvSpPr>
        <p:spPr>
          <a:xfrm>
            <a:off x="609600" y="235728"/>
            <a:ext cx="10972801" cy="711081"/>
          </a:xfrm>
        </p:spPr>
        <p:txBody>
          <a:bodyPr>
            <a:noAutofit/>
          </a:bodyPr>
          <a:lstStyle>
            <a:lvl1pPr>
              <a:defRPr sz="3200"/>
            </a:lvl1pPr>
          </a:lstStyle>
          <a:p>
            <a:r>
              <a:rPr lang="en-US" dirty="0"/>
              <a:t>Click to edit Master title style</a:t>
            </a:r>
          </a:p>
        </p:txBody>
      </p:sp>
      <p:cxnSp>
        <p:nvCxnSpPr>
          <p:cNvPr id="7" name="Straight Connector 6">
            <a:extLst>
              <a:ext uri="{FF2B5EF4-FFF2-40B4-BE49-F238E27FC236}">
                <a16:creationId xmlns:a16="http://schemas.microsoft.com/office/drawing/2014/main" id="{F9A6E2B6-6789-47DF-A542-D3F307E792A0}"/>
              </a:ext>
            </a:extLst>
          </p:cNvPr>
          <p:cNvCxnSpPr>
            <a:cxnSpLocks/>
          </p:cNvCxnSpPr>
          <p:nvPr userDrawn="1"/>
        </p:nvCxnSpPr>
        <p:spPr>
          <a:xfrm flipH="1">
            <a:off x="2782769" y="6391488"/>
            <a:ext cx="8243703"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3BC1952-E550-45B7-BB6B-1FB5F22535EE}"/>
              </a:ext>
            </a:extLst>
          </p:cNvPr>
          <p:cNvCxnSpPr>
            <a:cxnSpLocks/>
          </p:cNvCxnSpPr>
          <p:nvPr userDrawn="1"/>
        </p:nvCxnSpPr>
        <p:spPr>
          <a:xfrm>
            <a:off x="755507" y="1007522"/>
            <a:ext cx="1440535"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32219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Standard 1">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405446"/>
            <a:ext cx="6982915" cy="538696"/>
          </a:xfrm>
        </p:spPr>
        <p:txBody>
          <a:bodyPr anchor="t">
            <a:noAutofit/>
          </a:bodyPr>
          <a:lstStyle>
            <a:lvl1pPr algn="l">
              <a:defRPr sz="3200">
                <a:solidFill>
                  <a:schemeClr val="accent1"/>
                </a:solidFill>
              </a:defRPr>
            </a:lvl1pPr>
          </a:lstStyle>
          <a:p>
            <a:r>
              <a:rPr lang="vi-VN"/>
              <a:t>Main heading</a:t>
            </a:r>
            <a:endParaRPr lang="en-US"/>
          </a:p>
        </p:txBody>
      </p:sp>
      <p:sp>
        <p:nvSpPr>
          <p:cNvPr id="6" name="Text Placeholder 5">
            <a:extLst>
              <a:ext uri="{FF2B5EF4-FFF2-40B4-BE49-F238E27FC236}">
                <a16:creationId xmlns:a16="http://schemas.microsoft.com/office/drawing/2014/main" id="{54F74AEE-2FC4-3D4B-98F4-C618FA345DED}"/>
              </a:ext>
            </a:extLst>
          </p:cNvPr>
          <p:cNvSpPr>
            <a:spLocks noGrp="1"/>
          </p:cNvSpPr>
          <p:nvPr>
            <p:ph type="body" sz="quarter" idx="11"/>
          </p:nvPr>
        </p:nvSpPr>
        <p:spPr>
          <a:xfrm>
            <a:off x="838404" y="1884792"/>
            <a:ext cx="6983408" cy="4284662"/>
          </a:xfrm>
        </p:spPr>
        <p:txBody>
          <a:bodyPr>
            <a:normAutofit/>
          </a:bodyPr>
          <a:lstStyle>
            <a:lvl1pPr>
              <a:defRPr sz="1600">
                <a:solidFill>
                  <a:schemeClr val="bg2"/>
                </a:solidFill>
              </a:defRPr>
            </a:lvl1pPr>
            <a:lvl2pPr>
              <a:defRPr sz="1400">
                <a:solidFill>
                  <a:schemeClr val="bg2"/>
                </a:solidFill>
              </a:defRPr>
            </a:lvl2pPr>
            <a:lvl3pPr>
              <a:defRPr sz="1200">
                <a:solidFill>
                  <a:schemeClr val="bg2"/>
                </a:solidFill>
              </a:defRPr>
            </a:lvl3pPr>
            <a:lvl4pPr>
              <a:defRPr sz="1100">
                <a:solidFill>
                  <a:schemeClr val="bg2"/>
                </a:solidFill>
              </a:defRPr>
            </a:lvl4pPr>
            <a:lvl5pPr>
              <a:defRPr sz="11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id="{703DB645-A5D5-4BE5-ACAD-B90EEA6C4FF3}"/>
              </a:ext>
            </a:extLst>
          </p:cNvPr>
          <p:cNvSpPr>
            <a:spLocks noGrp="1"/>
          </p:cNvSpPr>
          <p:nvPr>
            <p:ph type="body" sz="quarter" idx="12" hasCustomPrompt="1"/>
          </p:nvPr>
        </p:nvSpPr>
        <p:spPr>
          <a:xfrm>
            <a:off x="838200" y="1290733"/>
            <a:ext cx="6982915" cy="485775"/>
          </a:xfrm>
        </p:spPr>
        <p:txBody>
          <a:bodyPr anchor="ctr">
            <a:normAutofit/>
          </a:bodyPr>
          <a:lstStyle>
            <a:lvl1pPr marL="0" indent="0">
              <a:buNone/>
              <a:defRPr sz="2000" b="1">
                <a:solidFill>
                  <a:schemeClr val="bg2"/>
                </a:solidFill>
              </a:defRPr>
            </a:lvl1pPr>
          </a:lstStyle>
          <a:p>
            <a:pPr lvl="0"/>
            <a:r>
              <a:rPr lang="en-US"/>
              <a:t>Sub-Heading Here</a:t>
            </a:r>
          </a:p>
        </p:txBody>
      </p:sp>
      <p:cxnSp>
        <p:nvCxnSpPr>
          <p:cNvPr id="9" name="Straight Connector 8">
            <a:extLst>
              <a:ext uri="{FF2B5EF4-FFF2-40B4-BE49-F238E27FC236}">
                <a16:creationId xmlns:a16="http://schemas.microsoft.com/office/drawing/2014/main" id="{2B7A87D9-F461-4214-89A2-5CC4233B821C}"/>
              </a:ext>
            </a:extLst>
          </p:cNvPr>
          <p:cNvCxnSpPr/>
          <p:nvPr userDrawn="1"/>
        </p:nvCxnSpPr>
        <p:spPr>
          <a:xfrm>
            <a:off x="10202779" y="0"/>
            <a:ext cx="0" cy="685800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7AE89F53-1788-4DED-9E50-73537512643B}"/>
              </a:ext>
            </a:extLst>
          </p:cNvPr>
          <p:cNvSpPr/>
          <p:nvPr userDrawn="1"/>
        </p:nvSpPr>
        <p:spPr>
          <a:xfrm>
            <a:off x="9360571" y="4785824"/>
            <a:ext cx="1383630" cy="1383630"/>
          </a:xfrm>
          <a:prstGeom prst="rect">
            <a:avLst/>
          </a:prstGeom>
          <a:solidFill>
            <a:srgbClr val="9E71AC"/>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A8B1D7B-0C32-4926-BA37-75EEF2940DDD}"/>
              </a:ext>
            </a:extLst>
          </p:cNvPr>
          <p:cNvSpPr/>
          <p:nvPr userDrawn="1"/>
        </p:nvSpPr>
        <p:spPr>
          <a:xfrm>
            <a:off x="9180097" y="4656221"/>
            <a:ext cx="1383630" cy="1383630"/>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EF4B2A7-DFC8-4809-9584-8CD368862473}"/>
              </a:ext>
            </a:extLst>
          </p:cNvPr>
          <p:cNvSpPr/>
          <p:nvPr userDrawn="1"/>
        </p:nvSpPr>
        <p:spPr>
          <a:xfrm>
            <a:off x="11122186" y="1626113"/>
            <a:ext cx="517358" cy="517358"/>
          </a:xfrm>
          <a:prstGeom prst="rect">
            <a:avLst/>
          </a:prstGeom>
          <a:solidFill>
            <a:srgbClr val="E47E8D"/>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FEA421C-6BDF-4636-BF53-9B729F0C10A7}"/>
              </a:ext>
            </a:extLst>
          </p:cNvPr>
          <p:cNvSpPr/>
          <p:nvPr userDrawn="1"/>
        </p:nvSpPr>
        <p:spPr>
          <a:xfrm>
            <a:off x="10941712" y="1776508"/>
            <a:ext cx="505599" cy="517358"/>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39AC2A3-9F1A-4A37-8128-D2327580C5AE}"/>
              </a:ext>
            </a:extLst>
          </p:cNvPr>
          <p:cNvSpPr/>
          <p:nvPr userDrawn="1"/>
        </p:nvSpPr>
        <p:spPr>
          <a:xfrm>
            <a:off x="8885196" y="2994326"/>
            <a:ext cx="434674" cy="434674"/>
          </a:xfrm>
          <a:prstGeom prst="rect">
            <a:avLst/>
          </a:prstGeom>
          <a:solidFill>
            <a:srgbClr val="E47E8D"/>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38D9E1B-D1E5-4D9A-AE23-53A4E498A323}"/>
              </a:ext>
            </a:extLst>
          </p:cNvPr>
          <p:cNvSpPr/>
          <p:nvPr userDrawn="1"/>
        </p:nvSpPr>
        <p:spPr>
          <a:xfrm>
            <a:off x="8704723" y="3144721"/>
            <a:ext cx="424794" cy="434674"/>
          </a:xfrm>
          <a:prstGeom prst="rect">
            <a:avLst/>
          </a:prstGeom>
          <a:solidFill>
            <a:srgbClr val="9E71AC"/>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729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gray">
          <a:xfrm>
            <a:off x="761549" y="362349"/>
            <a:ext cx="8761413" cy="706964"/>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761549" y="1424763"/>
            <a:ext cx="9637093" cy="45188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8187871" y="6343250"/>
            <a:ext cx="3859795" cy="304801"/>
          </a:xfrm>
          <a:prstGeom prst="rect">
            <a:avLst/>
          </a:prstGeom>
        </p:spPr>
        <p:txBody>
          <a:bodyPr vert="horz" lIns="91440" tIns="45720" rIns="91440" bIns="45720" rtlCol="0" anchor="ctr"/>
          <a:lstStyle>
            <a:lvl1pPr algn="l">
              <a:defRPr sz="1000" b="1" i="0">
                <a:solidFill>
                  <a:schemeClr val="accent1"/>
                </a:solidFill>
              </a:defRPr>
            </a:lvl1pPr>
          </a:lstStyle>
          <a:p>
            <a:pPr algn="r"/>
            <a:fld id="{E3DCA0BB-AA62-BD48-9250-28200D5E50EA}" type="slidenum">
              <a:rPr lang="en-US" smtClean="0"/>
              <a:pPr algn="r"/>
              <a:t>‹#›</a:t>
            </a:fld>
            <a:endParaRPr lang="en-US" dirty="0"/>
          </a:p>
        </p:txBody>
      </p:sp>
      <p:sp>
        <p:nvSpPr>
          <p:cNvPr id="10" name="Footer Placeholder 4">
            <a:extLst>
              <a:ext uri="{FF2B5EF4-FFF2-40B4-BE49-F238E27FC236}">
                <a16:creationId xmlns:a16="http://schemas.microsoft.com/office/drawing/2014/main" id="{19C13D6A-A08A-DE54-94B2-23085A7AAC05}"/>
              </a:ext>
            </a:extLst>
          </p:cNvPr>
          <p:cNvSpPr txBox="1">
            <a:spLocks/>
          </p:cNvSpPr>
          <p:nvPr userDrawn="1"/>
        </p:nvSpPr>
        <p:spPr>
          <a:xfrm rot="16200000">
            <a:off x="9151018"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cxnSp>
        <p:nvCxnSpPr>
          <p:cNvPr id="6" name="Straight Connector 5">
            <a:extLst>
              <a:ext uri="{FF2B5EF4-FFF2-40B4-BE49-F238E27FC236}">
                <a16:creationId xmlns:a16="http://schemas.microsoft.com/office/drawing/2014/main" id="{BFAA1BF0-B78D-DCA3-8948-9C8FD86AC674}"/>
              </a:ext>
            </a:extLst>
          </p:cNvPr>
          <p:cNvCxnSpPr/>
          <p:nvPr userDrawn="1"/>
        </p:nvCxnSpPr>
        <p:spPr>
          <a:xfrm>
            <a:off x="761549" y="1222744"/>
            <a:ext cx="8967242" cy="0"/>
          </a:xfrm>
          <a:prstGeom prst="line">
            <a:avLst/>
          </a:prstGeom>
          <a:ln>
            <a:solidFill>
              <a:schemeClr val="accent3"/>
            </a:solidFill>
          </a:ln>
          <a:effectLst>
            <a:outerShdw blurRad="50800" dist="38100" algn="l" rotWithShape="0">
              <a:prstClr val="black">
                <a:alpha val="40000"/>
              </a:prstClr>
            </a:outerShdw>
          </a:effectLst>
          <a:scene3d>
            <a:camera prst="perspectiveFront"/>
            <a:lightRig rig="threePt" dir="t"/>
          </a:scene3d>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751115A7-A2F8-56EA-CCAD-EB812257965E}"/>
              </a:ext>
            </a:extLst>
          </p:cNvPr>
          <p:cNvPicPr>
            <a:picLocks noChangeAspect="1"/>
          </p:cNvPicPr>
          <p:nvPr userDrawn="1"/>
        </p:nvPicPr>
        <p:blipFill>
          <a:blip r:embed="rId20"/>
          <a:stretch>
            <a:fillRect/>
          </a:stretch>
        </p:blipFill>
        <p:spPr>
          <a:xfrm>
            <a:off x="76049" y="6368544"/>
            <a:ext cx="1048663" cy="368796"/>
          </a:xfrm>
          <a:prstGeom prst="rect">
            <a:avLst/>
          </a:prstGeom>
        </p:spPr>
      </p:pic>
    </p:spTree>
    <p:extLst>
      <p:ext uri="{BB962C8B-B14F-4D97-AF65-F5344CB8AC3E}">
        <p14:creationId xmlns:p14="http://schemas.microsoft.com/office/powerpoint/2010/main" val="1962655418"/>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 id="2147483724" r:id="rId16"/>
    <p:sldLayoutId id="2147483725" r:id="rId17"/>
    <p:sldLayoutId id="2147483727" r:id="rId18"/>
  </p:sldLayoutIdLst>
  <p:txStyles>
    <p:titleStyle>
      <a:lvl1pPr algn="l" defTabSz="457200" rtl="0" eaLnBrk="1" latinLnBrk="0" hangingPunct="1">
        <a:spcBef>
          <a:spcPct val="0"/>
        </a:spcBef>
        <a:buNone/>
        <a:defRPr sz="3600" b="0" i="0" u="none"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www.leewayhertz.com/parameter-efficient-fine-tuning/" TargetMode="External"/><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1" name="Rectangle 2090">
            <a:extLst>
              <a:ext uri="{FF2B5EF4-FFF2-40B4-BE49-F238E27FC236}">
                <a16:creationId xmlns:a16="http://schemas.microsoft.com/office/drawing/2014/main" id="{2668F1A4-6DBB-4F0B-A679-6EE5483638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2050" name="Picture 2" descr="Illustration representing cybersecurity.">
            <a:extLst>
              <a:ext uri="{FF2B5EF4-FFF2-40B4-BE49-F238E27FC236}">
                <a16:creationId xmlns:a16="http://schemas.microsoft.com/office/drawing/2014/main" id="{9725A72F-5946-0A38-DE0D-E61858027DC3}"/>
              </a:ext>
            </a:extLst>
          </p:cNvPr>
          <p:cNvPicPr>
            <a:picLocks noChangeAspect="1" noChangeArrowheads="1"/>
          </p:cNvPicPr>
          <p:nvPr/>
        </p:nvPicPr>
        <p:blipFill>
          <a:blip r:embed="rId2">
            <a:alphaModFix amt="35000"/>
            <a:extLst>
              <a:ext uri="{28A0092B-C50C-407E-A947-70E740481C1C}">
                <a14:useLocalDpi xmlns:a14="http://schemas.microsoft.com/office/drawing/2010/main" val="0"/>
              </a:ext>
            </a:extLst>
          </a:blip>
          <a:srcRect l="24133" r="22340" b="-2"/>
          <a:stretch/>
        </p:blipFill>
        <p:spPr bwMode="auto">
          <a:xfrm>
            <a:off x="6094307" y="471953"/>
            <a:ext cx="5623560" cy="5909733"/>
          </a:xfrm>
          <a:prstGeom prst="rect">
            <a:avLst/>
          </a:prstGeom>
          <a:noFill/>
          <a:extLst>
            <a:ext uri="{909E8E84-426E-40DD-AFC4-6F175D3DCCD1}">
              <a14:hiddenFill xmlns:a14="http://schemas.microsoft.com/office/drawing/2010/main">
                <a:solidFill>
                  <a:srgbClr val="FFFFFF"/>
                </a:solidFill>
              </a14:hiddenFill>
            </a:ext>
          </a:extLst>
        </p:spPr>
      </p:pic>
      <p:sp>
        <p:nvSpPr>
          <p:cNvPr id="2092" name="Freeform 5">
            <a:extLst>
              <a:ext uri="{FF2B5EF4-FFF2-40B4-BE49-F238E27FC236}">
                <a16:creationId xmlns:a16="http://schemas.microsoft.com/office/drawing/2014/main" id="{B8DBF1C0-B8F1-4AAC-8704-256BA0E9D6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79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pic>
        <p:nvPicPr>
          <p:cNvPr id="5" name="Picture 4" descr="A close up of a logo&#10;&#10;AI-generated content may be incorrect.">
            <a:extLst>
              <a:ext uri="{FF2B5EF4-FFF2-40B4-BE49-F238E27FC236}">
                <a16:creationId xmlns:a16="http://schemas.microsoft.com/office/drawing/2014/main" id="{DFC25AA7-5A01-6B6F-9CE4-6911E96B10D2}"/>
              </a:ext>
            </a:extLst>
          </p:cNvPr>
          <p:cNvPicPr>
            <a:picLocks noChangeAspect="1"/>
          </p:cNvPicPr>
          <p:nvPr/>
        </p:nvPicPr>
        <p:blipFill>
          <a:blip r:embed="rId3">
            <a:alphaModFix amt="35000"/>
          </a:blip>
          <a:srcRect l="26067" r="42833" b="-2"/>
          <a:stretch/>
        </p:blipFill>
        <p:spPr>
          <a:xfrm>
            <a:off x="474133" y="474133"/>
            <a:ext cx="5620174" cy="5909733"/>
          </a:xfrm>
          <a:prstGeom prst="rect">
            <a:avLst/>
          </a:prstGeom>
        </p:spPr>
      </p:pic>
      <p:sp>
        <p:nvSpPr>
          <p:cNvPr id="2" name="Title 1">
            <a:extLst>
              <a:ext uri="{FF2B5EF4-FFF2-40B4-BE49-F238E27FC236}">
                <a16:creationId xmlns:a16="http://schemas.microsoft.com/office/drawing/2014/main" id="{4EF3BC5C-3B03-FB0A-4D57-59B23F3427A3}"/>
              </a:ext>
            </a:extLst>
          </p:cNvPr>
          <p:cNvSpPr>
            <a:spLocks noGrp="1"/>
          </p:cNvSpPr>
          <p:nvPr>
            <p:ph type="ctrTitle"/>
          </p:nvPr>
        </p:nvSpPr>
        <p:spPr>
          <a:xfrm>
            <a:off x="1154954" y="2099733"/>
            <a:ext cx="9395059" cy="2677648"/>
          </a:xfrm>
        </p:spPr>
        <p:txBody>
          <a:bodyPr>
            <a:normAutofit/>
          </a:bodyPr>
          <a:lstStyle/>
          <a:p>
            <a:r>
              <a:rPr lang="en-US" sz="4400" dirty="0">
                <a:solidFill>
                  <a:srgbClr val="FFFFFF"/>
                </a:solidFill>
                <a:latin typeface="+mn-lt"/>
              </a:rPr>
              <a:t>Athena Cyber LLM</a:t>
            </a:r>
            <a:br>
              <a:rPr lang="en-US" sz="4400" i="1" dirty="0">
                <a:solidFill>
                  <a:srgbClr val="FFFFFF"/>
                </a:solidFill>
                <a:latin typeface="+mn-lt"/>
              </a:rPr>
            </a:br>
            <a:r>
              <a:rPr lang="en-US" sz="2400" i="1" dirty="0">
                <a:solidFill>
                  <a:srgbClr val="FFFFFF"/>
                </a:solidFill>
                <a:latin typeface="+mn-lt"/>
              </a:rPr>
              <a:t>Codename: Glaukopis</a:t>
            </a:r>
            <a:br>
              <a:rPr lang="en-US" sz="4400" i="1" dirty="0">
                <a:solidFill>
                  <a:srgbClr val="FFFFFF"/>
                </a:solidFill>
              </a:rPr>
            </a:br>
            <a:br>
              <a:rPr lang="en-US" sz="4400" i="1" dirty="0">
                <a:solidFill>
                  <a:srgbClr val="FFFFFF"/>
                </a:solidFill>
              </a:rPr>
            </a:br>
            <a:r>
              <a:rPr lang="en-US" sz="3100" i="1" dirty="0">
                <a:solidFill>
                  <a:srgbClr val="FFFFFF"/>
                </a:solidFill>
              </a:rPr>
              <a:t>Adapting Cyber Defense to the Advance of AI</a:t>
            </a:r>
            <a:endParaRPr lang="en-US" sz="6700" i="1" dirty="0">
              <a:solidFill>
                <a:srgbClr val="FFFFFF"/>
              </a:solidFill>
            </a:endParaRPr>
          </a:p>
        </p:txBody>
      </p:sp>
      <p:sp>
        <p:nvSpPr>
          <p:cNvPr id="3" name="Subtitle 2">
            <a:extLst>
              <a:ext uri="{FF2B5EF4-FFF2-40B4-BE49-F238E27FC236}">
                <a16:creationId xmlns:a16="http://schemas.microsoft.com/office/drawing/2014/main" id="{FF623A66-3031-3E4C-8E63-A83084317564}"/>
              </a:ext>
            </a:extLst>
          </p:cNvPr>
          <p:cNvSpPr>
            <a:spLocks noGrp="1"/>
          </p:cNvSpPr>
          <p:nvPr>
            <p:ph type="subTitle" idx="1"/>
          </p:nvPr>
        </p:nvSpPr>
        <p:spPr>
          <a:xfrm>
            <a:off x="6568440" y="5514011"/>
            <a:ext cx="4939353" cy="652530"/>
          </a:xfrm>
        </p:spPr>
        <p:txBody>
          <a:bodyPr>
            <a:noAutofit/>
          </a:bodyPr>
          <a:lstStyle/>
          <a:p>
            <a:pPr algn="r"/>
            <a:r>
              <a:rPr lang="en-US" sz="900" i="1" dirty="0">
                <a:solidFill>
                  <a:srgbClr val="FFFFFF"/>
                </a:solidFill>
              </a:rPr>
              <a:t>By Peter J Worth Jr</a:t>
            </a:r>
          </a:p>
          <a:p>
            <a:pPr algn="r"/>
            <a:r>
              <a:rPr lang="en-US" sz="900" i="1" dirty="0">
                <a:solidFill>
                  <a:srgbClr val="FFFFFF"/>
                </a:solidFill>
              </a:rPr>
              <a:t>President &amp; CEO, Athena Software Group</a:t>
            </a:r>
          </a:p>
        </p:txBody>
      </p:sp>
      <p:sp>
        <p:nvSpPr>
          <p:cNvPr id="2090" name="Rectangle 2089">
            <a:extLst>
              <a:ext uri="{FF2B5EF4-FFF2-40B4-BE49-F238E27FC236}">
                <a16:creationId xmlns:a16="http://schemas.microsoft.com/office/drawing/2014/main" id="{B70F7E59-C971-4F55-8E3A-1E583B65F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Footer Placeholder 4">
            <a:extLst>
              <a:ext uri="{FF2B5EF4-FFF2-40B4-BE49-F238E27FC236}">
                <a16:creationId xmlns:a16="http://schemas.microsoft.com/office/drawing/2014/main" id="{8D5CDD25-9D5A-9FED-D197-1A0B1A4E93A8}"/>
              </a:ext>
            </a:extLst>
          </p:cNvPr>
          <p:cNvSpPr txBox="1">
            <a:spLocks/>
          </p:cNvSpPr>
          <p:nvPr/>
        </p:nvSpPr>
        <p:spPr>
          <a:xfrm rot="16200000">
            <a:off x="9246709" y="3125855"/>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i="1" dirty="0"/>
              <a:t>© 2025 Athena Software Group Inc. Confidential &amp; Proprietary. Do not distribute without express permission.</a:t>
            </a:r>
          </a:p>
        </p:txBody>
      </p:sp>
    </p:spTree>
    <p:extLst>
      <p:ext uri="{BB962C8B-B14F-4D97-AF65-F5344CB8AC3E}">
        <p14:creationId xmlns:p14="http://schemas.microsoft.com/office/powerpoint/2010/main" val="2947202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0" nodeType="withEffect">
                                  <p:stCondLst>
                                    <p:cond delay="1500"/>
                                  </p:stCondLst>
                                  <p:iterate>
                                    <p:tmPct val="10000"/>
                                  </p:iterate>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12">
            <a:extLst>
              <a:ext uri="{FF2B5EF4-FFF2-40B4-BE49-F238E27FC236}">
                <a16:creationId xmlns:a16="http://schemas.microsoft.com/office/drawing/2014/main" id="{F6DA7D65-0F4C-4E07-8EE3-0BDF46A1C7F5}"/>
              </a:ext>
            </a:extLst>
          </p:cNvPr>
          <p:cNvSpPr>
            <a:spLocks noChangeArrowheads="1"/>
          </p:cNvSpPr>
          <p:nvPr/>
        </p:nvSpPr>
        <p:spPr bwMode="auto">
          <a:xfrm>
            <a:off x="1674936" y="2148096"/>
            <a:ext cx="2548856" cy="2548852"/>
          </a:xfrm>
          <a:prstGeom prst="ellipse">
            <a:avLst/>
          </a:prstGeom>
          <a:noFill/>
          <a:ln w="9525">
            <a:solidFill>
              <a:schemeClr val="tx1">
                <a:lumMod val="50000"/>
                <a:lumOff val="50000"/>
              </a:schemeClr>
            </a:solidFill>
            <a:round/>
            <a:headEnd/>
            <a:tailEnd/>
          </a:ln>
        </p:spPr>
        <p:txBody>
          <a:bodyPr vert="horz" wrap="square" lIns="91440" tIns="45720" rIns="91440" bIns="45720" numCol="1" anchor="ctr" anchorCtr="0" compatLnSpc="1">
            <a:prstTxWarp prst="textNoShape">
              <a:avLst/>
            </a:prstTxWarp>
          </a:bodyPr>
          <a:lstStyle/>
          <a:p>
            <a:pPr algn="ctr"/>
            <a:endParaRPr lang="en-IN" sz="20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73" name="Straight Connector 72">
            <a:extLst>
              <a:ext uri="{FF2B5EF4-FFF2-40B4-BE49-F238E27FC236}">
                <a16:creationId xmlns:a16="http://schemas.microsoft.com/office/drawing/2014/main" id="{71E328C2-3E31-4B1B-8535-694FF26A7A50}"/>
              </a:ext>
            </a:extLst>
          </p:cNvPr>
          <p:cNvCxnSpPr>
            <a:cxnSpLocks/>
          </p:cNvCxnSpPr>
          <p:nvPr/>
        </p:nvCxnSpPr>
        <p:spPr>
          <a:xfrm flipH="1" flipV="1">
            <a:off x="4767759" y="4396250"/>
            <a:ext cx="1302121" cy="175751"/>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03043251-E387-4FFB-B4C2-C16E01FAB4D2}"/>
              </a:ext>
            </a:extLst>
          </p:cNvPr>
          <p:cNvCxnSpPr>
            <a:cxnSpLocks/>
          </p:cNvCxnSpPr>
          <p:nvPr/>
        </p:nvCxnSpPr>
        <p:spPr>
          <a:xfrm flipH="1" flipV="1">
            <a:off x="4158115" y="5109910"/>
            <a:ext cx="1412866" cy="536815"/>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C88347E3-D28F-4631-8850-27E0A7D066BC}"/>
              </a:ext>
            </a:extLst>
          </p:cNvPr>
          <p:cNvCxnSpPr>
            <a:cxnSpLocks/>
          </p:cNvCxnSpPr>
          <p:nvPr/>
        </p:nvCxnSpPr>
        <p:spPr>
          <a:xfrm flipV="1">
            <a:off x="4166027" y="1203159"/>
            <a:ext cx="1412866" cy="536815"/>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A65561FF-69B4-4280-B496-F8D3509EFB00}"/>
              </a:ext>
            </a:extLst>
          </p:cNvPr>
          <p:cNvCxnSpPr>
            <a:cxnSpLocks/>
          </p:cNvCxnSpPr>
          <p:nvPr/>
        </p:nvCxnSpPr>
        <p:spPr>
          <a:xfrm flipV="1">
            <a:off x="4740793" y="2307689"/>
            <a:ext cx="1328242" cy="64526"/>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53E0B17C-907F-4417-8878-84E6F8708232}"/>
              </a:ext>
            </a:extLst>
          </p:cNvPr>
          <p:cNvCxnSpPr>
            <a:cxnSpLocks/>
          </p:cNvCxnSpPr>
          <p:nvPr/>
        </p:nvCxnSpPr>
        <p:spPr>
          <a:xfrm flipV="1">
            <a:off x="5007276" y="3415420"/>
            <a:ext cx="1260317" cy="12274"/>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sp>
        <p:nvSpPr>
          <p:cNvPr id="33" name="Rectangle: Rounded Corners 32">
            <a:extLst>
              <a:ext uri="{FF2B5EF4-FFF2-40B4-BE49-F238E27FC236}">
                <a16:creationId xmlns:a16="http://schemas.microsoft.com/office/drawing/2014/main" id="{FDC6F539-FB9B-4A07-B8C4-4EE1AD62329A}"/>
              </a:ext>
            </a:extLst>
          </p:cNvPr>
          <p:cNvSpPr/>
          <p:nvPr/>
        </p:nvSpPr>
        <p:spPr>
          <a:xfrm>
            <a:off x="5616629" y="770154"/>
            <a:ext cx="4645018" cy="847295"/>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Rounded Corners 37">
            <a:extLst>
              <a:ext uri="{FF2B5EF4-FFF2-40B4-BE49-F238E27FC236}">
                <a16:creationId xmlns:a16="http://schemas.microsoft.com/office/drawing/2014/main" id="{E5291BEF-C843-469D-B463-CCD2D2AA7D42}"/>
              </a:ext>
            </a:extLst>
          </p:cNvPr>
          <p:cNvSpPr/>
          <p:nvPr/>
        </p:nvSpPr>
        <p:spPr>
          <a:xfrm>
            <a:off x="6120685" y="1887754"/>
            <a:ext cx="4645018" cy="847295"/>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Rectangle: Rounded Corners 38">
            <a:extLst>
              <a:ext uri="{FF2B5EF4-FFF2-40B4-BE49-F238E27FC236}">
                <a16:creationId xmlns:a16="http://schemas.microsoft.com/office/drawing/2014/main" id="{CA42E078-31DE-4B00-8572-E7FF75E1B754}"/>
              </a:ext>
            </a:extLst>
          </p:cNvPr>
          <p:cNvSpPr/>
          <p:nvPr/>
        </p:nvSpPr>
        <p:spPr>
          <a:xfrm>
            <a:off x="6307692" y="3001680"/>
            <a:ext cx="4645018" cy="847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Rectangle: Rounded Corners 39">
            <a:extLst>
              <a:ext uri="{FF2B5EF4-FFF2-40B4-BE49-F238E27FC236}">
                <a16:creationId xmlns:a16="http://schemas.microsoft.com/office/drawing/2014/main" id="{6FA9FD22-5097-4FCA-90B6-4A02F243D994}"/>
              </a:ext>
            </a:extLst>
          </p:cNvPr>
          <p:cNvSpPr/>
          <p:nvPr/>
        </p:nvSpPr>
        <p:spPr>
          <a:xfrm>
            <a:off x="6120685" y="4122954"/>
            <a:ext cx="4645018" cy="847295"/>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Rectangle: Rounded Corners 40">
            <a:extLst>
              <a:ext uri="{FF2B5EF4-FFF2-40B4-BE49-F238E27FC236}">
                <a16:creationId xmlns:a16="http://schemas.microsoft.com/office/drawing/2014/main" id="{BA2A557F-9D31-41E7-ABC0-792F160F65B7}"/>
              </a:ext>
            </a:extLst>
          </p:cNvPr>
          <p:cNvSpPr/>
          <p:nvPr/>
        </p:nvSpPr>
        <p:spPr>
          <a:xfrm>
            <a:off x="5616629" y="5240554"/>
            <a:ext cx="4645018" cy="847295"/>
          </a:xfrm>
          <a:prstGeom prst="roundRect">
            <a:avLst>
              <a:gd name="adj"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Oval 49">
            <a:extLst>
              <a:ext uri="{FF2B5EF4-FFF2-40B4-BE49-F238E27FC236}">
                <a16:creationId xmlns:a16="http://schemas.microsoft.com/office/drawing/2014/main" id="{59D89C9F-6658-4144-88AA-47B7BBD3A0CC}"/>
              </a:ext>
            </a:extLst>
          </p:cNvPr>
          <p:cNvSpPr/>
          <p:nvPr/>
        </p:nvSpPr>
        <p:spPr>
          <a:xfrm>
            <a:off x="5245484" y="5323249"/>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6"/>
                </a:solidFill>
              </a:rPr>
              <a:t>05</a:t>
            </a:r>
          </a:p>
        </p:txBody>
      </p:sp>
      <p:sp>
        <p:nvSpPr>
          <p:cNvPr id="51" name="Oval 50">
            <a:extLst>
              <a:ext uri="{FF2B5EF4-FFF2-40B4-BE49-F238E27FC236}">
                <a16:creationId xmlns:a16="http://schemas.microsoft.com/office/drawing/2014/main" id="{195EFC69-61B4-4807-8A33-42C11A5E9B87}"/>
              </a:ext>
            </a:extLst>
          </p:cNvPr>
          <p:cNvSpPr/>
          <p:nvPr/>
        </p:nvSpPr>
        <p:spPr>
          <a:xfrm>
            <a:off x="5245484" y="852849"/>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3"/>
                </a:solidFill>
              </a:rPr>
              <a:t>01</a:t>
            </a:r>
          </a:p>
        </p:txBody>
      </p:sp>
      <p:sp>
        <p:nvSpPr>
          <p:cNvPr id="52" name="Oval 51">
            <a:extLst>
              <a:ext uri="{FF2B5EF4-FFF2-40B4-BE49-F238E27FC236}">
                <a16:creationId xmlns:a16="http://schemas.microsoft.com/office/drawing/2014/main" id="{448D429D-E052-4EAA-8E9E-43E43D48062A}"/>
              </a:ext>
            </a:extLst>
          </p:cNvPr>
          <p:cNvSpPr/>
          <p:nvPr/>
        </p:nvSpPr>
        <p:spPr>
          <a:xfrm>
            <a:off x="5728084" y="1970449"/>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2"/>
                </a:solidFill>
              </a:rPr>
              <a:t>02</a:t>
            </a:r>
          </a:p>
        </p:txBody>
      </p:sp>
      <p:sp>
        <p:nvSpPr>
          <p:cNvPr id="53" name="Oval 52">
            <a:extLst>
              <a:ext uri="{FF2B5EF4-FFF2-40B4-BE49-F238E27FC236}">
                <a16:creationId xmlns:a16="http://schemas.microsoft.com/office/drawing/2014/main" id="{D17FC635-A43A-46F6-9B85-B3DA52CA7010}"/>
              </a:ext>
            </a:extLst>
          </p:cNvPr>
          <p:cNvSpPr/>
          <p:nvPr/>
        </p:nvSpPr>
        <p:spPr>
          <a:xfrm>
            <a:off x="5728084" y="4205649"/>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4"/>
                </a:solidFill>
              </a:rPr>
              <a:t>04</a:t>
            </a:r>
          </a:p>
        </p:txBody>
      </p:sp>
      <p:sp>
        <p:nvSpPr>
          <p:cNvPr id="54" name="Oval 53">
            <a:extLst>
              <a:ext uri="{FF2B5EF4-FFF2-40B4-BE49-F238E27FC236}">
                <a16:creationId xmlns:a16="http://schemas.microsoft.com/office/drawing/2014/main" id="{E3276214-0485-49E9-959A-71040A595F50}"/>
              </a:ext>
            </a:extLst>
          </p:cNvPr>
          <p:cNvSpPr/>
          <p:nvPr/>
        </p:nvSpPr>
        <p:spPr>
          <a:xfrm>
            <a:off x="5917485" y="3084375"/>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1"/>
                </a:solidFill>
              </a:rPr>
              <a:t>03</a:t>
            </a:r>
          </a:p>
        </p:txBody>
      </p:sp>
      <p:sp>
        <p:nvSpPr>
          <p:cNvPr id="56" name="Rectangle 55">
            <a:extLst>
              <a:ext uri="{FF2B5EF4-FFF2-40B4-BE49-F238E27FC236}">
                <a16:creationId xmlns:a16="http://schemas.microsoft.com/office/drawing/2014/main" id="{ACD098C0-1942-4629-ACF1-E55D6E583B78}"/>
              </a:ext>
            </a:extLst>
          </p:cNvPr>
          <p:cNvSpPr/>
          <p:nvPr/>
        </p:nvSpPr>
        <p:spPr>
          <a:xfrm>
            <a:off x="6258437" y="1081750"/>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Cyber LLM Market Overview</a:t>
            </a:r>
          </a:p>
        </p:txBody>
      </p:sp>
      <p:sp>
        <p:nvSpPr>
          <p:cNvPr id="57" name="Rectangle 56">
            <a:extLst>
              <a:ext uri="{FF2B5EF4-FFF2-40B4-BE49-F238E27FC236}">
                <a16:creationId xmlns:a16="http://schemas.microsoft.com/office/drawing/2014/main" id="{09038F7B-50D1-4B96-BF22-F385324C47C6}"/>
              </a:ext>
            </a:extLst>
          </p:cNvPr>
          <p:cNvSpPr/>
          <p:nvPr/>
        </p:nvSpPr>
        <p:spPr>
          <a:xfrm>
            <a:off x="6258437" y="5552150"/>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Athena Software Group &amp; Glaukopis</a:t>
            </a:r>
          </a:p>
        </p:txBody>
      </p:sp>
      <p:sp>
        <p:nvSpPr>
          <p:cNvPr id="58" name="Rectangle 57">
            <a:extLst>
              <a:ext uri="{FF2B5EF4-FFF2-40B4-BE49-F238E27FC236}">
                <a16:creationId xmlns:a16="http://schemas.microsoft.com/office/drawing/2014/main" id="{98CB7327-E8E0-483E-A1CF-8B6250262002}"/>
              </a:ext>
            </a:extLst>
          </p:cNvPr>
          <p:cNvSpPr/>
          <p:nvPr/>
        </p:nvSpPr>
        <p:spPr>
          <a:xfrm>
            <a:off x="6776269" y="2199350"/>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LLM Finetuning &amp; Optimization</a:t>
            </a:r>
          </a:p>
        </p:txBody>
      </p:sp>
      <p:sp>
        <p:nvSpPr>
          <p:cNvPr id="59" name="Rectangle 58">
            <a:extLst>
              <a:ext uri="{FF2B5EF4-FFF2-40B4-BE49-F238E27FC236}">
                <a16:creationId xmlns:a16="http://schemas.microsoft.com/office/drawing/2014/main" id="{795C9383-3BEB-458E-A6E6-DB8FE4FF36F9}"/>
              </a:ext>
            </a:extLst>
          </p:cNvPr>
          <p:cNvSpPr/>
          <p:nvPr/>
        </p:nvSpPr>
        <p:spPr>
          <a:xfrm>
            <a:off x="6976547" y="3313276"/>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LLM Product Development Lifecycle</a:t>
            </a:r>
          </a:p>
        </p:txBody>
      </p:sp>
      <p:sp>
        <p:nvSpPr>
          <p:cNvPr id="60" name="Rectangle 59">
            <a:extLst>
              <a:ext uri="{FF2B5EF4-FFF2-40B4-BE49-F238E27FC236}">
                <a16:creationId xmlns:a16="http://schemas.microsoft.com/office/drawing/2014/main" id="{13EFB635-3803-4E96-97FB-E31E434D64B0}"/>
              </a:ext>
            </a:extLst>
          </p:cNvPr>
          <p:cNvSpPr/>
          <p:nvPr/>
        </p:nvSpPr>
        <p:spPr>
          <a:xfrm>
            <a:off x="6766437" y="4434550"/>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Flashpoint Ignite Integration</a:t>
            </a:r>
          </a:p>
        </p:txBody>
      </p:sp>
      <p:sp>
        <p:nvSpPr>
          <p:cNvPr id="26" name="Oval 25">
            <a:extLst>
              <a:ext uri="{FF2B5EF4-FFF2-40B4-BE49-F238E27FC236}">
                <a16:creationId xmlns:a16="http://schemas.microsoft.com/office/drawing/2014/main" id="{7658948B-6400-4947-A46E-AE5C146E965E}"/>
              </a:ext>
            </a:extLst>
          </p:cNvPr>
          <p:cNvSpPr/>
          <p:nvPr/>
        </p:nvSpPr>
        <p:spPr>
          <a:xfrm>
            <a:off x="2910883" y="1330669"/>
            <a:ext cx="2094438" cy="4188876"/>
          </a:xfrm>
          <a:custGeom>
            <a:avLst/>
            <a:gdLst>
              <a:gd name="connsiteX0" fmla="*/ 0 w 4850078"/>
              <a:gd name="connsiteY0" fmla="*/ 2425039 h 4850078"/>
              <a:gd name="connsiteX1" fmla="*/ 2425039 w 4850078"/>
              <a:gd name="connsiteY1" fmla="*/ 0 h 4850078"/>
              <a:gd name="connsiteX2" fmla="*/ 4850078 w 4850078"/>
              <a:gd name="connsiteY2" fmla="*/ 2425039 h 4850078"/>
              <a:gd name="connsiteX3" fmla="*/ 2425039 w 4850078"/>
              <a:gd name="connsiteY3" fmla="*/ 4850078 h 4850078"/>
              <a:gd name="connsiteX4" fmla="*/ 0 w 4850078"/>
              <a:gd name="connsiteY4" fmla="*/ 2425039 h 4850078"/>
              <a:gd name="connsiteX0" fmla="*/ 0 w 4850078"/>
              <a:gd name="connsiteY0" fmla="*/ 2425039 h 4850078"/>
              <a:gd name="connsiteX1" fmla="*/ 2425039 w 4850078"/>
              <a:gd name="connsiteY1" fmla="*/ 0 h 4850078"/>
              <a:gd name="connsiteX2" fmla="*/ 4850078 w 4850078"/>
              <a:gd name="connsiteY2" fmla="*/ 2425039 h 4850078"/>
              <a:gd name="connsiteX3" fmla="*/ 2425039 w 4850078"/>
              <a:gd name="connsiteY3" fmla="*/ 4850078 h 4850078"/>
              <a:gd name="connsiteX4" fmla="*/ 91440 w 4850078"/>
              <a:gd name="connsiteY4" fmla="*/ 2516479 h 4850078"/>
              <a:gd name="connsiteX0" fmla="*/ 0 w 4850078"/>
              <a:gd name="connsiteY0" fmla="*/ 2425039 h 4850078"/>
              <a:gd name="connsiteX1" fmla="*/ 2425039 w 4850078"/>
              <a:gd name="connsiteY1" fmla="*/ 0 h 4850078"/>
              <a:gd name="connsiteX2" fmla="*/ 4850078 w 4850078"/>
              <a:gd name="connsiteY2" fmla="*/ 2425039 h 4850078"/>
              <a:gd name="connsiteX3" fmla="*/ 2425039 w 4850078"/>
              <a:gd name="connsiteY3" fmla="*/ 4850078 h 4850078"/>
              <a:gd name="connsiteX0" fmla="*/ 0 w 2425039"/>
              <a:gd name="connsiteY0" fmla="*/ 0 h 4850078"/>
              <a:gd name="connsiteX1" fmla="*/ 2425039 w 2425039"/>
              <a:gd name="connsiteY1" fmla="*/ 2425039 h 4850078"/>
              <a:gd name="connsiteX2" fmla="*/ 0 w 2425039"/>
              <a:gd name="connsiteY2" fmla="*/ 4850078 h 4850078"/>
            </a:gdLst>
            <a:ahLst/>
            <a:cxnLst>
              <a:cxn ang="0">
                <a:pos x="connsiteX0" y="connsiteY0"/>
              </a:cxn>
              <a:cxn ang="0">
                <a:pos x="connsiteX1" y="connsiteY1"/>
              </a:cxn>
              <a:cxn ang="0">
                <a:pos x="connsiteX2" y="connsiteY2"/>
              </a:cxn>
            </a:cxnLst>
            <a:rect l="l" t="t" r="r" b="b"/>
            <a:pathLst>
              <a:path w="2425039" h="4850078">
                <a:moveTo>
                  <a:pt x="0" y="0"/>
                </a:moveTo>
                <a:cubicBezTo>
                  <a:pt x="1339312" y="0"/>
                  <a:pt x="2425039" y="1085727"/>
                  <a:pt x="2425039" y="2425039"/>
                </a:cubicBezTo>
                <a:cubicBezTo>
                  <a:pt x="2425039" y="3764351"/>
                  <a:pt x="1339312" y="4850078"/>
                  <a:pt x="0" y="4850078"/>
                </a:cubicBezTo>
              </a:path>
            </a:pathLst>
          </a:custGeom>
          <a:noFill/>
          <a:ln w="38100" cap="rnd">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FC513F39-9800-4013-904F-FAA76DB47329}"/>
              </a:ext>
            </a:extLst>
          </p:cNvPr>
          <p:cNvSpPr/>
          <p:nvPr/>
        </p:nvSpPr>
        <p:spPr>
          <a:xfrm>
            <a:off x="2858448" y="1280161"/>
            <a:ext cx="104870" cy="104871"/>
          </a:xfrm>
          <a:prstGeom prst="ellipse">
            <a:avLst/>
          </a:prstGeom>
          <a:solidFill>
            <a:schemeClr val="bg1"/>
          </a:solidFill>
          <a:ln>
            <a:no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081FD6DC-DF1E-4423-B649-2BC02C0084ED}"/>
              </a:ext>
            </a:extLst>
          </p:cNvPr>
          <p:cNvSpPr/>
          <p:nvPr/>
        </p:nvSpPr>
        <p:spPr>
          <a:xfrm>
            <a:off x="2858448" y="5472970"/>
            <a:ext cx="104870" cy="104871"/>
          </a:xfrm>
          <a:prstGeom prst="ellipse">
            <a:avLst/>
          </a:prstGeom>
          <a:solidFill>
            <a:schemeClr val="bg1"/>
          </a:solidFill>
          <a:ln>
            <a:no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Oval 30">
            <a:extLst>
              <a:ext uri="{FF2B5EF4-FFF2-40B4-BE49-F238E27FC236}">
                <a16:creationId xmlns:a16="http://schemas.microsoft.com/office/drawing/2014/main" id="{A44F72E9-1B9A-47B3-85FD-79870A5693E7}"/>
              </a:ext>
            </a:extLst>
          </p:cNvPr>
          <p:cNvSpPr/>
          <p:nvPr/>
        </p:nvSpPr>
        <p:spPr>
          <a:xfrm>
            <a:off x="4695092" y="4319217"/>
            <a:ext cx="150046" cy="150046"/>
          </a:xfrm>
          <a:prstGeom prst="ellipse">
            <a:avLst/>
          </a:prstGeom>
          <a:solidFill>
            <a:schemeClr val="accent4"/>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Oval 34">
            <a:extLst>
              <a:ext uri="{FF2B5EF4-FFF2-40B4-BE49-F238E27FC236}">
                <a16:creationId xmlns:a16="http://schemas.microsoft.com/office/drawing/2014/main" id="{1435A159-032C-4DEA-817C-4AAED3E59DA6}"/>
              </a:ext>
            </a:extLst>
          </p:cNvPr>
          <p:cNvSpPr/>
          <p:nvPr/>
        </p:nvSpPr>
        <p:spPr>
          <a:xfrm>
            <a:off x="4069288" y="5018677"/>
            <a:ext cx="175885" cy="175885"/>
          </a:xfrm>
          <a:prstGeom prst="ellipse">
            <a:avLst/>
          </a:prstGeom>
          <a:solidFill>
            <a:schemeClr val="accent6"/>
          </a:solidFill>
          <a:ln w="5715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Oval 28">
            <a:extLst>
              <a:ext uri="{FF2B5EF4-FFF2-40B4-BE49-F238E27FC236}">
                <a16:creationId xmlns:a16="http://schemas.microsoft.com/office/drawing/2014/main" id="{F0D42A82-9055-4055-9ACC-4186E22809A9}"/>
              </a:ext>
            </a:extLst>
          </p:cNvPr>
          <p:cNvSpPr/>
          <p:nvPr/>
        </p:nvSpPr>
        <p:spPr>
          <a:xfrm>
            <a:off x="4095129" y="1663441"/>
            <a:ext cx="150046" cy="150046"/>
          </a:xfrm>
          <a:prstGeom prst="ellipse">
            <a:avLst/>
          </a:prstGeom>
          <a:solidFill>
            <a:schemeClr val="accent3"/>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id="{33382DD6-2C32-43C1-B0C7-28A6FCA1793A}"/>
              </a:ext>
            </a:extLst>
          </p:cNvPr>
          <p:cNvSpPr/>
          <p:nvPr/>
        </p:nvSpPr>
        <p:spPr>
          <a:xfrm>
            <a:off x="4663176" y="2300682"/>
            <a:ext cx="150046" cy="150046"/>
          </a:xfrm>
          <a:prstGeom prst="ellipse">
            <a:avLst/>
          </a:prstGeom>
          <a:solidFill>
            <a:schemeClr val="accent2"/>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Freeform 5">
            <a:extLst>
              <a:ext uri="{FF2B5EF4-FFF2-40B4-BE49-F238E27FC236}">
                <a16:creationId xmlns:a16="http://schemas.microsoft.com/office/drawing/2014/main" id="{64510D95-31EE-44E1-83A0-F578711F9FFE}"/>
              </a:ext>
            </a:extLst>
          </p:cNvPr>
          <p:cNvSpPr>
            <a:spLocks/>
          </p:cNvSpPr>
          <p:nvPr/>
        </p:nvSpPr>
        <p:spPr bwMode="auto">
          <a:xfrm>
            <a:off x="2947458" y="2272968"/>
            <a:ext cx="1001569" cy="1152143"/>
          </a:xfrm>
          <a:custGeom>
            <a:avLst/>
            <a:gdLst>
              <a:gd name="T0" fmla="*/ 298 w 298"/>
              <a:gd name="T1" fmla="*/ 106 h 343"/>
              <a:gd name="T2" fmla="*/ 165 w 298"/>
              <a:gd name="T3" fmla="*/ 0 h 343"/>
              <a:gd name="T4" fmla="*/ 0 w 298"/>
              <a:gd name="T5" fmla="*/ 343 h 343"/>
              <a:gd name="T6" fmla="*/ 298 w 298"/>
              <a:gd name="T7" fmla="*/ 106 h 343"/>
            </a:gdLst>
            <a:ahLst/>
            <a:cxnLst>
              <a:cxn ang="0">
                <a:pos x="T0" y="T1"/>
              </a:cxn>
              <a:cxn ang="0">
                <a:pos x="T2" y="T3"/>
              </a:cxn>
              <a:cxn ang="0">
                <a:pos x="T4" y="T5"/>
              </a:cxn>
              <a:cxn ang="0">
                <a:pos x="T6" y="T7"/>
              </a:cxn>
            </a:cxnLst>
            <a:rect l="0" t="0" r="r" b="b"/>
            <a:pathLst>
              <a:path w="298" h="343">
                <a:moveTo>
                  <a:pt x="298" y="106"/>
                </a:moveTo>
                <a:cubicBezTo>
                  <a:pt x="262" y="62"/>
                  <a:pt x="217" y="25"/>
                  <a:pt x="165" y="0"/>
                </a:cubicBezTo>
                <a:cubicBezTo>
                  <a:pt x="0" y="343"/>
                  <a:pt x="0" y="343"/>
                  <a:pt x="0" y="343"/>
                </a:cubicBezTo>
                <a:lnTo>
                  <a:pt x="298" y="106"/>
                </a:lnTo>
                <a:close/>
              </a:path>
            </a:pathLst>
          </a:custGeom>
          <a:solidFill>
            <a:schemeClr val="accent3"/>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3" name="Freeform 6">
            <a:extLst>
              <a:ext uri="{FF2B5EF4-FFF2-40B4-BE49-F238E27FC236}">
                <a16:creationId xmlns:a16="http://schemas.microsoft.com/office/drawing/2014/main" id="{D07D3B83-545B-473A-9A1F-85D211BCEA1B}"/>
              </a:ext>
            </a:extLst>
          </p:cNvPr>
          <p:cNvSpPr>
            <a:spLocks/>
          </p:cNvSpPr>
          <p:nvPr/>
        </p:nvSpPr>
        <p:spPr bwMode="auto">
          <a:xfrm>
            <a:off x="2947458" y="3142572"/>
            <a:ext cx="1277339" cy="571842"/>
          </a:xfrm>
          <a:custGeom>
            <a:avLst/>
            <a:gdLst>
              <a:gd name="T0" fmla="*/ 371 w 380"/>
              <a:gd name="T1" fmla="*/ 0 h 170"/>
              <a:gd name="T2" fmla="*/ 0 w 380"/>
              <a:gd name="T3" fmla="*/ 84 h 170"/>
              <a:gd name="T4" fmla="*/ 371 w 380"/>
              <a:gd name="T5" fmla="*/ 170 h 170"/>
              <a:gd name="T6" fmla="*/ 380 w 380"/>
              <a:gd name="T7" fmla="*/ 84 h 170"/>
              <a:gd name="T8" fmla="*/ 371 w 380"/>
              <a:gd name="T9" fmla="*/ 0 h 170"/>
            </a:gdLst>
            <a:ahLst/>
            <a:cxnLst>
              <a:cxn ang="0">
                <a:pos x="T0" y="T1"/>
              </a:cxn>
              <a:cxn ang="0">
                <a:pos x="T2" y="T3"/>
              </a:cxn>
              <a:cxn ang="0">
                <a:pos x="T4" y="T5"/>
              </a:cxn>
              <a:cxn ang="0">
                <a:pos x="T6" y="T7"/>
              </a:cxn>
              <a:cxn ang="0">
                <a:pos x="T8" y="T9"/>
              </a:cxn>
            </a:cxnLst>
            <a:rect l="0" t="0" r="r" b="b"/>
            <a:pathLst>
              <a:path w="380" h="170">
                <a:moveTo>
                  <a:pt x="371" y="0"/>
                </a:moveTo>
                <a:cubicBezTo>
                  <a:pt x="0" y="84"/>
                  <a:pt x="0" y="84"/>
                  <a:pt x="0" y="84"/>
                </a:cubicBezTo>
                <a:cubicBezTo>
                  <a:pt x="371" y="170"/>
                  <a:pt x="371" y="170"/>
                  <a:pt x="371" y="170"/>
                </a:cubicBezTo>
                <a:cubicBezTo>
                  <a:pt x="377" y="143"/>
                  <a:pt x="380" y="114"/>
                  <a:pt x="380" y="84"/>
                </a:cubicBezTo>
                <a:cubicBezTo>
                  <a:pt x="380" y="55"/>
                  <a:pt x="377" y="27"/>
                  <a:pt x="371" y="0"/>
                </a:cubicBez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5" name="Freeform 8">
            <a:extLst>
              <a:ext uri="{FF2B5EF4-FFF2-40B4-BE49-F238E27FC236}">
                <a16:creationId xmlns:a16="http://schemas.microsoft.com/office/drawing/2014/main" id="{0CFF83FC-07C8-4FC5-BC84-5BA1C94ED3A1}"/>
              </a:ext>
            </a:extLst>
          </p:cNvPr>
          <p:cNvSpPr>
            <a:spLocks/>
          </p:cNvSpPr>
          <p:nvPr/>
        </p:nvSpPr>
        <p:spPr bwMode="auto">
          <a:xfrm>
            <a:off x="2947457" y="2628254"/>
            <a:ext cx="1246886" cy="796857"/>
          </a:xfrm>
          <a:custGeom>
            <a:avLst/>
            <a:gdLst>
              <a:gd name="T0" fmla="*/ 371 w 371"/>
              <a:gd name="T1" fmla="*/ 153 h 237"/>
              <a:gd name="T2" fmla="*/ 298 w 371"/>
              <a:gd name="T3" fmla="*/ 0 h 237"/>
              <a:gd name="T4" fmla="*/ 0 w 371"/>
              <a:gd name="T5" fmla="*/ 237 h 237"/>
              <a:gd name="T6" fmla="*/ 371 w 371"/>
              <a:gd name="T7" fmla="*/ 153 h 237"/>
            </a:gdLst>
            <a:ahLst/>
            <a:cxnLst>
              <a:cxn ang="0">
                <a:pos x="T0" y="T1"/>
              </a:cxn>
              <a:cxn ang="0">
                <a:pos x="T2" y="T3"/>
              </a:cxn>
              <a:cxn ang="0">
                <a:pos x="T4" y="T5"/>
              </a:cxn>
              <a:cxn ang="0">
                <a:pos x="T6" y="T7"/>
              </a:cxn>
            </a:cxnLst>
            <a:rect l="0" t="0" r="r" b="b"/>
            <a:pathLst>
              <a:path w="371" h="237">
                <a:moveTo>
                  <a:pt x="371" y="153"/>
                </a:moveTo>
                <a:cubicBezTo>
                  <a:pt x="358" y="96"/>
                  <a:pt x="333" y="44"/>
                  <a:pt x="298" y="0"/>
                </a:cubicBezTo>
                <a:cubicBezTo>
                  <a:pt x="0" y="237"/>
                  <a:pt x="0" y="237"/>
                  <a:pt x="0" y="237"/>
                </a:cubicBezTo>
                <a:lnTo>
                  <a:pt x="371" y="153"/>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5" name="Freeform 10">
            <a:extLst>
              <a:ext uri="{FF2B5EF4-FFF2-40B4-BE49-F238E27FC236}">
                <a16:creationId xmlns:a16="http://schemas.microsoft.com/office/drawing/2014/main" id="{EC129D0F-AE48-4F75-990A-AF431B3988A7}"/>
              </a:ext>
            </a:extLst>
          </p:cNvPr>
          <p:cNvSpPr>
            <a:spLocks/>
          </p:cNvSpPr>
          <p:nvPr/>
        </p:nvSpPr>
        <p:spPr bwMode="auto">
          <a:xfrm>
            <a:off x="2947457" y="3425110"/>
            <a:ext cx="1246886" cy="803624"/>
          </a:xfrm>
          <a:custGeom>
            <a:avLst/>
            <a:gdLst>
              <a:gd name="T0" fmla="*/ 296 w 371"/>
              <a:gd name="T1" fmla="*/ 239 h 239"/>
              <a:gd name="T2" fmla="*/ 371 w 371"/>
              <a:gd name="T3" fmla="*/ 86 h 239"/>
              <a:gd name="T4" fmla="*/ 0 w 371"/>
              <a:gd name="T5" fmla="*/ 0 h 239"/>
              <a:gd name="T6" fmla="*/ 296 w 371"/>
              <a:gd name="T7" fmla="*/ 239 h 239"/>
            </a:gdLst>
            <a:ahLst/>
            <a:cxnLst>
              <a:cxn ang="0">
                <a:pos x="T0" y="T1"/>
              </a:cxn>
              <a:cxn ang="0">
                <a:pos x="T2" y="T3"/>
              </a:cxn>
              <a:cxn ang="0">
                <a:pos x="T4" y="T5"/>
              </a:cxn>
              <a:cxn ang="0">
                <a:pos x="T6" y="T7"/>
              </a:cxn>
            </a:cxnLst>
            <a:rect l="0" t="0" r="r" b="b"/>
            <a:pathLst>
              <a:path w="371" h="239">
                <a:moveTo>
                  <a:pt x="296" y="239"/>
                </a:moveTo>
                <a:cubicBezTo>
                  <a:pt x="332" y="195"/>
                  <a:pt x="358" y="143"/>
                  <a:pt x="371" y="86"/>
                </a:cubicBezTo>
                <a:cubicBezTo>
                  <a:pt x="0" y="0"/>
                  <a:pt x="0" y="0"/>
                  <a:pt x="0" y="0"/>
                </a:cubicBezTo>
                <a:lnTo>
                  <a:pt x="296" y="239"/>
                </a:lnTo>
                <a:close/>
              </a:path>
            </a:pathLst>
          </a:custGeom>
          <a:solidFill>
            <a:schemeClr val="accent4"/>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6" name="Freeform 11">
            <a:extLst>
              <a:ext uri="{FF2B5EF4-FFF2-40B4-BE49-F238E27FC236}">
                <a16:creationId xmlns:a16="http://schemas.microsoft.com/office/drawing/2014/main" id="{4F6846FD-7798-4F83-8034-FE4854BF6A9A}"/>
              </a:ext>
            </a:extLst>
          </p:cNvPr>
          <p:cNvSpPr>
            <a:spLocks/>
          </p:cNvSpPr>
          <p:nvPr/>
        </p:nvSpPr>
        <p:spPr bwMode="auto">
          <a:xfrm>
            <a:off x="2947457" y="3425111"/>
            <a:ext cx="994802" cy="1155527"/>
          </a:xfrm>
          <a:custGeom>
            <a:avLst/>
            <a:gdLst>
              <a:gd name="T0" fmla="*/ 163 w 296"/>
              <a:gd name="T1" fmla="*/ 344 h 344"/>
              <a:gd name="T2" fmla="*/ 296 w 296"/>
              <a:gd name="T3" fmla="*/ 239 h 344"/>
              <a:gd name="T4" fmla="*/ 0 w 296"/>
              <a:gd name="T5" fmla="*/ 0 h 344"/>
              <a:gd name="T6" fmla="*/ 163 w 296"/>
              <a:gd name="T7" fmla="*/ 344 h 344"/>
            </a:gdLst>
            <a:ahLst/>
            <a:cxnLst>
              <a:cxn ang="0">
                <a:pos x="T0" y="T1"/>
              </a:cxn>
              <a:cxn ang="0">
                <a:pos x="T2" y="T3"/>
              </a:cxn>
              <a:cxn ang="0">
                <a:pos x="T4" y="T5"/>
              </a:cxn>
              <a:cxn ang="0">
                <a:pos x="T6" y="T7"/>
              </a:cxn>
            </a:cxnLst>
            <a:rect l="0" t="0" r="r" b="b"/>
            <a:pathLst>
              <a:path w="296" h="344">
                <a:moveTo>
                  <a:pt x="163" y="344"/>
                </a:moveTo>
                <a:cubicBezTo>
                  <a:pt x="215" y="320"/>
                  <a:pt x="261" y="283"/>
                  <a:pt x="296" y="239"/>
                </a:cubicBezTo>
                <a:cubicBezTo>
                  <a:pt x="0" y="0"/>
                  <a:pt x="0" y="0"/>
                  <a:pt x="0" y="0"/>
                </a:cubicBezTo>
                <a:lnTo>
                  <a:pt x="163" y="344"/>
                </a:lnTo>
                <a:close/>
              </a:path>
            </a:pathLst>
          </a:custGeom>
          <a:solidFill>
            <a:schemeClr val="accent6"/>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9" name="Oval 12">
            <a:extLst>
              <a:ext uri="{FF2B5EF4-FFF2-40B4-BE49-F238E27FC236}">
                <a16:creationId xmlns:a16="http://schemas.microsoft.com/office/drawing/2014/main" id="{0CBF14EC-EB0E-47BB-895A-567949A6621E}"/>
              </a:ext>
            </a:extLst>
          </p:cNvPr>
          <p:cNvSpPr>
            <a:spLocks noChangeArrowheads="1"/>
          </p:cNvSpPr>
          <p:nvPr/>
        </p:nvSpPr>
        <p:spPr bwMode="auto">
          <a:xfrm>
            <a:off x="1821269" y="2304504"/>
            <a:ext cx="2248995" cy="2248992"/>
          </a:xfrm>
          <a:prstGeom prst="ellipse">
            <a:avLst/>
          </a:prstGeom>
          <a:solidFill>
            <a:schemeClr val="bg1"/>
          </a:solidFill>
          <a:ln w="9525">
            <a:noFill/>
            <a:round/>
            <a:headEnd/>
            <a:tailEnd/>
          </a:ln>
        </p:spPr>
        <p:txBody>
          <a:bodyPr vert="horz" wrap="square" lIns="91440" tIns="45720" rIns="91440" bIns="45720" numCol="1" anchor="ctr" anchorCtr="0" compatLnSpc="1">
            <a:prstTxWarp prst="textNoShape">
              <a:avLst/>
            </a:prstTxWarp>
          </a:bodyPr>
          <a:lstStyle/>
          <a:p>
            <a:pPr algn="ctr"/>
            <a:r>
              <a:rPr lang="en-IN" sz="16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Building Cyber Security LLMs</a:t>
            </a:r>
          </a:p>
        </p:txBody>
      </p:sp>
      <p:sp>
        <p:nvSpPr>
          <p:cNvPr id="20" name="Oval 19">
            <a:extLst>
              <a:ext uri="{FF2B5EF4-FFF2-40B4-BE49-F238E27FC236}">
                <a16:creationId xmlns:a16="http://schemas.microsoft.com/office/drawing/2014/main" id="{C043F1EC-3BED-4E15-9E37-C6DCEB07805C}"/>
              </a:ext>
            </a:extLst>
          </p:cNvPr>
          <p:cNvSpPr/>
          <p:nvPr/>
        </p:nvSpPr>
        <p:spPr>
          <a:xfrm>
            <a:off x="4925094" y="3348719"/>
            <a:ext cx="150046" cy="150046"/>
          </a:xfrm>
          <a:prstGeom prst="ellipse">
            <a:avLst/>
          </a:prstGeom>
          <a:solidFill>
            <a:schemeClr val="accent1"/>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86416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E05F8-221D-418B-044F-833A5E2528B4}"/>
              </a:ext>
            </a:extLst>
          </p:cNvPr>
          <p:cNvSpPr>
            <a:spLocks noGrp="1"/>
          </p:cNvSpPr>
          <p:nvPr>
            <p:ph type="title"/>
          </p:nvPr>
        </p:nvSpPr>
        <p:spPr/>
        <p:txBody>
          <a:bodyPr/>
          <a:lstStyle/>
          <a:p>
            <a:r>
              <a:rPr lang="en-US" dirty="0"/>
              <a:t>Cyber LLMs</a:t>
            </a:r>
          </a:p>
        </p:txBody>
      </p:sp>
      <p:sp>
        <p:nvSpPr>
          <p:cNvPr id="3" name="Text Placeholder 2">
            <a:extLst>
              <a:ext uri="{FF2B5EF4-FFF2-40B4-BE49-F238E27FC236}">
                <a16:creationId xmlns:a16="http://schemas.microsoft.com/office/drawing/2014/main" id="{7AD2AE2B-E44F-10C3-8235-42A6DEA916ED}"/>
              </a:ext>
            </a:extLst>
          </p:cNvPr>
          <p:cNvSpPr>
            <a:spLocks noGrp="1"/>
          </p:cNvSpPr>
          <p:nvPr>
            <p:ph type="body" idx="1"/>
          </p:nvPr>
        </p:nvSpPr>
        <p:spPr/>
        <p:txBody>
          <a:bodyPr/>
          <a:lstStyle/>
          <a:p>
            <a:r>
              <a:rPr lang="en-US" dirty="0"/>
              <a:t>Current State, Build &amp; optimization Strategies</a:t>
            </a:r>
          </a:p>
        </p:txBody>
      </p:sp>
    </p:spTree>
    <p:extLst>
      <p:ext uri="{BB962C8B-B14F-4D97-AF65-F5344CB8AC3E}">
        <p14:creationId xmlns:p14="http://schemas.microsoft.com/office/powerpoint/2010/main" val="6036332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CF0AD-B28C-11E7-E164-BB974EEC07DC}"/>
              </a:ext>
            </a:extLst>
          </p:cNvPr>
          <p:cNvSpPr>
            <a:spLocks noGrp="1"/>
          </p:cNvSpPr>
          <p:nvPr>
            <p:ph type="title" idx="4294967295"/>
          </p:nvPr>
        </p:nvSpPr>
        <p:spPr>
          <a:xfrm>
            <a:off x="1444021" y="60071"/>
            <a:ext cx="8761413" cy="708025"/>
          </a:xfrm>
        </p:spPr>
        <p:txBody>
          <a:bodyPr/>
          <a:lstStyle/>
          <a:p>
            <a:pPr algn="ctr"/>
            <a:r>
              <a:rPr lang="en-US" sz="2000" dirty="0">
                <a:solidFill>
                  <a:schemeClr val="tx1"/>
                </a:solidFill>
              </a:rPr>
              <a:t>Foundational Use Cases for Cyber Security Language Models</a:t>
            </a:r>
            <a:r>
              <a:rPr lang="en-US" sz="2800" dirty="0">
                <a:solidFill>
                  <a:schemeClr val="tx1"/>
                </a:solidFill>
              </a:rPr>
              <a:t> </a:t>
            </a:r>
          </a:p>
        </p:txBody>
      </p:sp>
      <p:sp>
        <p:nvSpPr>
          <p:cNvPr id="4" name="Content Placeholder 3">
            <a:extLst>
              <a:ext uri="{FF2B5EF4-FFF2-40B4-BE49-F238E27FC236}">
                <a16:creationId xmlns:a16="http://schemas.microsoft.com/office/drawing/2014/main" id="{CD34934C-AC74-2982-E07D-63A13530FEAE}"/>
              </a:ext>
            </a:extLst>
          </p:cNvPr>
          <p:cNvSpPr>
            <a:spLocks noGrp="1"/>
          </p:cNvSpPr>
          <p:nvPr>
            <p:ph sz="half" idx="4294967295"/>
          </p:nvPr>
        </p:nvSpPr>
        <p:spPr>
          <a:xfrm>
            <a:off x="5922264" y="873029"/>
            <a:ext cx="5413375" cy="4479925"/>
          </a:xfrm>
        </p:spPr>
        <p:txBody>
          <a:bodyPr>
            <a:noAutofit/>
          </a:bodyPr>
          <a:lstStyle/>
          <a:p>
            <a:pPr>
              <a:spcBef>
                <a:spcPts val="600"/>
              </a:spcBef>
              <a:buNone/>
            </a:pPr>
            <a:r>
              <a:rPr lang="en-US" sz="900" b="1" dirty="0"/>
              <a:t>6. Intelligent Threat Intelligence</a:t>
            </a:r>
          </a:p>
          <a:p>
            <a:pPr marL="0" indent="0">
              <a:spcBef>
                <a:spcPts val="600"/>
              </a:spcBef>
              <a:buNone/>
            </a:pPr>
            <a:r>
              <a:rPr lang="en-US" sz="900" dirty="0"/>
              <a:t>Parsing vast amounts of threat intelligence data to provide concise, actionable insights tailored to an organization's unique threat landscape. Automatically generating intelligence reports or briefings about emerging threats and their implications for the organization.</a:t>
            </a:r>
          </a:p>
          <a:p>
            <a:pPr>
              <a:spcBef>
                <a:spcPts val="600"/>
              </a:spcBef>
              <a:buNone/>
            </a:pPr>
            <a:endParaRPr lang="en-US" sz="900" b="1" dirty="0"/>
          </a:p>
          <a:p>
            <a:pPr>
              <a:spcBef>
                <a:spcPts val="600"/>
              </a:spcBef>
              <a:buNone/>
            </a:pPr>
            <a:r>
              <a:rPr lang="en-US" sz="900" b="1" dirty="0"/>
              <a:t>7. Cybersecurity Assistant (Chatbot/Virtual Analyst)</a:t>
            </a:r>
          </a:p>
          <a:p>
            <a:pPr marL="0" indent="0">
              <a:spcBef>
                <a:spcPts val="600"/>
              </a:spcBef>
              <a:buNone/>
            </a:pPr>
            <a:r>
              <a:rPr lang="en-US" sz="900" dirty="0"/>
              <a:t>Serving as a first-line assistant that provides cybersecurity support, answering questions about policies, procedures, recent threats, or incident response guidelines. Assisting cybersecurity analysts by summarizing logs, incidents, or threat intelligence data to expedite informed decision-making.</a:t>
            </a:r>
          </a:p>
          <a:p>
            <a:pPr>
              <a:spcBef>
                <a:spcPts val="600"/>
              </a:spcBef>
              <a:buNone/>
            </a:pPr>
            <a:endParaRPr lang="en-US" sz="900" b="1" dirty="0"/>
          </a:p>
          <a:p>
            <a:pPr>
              <a:spcBef>
                <a:spcPts val="600"/>
              </a:spcBef>
              <a:buNone/>
            </a:pPr>
            <a:r>
              <a:rPr lang="en-US" sz="900" b="1" dirty="0"/>
              <a:t>8. Code and Software Security Analysis</a:t>
            </a:r>
          </a:p>
          <a:p>
            <a:pPr marL="0" indent="0">
              <a:spcBef>
                <a:spcPts val="600"/>
              </a:spcBef>
              <a:buNone/>
            </a:pPr>
            <a:r>
              <a:rPr lang="en-US" sz="900" dirty="0"/>
              <a:t>Reviewing code repositories, documentation, and logs to identify potential security weaknesses, such as insecure coding patterns, hardcoded credentials, or risky configuration settings. Suggesting secure coding practices and generating contextual remediation steps.</a:t>
            </a:r>
          </a:p>
          <a:p>
            <a:pPr>
              <a:spcBef>
                <a:spcPts val="600"/>
              </a:spcBef>
              <a:buNone/>
            </a:pPr>
            <a:endParaRPr lang="en-US" sz="900" b="1" dirty="0"/>
          </a:p>
          <a:p>
            <a:pPr>
              <a:spcBef>
                <a:spcPts val="600"/>
              </a:spcBef>
              <a:buNone/>
            </a:pPr>
            <a:r>
              <a:rPr lang="en-US" sz="900" b="1" dirty="0"/>
              <a:t>9. Enhanced SIEM and Log Analysis</a:t>
            </a:r>
          </a:p>
          <a:p>
            <a:pPr marL="0" indent="0">
              <a:spcBef>
                <a:spcPts val="600"/>
              </a:spcBef>
              <a:buNone/>
            </a:pPr>
            <a:r>
              <a:rPr lang="en-US" sz="900" dirty="0"/>
              <a:t>Integrating LLMs with Security Information and Event Management (SIEM) platforms to provide enhanced semantic understanding of security logs, correlate events, and reduce false positives through natural language analysis. Improving root-cause analysis by interpreting event logs and contextualizing security events.</a:t>
            </a:r>
          </a:p>
          <a:p>
            <a:pPr>
              <a:spcBef>
                <a:spcPts val="600"/>
              </a:spcBef>
              <a:buNone/>
            </a:pPr>
            <a:endParaRPr lang="en-US" sz="900" b="1" dirty="0"/>
          </a:p>
          <a:p>
            <a:pPr>
              <a:spcBef>
                <a:spcPts val="600"/>
              </a:spcBef>
              <a:buNone/>
            </a:pPr>
            <a:r>
              <a:rPr lang="en-US" sz="900" b="1" dirty="0"/>
              <a:t>10. Retrieval-Augmented Generation (RAG) for Security</a:t>
            </a:r>
          </a:p>
          <a:p>
            <a:pPr marL="0" indent="0">
              <a:spcBef>
                <a:spcPts val="600"/>
              </a:spcBef>
              <a:buNone/>
            </a:pPr>
            <a:r>
              <a:rPr lang="en-US" sz="900" dirty="0"/>
              <a:t>Employing RAG models to access up-to-date cybersecurity knowledge bases or internal documentation, providing timely, accurate, and contextually relevant answers during security incidents or routine operations.</a:t>
            </a:r>
          </a:p>
        </p:txBody>
      </p:sp>
      <p:sp>
        <p:nvSpPr>
          <p:cNvPr id="3" name="Content Placeholder 2">
            <a:extLst>
              <a:ext uri="{FF2B5EF4-FFF2-40B4-BE49-F238E27FC236}">
                <a16:creationId xmlns:a16="http://schemas.microsoft.com/office/drawing/2014/main" id="{36030E77-D0D5-319B-FBAA-B3CC779F0D28}"/>
              </a:ext>
            </a:extLst>
          </p:cNvPr>
          <p:cNvSpPr>
            <a:spLocks noGrp="1"/>
          </p:cNvSpPr>
          <p:nvPr>
            <p:ph sz="half" idx="4294967295"/>
          </p:nvPr>
        </p:nvSpPr>
        <p:spPr>
          <a:xfrm>
            <a:off x="338328" y="873029"/>
            <a:ext cx="5212080" cy="5271739"/>
          </a:xfrm>
        </p:spPr>
        <p:txBody>
          <a:bodyPr>
            <a:noAutofit/>
          </a:bodyPr>
          <a:lstStyle/>
          <a:p>
            <a:pPr>
              <a:spcBef>
                <a:spcPts val="600"/>
              </a:spcBef>
              <a:buNone/>
            </a:pPr>
            <a:r>
              <a:rPr lang="en-US" sz="900" b="1" dirty="0"/>
              <a:t>1. Threat Detection and Anomaly Identification</a:t>
            </a:r>
          </a:p>
          <a:p>
            <a:pPr marL="0" indent="0">
              <a:spcBef>
                <a:spcPts val="600"/>
              </a:spcBef>
              <a:buNone/>
            </a:pPr>
            <a:r>
              <a:rPr lang="en-US" sz="900" dirty="0"/>
              <a:t>LLMs can analyze extensive logs, network events, and telemetry data, recognizing subtle patterns indicative of cyber threats or anomalies. They provide contextual understanding of suspicious activity, correlating seemingly unrelated events to identify potential breaches or attacks.</a:t>
            </a:r>
          </a:p>
          <a:p>
            <a:pPr marL="0" indent="0">
              <a:spcBef>
                <a:spcPts val="600"/>
              </a:spcBef>
              <a:buNone/>
            </a:pPr>
            <a:endParaRPr lang="en-US" sz="900" dirty="0"/>
          </a:p>
          <a:p>
            <a:pPr>
              <a:spcBef>
                <a:spcPts val="600"/>
              </a:spcBef>
              <a:buNone/>
            </a:pPr>
            <a:r>
              <a:rPr lang="en-US" sz="900" b="1" dirty="0"/>
              <a:t>2. Security Incident Response Automation</a:t>
            </a:r>
          </a:p>
          <a:p>
            <a:pPr marL="0" indent="0">
              <a:spcBef>
                <a:spcPts val="600"/>
              </a:spcBef>
              <a:buNone/>
            </a:pPr>
            <a:r>
              <a:rPr lang="en-US" sz="900" dirty="0"/>
              <a:t>Automating responses to standard security incidents by interpreting alerts, analyzing context, and suggesting or executing initial remediation steps. Streamlining the triage process to quickly prioritize critical threats based on context derived from past incidents.</a:t>
            </a:r>
          </a:p>
          <a:p>
            <a:pPr>
              <a:spcBef>
                <a:spcPts val="600"/>
              </a:spcBef>
              <a:buNone/>
            </a:pPr>
            <a:endParaRPr lang="en-US" sz="900" b="1" dirty="0"/>
          </a:p>
          <a:p>
            <a:pPr>
              <a:spcBef>
                <a:spcPts val="600"/>
              </a:spcBef>
              <a:buNone/>
            </a:pPr>
            <a:r>
              <a:rPr lang="en-US" sz="900" b="1" dirty="0"/>
              <a:t>3. Vulnerability Assessment and Management</a:t>
            </a:r>
          </a:p>
          <a:p>
            <a:pPr marL="0" indent="0">
              <a:spcBef>
                <a:spcPts val="600"/>
              </a:spcBef>
              <a:buNone/>
            </a:pPr>
            <a:r>
              <a:rPr lang="en-US" sz="900" dirty="0"/>
              <a:t>Parsing security bulletins, advisories, and CVE databases to summarize and highlight critical vulnerabilities relevant to an organization's infrastructure. Generating actionable mitigation strategies and prioritization recommendations tailored to the organization's specific technologies and risk profile.</a:t>
            </a:r>
          </a:p>
          <a:p>
            <a:pPr>
              <a:spcBef>
                <a:spcPts val="600"/>
              </a:spcBef>
              <a:buNone/>
            </a:pPr>
            <a:endParaRPr lang="en-US" sz="900" b="1" dirty="0"/>
          </a:p>
          <a:p>
            <a:pPr>
              <a:spcBef>
                <a:spcPts val="600"/>
              </a:spcBef>
              <a:buNone/>
            </a:pPr>
            <a:r>
              <a:rPr lang="en-US" sz="900" b="1" dirty="0"/>
              <a:t>4. Phishing and Social Engineering Detection</a:t>
            </a:r>
          </a:p>
          <a:p>
            <a:pPr marL="0" indent="0">
              <a:spcBef>
                <a:spcPts val="600"/>
              </a:spcBef>
              <a:buNone/>
            </a:pPr>
            <a:r>
              <a:rPr lang="en-US" sz="900" dirty="0"/>
              <a:t>Identifying suspicious patterns in emails, text messages, and other communication platforms by leveraging natural language understanding to detect phishing, impersonation, or manipulative techniques. Educating users by generating realistic phishing simulations or context-aware cybersecurity training content.</a:t>
            </a:r>
          </a:p>
          <a:p>
            <a:pPr>
              <a:spcBef>
                <a:spcPts val="600"/>
              </a:spcBef>
              <a:buNone/>
            </a:pPr>
            <a:endParaRPr lang="en-US" sz="900" b="1" dirty="0"/>
          </a:p>
          <a:p>
            <a:pPr>
              <a:spcBef>
                <a:spcPts val="600"/>
              </a:spcBef>
              <a:buNone/>
            </a:pPr>
            <a:r>
              <a:rPr lang="en-US" sz="900" b="1" dirty="0"/>
              <a:t>5. Cybersecurity Documentation and Compliance Automation</a:t>
            </a:r>
          </a:p>
          <a:p>
            <a:pPr marL="0" indent="0">
              <a:spcBef>
                <a:spcPts val="600"/>
              </a:spcBef>
              <a:buNone/>
            </a:pPr>
            <a:r>
              <a:rPr lang="en-US" sz="900" dirty="0"/>
              <a:t>Generating compliance reports, incident documentation, and audit logs automatically, reducing the manual burden associated with regulatory requirements (e.g., GDPR, NYSDFS 23 NYCRR 500).Assisting in the interpretation of regulatory texts, summarizing complex cybersecurity requirements, and suggesting compliance actions.</a:t>
            </a:r>
          </a:p>
        </p:txBody>
      </p:sp>
      <p:sp>
        <p:nvSpPr>
          <p:cNvPr id="6" name="TextBox 5">
            <a:extLst>
              <a:ext uri="{FF2B5EF4-FFF2-40B4-BE49-F238E27FC236}">
                <a16:creationId xmlns:a16="http://schemas.microsoft.com/office/drawing/2014/main" id="{B4C5E023-D0EB-50FB-1BDF-C0FE2338117A}"/>
              </a:ext>
            </a:extLst>
          </p:cNvPr>
          <p:cNvSpPr txBox="1"/>
          <p:nvPr/>
        </p:nvSpPr>
        <p:spPr>
          <a:xfrm>
            <a:off x="2529713" y="6030691"/>
            <a:ext cx="9323959" cy="646331"/>
          </a:xfrm>
          <a:prstGeom prst="rect">
            <a:avLst/>
          </a:prstGeom>
          <a:noFill/>
        </p:spPr>
        <p:txBody>
          <a:bodyPr wrap="square" rtlCol="0">
            <a:spAutoFit/>
          </a:bodyPr>
          <a:lstStyle/>
          <a:p>
            <a:pPr algn="ctr"/>
            <a:r>
              <a:rPr lang="en-US" sz="1200" i="1" dirty="0"/>
              <a:t>Threat intelligence application is the target for first phase, with incident response, compliance automation, analysts support and RAG integration (1, 2, 5, 7 and 10) as potential targets thereafter. Models must be trained on Cyber security data (public + private) and then plugged into the environment for proper contextualization and customization of output </a:t>
            </a:r>
          </a:p>
        </p:txBody>
      </p:sp>
    </p:spTree>
    <p:extLst>
      <p:ext uri="{BB962C8B-B14F-4D97-AF65-F5344CB8AC3E}">
        <p14:creationId xmlns:p14="http://schemas.microsoft.com/office/powerpoint/2010/main" val="3636262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B7A7B-4568-3D20-11C3-196DDFCB61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B7A5FA-4822-3F0B-2D5E-907BB92C78F5}"/>
              </a:ext>
            </a:extLst>
          </p:cNvPr>
          <p:cNvSpPr>
            <a:spLocks noGrp="1"/>
          </p:cNvSpPr>
          <p:nvPr>
            <p:ph type="title" idx="4294967295"/>
          </p:nvPr>
        </p:nvSpPr>
        <p:spPr>
          <a:xfrm>
            <a:off x="1052622" y="155976"/>
            <a:ext cx="8761413" cy="708025"/>
          </a:xfrm>
        </p:spPr>
        <p:txBody>
          <a:bodyPr/>
          <a:lstStyle/>
          <a:p>
            <a:pPr algn="ctr"/>
            <a:r>
              <a:rPr lang="en-US" sz="2800" dirty="0">
                <a:solidFill>
                  <a:schemeClr val="tx1"/>
                </a:solidFill>
              </a:rPr>
              <a:t>Cyber Security Language Models</a:t>
            </a:r>
          </a:p>
        </p:txBody>
      </p:sp>
      <p:graphicFrame>
        <p:nvGraphicFramePr>
          <p:cNvPr id="3" name="Table 2">
            <a:extLst>
              <a:ext uri="{FF2B5EF4-FFF2-40B4-BE49-F238E27FC236}">
                <a16:creationId xmlns:a16="http://schemas.microsoft.com/office/drawing/2014/main" id="{725C5B1F-C897-8651-9A7C-330C8E50B30A}"/>
              </a:ext>
            </a:extLst>
          </p:cNvPr>
          <p:cNvGraphicFramePr>
            <a:graphicFrameLocks noGrp="1"/>
          </p:cNvGraphicFramePr>
          <p:nvPr>
            <p:extLst>
              <p:ext uri="{D42A27DB-BD31-4B8C-83A1-F6EECF244321}">
                <p14:modId xmlns:p14="http://schemas.microsoft.com/office/powerpoint/2010/main" val="708461660"/>
              </p:ext>
            </p:extLst>
          </p:nvPr>
        </p:nvGraphicFramePr>
        <p:xfrm>
          <a:off x="563526" y="937770"/>
          <a:ext cx="10674451" cy="5188709"/>
        </p:xfrm>
        <a:graphic>
          <a:graphicData uri="http://schemas.openxmlformats.org/drawingml/2006/table">
            <a:tbl>
              <a:tblPr firstRow="1" bandRow="1">
                <a:noFill/>
                <a:tableStyleId>{5C22544A-7EE6-4342-B048-85BDC9FD1C3A}</a:tableStyleId>
              </a:tblPr>
              <a:tblGrid>
                <a:gridCol w="1162015">
                  <a:extLst>
                    <a:ext uri="{9D8B030D-6E8A-4147-A177-3AD203B41FA5}">
                      <a16:colId xmlns:a16="http://schemas.microsoft.com/office/drawing/2014/main" val="3147494107"/>
                    </a:ext>
                  </a:extLst>
                </a:gridCol>
                <a:gridCol w="899489">
                  <a:extLst>
                    <a:ext uri="{9D8B030D-6E8A-4147-A177-3AD203B41FA5}">
                      <a16:colId xmlns:a16="http://schemas.microsoft.com/office/drawing/2014/main" val="3934316649"/>
                    </a:ext>
                  </a:extLst>
                </a:gridCol>
                <a:gridCol w="1324032">
                  <a:extLst>
                    <a:ext uri="{9D8B030D-6E8A-4147-A177-3AD203B41FA5}">
                      <a16:colId xmlns:a16="http://schemas.microsoft.com/office/drawing/2014/main" val="3860505591"/>
                    </a:ext>
                  </a:extLst>
                </a:gridCol>
                <a:gridCol w="1085506">
                  <a:extLst>
                    <a:ext uri="{9D8B030D-6E8A-4147-A177-3AD203B41FA5}">
                      <a16:colId xmlns:a16="http://schemas.microsoft.com/office/drawing/2014/main" val="1119723414"/>
                    </a:ext>
                  </a:extLst>
                </a:gridCol>
                <a:gridCol w="3130207">
                  <a:extLst>
                    <a:ext uri="{9D8B030D-6E8A-4147-A177-3AD203B41FA5}">
                      <a16:colId xmlns:a16="http://schemas.microsoft.com/office/drawing/2014/main" val="3430417174"/>
                    </a:ext>
                  </a:extLst>
                </a:gridCol>
                <a:gridCol w="3073202">
                  <a:extLst>
                    <a:ext uri="{9D8B030D-6E8A-4147-A177-3AD203B41FA5}">
                      <a16:colId xmlns:a16="http://schemas.microsoft.com/office/drawing/2014/main" val="1825153481"/>
                    </a:ext>
                  </a:extLst>
                </a:gridCol>
              </a:tblGrid>
              <a:tr h="431911">
                <a:tc>
                  <a:txBody>
                    <a:bodyPr/>
                    <a:lstStyle/>
                    <a:p>
                      <a:pPr algn="ctr" fontAlgn="b"/>
                      <a:r>
                        <a:rPr lang="en-US" sz="1000" b="1" u="sng" strike="noStrike" cap="none" spc="0" dirty="0">
                          <a:solidFill>
                            <a:schemeClr val="tx1"/>
                          </a:solidFill>
                          <a:effectLst/>
                        </a:rPr>
                        <a:t>Model Name</a:t>
                      </a:r>
                      <a:endParaRPr lang="en-US" sz="1000" b="1" i="0" u="sng" strike="noStrike" cap="none" spc="0" dirty="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dirty="0">
                          <a:solidFill>
                            <a:schemeClr val="tx1"/>
                          </a:solidFill>
                          <a:effectLst/>
                        </a:rPr>
                        <a:t>Introduced</a:t>
                      </a:r>
                      <a:endParaRPr lang="en-US" sz="1000" b="1" i="0" u="sng" strike="noStrike" cap="none" spc="0" dirty="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dirty="0">
                          <a:solidFill>
                            <a:schemeClr val="tx1"/>
                          </a:solidFill>
                          <a:effectLst/>
                        </a:rPr>
                        <a:t>Developer(s)</a:t>
                      </a:r>
                      <a:endParaRPr lang="en-US" sz="1000" b="1" i="0" u="sng" strike="noStrike" cap="none" spc="0" dirty="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dirty="0">
                          <a:solidFill>
                            <a:schemeClr val="tx1"/>
                          </a:solidFill>
                          <a:effectLst/>
                        </a:rPr>
                        <a:t>Base Model</a:t>
                      </a:r>
                      <a:endParaRPr lang="en-US" sz="1000" b="1" i="0" u="sng" strike="noStrike" cap="none" spc="0" dirty="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dirty="0">
                          <a:solidFill>
                            <a:schemeClr val="tx1"/>
                          </a:solidFill>
                          <a:effectLst/>
                        </a:rPr>
                        <a:t>Training Methodology</a:t>
                      </a:r>
                      <a:endParaRPr lang="en-US" sz="1000" b="1" i="0" u="sng" strike="noStrike" cap="none" spc="0" dirty="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dirty="0">
                          <a:solidFill>
                            <a:schemeClr val="tx1"/>
                          </a:solidFill>
                          <a:effectLst/>
                        </a:rPr>
                        <a:t>Targeted Domains</a:t>
                      </a:r>
                      <a:endParaRPr lang="en-US" sz="1000" b="1" i="0" u="sng" strike="noStrike" cap="none" spc="0" dirty="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extLst>
                  <a:ext uri="{0D108BD9-81ED-4DB2-BD59-A6C34878D82A}">
                    <a16:rowId xmlns:a16="http://schemas.microsoft.com/office/drawing/2014/main" val="2139084753"/>
                  </a:ext>
                </a:extLst>
              </a:tr>
              <a:tr h="625638">
                <a:tc>
                  <a:txBody>
                    <a:bodyPr/>
                    <a:lstStyle/>
                    <a:p>
                      <a:pPr algn="l" fontAlgn="b"/>
                      <a:r>
                        <a:rPr lang="en-US" sz="900" i="1" u="none" strike="noStrike" cap="none" spc="0" dirty="0">
                          <a:solidFill>
                            <a:schemeClr val="tx1"/>
                          </a:solidFill>
                          <a:effectLst/>
                        </a:rPr>
                        <a:t>CyberPal.AI</a:t>
                      </a:r>
                      <a:endParaRPr lang="en-US" sz="900" b="1" i="1" u="none" strike="noStrike" cap="none" spc="0" dirty="0">
                        <a:solidFill>
                          <a:schemeClr val="tx1"/>
                        </a:solidFill>
                        <a:effectLst/>
                        <a:latin typeface="Aptos Narrow" panose="020B0004020202020204" pitchFamily="34" charset="0"/>
                      </a:endParaRPr>
                    </a:p>
                  </a:txBody>
                  <a:tcPr marL="3803" marR="3803" marT="36510" marB="36510" anchor="b">
                    <a:lnL w="28575" cap="flat" cmpd="sng" algn="ctr">
                      <a:noFill/>
                      <a:prstDash val="solid"/>
                    </a:lnL>
                    <a:lnR w="12700" cmpd="sng">
                      <a:noFill/>
                      <a:prstDash val="solid"/>
                    </a:lnR>
                    <a:lnT w="38100" cmpd="sng">
                      <a:noFill/>
                    </a:lnT>
                    <a:lnB w="12700" cap="flat" cmpd="sng" algn="ctr">
                      <a:noFill/>
                      <a:prstDash val="solid"/>
                    </a:lnB>
                    <a:noFill/>
                  </a:tcPr>
                </a:tc>
                <a:tc>
                  <a:txBody>
                    <a:bodyPr/>
                    <a:lstStyle/>
                    <a:p>
                      <a:pPr algn="ctr" fontAlgn="b"/>
                      <a:r>
                        <a:rPr lang="en-US" sz="900" u="none" strike="noStrike" cap="none" spc="0" dirty="0">
                          <a:solidFill>
                            <a:schemeClr val="tx1"/>
                          </a:solidFill>
                          <a:effectLst/>
                        </a:rPr>
                        <a:t>Aug-24</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r>
                        <a:rPr lang="en-US" sz="900" u="none" strike="noStrike" cap="none" spc="0">
                          <a:solidFill>
                            <a:schemeClr val="tx1"/>
                          </a:solidFill>
                          <a:effectLst/>
                        </a:rPr>
                        <a:t>Matan Levi et al.</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r>
                        <a:rPr lang="en-US" sz="900" u="none" strike="noStrike" cap="none" spc="0" dirty="0">
                          <a:solidFill>
                            <a:schemeClr val="tx1"/>
                          </a:solidFill>
                          <a:effectLst/>
                        </a:rPr>
                        <a:t>Not specified</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r>
                        <a:rPr lang="en-US" sz="900" u="none" strike="noStrike" cap="none" spc="0" dirty="0">
                          <a:solidFill>
                            <a:schemeClr val="tx1"/>
                          </a:solidFill>
                          <a:effectLst/>
                        </a:rPr>
                        <a:t>Instruction tuning with SecKnowledge dataset; evaluated using SecKnowledge-Eval benchmark</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r>
                        <a:rPr lang="en-US" sz="900" u="none" strike="noStrike" cap="none" spc="0">
                          <a:solidFill>
                            <a:schemeClr val="tx1"/>
                          </a:solidFill>
                          <a:effectLst/>
                        </a:rPr>
                        <a:t>Threat hunting, malware analysis, vulnerability assessment, incident response</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28575" cap="flat" cmpd="sng" algn="ctr">
                      <a:noFill/>
                      <a:prstDash val="solid"/>
                    </a:lnR>
                    <a:lnT w="38100" cmpd="sng">
                      <a:noFill/>
                    </a:lnT>
                    <a:lnB w="12700" cap="flat" cmpd="sng" algn="ctr">
                      <a:noFill/>
                      <a:prstDash val="solid"/>
                    </a:lnB>
                    <a:noFill/>
                  </a:tcPr>
                </a:tc>
                <a:extLst>
                  <a:ext uri="{0D108BD9-81ED-4DB2-BD59-A6C34878D82A}">
                    <a16:rowId xmlns:a16="http://schemas.microsoft.com/office/drawing/2014/main" val="355934464"/>
                  </a:ext>
                </a:extLst>
              </a:tr>
              <a:tr h="535781">
                <a:tc>
                  <a:txBody>
                    <a:bodyPr/>
                    <a:lstStyle/>
                    <a:p>
                      <a:pPr algn="l" fontAlgn="b"/>
                      <a:r>
                        <a:rPr lang="en-US" sz="900" i="1" u="none" strike="noStrike" cap="none" spc="0" dirty="0">
                          <a:solidFill>
                            <a:schemeClr val="tx1"/>
                          </a:solidFill>
                          <a:effectLst/>
                        </a:rPr>
                        <a:t>Llama-Primus</a:t>
                      </a:r>
                      <a:endParaRPr lang="en-US" sz="900" b="1" i="1"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fontAlgn="b"/>
                      <a:r>
                        <a:rPr lang="en-US" sz="900" u="none" strike="noStrike" cap="none" spc="0" dirty="0">
                          <a:solidFill>
                            <a:schemeClr val="tx1"/>
                          </a:solidFill>
                          <a:effectLst/>
                        </a:rPr>
                        <a:t>Feb-25</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Trend Micro AI Lab</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dirty="0">
                          <a:solidFill>
                            <a:schemeClr val="tx1"/>
                          </a:solidFill>
                          <a:effectLst/>
                        </a:rPr>
                        <a:t>Llama-3.1-8B-Instruct</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dirty="0">
                          <a:solidFill>
                            <a:schemeClr val="tx1"/>
                          </a:solidFill>
                          <a:effectLst/>
                        </a:rPr>
                        <a:t>Continual pretraining on cybersecurity corpus; instruction fine-tuning with curated QA tasks</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Cyber threat intelligence, vulnerability classification, security certification preparation</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575695743"/>
                  </a:ext>
                </a:extLst>
              </a:tr>
              <a:tr h="930480">
                <a:tc>
                  <a:txBody>
                    <a:bodyPr/>
                    <a:lstStyle/>
                    <a:p>
                      <a:pPr algn="l" fontAlgn="b"/>
                      <a:r>
                        <a:rPr lang="en-US" sz="900" i="1" u="none" strike="noStrike" cap="none" spc="0" dirty="0" err="1">
                          <a:solidFill>
                            <a:schemeClr val="tx1"/>
                          </a:solidFill>
                          <a:effectLst/>
                        </a:rPr>
                        <a:t>SecBERT</a:t>
                      </a:r>
                      <a:endParaRPr lang="en-US" sz="900" b="1" i="1" u="none" strike="noStrike" cap="none" spc="0" dirty="0">
                        <a:solidFill>
                          <a:schemeClr val="tx1"/>
                        </a:solidFill>
                        <a:effectLst/>
                        <a:latin typeface="Aptos Narrow" panose="020B0004020202020204" pitchFamily="34" charset="0"/>
                      </a:endParaRPr>
                    </a:p>
                  </a:txBody>
                  <a:tcPr marL="3803" marR="3803" marT="36510" marB="36510" anchor="b">
                    <a:lnL w="28575"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algn="ctr" fontAlgn="b"/>
                      <a:r>
                        <a:rPr lang="en-US" sz="900" u="none" strike="noStrike" cap="none" spc="0">
                          <a:solidFill>
                            <a:schemeClr val="tx1"/>
                          </a:solidFill>
                          <a:effectLst/>
                        </a:rPr>
                        <a:t>2022</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jackaduma</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dirty="0">
                          <a:solidFill>
                            <a:schemeClr val="tx1"/>
                          </a:solidFill>
                          <a:effectLst/>
                        </a:rPr>
                        <a:t>BERT</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dirty="0">
                          <a:solidFill>
                            <a:schemeClr val="tx1"/>
                          </a:solidFill>
                          <a:effectLst/>
                        </a:rPr>
                        <a:t>Pretrained from scratch on cybersecurity texts including </a:t>
                      </a:r>
                      <a:r>
                        <a:rPr lang="en-US" sz="900" u="none" strike="noStrike" cap="none" spc="0" dirty="0" err="1">
                          <a:solidFill>
                            <a:schemeClr val="tx1"/>
                          </a:solidFill>
                          <a:effectLst/>
                        </a:rPr>
                        <a:t>APTnotes</a:t>
                      </a:r>
                      <a:r>
                        <a:rPr lang="en-US" sz="900" u="none" strike="noStrike" cap="none" spc="0" dirty="0">
                          <a:solidFill>
                            <a:schemeClr val="tx1"/>
                          </a:solidFill>
                          <a:effectLst/>
                        </a:rPr>
                        <a:t>, Stucco-Data, CASIE, and SemEval-2018 Task 8; custom vocabulary</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Threat intelligence, NER, text classification, semantic understanding, Q&amp;A in cybersecurity context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28575" cap="flat" cmpd="sng" algn="ctr">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4019052514"/>
                  </a:ext>
                </a:extLst>
              </a:tr>
              <a:tr h="554541">
                <a:tc>
                  <a:txBody>
                    <a:bodyPr/>
                    <a:lstStyle/>
                    <a:p>
                      <a:pPr algn="l" fontAlgn="b"/>
                      <a:r>
                        <a:rPr lang="en-US" sz="900" i="1" u="none" strike="noStrike" cap="none" spc="0" dirty="0" err="1">
                          <a:solidFill>
                            <a:schemeClr val="tx1"/>
                          </a:solidFill>
                          <a:effectLst/>
                        </a:rPr>
                        <a:t>SecureBERT</a:t>
                      </a:r>
                      <a:endParaRPr lang="en-US" sz="900" b="1" i="1"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fontAlgn="b"/>
                      <a:r>
                        <a:rPr lang="en-US" sz="900" u="none" strike="noStrike" cap="none" spc="0">
                          <a:solidFill>
                            <a:schemeClr val="tx1"/>
                          </a:solidFill>
                          <a:effectLst/>
                        </a:rPr>
                        <a:t>2022</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Ehsan Aghaei et al. (UNC Charlotte)</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dirty="0">
                          <a:solidFill>
                            <a:schemeClr val="tx1"/>
                          </a:solidFill>
                          <a:effectLst/>
                        </a:rPr>
                        <a:t>BERT</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dirty="0">
                          <a:solidFill>
                            <a:schemeClr val="tx1"/>
                          </a:solidFill>
                          <a:effectLst/>
                        </a:rPr>
                        <a:t>Continual pretraining with customized tokenizer on large corpus of cybersecurity text</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Cyber threat intelligence, cyber automation, phishing detection, code and malware analysis, intrusion detection</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009529436"/>
                  </a:ext>
                </a:extLst>
              </a:tr>
              <a:tr h="764291">
                <a:tc>
                  <a:txBody>
                    <a:bodyPr/>
                    <a:lstStyle/>
                    <a:p>
                      <a:pPr algn="l" fontAlgn="b"/>
                      <a:r>
                        <a:rPr lang="en-US" sz="900" i="1" u="none" strike="noStrike" cap="none" spc="0" dirty="0">
                          <a:solidFill>
                            <a:schemeClr val="tx1"/>
                          </a:solidFill>
                          <a:effectLst/>
                        </a:rPr>
                        <a:t>CTI-BERT</a:t>
                      </a:r>
                      <a:endParaRPr lang="en-US" sz="900" b="1" i="1" u="none" strike="noStrike" cap="none" spc="0" dirty="0">
                        <a:solidFill>
                          <a:schemeClr val="tx1"/>
                        </a:solidFill>
                        <a:effectLst/>
                        <a:latin typeface="Aptos Narrow" panose="020B0004020202020204" pitchFamily="34" charset="0"/>
                      </a:endParaRPr>
                    </a:p>
                  </a:txBody>
                  <a:tcPr marL="3803" marR="3803" marT="36510" marB="36510" anchor="b">
                    <a:lnL w="28575"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algn="ctr" fontAlgn="b"/>
                      <a:r>
                        <a:rPr lang="en-US" sz="900" u="none" strike="noStrike" cap="none" spc="0">
                          <a:solidFill>
                            <a:schemeClr val="tx1"/>
                          </a:solidFill>
                          <a:effectLst/>
                        </a:rPr>
                        <a:t>Dec-23</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IBM T.J. Watson Research Center</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dirty="0">
                          <a:solidFill>
                            <a:schemeClr val="tx1"/>
                          </a:solidFill>
                          <a:effectLst/>
                        </a:rPr>
                        <a:t>BERT</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dirty="0">
                          <a:solidFill>
                            <a:schemeClr val="tx1"/>
                          </a:solidFill>
                          <a:effectLst/>
                        </a:rPr>
                        <a:t>Pretrained from scratch on high-quality cybersecurity corpus containing CTI reports and publications</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dirty="0">
                          <a:solidFill>
                            <a:schemeClr val="tx1"/>
                          </a:solidFill>
                          <a:effectLst/>
                        </a:rPr>
                        <a:t>Cyber threat intelligence extraction, security entity (</a:t>
                      </a:r>
                      <a:r>
                        <a:rPr lang="en-US" sz="900" u="none" strike="noStrike" cap="none" spc="0" dirty="0" err="1">
                          <a:solidFill>
                            <a:schemeClr val="tx1"/>
                          </a:solidFill>
                          <a:effectLst/>
                        </a:rPr>
                        <a:t>IoCs</a:t>
                      </a:r>
                      <a:r>
                        <a:rPr lang="en-US" sz="900" u="none" strike="noStrike" cap="none" spc="0" dirty="0">
                          <a:solidFill>
                            <a:schemeClr val="tx1"/>
                          </a:solidFill>
                          <a:effectLst/>
                        </a:rPr>
                        <a:t>) extraction, attack technique (TTPs) classification</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28575" cap="flat" cmpd="sng" algn="ctr">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3051085325"/>
                  </a:ext>
                </a:extLst>
              </a:tr>
              <a:tr h="554541">
                <a:tc>
                  <a:txBody>
                    <a:bodyPr/>
                    <a:lstStyle/>
                    <a:p>
                      <a:pPr algn="l" fontAlgn="b"/>
                      <a:r>
                        <a:rPr lang="en-US" sz="900" i="1" u="none" strike="noStrike" cap="none" spc="0" dirty="0" err="1">
                          <a:solidFill>
                            <a:schemeClr val="tx1"/>
                          </a:solidFill>
                          <a:effectLst/>
                        </a:rPr>
                        <a:t>SecurityLLM</a:t>
                      </a:r>
                      <a:endParaRPr lang="en-US" sz="900" b="1" i="1"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fontAlgn="b"/>
                      <a:r>
                        <a:rPr lang="en-US" sz="900" u="none" strike="noStrike" cap="none" spc="0">
                          <a:solidFill>
                            <a:schemeClr val="tx1"/>
                          </a:solidFill>
                          <a:effectLst/>
                        </a:rPr>
                        <a:t>Jan-25</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ZySec-AI</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Zephyr-7b-beta</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dirty="0">
                          <a:solidFill>
                            <a:schemeClr val="tx1"/>
                          </a:solidFill>
                          <a:effectLst/>
                        </a:rPr>
                        <a:t>Direct Preference Optimization (DPO) training across 30+ security domains</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dirty="0">
                          <a:solidFill>
                            <a:schemeClr val="tx1"/>
                          </a:solidFill>
                          <a:effectLst/>
                        </a:rPr>
                        <a:t>Threat analysis, compliance verification, security architecture reviews, SOC operations, risk management</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920605362"/>
                  </a:ext>
                </a:extLst>
              </a:tr>
              <a:tr h="791526">
                <a:tc>
                  <a:txBody>
                    <a:bodyPr/>
                    <a:lstStyle/>
                    <a:p>
                      <a:pPr algn="l" fontAlgn="b"/>
                      <a:r>
                        <a:rPr lang="en-US" sz="900" i="1" u="none" strike="noStrike" cap="none" spc="0" dirty="0" err="1">
                          <a:solidFill>
                            <a:schemeClr val="tx1"/>
                          </a:solidFill>
                          <a:effectLst/>
                        </a:rPr>
                        <a:t>SecurityBERT</a:t>
                      </a:r>
                      <a:endParaRPr lang="en-US" sz="900" b="1" i="1" u="none" strike="noStrike" cap="none" spc="0" dirty="0">
                        <a:solidFill>
                          <a:schemeClr val="tx1"/>
                        </a:solidFill>
                        <a:effectLst/>
                        <a:latin typeface="Aptos Narrow" panose="020B0004020202020204" pitchFamily="34" charset="0"/>
                      </a:endParaRPr>
                    </a:p>
                  </a:txBody>
                  <a:tcPr marL="3803" marR="3803" marT="36510" marB="36510" anchor="b">
                    <a:lnL w="28575" cap="flat" cmpd="sng" algn="ctr">
                      <a:noFill/>
                      <a:prstDash val="solid"/>
                    </a:lnL>
                    <a:lnR w="12700" cmpd="sng">
                      <a:noFill/>
                      <a:prstDash val="solid"/>
                    </a:lnR>
                    <a:lnT w="12700" cmpd="sng">
                      <a:noFill/>
                      <a:prstDash val="solid"/>
                    </a:lnT>
                    <a:lnB w="28575" cap="flat" cmpd="sng" algn="ctr">
                      <a:noFill/>
                      <a:prstDash val="solid"/>
                    </a:lnB>
                    <a:noFill/>
                  </a:tcPr>
                </a:tc>
                <a:tc>
                  <a:txBody>
                    <a:bodyPr/>
                    <a:lstStyle/>
                    <a:p>
                      <a:pPr algn="ctr" fontAlgn="b"/>
                      <a:r>
                        <a:rPr lang="en-US" sz="900" u="none" strike="noStrike" cap="none" spc="0">
                          <a:solidFill>
                            <a:schemeClr val="tx1"/>
                          </a:solidFill>
                          <a:effectLst/>
                        </a:rPr>
                        <a:t>Jun-23</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
                      <a:r>
                        <a:rPr lang="en-US" sz="900" u="none" strike="noStrike" cap="none" spc="0" dirty="0">
                          <a:solidFill>
                            <a:schemeClr val="tx1"/>
                          </a:solidFill>
                          <a:effectLst/>
                        </a:rPr>
                        <a:t>Mohamed Amine </a:t>
                      </a:r>
                      <a:r>
                        <a:rPr lang="en-US" sz="900" u="none" strike="noStrike" cap="none" spc="0" dirty="0" err="1">
                          <a:solidFill>
                            <a:schemeClr val="tx1"/>
                          </a:solidFill>
                          <a:effectLst/>
                        </a:rPr>
                        <a:t>Ferrag</a:t>
                      </a:r>
                      <a:r>
                        <a:rPr lang="en-US" sz="900" u="none" strike="noStrike" cap="none" spc="0" dirty="0">
                          <a:solidFill>
                            <a:schemeClr val="tx1"/>
                          </a:solidFill>
                          <a:effectLst/>
                        </a:rPr>
                        <a:t> et al.</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
                      <a:r>
                        <a:rPr lang="en-US" sz="900" u="none" strike="noStrike" cap="none" spc="0" dirty="0">
                          <a:solidFill>
                            <a:schemeClr val="tx1"/>
                          </a:solidFill>
                          <a:effectLst/>
                        </a:rPr>
                        <a:t>BERT</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
                      <a:r>
                        <a:rPr lang="en-US" sz="900" u="none" strike="noStrike" cap="none" spc="0" dirty="0">
                          <a:solidFill>
                            <a:schemeClr val="tx1"/>
                          </a:solidFill>
                          <a:effectLst/>
                        </a:rPr>
                        <a:t>Privacy-preserving encoding technique (PPFLE) combined with Byte-level Byte-Pair Encoder (BBPE) Tokenizer; trained on IoT data</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
                      <a:r>
                        <a:rPr lang="en-US" sz="900" u="none" strike="noStrike" cap="none" spc="0" dirty="0">
                          <a:solidFill>
                            <a:schemeClr val="tx1"/>
                          </a:solidFill>
                          <a:effectLst/>
                        </a:rPr>
                        <a:t>Cyber threat detection in IoT/</a:t>
                      </a:r>
                      <a:r>
                        <a:rPr lang="en-US" sz="900" u="none" strike="noStrike" cap="none" spc="0" dirty="0" err="1">
                          <a:solidFill>
                            <a:schemeClr val="tx1"/>
                          </a:solidFill>
                          <a:effectLst/>
                        </a:rPr>
                        <a:t>IIoT</a:t>
                      </a:r>
                      <a:r>
                        <a:rPr lang="en-US" sz="900" u="none" strike="noStrike" cap="none" spc="0" dirty="0">
                          <a:solidFill>
                            <a:schemeClr val="tx1"/>
                          </a:solidFill>
                          <a:effectLst/>
                        </a:rPr>
                        <a:t> devices</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28575" cap="flat" cmpd="sng" algn="ctr">
                      <a:noFill/>
                      <a:prstDash val="solid"/>
                    </a:lnR>
                    <a:lnT w="12700" cmpd="sng">
                      <a:noFill/>
                      <a:prstDash val="solid"/>
                    </a:lnT>
                    <a:lnB w="28575" cap="flat" cmpd="sng" algn="ctr">
                      <a:noFill/>
                      <a:prstDash val="solid"/>
                    </a:lnB>
                    <a:noFill/>
                  </a:tcPr>
                </a:tc>
                <a:extLst>
                  <a:ext uri="{0D108BD9-81ED-4DB2-BD59-A6C34878D82A}">
                    <a16:rowId xmlns:a16="http://schemas.microsoft.com/office/drawing/2014/main" val="2658963371"/>
                  </a:ext>
                </a:extLst>
              </a:tr>
            </a:tbl>
          </a:graphicData>
        </a:graphic>
      </p:graphicFrame>
      <p:sp>
        <p:nvSpPr>
          <p:cNvPr id="4" name="TextBox 3">
            <a:extLst>
              <a:ext uri="{FF2B5EF4-FFF2-40B4-BE49-F238E27FC236}">
                <a16:creationId xmlns:a16="http://schemas.microsoft.com/office/drawing/2014/main" id="{7C214B31-8379-8FB1-F2DF-05899A40DA47}"/>
              </a:ext>
            </a:extLst>
          </p:cNvPr>
          <p:cNvSpPr txBox="1"/>
          <p:nvPr/>
        </p:nvSpPr>
        <p:spPr>
          <a:xfrm>
            <a:off x="2745908" y="6240359"/>
            <a:ext cx="9323959" cy="461665"/>
          </a:xfrm>
          <a:prstGeom prst="rect">
            <a:avLst/>
          </a:prstGeom>
          <a:noFill/>
        </p:spPr>
        <p:txBody>
          <a:bodyPr wrap="square" rtlCol="0">
            <a:spAutoFit/>
          </a:bodyPr>
          <a:lstStyle/>
          <a:p>
            <a:pPr algn="ctr"/>
            <a:r>
              <a:rPr lang="en-US" sz="1200" i="1" dirty="0"/>
              <a:t>Variety of models have been introduced with a broad range of test methodologies and applications. Technology development and adoption is still in its infancy.</a:t>
            </a:r>
          </a:p>
        </p:txBody>
      </p:sp>
    </p:spTree>
    <p:extLst>
      <p:ext uri="{BB962C8B-B14F-4D97-AF65-F5344CB8AC3E}">
        <p14:creationId xmlns:p14="http://schemas.microsoft.com/office/powerpoint/2010/main" val="2778054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E0ACC-C2EC-263E-F878-0CBE1730D1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25CEEF-7524-8FC5-80E8-431E5E1E233F}"/>
              </a:ext>
            </a:extLst>
          </p:cNvPr>
          <p:cNvSpPr>
            <a:spLocks noGrp="1"/>
          </p:cNvSpPr>
          <p:nvPr>
            <p:ph type="title" idx="4294967295"/>
          </p:nvPr>
        </p:nvSpPr>
        <p:spPr>
          <a:xfrm>
            <a:off x="630936" y="155976"/>
            <a:ext cx="10479024" cy="708025"/>
          </a:xfrm>
        </p:spPr>
        <p:txBody>
          <a:bodyPr/>
          <a:lstStyle/>
          <a:p>
            <a:r>
              <a:rPr lang="en-US" sz="2400" dirty="0">
                <a:solidFill>
                  <a:schemeClr val="tx1"/>
                </a:solidFill>
              </a:rPr>
              <a:t>Evaluating the Performance of Cyber Security LLMs</a:t>
            </a:r>
            <a:br>
              <a:rPr lang="en-US" sz="2400" dirty="0">
                <a:solidFill>
                  <a:schemeClr val="tx1"/>
                </a:solidFill>
              </a:rPr>
            </a:br>
            <a:r>
              <a:rPr lang="en-US" sz="1600" i="1" dirty="0">
                <a:solidFill>
                  <a:schemeClr val="tx1"/>
                </a:solidFill>
              </a:rPr>
              <a:t>Benchmarks for Cyber Security Language Models</a:t>
            </a:r>
            <a:endParaRPr lang="en-US" sz="2400" i="1" dirty="0">
              <a:solidFill>
                <a:schemeClr val="tx1"/>
              </a:solidFill>
            </a:endParaRPr>
          </a:p>
        </p:txBody>
      </p:sp>
      <p:sp>
        <p:nvSpPr>
          <p:cNvPr id="6" name="TextBox 5">
            <a:extLst>
              <a:ext uri="{FF2B5EF4-FFF2-40B4-BE49-F238E27FC236}">
                <a16:creationId xmlns:a16="http://schemas.microsoft.com/office/drawing/2014/main" id="{D7F9D358-66FD-C30E-5BF8-7620F292A4CC}"/>
              </a:ext>
            </a:extLst>
          </p:cNvPr>
          <p:cNvSpPr txBox="1"/>
          <p:nvPr/>
        </p:nvSpPr>
        <p:spPr>
          <a:xfrm>
            <a:off x="2462090" y="6240359"/>
            <a:ext cx="9323959" cy="461665"/>
          </a:xfrm>
          <a:prstGeom prst="rect">
            <a:avLst/>
          </a:prstGeom>
          <a:noFill/>
        </p:spPr>
        <p:txBody>
          <a:bodyPr wrap="square" rtlCol="0">
            <a:spAutoFit/>
          </a:bodyPr>
          <a:lstStyle/>
          <a:p>
            <a:pPr algn="ctr"/>
            <a:r>
              <a:rPr lang="en-US" sz="1200" i="1" dirty="0"/>
              <a:t>Evaluation of open-source benchmarks, applicability to threat intelligence specifically and potentially expanding and creating our own benchmark that speaks to the capabilities around Flashpoint Threat Intel specifically.</a:t>
            </a:r>
          </a:p>
        </p:txBody>
      </p:sp>
      <p:graphicFrame>
        <p:nvGraphicFramePr>
          <p:cNvPr id="3" name="Table 2">
            <a:extLst>
              <a:ext uri="{FF2B5EF4-FFF2-40B4-BE49-F238E27FC236}">
                <a16:creationId xmlns:a16="http://schemas.microsoft.com/office/drawing/2014/main" id="{BBC8969C-3DC7-7FEA-A8EC-791CF71A04FF}"/>
              </a:ext>
            </a:extLst>
          </p:cNvPr>
          <p:cNvGraphicFramePr>
            <a:graphicFrameLocks noGrp="1"/>
          </p:cNvGraphicFramePr>
          <p:nvPr/>
        </p:nvGraphicFramePr>
        <p:xfrm>
          <a:off x="1222248" y="1161023"/>
          <a:ext cx="9747504" cy="4782313"/>
        </p:xfrm>
        <a:graphic>
          <a:graphicData uri="http://schemas.openxmlformats.org/drawingml/2006/table">
            <a:tbl>
              <a:tblPr/>
              <a:tblGrid>
                <a:gridCol w="1542288">
                  <a:extLst>
                    <a:ext uri="{9D8B030D-6E8A-4147-A177-3AD203B41FA5}">
                      <a16:colId xmlns:a16="http://schemas.microsoft.com/office/drawing/2014/main" val="3342346885"/>
                    </a:ext>
                  </a:extLst>
                </a:gridCol>
                <a:gridCol w="1306019">
                  <a:extLst>
                    <a:ext uri="{9D8B030D-6E8A-4147-A177-3AD203B41FA5}">
                      <a16:colId xmlns:a16="http://schemas.microsoft.com/office/drawing/2014/main" val="2209120549"/>
                    </a:ext>
                  </a:extLst>
                </a:gridCol>
                <a:gridCol w="1356851">
                  <a:extLst>
                    <a:ext uri="{9D8B030D-6E8A-4147-A177-3AD203B41FA5}">
                      <a16:colId xmlns:a16="http://schemas.microsoft.com/office/drawing/2014/main" val="3689378265"/>
                    </a:ext>
                  </a:extLst>
                </a:gridCol>
                <a:gridCol w="2433386">
                  <a:extLst>
                    <a:ext uri="{9D8B030D-6E8A-4147-A177-3AD203B41FA5}">
                      <a16:colId xmlns:a16="http://schemas.microsoft.com/office/drawing/2014/main" val="1466355639"/>
                    </a:ext>
                  </a:extLst>
                </a:gridCol>
                <a:gridCol w="2236937">
                  <a:extLst>
                    <a:ext uri="{9D8B030D-6E8A-4147-A177-3AD203B41FA5}">
                      <a16:colId xmlns:a16="http://schemas.microsoft.com/office/drawing/2014/main" val="1411992449"/>
                    </a:ext>
                  </a:extLst>
                </a:gridCol>
                <a:gridCol w="872023">
                  <a:extLst>
                    <a:ext uri="{9D8B030D-6E8A-4147-A177-3AD203B41FA5}">
                      <a16:colId xmlns:a16="http://schemas.microsoft.com/office/drawing/2014/main" val="344943445"/>
                    </a:ext>
                  </a:extLst>
                </a:gridCol>
              </a:tblGrid>
              <a:tr h="231649">
                <a:tc>
                  <a:txBody>
                    <a:bodyPr/>
                    <a:lstStyle/>
                    <a:p>
                      <a:pPr algn="ctr" fontAlgn="b"/>
                      <a:r>
                        <a:rPr lang="en-US" sz="900" b="1" i="0" u="sng" strike="noStrike" dirty="0">
                          <a:solidFill>
                            <a:srgbClr val="000000"/>
                          </a:solidFill>
                          <a:effectLst/>
                          <a:latin typeface="Century Gothic" panose="020B0502020202020204" pitchFamily="34" charset="0"/>
                        </a:rPr>
                        <a:t>Benchmark</a:t>
                      </a:r>
                    </a:p>
                  </a:txBody>
                  <a:tcPr marL="5556" marR="5556" marT="5556" marB="0">
                    <a:lnL>
                      <a:noFill/>
                    </a:lnL>
                    <a:lnR>
                      <a:noFill/>
                    </a:lnR>
                    <a:lnT>
                      <a:noFill/>
                    </a:lnT>
                    <a:lnB>
                      <a:noFill/>
                    </a:lnB>
                    <a:noFill/>
                  </a:tcPr>
                </a:tc>
                <a:tc>
                  <a:txBody>
                    <a:bodyPr/>
                    <a:lstStyle/>
                    <a:p>
                      <a:pPr algn="ctr" fontAlgn="b"/>
                      <a:r>
                        <a:rPr lang="en-US" sz="900" b="1" i="0" u="sng" strike="noStrike" dirty="0">
                          <a:solidFill>
                            <a:srgbClr val="000000"/>
                          </a:solidFill>
                          <a:effectLst/>
                          <a:latin typeface="Century Gothic" panose="020B0502020202020204" pitchFamily="34" charset="0"/>
                        </a:rPr>
                        <a:t>Organization / Authors</a:t>
                      </a:r>
                    </a:p>
                  </a:txBody>
                  <a:tcPr marL="5556" marR="5556" marT="5556" marB="0">
                    <a:lnL>
                      <a:noFill/>
                    </a:lnL>
                    <a:lnR>
                      <a:noFill/>
                    </a:lnR>
                    <a:lnT>
                      <a:noFill/>
                    </a:lnT>
                    <a:lnB>
                      <a:noFill/>
                    </a:lnB>
                    <a:noFill/>
                  </a:tcPr>
                </a:tc>
                <a:tc>
                  <a:txBody>
                    <a:bodyPr/>
                    <a:lstStyle/>
                    <a:p>
                      <a:pPr algn="ctr" fontAlgn="b"/>
                      <a:r>
                        <a:rPr lang="en-US" sz="900" b="1" i="0" u="sng" strike="noStrike" dirty="0">
                          <a:solidFill>
                            <a:srgbClr val="000000"/>
                          </a:solidFill>
                          <a:effectLst/>
                          <a:latin typeface="Century Gothic" panose="020B0502020202020204" pitchFamily="34" charset="0"/>
                        </a:rPr>
                        <a:t>Open Source</a:t>
                      </a:r>
                    </a:p>
                  </a:txBody>
                  <a:tcPr marL="5556" marR="5556" marT="5556" marB="0">
                    <a:lnL>
                      <a:noFill/>
                    </a:lnL>
                    <a:lnR>
                      <a:noFill/>
                    </a:lnR>
                    <a:lnT>
                      <a:noFill/>
                    </a:lnT>
                    <a:lnB>
                      <a:noFill/>
                    </a:lnB>
                    <a:noFill/>
                  </a:tcPr>
                </a:tc>
                <a:tc>
                  <a:txBody>
                    <a:bodyPr/>
                    <a:lstStyle/>
                    <a:p>
                      <a:pPr algn="ctr" fontAlgn="b"/>
                      <a:r>
                        <a:rPr lang="en-US" sz="900" b="1" i="0" u="sng" strike="noStrike" dirty="0">
                          <a:solidFill>
                            <a:srgbClr val="000000"/>
                          </a:solidFill>
                          <a:effectLst/>
                          <a:latin typeface="Century Gothic" panose="020B0502020202020204" pitchFamily="34" charset="0"/>
                        </a:rPr>
                        <a:t>Cybersecurity Domain</a:t>
                      </a:r>
                    </a:p>
                  </a:txBody>
                  <a:tcPr marL="5556" marR="5556" marT="5556" marB="0">
                    <a:lnL>
                      <a:noFill/>
                    </a:lnL>
                    <a:lnR>
                      <a:noFill/>
                    </a:lnR>
                    <a:lnT>
                      <a:noFill/>
                    </a:lnT>
                    <a:lnB>
                      <a:noFill/>
                    </a:lnB>
                    <a:noFill/>
                  </a:tcPr>
                </a:tc>
                <a:tc>
                  <a:txBody>
                    <a:bodyPr/>
                    <a:lstStyle/>
                    <a:p>
                      <a:pPr algn="ctr" fontAlgn="b"/>
                      <a:r>
                        <a:rPr lang="en-US" sz="900" b="1" i="0" u="sng" strike="noStrike">
                          <a:solidFill>
                            <a:srgbClr val="000000"/>
                          </a:solidFill>
                          <a:effectLst/>
                          <a:latin typeface="Century Gothic" panose="020B0502020202020204" pitchFamily="34" charset="0"/>
                        </a:rPr>
                        <a:t>Key Tasks</a:t>
                      </a:r>
                    </a:p>
                  </a:txBody>
                  <a:tcPr marL="5556" marR="5556" marT="5556" marB="0">
                    <a:lnL>
                      <a:noFill/>
                    </a:lnL>
                    <a:lnR>
                      <a:noFill/>
                    </a:lnR>
                    <a:lnT>
                      <a:noFill/>
                    </a:lnT>
                    <a:lnB>
                      <a:noFill/>
                    </a:lnB>
                    <a:noFill/>
                  </a:tcPr>
                </a:tc>
                <a:tc>
                  <a:txBody>
                    <a:bodyPr/>
                    <a:lstStyle/>
                    <a:p>
                      <a:pPr algn="ctr" fontAlgn="b"/>
                      <a:r>
                        <a:rPr lang="en-US" sz="900" b="1" i="0" u="sng" strike="noStrike" dirty="0">
                          <a:solidFill>
                            <a:srgbClr val="000000"/>
                          </a:solidFill>
                          <a:effectLst/>
                          <a:latin typeface="Century Gothic" panose="020B0502020202020204" pitchFamily="34" charset="0"/>
                        </a:rPr>
                        <a:t>Introduced In</a:t>
                      </a:r>
                    </a:p>
                  </a:txBody>
                  <a:tcPr marL="5556" marR="5556" marT="5556" marB="0">
                    <a:lnL>
                      <a:noFill/>
                    </a:lnL>
                    <a:lnR>
                      <a:noFill/>
                    </a:lnR>
                    <a:lnT>
                      <a:noFill/>
                    </a:lnT>
                    <a:lnB>
                      <a:noFill/>
                    </a:lnB>
                    <a:noFill/>
                  </a:tcPr>
                </a:tc>
                <a:extLst>
                  <a:ext uri="{0D108BD9-81ED-4DB2-BD59-A6C34878D82A}">
                    <a16:rowId xmlns:a16="http://schemas.microsoft.com/office/drawing/2014/main" val="3361081929"/>
                  </a:ext>
                </a:extLst>
              </a:tr>
              <a:tr h="683188">
                <a:tc>
                  <a:txBody>
                    <a:bodyPr/>
                    <a:lstStyle/>
                    <a:p>
                      <a:pPr algn="l" fontAlgn="b"/>
                      <a:r>
                        <a:rPr lang="en-US" sz="900" b="0" i="1" u="none" strike="noStrike" dirty="0">
                          <a:solidFill>
                            <a:srgbClr val="000000"/>
                          </a:solidFill>
                          <a:effectLst/>
                          <a:latin typeface="Century Gothic" panose="020B0502020202020204" pitchFamily="34" charset="0"/>
                        </a:rPr>
                        <a:t>CTIBench</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University of Waterloo &amp; AI4Sec</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Yes (GitHub, Hugging Face)</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Threat Intelligence, Vulnerability Analysis, Threat Attribution</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CTI-MCQ, CTI-RCM, CTI-VSP, CTI-TAA</a:t>
                      </a:r>
                    </a:p>
                  </a:txBody>
                  <a:tcPr marL="5556" marR="5556" marT="5556" marB="0">
                    <a:lnL>
                      <a:noFill/>
                    </a:lnL>
                    <a:lnR>
                      <a:noFill/>
                    </a:lnR>
                    <a:lnT>
                      <a:noFill/>
                    </a:lnT>
                    <a:lnB>
                      <a:noFill/>
                    </a:lnB>
                    <a:noFill/>
                  </a:tcPr>
                </a:tc>
                <a:tc>
                  <a:txBody>
                    <a:bodyPr/>
                    <a:lstStyle/>
                    <a:p>
                      <a:pPr algn="ctr" fontAlgn="b"/>
                      <a:r>
                        <a:rPr lang="en-US" sz="900" b="0" i="0" u="none" strike="noStrike" dirty="0">
                          <a:solidFill>
                            <a:srgbClr val="000000"/>
                          </a:solidFill>
                          <a:effectLst/>
                          <a:latin typeface="Century Gothic" panose="020B0502020202020204" pitchFamily="34" charset="0"/>
                        </a:rPr>
                        <a:t>Jul-24</a:t>
                      </a:r>
                    </a:p>
                  </a:txBody>
                  <a:tcPr marL="5556" marR="5556" marT="5556" marB="0">
                    <a:lnL>
                      <a:noFill/>
                    </a:lnL>
                    <a:lnR>
                      <a:noFill/>
                    </a:lnR>
                    <a:lnT>
                      <a:noFill/>
                    </a:lnT>
                    <a:lnB>
                      <a:noFill/>
                    </a:lnB>
                    <a:noFill/>
                  </a:tcPr>
                </a:tc>
                <a:extLst>
                  <a:ext uri="{0D108BD9-81ED-4DB2-BD59-A6C34878D82A}">
                    <a16:rowId xmlns:a16="http://schemas.microsoft.com/office/drawing/2014/main" val="965266689"/>
                  </a:ext>
                </a:extLst>
              </a:tr>
              <a:tr h="796072">
                <a:tc>
                  <a:txBody>
                    <a:bodyPr/>
                    <a:lstStyle/>
                    <a:p>
                      <a:pPr algn="l" fontAlgn="b"/>
                      <a:r>
                        <a:rPr lang="en-US" sz="900" b="0" i="1" u="none" strike="noStrike" dirty="0">
                          <a:solidFill>
                            <a:srgbClr val="000000"/>
                          </a:solidFill>
                          <a:effectLst/>
                          <a:latin typeface="Century Gothic" panose="020B0502020202020204" pitchFamily="34" charset="0"/>
                        </a:rPr>
                        <a:t>SecKnowledge-Eval</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CyberPal.AI (Authors of SecKnowledge Paper)</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No (Contact authors)</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Instruction Following, Threat Analysis, Security Reasoning</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Threat/attack pattern understanding, contextual security tasks</a:t>
                      </a:r>
                    </a:p>
                  </a:txBody>
                  <a:tcPr marL="5556" marR="5556" marT="5556" marB="0">
                    <a:lnL>
                      <a:noFill/>
                    </a:lnL>
                    <a:lnR>
                      <a:noFill/>
                    </a:lnR>
                    <a:lnT>
                      <a:noFill/>
                    </a:lnT>
                    <a:lnB>
                      <a:noFill/>
                    </a:lnB>
                    <a:noFill/>
                  </a:tcPr>
                </a:tc>
                <a:tc>
                  <a:txBody>
                    <a:bodyPr/>
                    <a:lstStyle/>
                    <a:p>
                      <a:pPr algn="ctr" fontAlgn="b"/>
                      <a:r>
                        <a:rPr lang="en-US" sz="900" b="0" i="0" u="none" strike="noStrike" dirty="0">
                          <a:solidFill>
                            <a:srgbClr val="000000"/>
                          </a:solidFill>
                          <a:effectLst/>
                          <a:latin typeface="Century Gothic" panose="020B0502020202020204" pitchFamily="34" charset="0"/>
                        </a:rPr>
                        <a:t>Aug-24</a:t>
                      </a:r>
                    </a:p>
                  </a:txBody>
                  <a:tcPr marL="5556" marR="5556" marT="5556" marB="0">
                    <a:lnL>
                      <a:noFill/>
                    </a:lnL>
                    <a:lnR>
                      <a:noFill/>
                    </a:lnR>
                    <a:lnT>
                      <a:noFill/>
                    </a:lnT>
                    <a:lnB>
                      <a:noFill/>
                    </a:lnB>
                    <a:noFill/>
                  </a:tcPr>
                </a:tc>
                <a:extLst>
                  <a:ext uri="{0D108BD9-81ED-4DB2-BD59-A6C34878D82A}">
                    <a16:rowId xmlns:a16="http://schemas.microsoft.com/office/drawing/2014/main" val="2833131442"/>
                  </a:ext>
                </a:extLst>
              </a:tr>
              <a:tr h="908956">
                <a:tc>
                  <a:txBody>
                    <a:bodyPr/>
                    <a:lstStyle/>
                    <a:p>
                      <a:pPr algn="l" fontAlgn="b"/>
                      <a:r>
                        <a:rPr lang="en-US" sz="900" b="0" i="1" u="none" strike="noStrike" dirty="0">
                          <a:solidFill>
                            <a:srgbClr val="000000"/>
                          </a:solidFill>
                          <a:effectLst/>
                          <a:latin typeface="Century Gothic" panose="020B0502020202020204" pitchFamily="34" charset="0"/>
                        </a:rPr>
                        <a:t>CyberSecEval 2</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Meta AI</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No</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Offensive &amp; Defensive Cybersecurity, LLM Risk Assessment</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Malicious instruction handling, threat detection, security training evaluation</a:t>
                      </a:r>
                    </a:p>
                  </a:txBody>
                  <a:tcPr marL="5556" marR="5556" marT="5556" marB="0">
                    <a:lnL>
                      <a:noFill/>
                    </a:lnL>
                    <a:lnR>
                      <a:noFill/>
                    </a:lnR>
                    <a:lnT>
                      <a:noFill/>
                    </a:lnT>
                    <a:lnB>
                      <a:noFill/>
                    </a:lnB>
                    <a:noFill/>
                  </a:tcPr>
                </a:tc>
                <a:tc>
                  <a:txBody>
                    <a:bodyPr/>
                    <a:lstStyle/>
                    <a:p>
                      <a:pPr algn="ctr" fontAlgn="b"/>
                      <a:r>
                        <a:rPr lang="en-US" sz="900" b="0" i="0" u="none" strike="noStrike" dirty="0">
                          <a:solidFill>
                            <a:srgbClr val="000000"/>
                          </a:solidFill>
                          <a:effectLst/>
                          <a:latin typeface="Century Gothic" panose="020B0502020202020204" pitchFamily="34" charset="0"/>
                        </a:rPr>
                        <a:t>Apr-24</a:t>
                      </a:r>
                    </a:p>
                  </a:txBody>
                  <a:tcPr marL="5556" marR="5556" marT="5556" marB="0">
                    <a:lnL>
                      <a:noFill/>
                    </a:lnL>
                    <a:lnR>
                      <a:noFill/>
                    </a:lnR>
                    <a:lnT>
                      <a:noFill/>
                    </a:lnT>
                    <a:lnB>
                      <a:noFill/>
                    </a:lnB>
                    <a:noFill/>
                  </a:tcPr>
                </a:tc>
                <a:extLst>
                  <a:ext uri="{0D108BD9-81ED-4DB2-BD59-A6C34878D82A}">
                    <a16:rowId xmlns:a16="http://schemas.microsoft.com/office/drawing/2014/main" val="386113049"/>
                  </a:ext>
                </a:extLst>
              </a:tr>
              <a:tr h="683188">
                <a:tc>
                  <a:txBody>
                    <a:bodyPr/>
                    <a:lstStyle/>
                    <a:p>
                      <a:pPr algn="l" fontAlgn="b"/>
                      <a:r>
                        <a:rPr lang="en-US" sz="900" b="0" i="1" u="none" strike="noStrike" dirty="0">
                          <a:solidFill>
                            <a:srgbClr val="000000"/>
                          </a:solidFill>
                          <a:effectLst/>
                          <a:latin typeface="Century Gothic" panose="020B0502020202020204" pitchFamily="34" charset="0"/>
                        </a:rPr>
                        <a:t>Sophos Benchmark Suite</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Sophos AI</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No</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SOC Operations, Incident Handling</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Incident summarization, SQL generation, severity rating</a:t>
                      </a:r>
                    </a:p>
                  </a:txBody>
                  <a:tcPr marL="5556" marR="5556" marT="5556" marB="0">
                    <a:lnL>
                      <a:noFill/>
                    </a:lnL>
                    <a:lnR>
                      <a:noFill/>
                    </a:lnR>
                    <a:lnT>
                      <a:noFill/>
                    </a:lnT>
                    <a:lnB>
                      <a:noFill/>
                    </a:lnB>
                    <a:noFill/>
                  </a:tcPr>
                </a:tc>
                <a:tc>
                  <a:txBody>
                    <a:bodyPr/>
                    <a:lstStyle/>
                    <a:p>
                      <a:pPr algn="ctr" fontAlgn="b"/>
                      <a:r>
                        <a:rPr lang="en-US" sz="900" b="0" i="0" u="none" strike="noStrike" dirty="0">
                          <a:solidFill>
                            <a:srgbClr val="000000"/>
                          </a:solidFill>
                          <a:effectLst/>
                          <a:latin typeface="Century Gothic" panose="020B0502020202020204" pitchFamily="34" charset="0"/>
                        </a:rPr>
                        <a:t>Mar-24</a:t>
                      </a:r>
                    </a:p>
                  </a:txBody>
                  <a:tcPr marL="5556" marR="5556" marT="5556" marB="0">
                    <a:lnL>
                      <a:noFill/>
                    </a:lnL>
                    <a:lnR>
                      <a:noFill/>
                    </a:lnR>
                    <a:lnT>
                      <a:noFill/>
                    </a:lnT>
                    <a:lnB>
                      <a:noFill/>
                    </a:lnB>
                    <a:noFill/>
                  </a:tcPr>
                </a:tc>
                <a:extLst>
                  <a:ext uri="{0D108BD9-81ED-4DB2-BD59-A6C34878D82A}">
                    <a16:rowId xmlns:a16="http://schemas.microsoft.com/office/drawing/2014/main" val="1532253461"/>
                  </a:ext>
                </a:extLst>
              </a:tr>
              <a:tr h="796072">
                <a:tc>
                  <a:txBody>
                    <a:bodyPr/>
                    <a:lstStyle/>
                    <a:p>
                      <a:pPr algn="l" fontAlgn="b"/>
                      <a:r>
                        <a:rPr lang="en-US" sz="900" b="0" i="1" u="none" strike="noStrike" dirty="0">
                          <a:solidFill>
                            <a:srgbClr val="000000"/>
                          </a:solidFill>
                          <a:effectLst/>
                          <a:latin typeface="Century Gothic" panose="020B0502020202020204" pitchFamily="34" charset="0"/>
                        </a:rPr>
                        <a:t>SECURE</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Rochester Institute of Technology</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Partially (some datasets)</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ICS Security, Threat Reasoning</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Knowledge extraction, understanding, reasoning in ICS scenarios</a:t>
                      </a:r>
                    </a:p>
                  </a:txBody>
                  <a:tcPr marL="5556" marR="5556" marT="5556" marB="0">
                    <a:lnL>
                      <a:noFill/>
                    </a:lnL>
                    <a:lnR>
                      <a:noFill/>
                    </a:lnR>
                    <a:lnT>
                      <a:noFill/>
                    </a:lnT>
                    <a:lnB>
                      <a:noFill/>
                    </a:lnB>
                    <a:noFill/>
                  </a:tcPr>
                </a:tc>
                <a:tc>
                  <a:txBody>
                    <a:bodyPr/>
                    <a:lstStyle/>
                    <a:p>
                      <a:pPr algn="ctr" fontAlgn="b"/>
                      <a:r>
                        <a:rPr lang="en-US" sz="900" b="0" i="0" u="none" strike="noStrike" dirty="0">
                          <a:solidFill>
                            <a:srgbClr val="000000"/>
                          </a:solidFill>
                          <a:effectLst/>
                          <a:latin typeface="Century Gothic" panose="020B0502020202020204" pitchFamily="34" charset="0"/>
                        </a:rPr>
                        <a:t>May-24</a:t>
                      </a:r>
                    </a:p>
                  </a:txBody>
                  <a:tcPr marL="5556" marR="5556" marT="5556" marB="0">
                    <a:lnL>
                      <a:noFill/>
                    </a:lnL>
                    <a:lnR>
                      <a:noFill/>
                    </a:lnR>
                    <a:lnT>
                      <a:noFill/>
                    </a:lnT>
                    <a:lnB>
                      <a:noFill/>
                    </a:lnB>
                    <a:noFill/>
                  </a:tcPr>
                </a:tc>
                <a:extLst>
                  <a:ext uri="{0D108BD9-81ED-4DB2-BD59-A6C34878D82A}">
                    <a16:rowId xmlns:a16="http://schemas.microsoft.com/office/drawing/2014/main" val="3348344907"/>
                  </a:ext>
                </a:extLst>
              </a:tr>
              <a:tr h="683188">
                <a:tc>
                  <a:txBody>
                    <a:bodyPr/>
                    <a:lstStyle/>
                    <a:p>
                      <a:pPr algn="l" fontAlgn="b"/>
                      <a:r>
                        <a:rPr lang="en-US" sz="900" b="0" i="1" u="none" strike="noStrike" dirty="0">
                          <a:solidFill>
                            <a:srgbClr val="000000"/>
                          </a:solidFill>
                          <a:effectLst/>
                          <a:latin typeface="Century Gothic" panose="020B0502020202020204" pitchFamily="34" charset="0"/>
                        </a:rPr>
                        <a:t>Cybench</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CTF Community Researchers</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Limited (some CTF challenges)</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Offensive Security, Exploit Development</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CTF task solving, vulnerability discovery, exploit execution</a:t>
                      </a:r>
                    </a:p>
                  </a:txBody>
                  <a:tcPr marL="5556" marR="5556" marT="5556" marB="0">
                    <a:lnL>
                      <a:noFill/>
                    </a:lnL>
                    <a:lnR>
                      <a:noFill/>
                    </a:lnR>
                    <a:lnT>
                      <a:noFill/>
                    </a:lnT>
                    <a:lnB>
                      <a:noFill/>
                    </a:lnB>
                    <a:noFill/>
                  </a:tcPr>
                </a:tc>
                <a:tc>
                  <a:txBody>
                    <a:bodyPr/>
                    <a:lstStyle/>
                    <a:p>
                      <a:pPr algn="ctr" fontAlgn="b"/>
                      <a:r>
                        <a:rPr lang="en-US" sz="900" b="0" i="0" u="none" strike="noStrike" dirty="0">
                          <a:solidFill>
                            <a:srgbClr val="000000"/>
                          </a:solidFill>
                          <a:effectLst/>
                          <a:latin typeface="Century Gothic" panose="020B0502020202020204" pitchFamily="34" charset="0"/>
                        </a:rPr>
                        <a:t>Jun-24</a:t>
                      </a:r>
                    </a:p>
                  </a:txBody>
                  <a:tcPr marL="5556" marR="5556" marT="5556" marB="0">
                    <a:lnL>
                      <a:noFill/>
                    </a:lnL>
                    <a:lnR>
                      <a:noFill/>
                    </a:lnR>
                    <a:lnT>
                      <a:noFill/>
                    </a:lnT>
                    <a:lnB>
                      <a:noFill/>
                    </a:lnB>
                    <a:noFill/>
                  </a:tcPr>
                </a:tc>
                <a:extLst>
                  <a:ext uri="{0D108BD9-81ED-4DB2-BD59-A6C34878D82A}">
                    <a16:rowId xmlns:a16="http://schemas.microsoft.com/office/drawing/2014/main" val="2081304461"/>
                  </a:ext>
                </a:extLst>
              </a:tr>
            </a:tbl>
          </a:graphicData>
        </a:graphic>
      </p:graphicFrame>
    </p:spTree>
    <p:extLst>
      <p:ext uri="{BB962C8B-B14F-4D97-AF65-F5344CB8AC3E}">
        <p14:creationId xmlns:p14="http://schemas.microsoft.com/office/powerpoint/2010/main" val="683571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F56C0-28C2-2C03-6D87-225E80EC2D39}"/>
              </a:ext>
            </a:extLst>
          </p:cNvPr>
          <p:cNvSpPr>
            <a:spLocks noGrp="1"/>
          </p:cNvSpPr>
          <p:nvPr>
            <p:ph type="title"/>
          </p:nvPr>
        </p:nvSpPr>
        <p:spPr>
          <a:xfrm>
            <a:off x="761549" y="127819"/>
            <a:ext cx="8761413" cy="941494"/>
          </a:xfrm>
        </p:spPr>
        <p:txBody>
          <a:bodyPr/>
          <a:lstStyle/>
          <a:p>
            <a:r>
              <a:rPr lang="en-US" dirty="0"/>
              <a:t>CyBERT (2021)</a:t>
            </a:r>
            <a:br>
              <a:rPr lang="en-US" dirty="0"/>
            </a:br>
            <a:r>
              <a:rPr lang="en-US" sz="2000" dirty="0"/>
              <a:t>Contextualized Embeddings for the Cybersecurity Domain</a:t>
            </a:r>
          </a:p>
        </p:txBody>
      </p:sp>
      <p:sp>
        <p:nvSpPr>
          <p:cNvPr id="3" name="Content Placeholder 2">
            <a:extLst>
              <a:ext uri="{FF2B5EF4-FFF2-40B4-BE49-F238E27FC236}">
                <a16:creationId xmlns:a16="http://schemas.microsoft.com/office/drawing/2014/main" id="{C7521CAF-221D-2869-1B4F-EBE7DC72A89A}"/>
              </a:ext>
            </a:extLst>
          </p:cNvPr>
          <p:cNvSpPr>
            <a:spLocks noGrp="1"/>
          </p:cNvSpPr>
          <p:nvPr>
            <p:ph idx="1"/>
          </p:nvPr>
        </p:nvSpPr>
        <p:spPr>
          <a:xfrm>
            <a:off x="5142255" y="6458088"/>
            <a:ext cx="6774426" cy="399912"/>
          </a:xfrm>
        </p:spPr>
        <p:txBody>
          <a:bodyPr>
            <a:normAutofit fontScale="77500" lnSpcReduction="20000"/>
          </a:bodyPr>
          <a:lstStyle/>
          <a:p>
            <a:pPr marL="0" indent="0">
              <a:buNone/>
            </a:pPr>
            <a:r>
              <a:rPr lang="en-US" sz="1050" b="0" i="0" dirty="0">
                <a:solidFill>
                  <a:srgbClr val="333333"/>
                </a:solidFill>
                <a:effectLst/>
                <a:latin typeface="HelveticaNeue Regular"/>
              </a:rPr>
              <a:t>P. Ranade, A. Piplai, A. Joshi and T. Finin, "CyBERT: Contextualized Embeddings for the Cybersecurity Domain," </a:t>
            </a:r>
            <a:r>
              <a:rPr lang="en-US" sz="1050" b="0" i="1" dirty="0">
                <a:solidFill>
                  <a:srgbClr val="333333"/>
                </a:solidFill>
                <a:effectLst/>
                <a:latin typeface="HelveticaNeue Regular"/>
              </a:rPr>
              <a:t>2021 IEEE International Conference on Big Data (Big Data)</a:t>
            </a:r>
            <a:r>
              <a:rPr lang="en-US" sz="1050" b="0" i="0" dirty="0">
                <a:solidFill>
                  <a:srgbClr val="333333"/>
                </a:solidFill>
                <a:effectLst/>
                <a:latin typeface="HelveticaNeue Regular"/>
              </a:rPr>
              <a:t>, Orlando, FL, USA, 2021, pp. 3334-3342, </a:t>
            </a:r>
            <a:r>
              <a:rPr lang="en-US" sz="1050" b="0" i="0" dirty="0" err="1">
                <a:solidFill>
                  <a:srgbClr val="333333"/>
                </a:solidFill>
                <a:effectLst/>
                <a:latin typeface="HelveticaNeue Regular"/>
              </a:rPr>
              <a:t>doi</a:t>
            </a:r>
            <a:r>
              <a:rPr lang="en-US" sz="1050" b="0" i="0" dirty="0">
                <a:solidFill>
                  <a:srgbClr val="333333"/>
                </a:solidFill>
                <a:effectLst/>
                <a:latin typeface="HelveticaNeue Regular"/>
              </a:rPr>
              <a:t>: 10.1109/BigData52589.2021.9671824.</a:t>
            </a:r>
            <a:endParaRPr lang="en-US" sz="1050" dirty="0"/>
          </a:p>
        </p:txBody>
      </p:sp>
      <p:pic>
        <p:nvPicPr>
          <p:cNvPr id="4" name="Picture 3">
            <a:extLst>
              <a:ext uri="{FF2B5EF4-FFF2-40B4-BE49-F238E27FC236}">
                <a16:creationId xmlns:a16="http://schemas.microsoft.com/office/drawing/2014/main" id="{3083301F-1746-CB54-D8F2-5C5E2A2AFE31}"/>
              </a:ext>
            </a:extLst>
          </p:cNvPr>
          <p:cNvPicPr>
            <a:picLocks noChangeAspect="1"/>
          </p:cNvPicPr>
          <p:nvPr/>
        </p:nvPicPr>
        <p:blipFill>
          <a:blip r:embed="rId2"/>
          <a:stretch>
            <a:fillRect/>
          </a:stretch>
        </p:blipFill>
        <p:spPr>
          <a:xfrm>
            <a:off x="3844412" y="1825015"/>
            <a:ext cx="6651727" cy="3640587"/>
          </a:xfrm>
          <a:prstGeom prst="rect">
            <a:avLst/>
          </a:prstGeom>
        </p:spPr>
      </p:pic>
      <p:sp>
        <p:nvSpPr>
          <p:cNvPr id="6" name="TextBox 5">
            <a:extLst>
              <a:ext uri="{FF2B5EF4-FFF2-40B4-BE49-F238E27FC236}">
                <a16:creationId xmlns:a16="http://schemas.microsoft.com/office/drawing/2014/main" id="{55F54DA2-E222-A452-70CD-757DB26D6CC0}"/>
              </a:ext>
            </a:extLst>
          </p:cNvPr>
          <p:cNvSpPr txBox="1"/>
          <p:nvPr/>
        </p:nvSpPr>
        <p:spPr>
          <a:xfrm>
            <a:off x="403122" y="1672553"/>
            <a:ext cx="3126659" cy="4201150"/>
          </a:xfrm>
          <a:prstGeom prst="rect">
            <a:avLst/>
          </a:prstGeom>
          <a:noFill/>
        </p:spPr>
        <p:txBody>
          <a:bodyPr wrap="square">
            <a:spAutoFit/>
          </a:bodyPr>
          <a:lstStyle/>
          <a:p>
            <a:pPr>
              <a:spcBef>
                <a:spcPts val="600"/>
              </a:spcBef>
            </a:pPr>
            <a:r>
              <a:rPr lang="en-US" sz="1200" b="0" i="0" dirty="0">
                <a:solidFill>
                  <a:srgbClr val="333333"/>
                </a:solidFill>
                <a:effectLst/>
                <a:latin typeface="HelveticaNeue Regular"/>
              </a:rPr>
              <a:t>The primary contribution of this paper is providing the security community with an initial fine-tuned BERT model that can perform a variety of cybersecurity-specific downstream tasks with high accuracy and efficient use of resources. </a:t>
            </a:r>
          </a:p>
          <a:p>
            <a:pPr>
              <a:spcBef>
                <a:spcPts val="600"/>
              </a:spcBef>
            </a:pPr>
            <a:r>
              <a:rPr lang="en-US" sz="1200" b="0" i="0" dirty="0">
                <a:solidFill>
                  <a:srgbClr val="333333"/>
                </a:solidFill>
                <a:effectLst/>
                <a:latin typeface="HelveticaNeue Regular"/>
              </a:rPr>
              <a:t>We create a cybersecurity corpus from open-source unstructured and semi-unstructured Cyber Threat Intelligence (CTI) data and use it to fine-tune a base BERT model with Masked Language Modeling (MLM) to recognize specialized cybersecurity entities. </a:t>
            </a:r>
          </a:p>
          <a:p>
            <a:pPr>
              <a:spcBef>
                <a:spcPts val="600"/>
              </a:spcBef>
            </a:pPr>
            <a:r>
              <a:rPr lang="en-US" sz="1200" b="0" i="0" dirty="0">
                <a:solidFill>
                  <a:srgbClr val="333333"/>
                </a:solidFill>
                <a:effectLst/>
                <a:latin typeface="HelveticaNeue Regular"/>
              </a:rPr>
              <a:t>We evaluate the model using various downstream tasks that can benefit modern Security Operations Centers (SOCs).</a:t>
            </a:r>
          </a:p>
          <a:p>
            <a:pPr>
              <a:spcBef>
                <a:spcPts val="600"/>
              </a:spcBef>
            </a:pPr>
            <a:r>
              <a:rPr lang="en-US" sz="1200" b="0" i="0" dirty="0">
                <a:solidFill>
                  <a:srgbClr val="333333"/>
                </a:solidFill>
                <a:effectLst/>
                <a:latin typeface="HelveticaNeue Regular"/>
              </a:rPr>
              <a:t>The fine-tuned CyBERT model outperforms the base BERT model in the domain-specific MLM evaluation. We also provide use-cases of CyBERT application in cybersecurity based downstream tasks.</a:t>
            </a:r>
            <a:endParaRPr lang="en-US" sz="1200" dirty="0"/>
          </a:p>
        </p:txBody>
      </p:sp>
    </p:spTree>
    <p:extLst>
      <p:ext uri="{BB962C8B-B14F-4D97-AF65-F5344CB8AC3E}">
        <p14:creationId xmlns:p14="http://schemas.microsoft.com/office/powerpoint/2010/main" val="5074123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43780CE-2BE5-46F6-97B2-60DF30217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11" name="Freeform: Shape 10">
            <a:extLst>
              <a:ext uri="{FF2B5EF4-FFF2-40B4-BE49-F238E27FC236}">
                <a16:creationId xmlns:a16="http://schemas.microsoft.com/office/drawing/2014/main" id="{61A87A49-68E6-459E-A5A6-46229FF42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US"/>
          </a:p>
        </p:txBody>
      </p:sp>
      <p:sp>
        <p:nvSpPr>
          <p:cNvPr id="13" name="Freeform 5">
            <a:extLst>
              <a:ext uri="{FF2B5EF4-FFF2-40B4-BE49-F238E27FC236}">
                <a16:creationId xmlns:a16="http://schemas.microsoft.com/office/drawing/2014/main" id="{F6ACD5FC-CAFE-48EB-B765-60EED2E0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2" name="Title 1">
            <a:extLst>
              <a:ext uri="{FF2B5EF4-FFF2-40B4-BE49-F238E27FC236}">
                <a16:creationId xmlns:a16="http://schemas.microsoft.com/office/drawing/2014/main" id="{1D213659-976A-EBE2-A1AE-DC7D1788238A}"/>
              </a:ext>
            </a:extLst>
          </p:cNvPr>
          <p:cNvSpPr>
            <a:spLocks noGrp="1"/>
          </p:cNvSpPr>
          <p:nvPr>
            <p:ph type="title"/>
          </p:nvPr>
        </p:nvSpPr>
        <p:spPr>
          <a:xfrm>
            <a:off x="1154955" y="973668"/>
            <a:ext cx="2942210" cy="1020232"/>
          </a:xfrm>
        </p:spPr>
        <p:txBody>
          <a:bodyPr>
            <a:normAutofit/>
          </a:bodyPr>
          <a:lstStyle/>
          <a:p>
            <a:pPr>
              <a:lnSpc>
                <a:spcPct val="90000"/>
              </a:lnSpc>
            </a:pPr>
            <a:r>
              <a:rPr lang="en-PK" sz="3300" b="1">
                <a:solidFill>
                  <a:srgbClr val="EBEBEB"/>
                </a:solidFill>
              </a:rPr>
              <a:t>Pretraining vs Finetuning</a:t>
            </a:r>
          </a:p>
        </p:txBody>
      </p:sp>
      <p:pic>
        <p:nvPicPr>
          <p:cNvPr id="4" name="Picture 2">
            <a:extLst>
              <a:ext uri="{FF2B5EF4-FFF2-40B4-BE49-F238E27FC236}">
                <a16:creationId xmlns:a16="http://schemas.microsoft.com/office/drawing/2014/main" id="{FE457C38-25D6-28DD-2D77-B45A4FA95E6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924971" y="1525844"/>
            <a:ext cx="7054888" cy="367639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9F33B405-D785-4738-B1C0-6A0AA5E982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a:extLst>
              <a:ext uri="{FF2B5EF4-FFF2-40B4-BE49-F238E27FC236}">
                <a16:creationId xmlns:a16="http://schemas.microsoft.com/office/drawing/2014/main" id="{4233DC0E-DE6C-4FB6-A529-51B162641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Oval 18">
            <a:extLst>
              <a:ext uri="{FF2B5EF4-FFF2-40B4-BE49-F238E27FC236}">
                <a16:creationId xmlns:a16="http://schemas.microsoft.com/office/drawing/2014/main" id="{3870477F-E451-4BC3-863F-0E2FC5728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94E6E2BF-94BD-0D69-AF5A-7C720248F343}"/>
              </a:ext>
            </a:extLst>
          </p:cNvPr>
          <p:cNvSpPr>
            <a:spLocks noGrp="1"/>
          </p:cNvSpPr>
          <p:nvPr>
            <p:ph idx="1"/>
          </p:nvPr>
        </p:nvSpPr>
        <p:spPr>
          <a:xfrm>
            <a:off x="1154955" y="2507226"/>
            <a:ext cx="2942210" cy="3512574"/>
          </a:xfrm>
        </p:spPr>
        <p:txBody>
          <a:bodyPr>
            <a:normAutofit/>
          </a:bodyPr>
          <a:lstStyle/>
          <a:p>
            <a:pPr marL="0" indent="0">
              <a:lnSpc>
                <a:spcPct val="90000"/>
              </a:lnSpc>
              <a:buNone/>
            </a:pPr>
            <a:r>
              <a:rPr lang="en-GB" sz="1300" dirty="0">
                <a:solidFill>
                  <a:srgbClr val="FFFFFF"/>
                </a:solidFill>
              </a:rPr>
              <a:t>The general process of creating an LLM includes pretraining and finetuning. The term "pre" in "pretraining" refers to the initial phase where a model like an LLM is trained on a large, diverse dataset to develop a broad understanding of language</a:t>
            </a:r>
          </a:p>
          <a:p>
            <a:pPr marL="0" indent="0">
              <a:lnSpc>
                <a:spcPct val="90000"/>
              </a:lnSpc>
              <a:buNone/>
            </a:pPr>
            <a:endParaRPr lang="en-GB" sz="1300" dirty="0">
              <a:solidFill>
                <a:srgbClr val="FFFFFF"/>
              </a:solidFill>
            </a:endParaRPr>
          </a:p>
          <a:p>
            <a:pPr marL="0" indent="0">
              <a:lnSpc>
                <a:spcPct val="90000"/>
              </a:lnSpc>
              <a:buNone/>
            </a:pPr>
            <a:r>
              <a:rPr lang="en-GB" sz="1300" dirty="0">
                <a:solidFill>
                  <a:srgbClr val="FFFFFF"/>
                </a:solidFill>
              </a:rPr>
              <a:t>This pretrained model then serves as a foundational resource that can be further refined through finetuning, a process where the model is specifically trained on a narrower dataset that is more specific to particular tasks or domains.</a:t>
            </a:r>
            <a:endParaRPr lang="en-PK" sz="1300">
              <a:solidFill>
                <a:srgbClr val="FFFFFF"/>
              </a:solidFill>
            </a:endParaRPr>
          </a:p>
        </p:txBody>
      </p:sp>
      <p:sp>
        <p:nvSpPr>
          <p:cNvPr id="21" name="Freeform 5">
            <a:extLst>
              <a:ext uri="{FF2B5EF4-FFF2-40B4-BE49-F238E27FC236}">
                <a16:creationId xmlns:a16="http://schemas.microsoft.com/office/drawing/2014/main" id="{B4A81DE1-E2BC-4A31-99EE-71350421B0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US"/>
          </a:p>
        </p:txBody>
      </p:sp>
    </p:spTree>
    <p:extLst>
      <p:ext uri="{BB962C8B-B14F-4D97-AF65-F5344CB8AC3E}">
        <p14:creationId xmlns:p14="http://schemas.microsoft.com/office/powerpoint/2010/main" val="2394679148"/>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6D700-19D4-DEA3-4310-00AA5DCE939C}"/>
              </a:ext>
            </a:extLst>
          </p:cNvPr>
          <p:cNvSpPr>
            <a:spLocks noGrp="1"/>
          </p:cNvSpPr>
          <p:nvPr>
            <p:ph type="title"/>
          </p:nvPr>
        </p:nvSpPr>
        <p:spPr/>
        <p:txBody>
          <a:bodyPr/>
          <a:lstStyle/>
          <a:p>
            <a:r>
              <a:rPr lang="en-US" sz="3600" dirty="0"/>
              <a:t>Finetuning LLMs</a:t>
            </a:r>
          </a:p>
        </p:txBody>
      </p:sp>
      <p:sp>
        <p:nvSpPr>
          <p:cNvPr id="3" name="Text Placeholder 2">
            <a:extLst>
              <a:ext uri="{FF2B5EF4-FFF2-40B4-BE49-F238E27FC236}">
                <a16:creationId xmlns:a16="http://schemas.microsoft.com/office/drawing/2014/main" id="{7BBB3373-5544-6219-4B7D-F2444425AEC2}"/>
              </a:ext>
            </a:extLst>
          </p:cNvPr>
          <p:cNvSpPr>
            <a:spLocks noGrp="1"/>
          </p:cNvSpPr>
          <p:nvPr>
            <p:ph type="body" idx="1"/>
          </p:nvPr>
        </p:nvSpPr>
        <p:spPr/>
        <p:txBody>
          <a:bodyPr>
            <a:normAutofit/>
          </a:bodyPr>
          <a:lstStyle/>
          <a:p>
            <a:r>
              <a:rPr lang="en-US" sz="1800" dirty="0"/>
              <a:t>Approaches to Optimizing LLM Model Size &amp; Compute Characteristics</a:t>
            </a:r>
          </a:p>
        </p:txBody>
      </p:sp>
    </p:spTree>
    <p:extLst>
      <p:ext uri="{BB962C8B-B14F-4D97-AF65-F5344CB8AC3E}">
        <p14:creationId xmlns:p14="http://schemas.microsoft.com/office/powerpoint/2010/main" val="18815286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7084313B-C03D-4981-9786-879159A603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6" name="Rectangle 15">
              <a:extLst>
                <a:ext uri="{FF2B5EF4-FFF2-40B4-BE49-F238E27FC236}">
                  <a16:creationId xmlns:a16="http://schemas.microsoft.com/office/drawing/2014/main" id="{A99190B9-52DD-45DC-BE21-AACE88FEC7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Oval 16">
              <a:extLst>
                <a:ext uri="{FF2B5EF4-FFF2-40B4-BE49-F238E27FC236}">
                  <a16:creationId xmlns:a16="http://schemas.microsoft.com/office/drawing/2014/main" id="{D1EE260A-12FB-4D71-A318-71BED7FF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a:extLst>
                <a:ext uri="{FF2B5EF4-FFF2-40B4-BE49-F238E27FC236}">
                  <a16:creationId xmlns:a16="http://schemas.microsoft.com/office/drawing/2014/main" id="{B52EC39A-8D44-4CEF-820F-A442CFA42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Oval 18">
              <a:extLst>
                <a:ext uri="{FF2B5EF4-FFF2-40B4-BE49-F238E27FC236}">
                  <a16:creationId xmlns:a16="http://schemas.microsoft.com/office/drawing/2014/main" id="{2D010773-529F-4A3D-A0AB-E7CE12DC6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Oval 19">
              <a:extLst>
                <a:ext uri="{FF2B5EF4-FFF2-40B4-BE49-F238E27FC236}">
                  <a16:creationId xmlns:a16="http://schemas.microsoft.com/office/drawing/2014/main" id="{D7582733-2D5B-4103-A63C-0D0D81780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Oval 20">
              <a:extLst>
                <a:ext uri="{FF2B5EF4-FFF2-40B4-BE49-F238E27FC236}">
                  <a16:creationId xmlns:a16="http://schemas.microsoft.com/office/drawing/2014/main" id="{6D073C2A-0E86-458E-88D4-27124FDAD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Freeform 5">
              <a:extLst>
                <a:ext uri="{FF2B5EF4-FFF2-40B4-BE49-F238E27FC236}">
                  <a16:creationId xmlns:a16="http://schemas.microsoft.com/office/drawing/2014/main" id="{01A64F04-7AF7-48B9-A1B0-956BBCEEFE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23" name="Freeform 5">
              <a:extLst>
                <a:ext uri="{FF2B5EF4-FFF2-40B4-BE49-F238E27FC236}">
                  <a16:creationId xmlns:a16="http://schemas.microsoft.com/office/drawing/2014/main" id="{989ABE99-7694-4211-A627-459BE5422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24" name="Freeform 5">
              <a:extLst>
                <a:ext uri="{FF2B5EF4-FFF2-40B4-BE49-F238E27FC236}">
                  <a16:creationId xmlns:a16="http://schemas.microsoft.com/office/drawing/2014/main" id="{254B4214-6F53-497C-8322-9CE8158AA3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6" name="Rectangle 25">
            <a:extLst>
              <a:ext uri="{FF2B5EF4-FFF2-40B4-BE49-F238E27FC236}">
                <a16:creationId xmlns:a16="http://schemas.microsoft.com/office/drawing/2014/main" id="{20E145FF-1D18-4246-A2BA-9F6B4D533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8" name="Rectangle 27">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32"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34" name="Freeform: Shape 33">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n-US"/>
          </a:p>
        </p:txBody>
      </p:sp>
      <p:sp>
        <p:nvSpPr>
          <p:cNvPr id="36"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10" name="Title 9">
            <a:extLst>
              <a:ext uri="{FF2B5EF4-FFF2-40B4-BE49-F238E27FC236}">
                <a16:creationId xmlns:a16="http://schemas.microsoft.com/office/drawing/2014/main" id="{0398CEBE-DC41-44C6-84AC-24EE9917E08B}"/>
              </a:ext>
            </a:extLst>
          </p:cNvPr>
          <p:cNvSpPr>
            <a:spLocks noGrp="1"/>
          </p:cNvSpPr>
          <p:nvPr>
            <p:ph type="title" idx="4294967295"/>
          </p:nvPr>
        </p:nvSpPr>
        <p:spPr>
          <a:xfrm>
            <a:off x="994087" y="1130603"/>
            <a:ext cx="3342442" cy="4596794"/>
          </a:xfrm>
        </p:spPr>
        <p:txBody>
          <a:bodyPr vert="horz" lIns="91440" tIns="45720" rIns="91440" bIns="45720" rtlCol="0" anchor="ctr">
            <a:normAutofit/>
          </a:bodyPr>
          <a:lstStyle/>
          <a:p>
            <a:r>
              <a:rPr lang="en-US" sz="3200" dirty="0">
                <a:solidFill>
                  <a:srgbClr val="EBEBEB"/>
                </a:solidFill>
              </a:rPr>
              <a:t>PEFT: Parameter Efficient Fine Tuning</a:t>
            </a:r>
          </a:p>
        </p:txBody>
      </p:sp>
      <p:sp>
        <p:nvSpPr>
          <p:cNvPr id="4" name="Text Placeholder 3">
            <a:extLst>
              <a:ext uri="{FF2B5EF4-FFF2-40B4-BE49-F238E27FC236}">
                <a16:creationId xmlns:a16="http://schemas.microsoft.com/office/drawing/2014/main" id="{98E92A7E-9B05-489A-93D0-CF2A09157EBD}"/>
              </a:ext>
            </a:extLst>
          </p:cNvPr>
          <p:cNvSpPr>
            <a:spLocks noGrp="1"/>
          </p:cNvSpPr>
          <p:nvPr>
            <p:ph type="body" sz="quarter" idx="4294967295"/>
          </p:nvPr>
        </p:nvSpPr>
        <p:spPr>
          <a:xfrm>
            <a:off x="5290077" y="437513"/>
            <a:ext cx="5502614" cy="5954325"/>
          </a:xfrm>
        </p:spPr>
        <p:txBody>
          <a:bodyPr vert="horz" lIns="91440" tIns="45720" rIns="91440" bIns="45720" rtlCol="0" anchor="ctr">
            <a:normAutofit/>
          </a:bodyPr>
          <a:lstStyle/>
          <a:p>
            <a:pPr>
              <a:lnSpc>
                <a:spcPct val="90000"/>
              </a:lnSpc>
            </a:pPr>
            <a:r>
              <a:rPr lang="en-US" sz="1700"/>
              <a:t>PEFT stands for Parameter Efficient Fine-tuning.</a:t>
            </a:r>
          </a:p>
          <a:p>
            <a:pPr>
              <a:lnSpc>
                <a:spcPct val="90000"/>
              </a:lnSpc>
            </a:pPr>
            <a:r>
              <a:rPr lang="en-US" sz="1700"/>
              <a:t>ML models are essentially complex mathematical equations with numerous coefficients or weights.</a:t>
            </a:r>
          </a:p>
          <a:p>
            <a:pPr>
              <a:lnSpc>
                <a:spcPct val="90000"/>
              </a:lnSpc>
            </a:pPr>
            <a:r>
              <a:rPr lang="en-US" sz="1700"/>
              <a:t>These coefficients are responsible for the model behavior and make it capable of learning from data.</a:t>
            </a:r>
          </a:p>
          <a:p>
            <a:pPr>
              <a:lnSpc>
                <a:spcPct val="90000"/>
              </a:lnSpc>
            </a:pPr>
            <a:r>
              <a:rPr lang="en-US" sz="1700"/>
              <a:t>During training of ML models, we adjust these coefficients to minimize errors and make accurate predictions.</a:t>
            </a:r>
          </a:p>
          <a:p>
            <a:pPr>
              <a:lnSpc>
                <a:spcPct val="90000"/>
              </a:lnSpc>
            </a:pPr>
            <a:r>
              <a:rPr lang="en-US" sz="1700"/>
              <a:t>In case of LLMs, which can have billions of parameters, and changing all of them during training can be computationally expensive and memory-intensive.</a:t>
            </a:r>
          </a:p>
          <a:p>
            <a:pPr>
              <a:lnSpc>
                <a:spcPct val="90000"/>
              </a:lnSpc>
            </a:pPr>
            <a:r>
              <a:rPr lang="en-US" sz="1700"/>
              <a:t>PEFT, as a subset of fine-tuning, takes the parameter efficiency seriously.</a:t>
            </a:r>
          </a:p>
          <a:p>
            <a:pPr>
              <a:lnSpc>
                <a:spcPct val="90000"/>
              </a:lnSpc>
            </a:pPr>
            <a:r>
              <a:rPr lang="en-US" sz="1700"/>
              <a:t>Instead of altering all the coefficients of the model, PEFT selects a subset of them.</a:t>
            </a:r>
          </a:p>
          <a:p>
            <a:pPr>
              <a:lnSpc>
                <a:spcPct val="90000"/>
              </a:lnSpc>
            </a:pPr>
            <a:r>
              <a:rPr lang="en-US" sz="1700"/>
              <a:t>It helps us significantly reducing the computational and memory requirements.</a:t>
            </a:r>
          </a:p>
        </p:txBody>
      </p:sp>
    </p:spTree>
    <p:extLst>
      <p:ext uri="{BB962C8B-B14F-4D97-AF65-F5344CB8AC3E}">
        <p14:creationId xmlns:p14="http://schemas.microsoft.com/office/powerpoint/2010/main" val="12598773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265807B-4F5B-4890-20FE-035B2EC243AB}"/>
              </a:ext>
            </a:extLst>
          </p:cNvPr>
          <p:cNvPicPr>
            <a:picLocks noChangeAspect="1"/>
          </p:cNvPicPr>
          <p:nvPr/>
        </p:nvPicPr>
        <p:blipFill>
          <a:blip r:embed="rId2"/>
          <a:stretch>
            <a:fillRect/>
          </a:stretch>
        </p:blipFill>
        <p:spPr>
          <a:xfrm>
            <a:off x="1307687" y="176986"/>
            <a:ext cx="10019074" cy="6504028"/>
          </a:xfrm>
          <a:prstGeom prst="rect">
            <a:avLst/>
          </a:prstGeom>
        </p:spPr>
      </p:pic>
    </p:spTree>
    <p:extLst>
      <p:ext uri="{BB962C8B-B14F-4D97-AF65-F5344CB8AC3E}">
        <p14:creationId xmlns:p14="http://schemas.microsoft.com/office/powerpoint/2010/main" val="40790371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0398CEBE-DC41-44C6-84AC-24EE9917E08B}"/>
              </a:ext>
            </a:extLst>
          </p:cNvPr>
          <p:cNvSpPr>
            <a:spLocks noGrp="1"/>
          </p:cNvSpPr>
          <p:nvPr>
            <p:ph type="title"/>
          </p:nvPr>
        </p:nvSpPr>
        <p:spPr>
          <a:xfrm>
            <a:off x="771380" y="390392"/>
            <a:ext cx="8761413" cy="706964"/>
          </a:xfrm>
        </p:spPr>
        <p:txBody>
          <a:bodyPr/>
          <a:lstStyle/>
          <a:p>
            <a:r>
              <a:rPr lang="en-GB" sz="3200" dirty="0">
                <a:cs typeface="Arial"/>
              </a:rPr>
              <a:t>LoRA and QLoRA for Coefficient Selection</a:t>
            </a:r>
            <a:endParaRPr lang="en-US" sz="5400" dirty="0"/>
          </a:p>
        </p:txBody>
      </p:sp>
      <p:grpSp>
        <p:nvGrpSpPr>
          <p:cNvPr id="5" name="object 3">
            <a:extLst>
              <a:ext uri="{FF2B5EF4-FFF2-40B4-BE49-F238E27FC236}">
                <a16:creationId xmlns:a16="http://schemas.microsoft.com/office/drawing/2014/main" id="{57623D81-3779-8DAD-D214-3D036CF97D10}"/>
              </a:ext>
            </a:extLst>
          </p:cNvPr>
          <p:cNvGrpSpPr/>
          <p:nvPr/>
        </p:nvGrpSpPr>
        <p:grpSpPr>
          <a:xfrm>
            <a:off x="3185652" y="3429000"/>
            <a:ext cx="7334866" cy="3038609"/>
            <a:chOff x="0" y="1770744"/>
            <a:chExt cx="11809730" cy="4622800"/>
          </a:xfrm>
        </p:grpSpPr>
        <p:pic>
          <p:nvPicPr>
            <p:cNvPr id="6" name="object 4">
              <a:extLst>
                <a:ext uri="{FF2B5EF4-FFF2-40B4-BE49-F238E27FC236}">
                  <a16:creationId xmlns:a16="http://schemas.microsoft.com/office/drawing/2014/main" id="{FDC11FEA-7DC6-8876-CC80-DDF666354C91}"/>
                </a:ext>
              </a:extLst>
            </p:cNvPr>
            <p:cNvPicPr/>
            <p:nvPr/>
          </p:nvPicPr>
          <p:blipFill>
            <a:blip r:embed="rId2" cstate="print"/>
            <a:stretch>
              <a:fillRect/>
            </a:stretch>
          </p:blipFill>
          <p:spPr>
            <a:xfrm>
              <a:off x="5552108" y="1873624"/>
              <a:ext cx="6257471" cy="4417037"/>
            </a:xfrm>
            <a:prstGeom prst="rect">
              <a:avLst/>
            </a:prstGeom>
          </p:spPr>
        </p:pic>
        <p:pic>
          <p:nvPicPr>
            <p:cNvPr id="7" name="object 5">
              <a:extLst>
                <a:ext uri="{FF2B5EF4-FFF2-40B4-BE49-F238E27FC236}">
                  <a16:creationId xmlns:a16="http://schemas.microsoft.com/office/drawing/2014/main" id="{725896A7-AE45-C934-6E56-01895CDAF1FF}"/>
                </a:ext>
              </a:extLst>
            </p:cNvPr>
            <p:cNvPicPr/>
            <p:nvPr/>
          </p:nvPicPr>
          <p:blipFill>
            <a:blip r:embed="rId3" cstate="print"/>
            <a:stretch>
              <a:fillRect/>
            </a:stretch>
          </p:blipFill>
          <p:spPr>
            <a:xfrm>
              <a:off x="0" y="1770744"/>
              <a:ext cx="5719020" cy="4622799"/>
            </a:xfrm>
            <a:prstGeom prst="rect">
              <a:avLst/>
            </a:prstGeom>
          </p:spPr>
        </p:pic>
      </p:grpSp>
      <p:sp>
        <p:nvSpPr>
          <p:cNvPr id="22" name="TextBox 21">
            <a:extLst>
              <a:ext uri="{FF2B5EF4-FFF2-40B4-BE49-F238E27FC236}">
                <a16:creationId xmlns:a16="http://schemas.microsoft.com/office/drawing/2014/main" id="{F391FD5A-A5D3-6B1C-EAEA-F199C81920A0}"/>
              </a:ext>
            </a:extLst>
          </p:cNvPr>
          <p:cNvSpPr txBox="1"/>
          <p:nvPr/>
        </p:nvSpPr>
        <p:spPr>
          <a:xfrm>
            <a:off x="528099" y="1398967"/>
            <a:ext cx="10385708" cy="2308324"/>
          </a:xfrm>
          <a:prstGeom prst="rect">
            <a:avLst/>
          </a:prstGeom>
          <a:noFill/>
        </p:spPr>
        <p:txBody>
          <a:bodyPr wrap="square" rtlCol="0">
            <a:spAutoFit/>
          </a:bodyPr>
          <a:lstStyle/>
          <a:p>
            <a:pPr lvl="0"/>
            <a:r>
              <a:rPr lang="en-US" sz="1050" b="1" dirty="0"/>
              <a:t>LoRA (Low-Rank Adoption):</a:t>
            </a:r>
            <a:endParaRPr lang="en-US" sz="1050" dirty="0"/>
          </a:p>
          <a:p>
            <a:pPr lvl="1">
              <a:spcBef>
                <a:spcPts val="600"/>
              </a:spcBef>
            </a:pPr>
            <a:r>
              <a:rPr lang="en-US" sz="1000" dirty="0"/>
              <a:t>It is a technique exploits the fact that some weights have more significant impacts than others. In LoRA, the large weight matrix is divided into two smaller matrices by factorization.</a:t>
            </a:r>
          </a:p>
          <a:p>
            <a:pPr lvl="1">
              <a:spcBef>
                <a:spcPts val="600"/>
              </a:spcBef>
            </a:pPr>
            <a:r>
              <a:rPr lang="en-US" sz="1000" dirty="0"/>
              <a:t>We reduce the number of coefficients that need adjustment, making the fine-tuning process more efficient.</a:t>
            </a:r>
          </a:p>
          <a:p>
            <a:pPr lvl="1">
              <a:spcBef>
                <a:spcPct val="0"/>
              </a:spcBef>
            </a:pPr>
            <a:endParaRPr lang="en-US" sz="1000" dirty="0"/>
          </a:p>
          <a:p>
            <a:pPr lvl="0"/>
            <a:r>
              <a:rPr lang="en-US" sz="1050" b="1" dirty="0"/>
              <a:t>QLoRA (Quantization + Low-Rank Adoption):</a:t>
            </a:r>
            <a:endParaRPr lang="en-US" sz="1050" dirty="0"/>
          </a:p>
          <a:p>
            <a:pPr lvl="1">
              <a:spcBef>
                <a:spcPts val="600"/>
              </a:spcBef>
            </a:pPr>
            <a:r>
              <a:rPr lang="en-US" sz="1000" dirty="0"/>
              <a:t>Quantization involves converting high-precision floating-point coefficients into lower-precision representations, such as 4-bit integers. </a:t>
            </a:r>
          </a:p>
          <a:p>
            <a:pPr lvl="1">
              <a:spcBef>
                <a:spcPts val="600"/>
              </a:spcBef>
            </a:pPr>
            <a:r>
              <a:rPr lang="en-US" sz="1000" dirty="0"/>
              <a:t>Quantization offers a solution by reducing the precision of these coefficients. </a:t>
            </a:r>
          </a:p>
          <a:p>
            <a:pPr lvl="1">
              <a:spcBef>
                <a:spcPts val="600"/>
              </a:spcBef>
            </a:pPr>
            <a:r>
              <a:rPr lang="en-US" sz="1000" dirty="0"/>
              <a:t>For instance, a 32-bit floating-point number can be represented as a 4-bit integer within a specific range. This conversion significantly shrinks the memory footprint.</a:t>
            </a:r>
          </a:p>
          <a:p>
            <a:endParaRPr lang="en-US" dirty="0"/>
          </a:p>
        </p:txBody>
      </p:sp>
    </p:spTree>
    <p:extLst>
      <p:ext uri="{BB962C8B-B14F-4D97-AF65-F5344CB8AC3E}">
        <p14:creationId xmlns:p14="http://schemas.microsoft.com/office/powerpoint/2010/main" val="22045940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24DB9-8000-4FA4-2E4C-2C238AB42E9F}"/>
              </a:ext>
            </a:extLst>
          </p:cNvPr>
          <p:cNvSpPr>
            <a:spLocks noGrp="1"/>
          </p:cNvSpPr>
          <p:nvPr>
            <p:ph type="title"/>
          </p:nvPr>
        </p:nvSpPr>
        <p:spPr>
          <a:xfrm>
            <a:off x="761549" y="362349"/>
            <a:ext cx="10171922" cy="706964"/>
          </a:xfrm>
        </p:spPr>
        <p:txBody>
          <a:bodyPr/>
          <a:lstStyle/>
          <a:p>
            <a:r>
              <a:rPr lang="en-US" dirty="0"/>
              <a:t>Instruction Tuning</a:t>
            </a:r>
            <a:br>
              <a:rPr lang="en-US" dirty="0"/>
            </a:br>
            <a:r>
              <a:rPr lang="en-US" sz="2000" dirty="0"/>
              <a:t>Finetuned Language Net (FLAN)</a:t>
            </a:r>
            <a:endParaRPr lang="en-US" dirty="0"/>
          </a:p>
        </p:txBody>
      </p:sp>
      <p:sp>
        <p:nvSpPr>
          <p:cNvPr id="3" name="Content Placeholder 2">
            <a:extLst>
              <a:ext uri="{FF2B5EF4-FFF2-40B4-BE49-F238E27FC236}">
                <a16:creationId xmlns:a16="http://schemas.microsoft.com/office/drawing/2014/main" id="{7CA1748A-3130-1DE4-651F-33000F509C3C}"/>
              </a:ext>
            </a:extLst>
          </p:cNvPr>
          <p:cNvSpPr>
            <a:spLocks noGrp="1"/>
          </p:cNvSpPr>
          <p:nvPr>
            <p:ph idx="1"/>
          </p:nvPr>
        </p:nvSpPr>
        <p:spPr>
          <a:xfrm>
            <a:off x="795962" y="1469481"/>
            <a:ext cx="9488580" cy="1959519"/>
          </a:xfrm>
        </p:spPr>
        <p:txBody>
          <a:bodyPr>
            <a:normAutofit/>
          </a:bodyPr>
          <a:lstStyle/>
          <a:p>
            <a:pPr>
              <a:buFont typeface="System Font Regular"/>
              <a:buChar char="−"/>
            </a:pPr>
            <a:r>
              <a:rPr lang="en-US" sz="1600" dirty="0">
                <a:latin typeface="Aptos" panose="020B0004020202020204" pitchFamily="34" charset="0"/>
              </a:rPr>
              <a:t>Whereas supervised fine-tuning trains models on input examples and their corresponding outputs, instruction tuning augments input-output examples with instructions, which enables instruction-tuned models to generalize more easily to new tasks.</a:t>
            </a:r>
          </a:p>
          <a:p>
            <a:pPr>
              <a:buFont typeface="System Font Regular"/>
              <a:buChar char="−"/>
            </a:pPr>
            <a:r>
              <a:rPr lang="en-US" sz="1600" dirty="0">
                <a:solidFill>
                  <a:srgbClr val="333333"/>
                </a:solidFill>
                <a:effectLst/>
                <a:latin typeface="Aptos" panose="020B0004020202020204" pitchFamily="34" charset="0"/>
              </a:rPr>
              <a:t>"Instruction tuning", which finetunes language models on a collection of tasks described via instructions, substantially boosts zero-shot performance on unseen tasks.</a:t>
            </a:r>
            <a:endParaRPr lang="en-US" sz="1600" dirty="0">
              <a:latin typeface="Aptos" panose="020B0004020202020204" pitchFamily="34" charset="0"/>
            </a:endParaRPr>
          </a:p>
          <a:p>
            <a:pPr>
              <a:buFont typeface="System Font Regular"/>
              <a:buChar char="−"/>
            </a:pPr>
            <a:r>
              <a:rPr lang="en-US" sz="1600" dirty="0">
                <a:solidFill>
                  <a:srgbClr val="363737"/>
                </a:solidFill>
                <a:effectLst/>
                <a:latin typeface="Aptos" panose="020B0004020202020204" pitchFamily="34" charset="0"/>
              </a:rPr>
              <a:t>Methods differ based on how the instruction tuning data is constructed.</a:t>
            </a:r>
            <a:endParaRPr lang="en-US" sz="1600" dirty="0">
              <a:latin typeface="Aptos" panose="020B0004020202020204" pitchFamily="34" charset="0"/>
            </a:endParaRPr>
          </a:p>
        </p:txBody>
      </p:sp>
      <p:pic>
        <p:nvPicPr>
          <p:cNvPr id="16386" name="Picture 2">
            <a:extLst>
              <a:ext uri="{FF2B5EF4-FFF2-40B4-BE49-F238E27FC236}">
                <a16:creationId xmlns:a16="http://schemas.microsoft.com/office/drawing/2014/main" id="{9C5F1E48-FC56-F824-80AF-69920E8691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5108" y="3595645"/>
            <a:ext cx="7393407" cy="267136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6A632F2-A0CF-15D6-B326-0DF570AEDA53}"/>
              </a:ext>
            </a:extLst>
          </p:cNvPr>
          <p:cNvSpPr txBox="1"/>
          <p:nvPr/>
        </p:nvSpPr>
        <p:spPr>
          <a:xfrm>
            <a:off x="7305367" y="6495651"/>
            <a:ext cx="4756430" cy="253916"/>
          </a:xfrm>
          <a:prstGeom prst="rect">
            <a:avLst/>
          </a:prstGeom>
          <a:noFill/>
        </p:spPr>
        <p:txBody>
          <a:bodyPr wrap="none" rtlCol="0">
            <a:spAutoFit/>
          </a:bodyPr>
          <a:lstStyle/>
          <a:p>
            <a:r>
              <a:rPr lang="en-US" sz="1050" i="1">
                <a:solidFill>
                  <a:srgbClr val="000000"/>
                </a:solidFill>
                <a:latin typeface="Lucida Grande" panose="020B0600040502020204" pitchFamily="34" charset="0"/>
              </a:rPr>
              <a:t>F</a:t>
            </a:r>
            <a:r>
              <a:rPr lang="en-US" sz="1050" i="1">
                <a:solidFill>
                  <a:srgbClr val="000000"/>
                </a:solidFill>
                <a:effectLst/>
                <a:latin typeface="Lucida Grande" panose="020B0600040502020204" pitchFamily="34" charset="0"/>
              </a:rPr>
              <a:t>inetuned Language Models Are Zero-Shot Learners; Wei et al. 2022</a:t>
            </a:r>
            <a:endParaRPr lang="en-US" sz="1050" i="1" dirty="0">
              <a:solidFill>
                <a:srgbClr val="000000"/>
              </a:solidFill>
              <a:effectLst/>
              <a:latin typeface="Lucida Grande" panose="020B0600040502020204" pitchFamily="34" charset="0"/>
            </a:endParaRPr>
          </a:p>
        </p:txBody>
      </p:sp>
    </p:spTree>
    <p:extLst>
      <p:ext uri="{BB962C8B-B14F-4D97-AF65-F5344CB8AC3E}">
        <p14:creationId xmlns:p14="http://schemas.microsoft.com/office/powerpoint/2010/main" val="18377063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z="4000" spc="-145" dirty="0"/>
              <a:t>Prompt</a:t>
            </a:r>
            <a:r>
              <a:rPr sz="4000" spc="-180" dirty="0"/>
              <a:t> </a:t>
            </a:r>
            <a:r>
              <a:rPr sz="4000" spc="-265" dirty="0"/>
              <a:t>Tuning</a:t>
            </a:r>
            <a:endParaRPr sz="4000"/>
          </a:p>
        </p:txBody>
      </p:sp>
      <p:pic>
        <p:nvPicPr>
          <p:cNvPr id="3" name="object 3"/>
          <p:cNvPicPr/>
          <p:nvPr/>
        </p:nvPicPr>
        <p:blipFill>
          <a:blip r:embed="rId2" cstate="print"/>
          <a:stretch>
            <a:fillRect/>
          </a:stretch>
        </p:blipFill>
        <p:spPr>
          <a:xfrm>
            <a:off x="1051540" y="1577300"/>
            <a:ext cx="10088920" cy="4570566"/>
          </a:xfrm>
          <a:prstGeom prst="rect">
            <a:avLst/>
          </a:prstGeom>
        </p:spPr>
      </p:pic>
      <p:sp>
        <p:nvSpPr>
          <p:cNvPr id="4" name="object 4"/>
          <p:cNvSpPr txBox="1"/>
          <p:nvPr/>
        </p:nvSpPr>
        <p:spPr>
          <a:xfrm>
            <a:off x="7629832" y="6564817"/>
            <a:ext cx="4439591" cy="199350"/>
          </a:xfrm>
          <a:prstGeom prst="rect">
            <a:avLst/>
          </a:prstGeom>
        </p:spPr>
        <p:txBody>
          <a:bodyPr vert="horz" wrap="square" lIns="0" tIns="0" rIns="0" bIns="0" rtlCol="0">
            <a:spAutoFit/>
          </a:bodyPr>
          <a:lstStyle/>
          <a:p>
            <a:pPr marL="12700" algn="r">
              <a:lnSpc>
                <a:spcPts val="1810"/>
              </a:lnSpc>
            </a:pPr>
            <a:r>
              <a:rPr sz="900" i="1" spc="-55" dirty="0">
                <a:latin typeface="Arial"/>
                <a:cs typeface="Arial"/>
              </a:rPr>
              <a:t>http</a:t>
            </a:r>
            <a:r>
              <a:rPr sz="900" i="1" spc="-55" dirty="0">
                <a:latin typeface="Arial"/>
                <a:cs typeface="Arial"/>
                <a:hlinkClick r:id="rId3">
                  <a:extLst>
                    <a:ext uri="{A12FA001-AC4F-418D-AE19-62706E023703}">
                      <ahyp:hlinkClr xmlns:ahyp="http://schemas.microsoft.com/office/drawing/2018/hyperlinkcolor" val="tx"/>
                    </a:ext>
                  </a:extLst>
                </a:hlinkClick>
              </a:rPr>
              <a:t>s://www.leewayhertz.com/parameter-</a:t>
            </a:r>
            <a:r>
              <a:rPr sz="900" i="1" spc="-50" dirty="0">
                <a:latin typeface="Arial"/>
                <a:cs typeface="Arial"/>
                <a:hlinkClick r:id="rId3">
                  <a:extLst>
                    <a:ext uri="{A12FA001-AC4F-418D-AE19-62706E023703}">
                      <ahyp:hlinkClr xmlns:ahyp="http://schemas.microsoft.com/office/drawing/2018/hyperlinkcolor" val="tx"/>
                    </a:ext>
                  </a:extLst>
                </a:hlinkClick>
              </a:rPr>
              <a:t>efficient-</a:t>
            </a:r>
            <a:r>
              <a:rPr sz="900" i="1" spc="-40" dirty="0">
                <a:latin typeface="Arial"/>
                <a:cs typeface="Arial"/>
                <a:hlinkClick r:id="rId3">
                  <a:extLst>
                    <a:ext uri="{A12FA001-AC4F-418D-AE19-62706E023703}">
                      <ahyp:hlinkClr xmlns:ahyp="http://schemas.microsoft.com/office/drawing/2018/hyperlinkcolor" val="tx"/>
                    </a:ext>
                  </a:extLst>
                </a:hlinkClick>
              </a:rPr>
              <a:t>fine-</a:t>
            </a:r>
            <a:r>
              <a:rPr sz="900" i="1" spc="-10" dirty="0">
                <a:latin typeface="Arial"/>
                <a:cs typeface="Arial"/>
                <a:hlinkClick r:id="rId3">
                  <a:extLst>
                    <a:ext uri="{A12FA001-AC4F-418D-AE19-62706E023703}">
                      <ahyp:hlinkClr xmlns:ahyp="http://schemas.microsoft.com/office/drawing/2018/hyperlinkcolor" val="tx"/>
                    </a:ext>
                  </a:extLst>
                </a:hlinkClick>
              </a:rPr>
              <a:t>tuning/</a:t>
            </a:r>
            <a:endParaRPr sz="900" i="1" dirty="0">
              <a:latin typeface="Arial"/>
              <a:cs typeface="Arial"/>
            </a:endParaRPr>
          </a:p>
        </p:txBody>
      </p:sp>
    </p:spTree>
    <p:extLst>
      <p:ext uri="{BB962C8B-B14F-4D97-AF65-F5344CB8AC3E}">
        <p14:creationId xmlns:p14="http://schemas.microsoft.com/office/powerpoint/2010/main" val="9086158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4091D54B-59AB-4A5E-8E9E-0421BD66D4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9" name="Rectangle 8">
              <a:extLst>
                <a:ext uri="{FF2B5EF4-FFF2-40B4-BE49-F238E27FC236}">
                  <a16:creationId xmlns:a16="http://schemas.microsoft.com/office/drawing/2014/main" id="{547CE62E-FFFD-4A1F-BA78-C3B89C36F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Freeform 5">
              <a:extLst>
                <a:ext uri="{FF2B5EF4-FFF2-40B4-BE49-F238E27FC236}">
                  <a16:creationId xmlns:a16="http://schemas.microsoft.com/office/drawing/2014/main" id="{AE51FD27-6B6A-4D21-BF22-245DA9BD0B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12" name="Rectangle 11">
            <a:extLst>
              <a:ext uri="{FF2B5EF4-FFF2-40B4-BE49-F238E27FC236}">
                <a16:creationId xmlns:a16="http://schemas.microsoft.com/office/drawing/2014/main" id="{B8144315-1C5A-4185-A952-25D98D303D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6C64122D-6741-6388-2AEB-E62D6C5F6174}"/>
              </a:ext>
            </a:extLst>
          </p:cNvPr>
          <p:cNvSpPr>
            <a:spLocks noGrp="1"/>
          </p:cNvSpPr>
          <p:nvPr>
            <p:ph type="title"/>
          </p:nvPr>
        </p:nvSpPr>
        <p:spPr>
          <a:xfrm>
            <a:off x="8382055" y="1241266"/>
            <a:ext cx="3161016" cy="3153753"/>
          </a:xfrm>
        </p:spPr>
        <p:txBody>
          <a:bodyPr vert="horz" lIns="91440" tIns="45720" rIns="91440" bIns="45720" rtlCol="0" anchor="b">
            <a:normAutofit/>
          </a:bodyPr>
          <a:lstStyle/>
          <a:p>
            <a:r>
              <a:rPr lang="en-US" sz="3800" b="0" i="0" kern="1200">
                <a:solidFill>
                  <a:srgbClr val="EBEBEB"/>
                </a:solidFill>
                <a:latin typeface="+mj-lt"/>
                <a:ea typeface="+mj-ea"/>
                <a:cs typeface="+mj-cs"/>
              </a:rPr>
              <a:t>Tuning Approaches</a:t>
            </a:r>
          </a:p>
        </p:txBody>
      </p:sp>
      <p:grpSp>
        <p:nvGrpSpPr>
          <p:cNvPr id="14" name="Group 13">
            <a:extLst>
              <a:ext uri="{FF2B5EF4-FFF2-40B4-BE49-F238E27FC236}">
                <a16:creationId xmlns:a16="http://schemas.microsoft.com/office/drawing/2014/main" id="{25A657F0-42F3-40D3-BC75-7DA1F5C6A2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3332" y="396837"/>
            <a:ext cx="7906665" cy="6058999"/>
            <a:chOff x="423332" y="396837"/>
            <a:chExt cx="7906665" cy="6058999"/>
          </a:xfrm>
        </p:grpSpPr>
        <p:sp>
          <p:nvSpPr>
            <p:cNvPr id="15" name="Rectangle 14">
              <a:extLst>
                <a:ext uri="{FF2B5EF4-FFF2-40B4-BE49-F238E27FC236}">
                  <a16:creationId xmlns:a16="http://schemas.microsoft.com/office/drawing/2014/main" id="{2E94FF68-7A60-47B7-AB98-1674FC7F2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flipH="1">
              <a:off x="423332" y="402165"/>
              <a:ext cx="678513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42B4F8D7-4E9C-45EF-9072-1AF32CEF71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400000" flipH="1">
              <a:off x="4616676" y="2801722"/>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17" name="Freeform 5">
              <a:extLst>
                <a:ext uri="{FF2B5EF4-FFF2-40B4-BE49-F238E27FC236}">
                  <a16:creationId xmlns:a16="http://schemas.microsoft.com/office/drawing/2014/main" id="{3ECBDDDB-593C-40F0-8E80-AA75798EE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677511" flipH="1">
              <a:off x="6459831" y="1826079"/>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grpSp>
      <p:pic>
        <p:nvPicPr>
          <p:cNvPr id="3" name="Picture 4" descr="Generated image">
            <a:extLst>
              <a:ext uri="{FF2B5EF4-FFF2-40B4-BE49-F238E27FC236}">
                <a16:creationId xmlns:a16="http://schemas.microsoft.com/office/drawing/2014/main" id="{85001DD6-5668-61AC-05CE-8F0B19B9C8E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77690" y="1003370"/>
            <a:ext cx="7267808" cy="48512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77716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DBA8E-7C14-81DB-3CDA-9AD1095E35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182321-874A-3DB8-9CCC-C40BCEBE34D4}"/>
              </a:ext>
            </a:extLst>
          </p:cNvPr>
          <p:cNvSpPr>
            <a:spLocks noGrp="1"/>
          </p:cNvSpPr>
          <p:nvPr>
            <p:ph type="title" idx="4294967295"/>
          </p:nvPr>
        </p:nvSpPr>
        <p:spPr>
          <a:xfrm>
            <a:off x="1052622" y="155976"/>
            <a:ext cx="8761413" cy="708025"/>
          </a:xfrm>
        </p:spPr>
        <p:txBody>
          <a:bodyPr/>
          <a:lstStyle/>
          <a:p>
            <a:pPr algn="ctr"/>
            <a:r>
              <a:rPr lang="en-US" sz="2800" dirty="0">
                <a:solidFill>
                  <a:schemeClr val="tx1"/>
                </a:solidFill>
              </a:rPr>
              <a:t>Different Training Strategies</a:t>
            </a:r>
          </a:p>
        </p:txBody>
      </p:sp>
      <p:graphicFrame>
        <p:nvGraphicFramePr>
          <p:cNvPr id="5" name="Table 4">
            <a:extLst>
              <a:ext uri="{FF2B5EF4-FFF2-40B4-BE49-F238E27FC236}">
                <a16:creationId xmlns:a16="http://schemas.microsoft.com/office/drawing/2014/main" id="{113D1F5C-0A72-CA9B-00F0-2F7EB97E55CF}"/>
              </a:ext>
            </a:extLst>
          </p:cNvPr>
          <p:cNvGraphicFramePr>
            <a:graphicFrameLocks noGrp="1"/>
          </p:cNvGraphicFramePr>
          <p:nvPr>
            <p:extLst>
              <p:ext uri="{D42A27DB-BD31-4B8C-83A1-F6EECF244321}">
                <p14:modId xmlns:p14="http://schemas.microsoft.com/office/powerpoint/2010/main" val="3677556937"/>
              </p:ext>
            </p:extLst>
          </p:nvPr>
        </p:nvGraphicFramePr>
        <p:xfrm>
          <a:off x="646176" y="997583"/>
          <a:ext cx="10698480" cy="5620827"/>
        </p:xfrm>
        <a:graphic>
          <a:graphicData uri="http://schemas.openxmlformats.org/drawingml/2006/table">
            <a:tbl>
              <a:tblPr/>
              <a:tblGrid>
                <a:gridCol w="1325880">
                  <a:extLst>
                    <a:ext uri="{9D8B030D-6E8A-4147-A177-3AD203B41FA5}">
                      <a16:colId xmlns:a16="http://schemas.microsoft.com/office/drawing/2014/main" val="888946918"/>
                    </a:ext>
                  </a:extLst>
                </a:gridCol>
                <a:gridCol w="3291840">
                  <a:extLst>
                    <a:ext uri="{9D8B030D-6E8A-4147-A177-3AD203B41FA5}">
                      <a16:colId xmlns:a16="http://schemas.microsoft.com/office/drawing/2014/main" val="248986271"/>
                    </a:ext>
                  </a:extLst>
                </a:gridCol>
                <a:gridCol w="2999232">
                  <a:extLst>
                    <a:ext uri="{9D8B030D-6E8A-4147-A177-3AD203B41FA5}">
                      <a16:colId xmlns:a16="http://schemas.microsoft.com/office/drawing/2014/main" val="3970576752"/>
                    </a:ext>
                  </a:extLst>
                </a:gridCol>
                <a:gridCol w="3081528">
                  <a:extLst>
                    <a:ext uri="{9D8B030D-6E8A-4147-A177-3AD203B41FA5}">
                      <a16:colId xmlns:a16="http://schemas.microsoft.com/office/drawing/2014/main" val="1081077394"/>
                    </a:ext>
                  </a:extLst>
                </a:gridCol>
              </a:tblGrid>
              <a:tr h="142704">
                <a:tc>
                  <a:txBody>
                    <a:bodyPr/>
                    <a:lstStyle/>
                    <a:p>
                      <a:pPr algn="ctr"/>
                      <a:r>
                        <a:rPr lang="en-US" sz="1000" b="1" u="sng" dirty="0"/>
                        <a:t>Aspect</a:t>
                      </a:r>
                      <a:endParaRPr lang="en-US" sz="1000" u="sng" dirty="0"/>
                    </a:p>
                  </a:txBody>
                  <a:tcPr marL="17518" marR="17518" marT="8759" marB="8759" anchor="ctr">
                    <a:lnL>
                      <a:noFill/>
                    </a:lnL>
                    <a:lnR>
                      <a:noFill/>
                    </a:lnR>
                    <a:lnT>
                      <a:noFill/>
                    </a:lnT>
                    <a:lnB>
                      <a:noFill/>
                    </a:lnB>
                    <a:noFill/>
                  </a:tcPr>
                </a:tc>
                <a:tc>
                  <a:txBody>
                    <a:bodyPr/>
                    <a:lstStyle/>
                    <a:p>
                      <a:pPr algn="ctr"/>
                      <a:r>
                        <a:rPr lang="en-US" sz="1000" b="1" u="sng" dirty="0"/>
                        <a:t>Traditional Fine-Tuning</a:t>
                      </a:r>
                      <a:endParaRPr lang="en-US" sz="1000" u="sng" dirty="0"/>
                    </a:p>
                  </a:txBody>
                  <a:tcPr marL="17518" marR="17518" marT="8759" marB="8759" anchor="ctr">
                    <a:lnL>
                      <a:noFill/>
                    </a:lnL>
                    <a:lnR>
                      <a:noFill/>
                    </a:lnR>
                    <a:lnT>
                      <a:noFill/>
                    </a:lnT>
                    <a:lnB>
                      <a:noFill/>
                    </a:lnB>
                    <a:noFill/>
                  </a:tcPr>
                </a:tc>
                <a:tc>
                  <a:txBody>
                    <a:bodyPr/>
                    <a:lstStyle/>
                    <a:p>
                      <a:pPr algn="ctr"/>
                      <a:r>
                        <a:rPr lang="en-US" sz="1000" b="1" u="sng" dirty="0"/>
                        <a:t>Instruction Tuning</a:t>
                      </a:r>
                      <a:endParaRPr lang="en-US" sz="1000" u="sng" dirty="0"/>
                    </a:p>
                  </a:txBody>
                  <a:tcPr marL="17518" marR="17518" marT="8759" marB="8759" anchor="ctr">
                    <a:lnL>
                      <a:noFill/>
                    </a:lnL>
                    <a:lnR>
                      <a:noFill/>
                    </a:lnR>
                    <a:lnT>
                      <a:noFill/>
                    </a:lnT>
                    <a:lnB>
                      <a:noFill/>
                    </a:lnB>
                    <a:noFill/>
                  </a:tcPr>
                </a:tc>
                <a:tc>
                  <a:txBody>
                    <a:bodyPr/>
                    <a:lstStyle/>
                    <a:p>
                      <a:pPr algn="ctr"/>
                      <a:r>
                        <a:rPr lang="en-US" sz="1000" b="1" u="sng" dirty="0"/>
                        <a:t>Hybrid Approach</a:t>
                      </a:r>
                      <a:endParaRPr lang="en-US" sz="1000" u="sng" dirty="0"/>
                    </a:p>
                  </a:txBody>
                  <a:tcPr marL="17518" marR="17518" marT="8759" marB="8759" anchor="ctr">
                    <a:lnL>
                      <a:noFill/>
                    </a:lnL>
                    <a:lnR>
                      <a:noFill/>
                    </a:lnR>
                    <a:lnT>
                      <a:noFill/>
                    </a:lnT>
                    <a:lnB>
                      <a:noFill/>
                    </a:lnB>
                    <a:noFill/>
                  </a:tcPr>
                </a:tc>
                <a:extLst>
                  <a:ext uri="{0D108BD9-81ED-4DB2-BD59-A6C34878D82A}">
                    <a16:rowId xmlns:a16="http://schemas.microsoft.com/office/drawing/2014/main" val="3957860638"/>
                  </a:ext>
                </a:extLst>
              </a:tr>
              <a:tr h="530152">
                <a:tc>
                  <a:txBody>
                    <a:bodyPr/>
                    <a:lstStyle/>
                    <a:p>
                      <a:r>
                        <a:rPr lang="en-US" sz="800" b="1" dirty="0"/>
                        <a:t>Description</a:t>
                      </a:r>
                      <a:endParaRPr lang="en-US" sz="800" dirty="0"/>
                    </a:p>
                  </a:txBody>
                  <a:tcPr marL="17518" marR="17518" marT="8759" marB="8759" anchor="ctr">
                    <a:lnL>
                      <a:noFill/>
                    </a:lnL>
                    <a:lnR>
                      <a:noFill/>
                    </a:lnR>
                    <a:lnT>
                      <a:noFill/>
                    </a:lnT>
                    <a:lnB>
                      <a:noFill/>
                    </a:lnB>
                    <a:noFill/>
                  </a:tcPr>
                </a:tc>
                <a:tc>
                  <a:txBody>
                    <a:bodyPr/>
                    <a:lstStyle/>
                    <a:p>
                      <a:r>
                        <a:rPr lang="en-US" sz="800" dirty="0"/>
                        <a:t>Adapting a general-purpose model to cybersecurity by updating weights on a large unlabeled/labeled </a:t>
                      </a:r>
                      <a:r>
                        <a:rPr lang="en-US" sz="800" b="1" dirty="0"/>
                        <a:t>domain corpus</a:t>
                      </a:r>
                      <a:endParaRPr lang="en-US" sz="800" dirty="0"/>
                    </a:p>
                  </a:txBody>
                  <a:tcPr marL="17518" marR="17518" marT="8759" marB="8759" anchor="ctr">
                    <a:lnL>
                      <a:noFill/>
                    </a:lnL>
                    <a:lnR>
                      <a:noFill/>
                    </a:lnR>
                    <a:lnT>
                      <a:noFill/>
                    </a:lnT>
                    <a:lnB>
                      <a:noFill/>
                    </a:lnB>
                    <a:noFill/>
                  </a:tcPr>
                </a:tc>
                <a:tc>
                  <a:txBody>
                    <a:bodyPr/>
                    <a:lstStyle/>
                    <a:p>
                      <a:r>
                        <a:rPr lang="en-US" sz="800" dirty="0"/>
                        <a:t>Adapting a model to follow </a:t>
                      </a:r>
                      <a:r>
                        <a:rPr lang="en-US" sz="800" b="1" dirty="0"/>
                        <a:t>explicit instructions</a:t>
                      </a:r>
                      <a:r>
                        <a:rPr lang="en-US" sz="800" dirty="0"/>
                        <a:t> in natural language format across various cybersecurity tasks</a:t>
                      </a:r>
                    </a:p>
                  </a:txBody>
                  <a:tcPr marL="17518" marR="17518" marT="8759" marB="8759" anchor="ctr">
                    <a:lnL>
                      <a:noFill/>
                    </a:lnL>
                    <a:lnR>
                      <a:noFill/>
                    </a:lnR>
                    <a:lnT>
                      <a:noFill/>
                    </a:lnT>
                    <a:lnB>
                      <a:noFill/>
                    </a:lnB>
                    <a:noFill/>
                  </a:tcPr>
                </a:tc>
                <a:tc>
                  <a:txBody>
                    <a:bodyPr/>
                    <a:lstStyle/>
                    <a:p>
                      <a:r>
                        <a:rPr lang="en-US" sz="800" dirty="0"/>
                        <a:t>Combines traditional fine-tuning on a domain corpus followed by instruction tuning or integrates both into a single multi-objective training setup</a:t>
                      </a:r>
                    </a:p>
                  </a:txBody>
                  <a:tcPr marL="17518" marR="17518" marT="8759" marB="8759" anchor="ctr">
                    <a:lnL>
                      <a:noFill/>
                    </a:lnL>
                    <a:lnR>
                      <a:noFill/>
                    </a:lnR>
                    <a:lnT>
                      <a:noFill/>
                    </a:lnT>
                    <a:lnB>
                      <a:noFill/>
                    </a:lnB>
                    <a:noFill/>
                  </a:tcPr>
                </a:tc>
                <a:extLst>
                  <a:ext uri="{0D108BD9-81ED-4DB2-BD59-A6C34878D82A}">
                    <a16:rowId xmlns:a16="http://schemas.microsoft.com/office/drawing/2014/main" val="4135964506"/>
                  </a:ext>
                </a:extLst>
              </a:tr>
              <a:tr h="392255">
                <a:tc>
                  <a:txBody>
                    <a:bodyPr/>
                    <a:lstStyle/>
                    <a:p>
                      <a:r>
                        <a:rPr lang="en-US" sz="800" b="1"/>
                        <a:t>Input Format</a:t>
                      </a:r>
                      <a:endParaRPr lang="en-US" sz="800"/>
                    </a:p>
                  </a:txBody>
                  <a:tcPr marL="17518" marR="17518" marT="8759" marB="8759" anchor="ctr">
                    <a:lnL>
                      <a:noFill/>
                    </a:lnL>
                    <a:lnR>
                      <a:noFill/>
                    </a:lnR>
                    <a:lnT>
                      <a:noFill/>
                    </a:lnT>
                    <a:lnB>
                      <a:noFill/>
                    </a:lnB>
                    <a:noFill/>
                  </a:tcPr>
                </a:tc>
                <a:tc>
                  <a:txBody>
                    <a:bodyPr/>
                    <a:lstStyle/>
                    <a:p>
                      <a:r>
                        <a:rPr lang="en-US" sz="800" dirty="0"/>
                        <a:t>Raw cybersecurity texts (blogs, CVEs, advisories)</a:t>
                      </a:r>
                    </a:p>
                  </a:txBody>
                  <a:tcPr marL="17518" marR="17518" marT="8759" marB="8759" anchor="ctr">
                    <a:lnL>
                      <a:noFill/>
                    </a:lnL>
                    <a:lnR>
                      <a:noFill/>
                    </a:lnR>
                    <a:lnT>
                      <a:noFill/>
                    </a:lnT>
                    <a:lnB>
                      <a:noFill/>
                    </a:lnB>
                    <a:noFill/>
                  </a:tcPr>
                </a:tc>
                <a:tc>
                  <a:txBody>
                    <a:bodyPr/>
                    <a:lstStyle/>
                    <a:p>
                      <a:r>
                        <a:rPr lang="en-US" sz="800" dirty="0"/>
                        <a:t>Tuples like </a:t>
                      </a:r>
                      <a:r>
                        <a:rPr lang="en-US" sz="800" i="1" dirty="0"/>
                        <a:t>(“Map this CVE to MITRE ATT&amp;CK”, CVE text → expected answer)</a:t>
                      </a:r>
                      <a:endParaRPr lang="en-US" sz="800" dirty="0"/>
                    </a:p>
                  </a:txBody>
                  <a:tcPr marL="17518" marR="17518" marT="8759" marB="8759" anchor="ctr">
                    <a:lnL>
                      <a:noFill/>
                    </a:lnL>
                    <a:lnR>
                      <a:noFill/>
                    </a:lnR>
                    <a:lnT>
                      <a:noFill/>
                    </a:lnT>
                    <a:lnB>
                      <a:noFill/>
                    </a:lnB>
                    <a:noFill/>
                  </a:tcPr>
                </a:tc>
                <a:tc>
                  <a:txBody>
                    <a:bodyPr/>
                    <a:lstStyle/>
                    <a:p>
                      <a:r>
                        <a:rPr lang="en-US" sz="800"/>
                        <a:t>First: domain texts → corpus adaptation; then: curated instructions → multi-task generalization</a:t>
                      </a:r>
                    </a:p>
                  </a:txBody>
                  <a:tcPr marL="17518" marR="17518" marT="8759" marB="8759" anchor="ctr">
                    <a:lnL>
                      <a:noFill/>
                    </a:lnL>
                    <a:lnR>
                      <a:noFill/>
                    </a:lnR>
                    <a:lnT>
                      <a:noFill/>
                    </a:lnT>
                    <a:lnB>
                      <a:noFill/>
                    </a:lnB>
                    <a:noFill/>
                  </a:tcPr>
                </a:tc>
                <a:extLst>
                  <a:ext uri="{0D108BD9-81ED-4DB2-BD59-A6C34878D82A}">
                    <a16:rowId xmlns:a16="http://schemas.microsoft.com/office/drawing/2014/main" val="2056661077"/>
                  </a:ext>
                </a:extLst>
              </a:tr>
              <a:tr h="517031">
                <a:tc>
                  <a:txBody>
                    <a:bodyPr/>
                    <a:lstStyle/>
                    <a:p>
                      <a:r>
                        <a:rPr lang="en-US" sz="800" b="1"/>
                        <a:t>Training Objective</a:t>
                      </a:r>
                      <a:endParaRPr lang="en-US" sz="800"/>
                    </a:p>
                  </a:txBody>
                  <a:tcPr marL="17518" marR="17518" marT="8759" marB="8759" anchor="ctr">
                    <a:lnL>
                      <a:noFill/>
                    </a:lnL>
                    <a:lnR>
                      <a:noFill/>
                    </a:lnR>
                    <a:lnT>
                      <a:noFill/>
                    </a:lnT>
                    <a:lnB>
                      <a:noFill/>
                    </a:lnB>
                    <a:noFill/>
                  </a:tcPr>
                </a:tc>
                <a:tc>
                  <a:txBody>
                    <a:bodyPr/>
                    <a:lstStyle/>
                    <a:p>
                      <a:r>
                        <a:rPr lang="en-US" sz="800" dirty="0"/>
                        <a:t>Masked Language Modeling (MLM) or Causal Language Modeling (CLM); optionally with classification/regression heads</a:t>
                      </a:r>
                    </a:p>
                  </a:txBody>
                  <a:tcPr marL="17518" marR="17518" marT="8759" marB="8759" anchor="ctr">
                    <a:lnL>
                      <a:noFill/>
                    </a:lnL>
                    <a:lnR>
                      <a:noFill/>
                    </a:lnR>
                    <a:lnT>
                      <a:noFill/>
                    </a:lnT>
                    <a:lnB>
                      <a:noFill/>
                    </a:lnB>
                    <a:noFill/>
                  </a:tcPr>
                </a:tc>
                <a:tc>
                  <a:txBody>
                    <a:bodyPr/>
                    <a:lstStyle/>
                    <a:p>
                      <a:r>
                        <a:rPr lang="en-US" sz="800" dirty="0"/>
                        <a:t>Supervised generation / classification using cross-entropy loss</a:t>
                      </a:r>
                    </a:p>
                  </a:txBody>
                  <a:tcPr marL="17518" marR="17518" marT="8759" marB="8759" anchor="ctr">
                    <a:lnL>
                      <a:noFill/>
                    </a:lnL>
                    <a:lnR>
                      <a:noFill/>
                    </a:lnR>
                    <a:lnT>
                      <a:noFill/>
                    </a:lnT>
                    <a:lnB>
                      <a:noFill/>
                    </a:lnB>
                    <a:noFill/>
                  </a:tcPr>
                </a:tc>
                <a:tc>
                  <a:txBody>
                    <a:bodyPr/>
                    <a:lstStyle/>
                    <a:p>
                      <a:r>
                        <a:rPr lang="en-US" sz="800"/>
                        <a:t>Pretrain or adapt with MLM, then instruction tune; or mix the objectives (e.g., multi-task loss)</a:t>
                      </a:r>
                    </a:p>
                  </a:txBody>
                  <a:tcPr marL="17518" marR="17518" marT="8759" marB="8759" anchor="ctr">
                    <a:lnL>
                      <a:noFill/>
                    </a:lnL>
                    <a:lnR>
                      <a:noFill/>
                    </a:lnR>
                    <a:lnT>
                      <a:noFill/>
                    </a:lnT>
                    <a:lnB>
                      <a:noFill/>
                    </a:lnB>
                    <a:noFill/>
                  </a:tcPr>
                </a:tc>
                <a:extLst>
                  <a:ext uri="{0D108BD9-81ED-4DB2-BD59-A6C34878D82A}">
                    <a16:rowId xmlns:a16="http://schemas.microsoft.com/office/drawing/2014/main" val="2781085707"/>
                  </a:ext>
                </a:extLst>
              </a:tr>
              <a:tr h="517031">
                <a:tc>
                  <a:txBody>
                    <a:bodyPr/>
                    <a:lstStyle/>
                    <a:p>
                      <a:r>
                        <a:rPr lang="en-US" sz="800" b="1"/>
                        <a:t>Best For</a:t>
                      </a:r>
                      <a:endParaRPr lang="en-US" sz="800"/>
                    </a:p>
                  </a:txBody>
                  <a:tcPr marL="17518" marR="17518" marT="8759" marB="8759" anchor="ctr">
                    <a:lnL>
                      <a:noFill/>
                    </a:lnL>
                    <a:lnR>
                      <a:noFill/>
                    </a:lnR>
                    <a:lnT>
                      <a:noFill/>
                    </a:lnT>
                    <a:lnB>
                      <a:noFill/>
                    </a:lnB>
                    <a:noFill/>
                  </a:tcPr>
                </a:tc>
                <a:tc>
                  <a:txBody>
                    <a:bodyPr/>
                    <a:lstStyle/>
                    <a:p>
                      <a:r>
                        <a:rPr lang="en-US" sz="800"/>
                        <a:t>Embedding learning, classification, entity recognition, internalizing domain-specific syntax and jargon</a:t>
                      </a:r>
                    </a:p>
                  </a:txBody>
                  <a:tcPr marL="17518" marR="17518" marT="8759" marB="8759" anchor="ctr">
                    <a:lnL>
                      <a:noFill/>
                    </a:lnL>
                    <a:lnR>
                      <a:noFill/>
                    </a:lnR>
                    <a:lnT>
                      <a:noFill/>
                    </a:lnT>
                    <a:lnB>
                      <a:noFill/>
                    </a:lnB>
                    <a:noFill/>
                  </a:tcPr>
                </a:tc>
                <a:tc>
                  <a:txBody>
                    <a:bodyPr/>
                    <a:lstStyle/>
                    <a:p>
                      <a:r>
                        <a:rPr lang="en-US" sz="800" dirty="0"/>
                        <a:t>Multi-turn reasoning, question-answering, structured task execution (e.g., IOC extraction, root cause summarization)</a:t>
                      </a:r>
                    </a:p>
                  </a:txBody>
                  <a:tcPr marL="17518" marR="17518" marT="8759" marB="8759" anchor="ctr">
                    <a:lnL>
                      <a:noFill/>
                    </a:lnL>
                    <a:lnR>
                      <a:noFill/>
                    </a:lnR>
                    <a:lnT>
                      <a:noFill/>
                    </a:lnT>
                    <a:lnB>
                      <a:noFill/>
                    </a:lnB>
                    <a:noFill/>
                  </a:tcPr>
                </a:tc>
                <a:tc>
                  <a:txBody>
                    <a:bodyPr/>
                    <a:lstStyle/>
                    <a:p>
                      <a:r>
                        <a:rPr lang="en-US" sz="800"/>
                        <a:t>Use cases needing both strong domain understanding and complex task following (e.g., SOC assistant, security triage)</a:t>
                      </a:r>
                    </a:p>
                  </a:txBody>
                  <a:tcPr marL="17518" marR="17518" marT="8759" marB="8759" anchor="ctr">
                    <a:lnL>
                      <a:noFill/>
                    </a:lnL>
                    <a:lnR>
                      <a:noFill/>
                    </a:lnR>
                    <a:lnT>
                      <a:noFill/>
                    </a:lnT>
                    <a:lnB>
                      <a:noFill/>
                    </a:lnB>
                    <a:noFill/>
                  </a:tcPr>
                </a:tc>
                <a:extLst>
                  <a:ext uri="{0D108BD9-81ED-4DB2-BD59-A6C34878D82A}">
                    <a16:rowId xmlns:a16="http://schemas.microsoft.com/office/drawing/2014/main" val="3207201404"/>
                  </a:ext>
                </a:extLst>
              </a:tr>
              <a:tr h="517031">
                <a:tc>
                  <a:txBody>
                    <a:bodyPr/>
                    <a:lstStyle/>
                    <a:p>
                      <a:r>
                        <a:rPr lang="en-US" sz="800" b="1"/>
                        <a:t>Sample Cyber LLMs</a:t>
                      </a:r>
                      <a:endParaRPr lang="en-US" sz="800"/>
                    </a:p>
                  </a:txBody>
                  <a:tcPr marL="17518" marR="17518" marT="8759" marB="8759" anchor="ctr">
                    <a:lnL>
                      <a:noFill/>
                    </a:lnL>
                    <a:lnR>
                      <a:noFill/>
                    </a:lnR>
                    <a:lnT>
                      <a:noFill/>
                    </a:lnT>
                    <a:lnB>
                      <a:noFill/>
                    </a:lnB>
                    <a:noFill/>
                  </a:tcPr>
                </a:tc>
                <a:tc>
                  <a:txBody>
                    <a:bodyPr/>
                    <a:lstStyle/>
                    <a:p>
                      <a:r>
                        <a:rPr lang="en-US" sz="800"/>
                        <a:t>• CTI-BERT (IBM)</a:t>
                      </a:r>
                      <a:br>
                        <a:rPr lang="en-US" sz="800"/>
                      </a:br>
                      <a:r>
                        <a:rPr lang="en-US" sz="800"/>
                        <a:t>• SecureBERT (UNC)</a:t>
                      </a:r>
                      <a:br>
                        <a:rPr lang="en-US" sz="800"/>
                      </a:br>
                      <a:r>
                        <a:rPr lang="en-US" sz="800"/>
                        <a:t>• SecBERT (jackaduma)</a:t>
                      </a:r>
                      <a:br>
                        <a:rPr lang="en-US" sz="800"/>
                      </a:br>
                      <a:r>
                        <a:rPr lang="en-US" sz="800"/>
                        <a:t>• SecurityBERT (IoT)</a:t>
                      </a:r>
                    </a:p>
                  </a:txBody>
                  <a:tcPr marL="17518" marR="17518" marT="8759" marB="8759" anchor="ctr">
                    <a:lnL>
                      <a:noFill/>
                    </a:lnL>
                    <a:lnR>
                      <a:noFill/>
                    </a:lnR>
                    <a:lnT>
                      <a:noFill/>
                    </a:lnT>
                    <a:lnB>
                      <a:noFill/>
                    </a:lnB>
                    <a:noFill/>
                  </a:tcPr>
                </a:tc>
                <a:tc>
                  <a:txBody>
                    <a:bodyPr/>
                    <a:lstStyle/>
                    <a:p>
                      <a:r>
                        <a:rPr lang="en-US" sz="800" dirty="0"/>
                        <a:t>• CyberPal.AI</a:t>
                      </a:r>
                      <a:br>
                        <a:rPr lang="en-US" sz="800" dirty="0"/>
                      </a:br>
                      <a:r>
                        <a:rPr lang="en-US" sz="800" dirty="0"/>
                        <a:t>• Llama-Primus</a:t>
                      </a:r>
                      <a:br>
                        <a:rPr lang="en-US" sz="800" dirty="0"/>
                      </a:br>
                      <a:r>
                        <a:rPr lang="en-US" sz="800" dirty="0"/>
                        <a:t>• </a:t>
                      </a:r>
                      <a:r>
                        <a:rPr lang="en-US" sz="800" dirty="0" err="1"/>
                        <a:t>SecurityLLM</a:t>
                      </a:r>
                      <a:br>
                        <a:rPr lang="en-US" sz="800" dirty="0"/>
                      </a:br>
                      <a:r>
                        <a:rPr lang="en-US" sz="800" dirty="0"/>
                        <a:t>• Sec-Gemini v1 (RAG + instruction)</a:t>
                      </a:r>
                    </a:p>
                  </a:txBody>
                  <a:tcPr marL="17518" marR="17518" marT="8759" marB="8759" anchor="ctr">
                    <a:lnL>
                      <a:noFill/>
                    </a:lnL>
                    <a:lnR>
                      <a:noFill/>
                    </a:lnR>
                    <a:lnT>
                      <a:noFill/>
                    </a:lnT>
                    <a:lnB>
                      <a:noFill/>
                    </a:lnB>
                    <a:noFill/>
                  </a:tcPr>
                </a:tc>
                <a:tc>
                  <a:txBody>
                    <a:bodyPr/>
                    <a:lstStyle/>
                    <a:p>
                      <a:r>
                        <a:rPr lang="en-US" sz="800"/>
                        <a:t>• Llama-Primus (base → merged)</a:t>
                      </a:r>
                      <a:br>
                        <a:rPr lang="en-US" sz="800"/>
                      </a:br>
                      <a:r>
                        <a:rPr lang="en-US" sz="800"/>
                        <a:t>• CTI-BERT + instruction adapters</a:t>
                      </a:r>
                      <a:br>
                        <a:rPr lang="en-US" sz="800"/>
                      </a:br>
                      <a:r>
                        <a:rPr lang="en-US" sz="800"/>
                        <a:t>• CyberPal.AI w/ SecKnowledge → SecKnowledge-Eval loop</a:t>
                      </a:r>
                    </a:p>
                  </a:txBody>
                  <a:tcPr marL="17518" marR="17518" marT="8759" marB="8759" anchor="ctr">
                    <a:lnL>
                      <a:noFill/>
                    </a:lnL>
                    <a:lnR>
                      <a:noFill/>
                    </a:lnR>
                    <a:lnT>
                      <a:noFill/>
                    </a:lnT>
                    <a:lnB>
                      <a:noFill/>
                    </a:lnB>
                    <a:noFill/>
                  </a:tcPr>
                </a:tc>
                <a:extLst>
                  <a:ext uri="{0D108BD9-81ED-4DB2-BD59-A6C34878D82A}">
                    <a16:rowId xmlns:a16="http://schemas.microsoft.com/office/drawing/2014/main" val="1604537984"/>
                  </a:ext>
                </a:extLst>
              </a:tr>
              <a:tr h="641806">
                <a:tc>
                  <a:txBody>
                    <a:bodyPr/>
                    <a:lstStyle/>
                    <a:p>
                      <a:r>
                        <a:rPr lang="en-US" sz="800" b="1"/>
                        <a:t>Strengths</a:t>
                      </a:r>
                      <a:endParaRPr lang="en-US" sz="800"/>
                    </a:p>
                  </a:txBody>
                  <a:tcPr marL="17518" marR="17518" marT="8759" marB="8759" anchor="ctr">
                    <a:lnL>
                      <a:noFill/>
                    </a:lnL>
                    <a:lnR>
                      <a:noFill/>
                    </a:lnR>
                    <a:lnT>
                      <a:noFill/>
                    </a:lnT>
                    <a:lnB>
                      <a:noFill/>
                    </a:lnB>
                    <a:noFill/>
                  </a:tcPr>
                </a:tc>
                <a:tc>
                  <a:txBody>
                    <a:bodyPr/>
                    <a:lstStyle/>
                    <a:p>
                      <a:r>
                        <a:rPr lang="en-US" sz="800"/>
                        <a:t>✔ Captures nuanced cybersecurity terminology</a:t>
                      </a:r>
                      <a:br>
                        <a:rPr lang="en-US" sz="800"/>
                      </a:br>
                      <a:r>
                        <a:rPr lang="en-US" sz="800"/>
                        <a:t>✔ Improves base model for domain-specific NLP tasks</a:t>
                      </a:r>
                    </a:p>
                  </a:txBody>
                  <a:tcPr marL="17518" marR="17518" marT="8759" marB="8759" anchor="ctr">
                    <a:lnL>
                      <a:noFill/>
                    </a:lnL>
                    <a:lnR>
                      <a:noFill/>
                    </a:lnR>
                    <a:lnT>
                      <a:noFill/>
                    </a:lnT>
                    <a:lnB>
                      <a:noFill/>
                    </a:lnB>
                    <a:noFill/>
                  </a:tcPr>
                </a:tc>
                <a:tc>
                  <a:txBody>
                    <a:bodyPr/>
                    <a:lstStyle/>
                    <a:p>
                      <a:r>
                        <a:rPr lang="en-US" sz="800" dirty="0"/>
                        <a:t>✔ Generalizes across task types</a:t>
                      </a:r>
                      <a:br>
                        <a:rPr lang="en-US" sz="800" dirty="0"/>
                      </a:br>
                      <a:r>
                        <a:rPr lang="en-US" sz="800" dirty="0"/>
                        <a:t>✔ Interpretable and human-aligned</a:t>
                      </a:r>
                      <a:br>
                        <a:rPr lang="en-US" sz="800" dirty="0"/>
                      </a:br>
                      <a:r>
                        <a:rPr lang="en-US" sz="800" dirty="0"/>
                        <a:t>✔ Easier downstream zero-shot/few-shot use</a:t>
                      </a:r>
                    </a:p>
                  </a:txBody>
                  <a:tcPr marL="17518" marR="17518" marT="8759" marB="8759" anchor="ctr">
                    <a:lnL>
                      <a:noFill/>
                    </a:lnL>
                    <a:lnR>
                      <a:noFill/>
                    </a:lnR>
                    <a:lnT>
                      <a:noFill/>
                    </a:lnT>
                    <a:lnB>
                      <a:noFill/>
                    </a:lnB>
                    <a:noFill/>
                  </a:tcPr>
                </a:tc>
                <a:tc>
                  <a:txBody>
                    <a:bodyPr/>
                    <a:lstStyle/>
                    <a:p>
                      <a:r>
                        <a:rPr lang="en-US" sz="800"/>
                        <a:t>✔ High performance in both static understanding and reasoning</a:t>
                      </a:r>
                      <a:br>
                        <a:rPr lang="en-US" sz="800"/>
                      </a:br>
                      <a:r>
                        <a:rPr lang="en-US" sz="800"/>
                        <a:t>✔ Flexibility across tasks</a:t>
                      </a:r>
                      <a:br>
                        <a:rPr lang="en-US" sz="800"/>
                      </a:br>
                      <a:r>
                        <a:rPr lang="en-US" sz="800"/>
                        <a:t>✔ Lower label dependency if pretrained well</a:t>
                      </a:r>
                    </a:p>
                  </a:txBody>
                  <a:tcPr marL="17518" marR="17518" marT="8759" marB="8759" anchor="ctr">
                    <a:lnL>
                      <a:noFill/>
                    </a:lnL>
                    <a:lnR>
                      <a:noFill/>
                    </a:lnR>
                    <a:lnT>
                      <a:noFill/>
                    </a:lnT>
                    <a:lnB>
                      <a:noFill/>
                    </a:lnB>
                    <a:noFill/>
                  </a:tcPr>
                </a:tc>
                <a:extLst>
                  <a:ext uri="{0D108BD9-81ED-4DB2-BD59-A6C34878D82A}">
                    <a16:rowId xmlns:a16="http://schemas.microsoft.com/office/drawing/2014/main" val="3400912747"/>
                  </a:ext>
                </a:extLst>
              </a:tr>
              <a:tr h="517031">
                <a:tc>
                  <a:txBody>
                    <a:bodyPr/>
                    <a:lstStyle/>
                    <a:p>
                      <a:r>
                        <a:rPr lang="en-US" sz="800" b="1"/>
                        <a:t>Weaknesses</a:t>
                      </a:r>
                      <a:endParaRPr lang="en-US" sz="800"/>
                    </a:p>
                  </a:txBody>
                  <a:tcPr marL="17518" marR="17518" marT="8759" marB="8759" anchor="ctr">
                    <a:lnL>
                      <a:noFill/>
                    </a:lnL>
                    <a:lnR>
                      <a:noFill/>
                    </a:lnR>
                    <a:lnT>
                      <a:noFill/>
                    </a:lnT>
                    <a:lnB>
                      <a:noFill/>
                    </a:lnB>
                    <a:noFill/>
                  </a:tcPr>
                </a:tc>
                <a:tc>
                  <a:txBody>
                    <a:bodyPr/>
                    <a:lstStyle/>
                    <a:p>
                      <a:r>
                        <a:rPr lang="en-US" sz="800"/>
                        <a:t>✖ May not generalize well to unfamiliar task formats</a:t>
                      </a:r>
                      <a:br>
                        <a:rPr lang="en-US" sz="800"/>
                      </a:br>
                      <a:r>
                        <a:rPr lang="en-US" sz="800"/>
                        <a:t>✖ Doesn’t teach “task framing”</a:t>
                      </a:r>
                    </a:p>
                  </a:txBody>
                  <a:tcPr marL="17518" marR="17518" marT="8759" marB="8759" anchor="ctr">
                    <a:lnL>
                      <a:noFill/>
                    </a:lnL>
                    <a:lnR>
                      <a:noFill/>
                    </a:lnR>
                    <a:lnT>
                      <a:noFill/>
                    </a:lnT>
                    <a:lnB>
                      <a:noFill/>
                    </a:lnB>
                    <a:noFill/>
                  </a:tcPr>
                </a:tc>
                <a:tc>
                  <a:txBody>
                    <a:bodyPr/>
                    <a:lstStyle/>
                    <a:p>
                      <a:r>
                        <a:rPr lang="en-US" sz="800" dirty="0"/>
                        <a:t>✖ Requires high-quality curated instruction data</a:t>
                      </a:r>
                      <a:br>
                        <a:rPr lang="en-US" sz="800" dirty="0"/>
                      </a:br>
                      <a:r>
                        <a:rPr lang="en-US" sz="800" dirty="0"/>
                        <a:t>✖ May hallucinate if not grounded</a:t>
                      </a:r>
                    </a:p>
                  </a:txBody>
                  <a:tcPr marL="17518" marR="17518" marT="8759" marB="8759" anchor="ctr">
                    <a:lnL>
                      <a:noFill/>
                    </a:lnL>
                    <a:lnR>
                      <a:noFill/>
                    </a:lnR>
                    <a:lnT>
                      <a:noFill/>
                    </a:lnT>
                    <a:lnB>
                      <a:noFill/>
                    </a:lnB>
                    <a:noFill/>
                  </a:tcPr>
                </a:tc>
                <a:tc>
                  <a:txBody>
                    <a:bodyPr/>
                    <a:lstStyle/>
                    <a:p>
                      <a:r>
                        <a:rPr lang="en-US" sz="800"/>
                        <a:t>✖ Expensive and complex training pipeline</a:t>
                      </a:r>
                      <a:br>
                        <a:rPr lang="en-US" sz="800"/>
                      </a:br>
                      <a:r>
                        <a:rPr lang="en-US" sz="800"/>
                        <a:t>✖ Risk of forgetting if improperly scheduled</a:t>
                      </a:r>
                    </a:p>
                  </a:txBody>
                  <a:tcPr marL="17518" marR="17518" marT="8759" marB="8759" anchor="ctr">
                    <a:lnL>
                      <a:noFill/>
                    </a:lnL>
                    <a:lnR>
                      <a:noFill/>
                    </a:lnR>
                    <a:lnT>
                      <a:noFill/>
                    </a:lnT>
                    <a:lnB>
                      <a:noFill/>
                    </a:lnB>
                    <a:noFill/>
                  </a:tcPr>
                </a:tc>
                <a:extLst>
                  <a:ext uri="{0D108BD9-81ED-4DB2-BD59-A6C34878D82A}">
                    <a16:rowId xmlns:a16="http://schemas.microsoft.com/office/drawing/2014/main" val="1892720816"/>
                  </a:ext>
                </a:extLst>
              </a:tr>
              <a:tr h="766582">
                <a:tc>
                  <a:txBody>
                    <a:bodyPr/>
                    <a:lstStyle/>
                    <a:p>
                      <a:r>
                        <a:rPr lang="en-US" sz="800" b="1"/>
                        <a:t>Compute Requirements</a:t>
                      </a:r>
                      <a:endParaRPr lang="en-US" sz="800"/>
                    </a:p>
                  </a:txBody>
                  <a:tcPr marL="17518" marR="17518" marT="8759" marB="8759" anchor="ctr">
                    <a:lnL>
                      <a:noFill/>
                    </a:lnL>
                    <a:lnR>
                      <a:noFill/>
                    </a:lnR>
                    <a:lnT>
                      <a:noFill/>
                    </a:lnT>
                    <a:lnB>
                      <a:noFill/>
                    </a:lnB>
                    <a:noFill/>
                  </a:tcPr>
                </a:tc>
                <a:tc>
                  <a:txBody>
                    <a:bodyPr/>
                    <a:lstStyle/>
                    <a:p>
                      <a:r>
                        <a:rPr lang="en-US" sz="800"/>
                        <a:t>• Requires </a:t>
                      </a:r>
                      <a:r>
                        <a:rPr lang="en-US" sz="800" b="1"/>
                        <a:t>moderate GPU resources</a:t>
                      </a:r>
                      <a:r>
                        <a:rPr lang="en-US" sz="800"/>
                        <a:t> for continual pretraining (e.g., 8x A100 for 100M tokens)</a:t>
                      </a:r>
                      <a:br>
                        <a:rPr lang="en-US" sz="800"/>
                      </a:br>
                      <a:r>
                        <a:rPr lang="en-US" sz="800"/>
                        <a:t>• Good fit for distributed training</a:t>
                      </a:r>
                    </a:p>
                  </a:txBody>
                  <a:tcPr marL="17518" marR="17518" marT="8759" marB="8759" anchor="ctr">
                    <a:lnL>
                      <a:noFill/>
                    </a:lnL>
                    <a:lnR>
                      <a:noFill/>
                    </a:lnR>
                    <a:lnT>
                      <a:noFill/>
                    </a:lnT>
                    <a:lnB>
                      <a:noFill/>
                    </a:lnB>
                    <a:noFill/>
                  </a:tcPr>
                </a:tc>
                <a:tc>
                  <a:txBody>
                    <a:bodyPr/>
                    <a:lstStyle/>
                    <a:p>
                      <a:r>
                        <a:rPr lang="en-US" sz="800" dirty="0"/>
                        <a:t>• Typically </a:t>
                      </a:r>
                      <a:r>
                        <a:rPr lang="en-US" sz="800" b="1" dirty="0"/>
                        <a:t>less data but more curated</a:t>
                      </a:r>
                      <a:r>
                        <a:rPr lang="en-US" sz="800" dirty="0"/>
                        <a:t>, though larger sequence lengths and decoder-based models (e.g., LLaMA, GPT) may demand </a:t>
                      </a:r>
                      <a:r>
                        <a:rPr lang="en-US" sz="800" b="1" dirty="0"/>
                        <a:t>more memory</a:t>
                      </a:r>
                      <a:br>
                        <a:rPr lang="en-US" sz="800" dirty="0"/>
                      </a:br>
                      <a:r>
                        <a:rPr lang="en-US" sz="800" dirty="0"/>
                        <a:t>• 8x A100 for ~20K examples</a:t>
                      </a:r>
                    </a:p>
                  </a:txBody>
                  <a:tcPr marL="17518" marR="17518" marT="8759" marB="8759" anchor="ctr">
                    <a:lnL>
                      <a:noFill/>
                    </a:lnL>
                    <a:lnR>
                      <a:noFill/>
                    </a:lnR>
                    <a:lnT>
                      <a:noFill/>
                    </a:lnT>
                    <a:lnB>
                      <a:noFill/>
                    </a:lnB>
                    <a:noFill/>
                  </a:tcPr>
                </a:tc>
                <a:tc>
                  <a:txBody>
                    <a:bodyPr/>
                    <a:lstStyle/>
                    <a:p>
                      <a:r>
                        <a:rPr lang="en-US" sz="800" dirty="0"/>
                        <a:t>• Highest resource requirement: pretraining on corpus (TPU/8x A100) + instruction finetuning (decoder model, RAG-enabled, ~24GB GPU RAM or more)</a:t>
                      </a:r>
                    </a:p>
                  </a:txBody>
                  <a:tcPr marL="17518" marR="17518" marT="8759" marB="8759" anchor="ctr">
                    <a:lnL>
                      <a:noFill/>
                    </a:lnL>
                    <a:lnR>
                      <a:noFill/>
                    </a:lnR>
                    <a:lnT>
                      <a:noFill/>
                    </a:lnT>
                    <a:lnB>
                      <a:noFill/>
                    </a:lnB>
                    <a:noFill/>
                  </a:tcPr>
                </a:tc>
                <a:extLst>
                  <a:ext uri="{0D108BD9-81ED-4DB2-BD59-A6C34878D82A}">
                    <a16:rowId xmlns:a16="http://schemas.microsoft.com/office/drawing/2014/main" val="3273976678"/>
                  </a:ext>
                </a:extLst>
              </a:tr>
              <a:tr h="392255">
                <a:tc>
                  <a:txBody>
                    <a:bodyPr/>
                    <a:lstStyle/>
                    <a:p>
                      <a:r>
                        <a:rPr lang="en-US" sz="800" b="1"/>
                        <a:t>Parameter Efficient Tuning</a:t>
                      </a:r>
                      <a:endParaRPr lang="en-US" sz="800"/>
                    </a:p>
                  </a:txBody>
                  <a:tcPr marL="17518" marR="17518" marT="8759" marB="8759" anchor="ctr">
                    <a:lnL>
                      <a:noFill/>
                    </a:lnL>
                    <a:lnR>
                      <a:noFill/>
                    </a:lnR>
                    <a:lnT>
                      <a:noFill/>
                    </a:lnT>
                    <a:lnB>
                      <a:noFill/>
                    </a:lnB>
                    <a:noFill/>
                  </a:tcPr>
                </a:tc>
                <a:tc>
                  <a:txBody>
                    <a:bodyPr/>
                    <a:lstStyle/>
                    <a:p>
                      <a:r>
                        <a:rPr lang="en-US" sz="800"/>
                        <a:t>Supported via LoRA, Adapters (sparse updates)</a:t>
                      </a:r>
                    </a:p>
                  </a:txBody>
                  <a:tcPr marL="17518" marR="17518" marT="8759" marB="8759" anchor="ctr">
                    <a:lnL>
                      <a:noFill/>
                    </a:lnL>
                    <a:lnR>
                      <a:noFill/>
                    </a:lnR>
                    <a:lnT>
                      <a:noFill/>
                    </a:lnT>
                    <a:lnB>
                      <a:noFill/>
                    </a:lnB>
                    <a:noFill/>
                  </a:tcPr>
                </a:tc>
                <a:tc>
                  <a:txBody>
                    <a:bodyPr/>
                    <a:lstStyle/>
                    <a:p>
                      <a:r>
                        <a:rPr lang="en-US" sz="800"/>
                        <a:t>Works well with PEFT (e.g., QLoRA, LoRA), especially for instruction-tuning-friendly architectures</a:t>
                      </a:r>
                    </a:p>
                  </a:txBody>
                  <a:tcPr marL="17518" marR="17518" marT="8759" marB="8759" anchor="ctr">
                    <a:lnL>
                      <a:noFill/>
                    </a:lnL>
                    <a:lnR>
                      <a:noFill/>
                    </a:lnR>
                    <a:lnT>
                      <a:noFill/>
                    </a:lnT>
                    <a:lnB>
                      <a:noFill/>
                    </a:lnB>
                    <a:noFill/>
                  </a:tcPr>
                </a:tc>
                <a:tc>
                  <a:txBody>
                    <a:bodyPr/>
                    <a:lstStyle/>
                    <a:p>
                      <a:r>
                        <a:rPr lang="en-US" sz="800" dirty="0"/>
                        <a:t>Common hybrid practice: LoRA for instruction head + frozen backbone or adapter fusion</a:t>
                      </a:r>
                    </a:p>
                  </a:txBody>
                  <a:tcPr marL="17518" marR="17518" marT="8759" marB="8759" anchor="ctr">
                    <a:lnL>
                      <a:noFill/>
                    </a:lnL>
                    <a:lnR>
                      <a:noFill/>
                    </a:lnR>
                    <a:lnT>
                      <a:noFill/>
                    </a:lnT>
                    <a:lnB>
                      <a:noFill/>
                    </a:lnB>
                    <a:noFill/>
                  </a:tcPr>
                </a:tc>
                <a:extLst>
                  <a:ext uri="{0D108BD9-81ED-4DB2-BD59-A6C34878D82A}">
                    <a16:rowId xmlns:a16="http://schemas.microsoft.com/office/drawing/2014/main" val="4088823012"/>
                  </a:ext>
                </a:extLst>
              </a:tr>
              <a:tr h="267480">
                <a:tc>
                  <a:txBody>
                    <a:bodyPr/>
                    <a:lstStyle/>
                    <a:p>
                      <a:r>
                        <a:rPr lang="en-US" sz="800" b="1"/>
                        <a:t>Instruction-Awareness</a:t>
                      </a:r>
                      <a:endParaRPr lang="en-US" sz="800"/>
                    </a:p>
                  </a:txBody>
                  <a:tcPr marL="17518" marR="17518" marT="8759" marB="8759" anchor="ctr">
                    <a:lnL>
                      <a:noFill/>
                    </a:lnL>
                    <a:lnR>
                      <a:noFill/>
                    </a:lnR>
                    <a:lnT>
                      <a:noFill/>
                    </a:lnT>
                    <a:lnB>
                      <a:noFill/>
                    </a:lnB>
                    <a:noFill/>
                  </a:tcPr>
                </a:tc>
                <a:tc>
                  <a:txBody>
                    <a:bodyPr/>
                    <a:lstStyle/>
                    <a:p>
                      <a:r>
                        <a:rPr lang="en-US" sz="800"/>
                        <a:t>❌ Model is unaware of instructions explicitly</a:t>
                      </a:r>
                    </a:p>
                  </a:txBody>
                  <a:tcPr marL="17518" marR="17518" marT="8759" marB="8759" anchor="ctr">
                    <a:lnL>
                      <a:noFill/>
                    </a:lnL>
                    <a:lnR>
                      <a:noFill/>
                    </a:lnR>
                    <a:lnT>
                      <a:noFill/>
                    </a:lnT>
                    <a:lnB>
                      <a:noFill/>
                    </a:lnB>
                    <a:noFill/>
                  </a:tcPr>
                </a:tc>
                <a:tc>
                  <a:txBody>
                    <a:bodyPr/>
                    <a:lstStyle/>
                    <a:p>
                      <a:r>
                        <a:rPr lang="en-US" sz="800"/>
                        <a:t>✅ Instruction-following enabled</a:t>
                      </a:r>
                    </a:p>
                  </a:txBody>
                  <a:tcPr marL="17518" marR="17518" marT="8759" marB="8759" anchor="ctr">
                    <a:lnL>
                      <a:noFill/>
                    </a:lnL>
                    <a:lnR>
                      <a:noFill/>
                    </a:lnR>
                    <a:lnT>
                      <a:noFill/>
                    </a:lnT>
                    <a:lnB>
                      <a:noFill/>
                    </a:lnB>
                    <a:noFill/>
                  </a:tcPr>
                </a:tc>
                <a:tc>
                  <a:txBody>
                    <a:bodyPr/>
                    <a:lstStyle/>
                    <a:p>
                      <a:r>
                        <a:rPr lang="en-US" sz="800" dirty="0"/>
                        <a:t>✅ Instruction-aware + domain-knowledge enriched</a:t>
                      </a:r>
                    </a:p>
                  </a:txBody>
                  <a:tcPr marL="17518" marR="17518" marT="8759" marB="8759" anchor="ctr">
                    <a:lnL>
                      <a:noFill/>
                    </a:lnL>
                    <a:lnR>
                      <a:noFill/>
                    </a:lnR>
                    <a:lnT>
                      <a:noFill/>
                    </a:lnT>
                    <a:lnB>
                      <a:noFill/>
                    </a:lnB>
                    <a:noFill/>
                  </a:tcPr>
                </a:tc>
                <a:extLst>
                  <a:ext uri="{0D108BD9-81ED-4DB2-BD59-A6C34878D82A}">
                    <a16:rowId xmlns:a16="http://schemas.microsoft.com/office/drawing/2014/main" val="2551681595"/>
                  </a:ext>
                </a:extLst>
              </a:tr>
              <a:tr h="392255">
                <a:tc>
                  <a:txBody>
                    <a:bodyPr/>
                    <a:lstStyle/>
                    <a:p>
                      <a:r>
                        <a:rPr lang="en-US" sz="800" b="1"/>
                        <a:t>Fine-Tuning Duration</a:t>
                      </a:r>
                      <a:endParaRPr lang="en-US" sz="800"/>
                    </a:p>
                  </a:txBody>
                  <a:tcPr marL="17518" marR="17518" marT="8759" marB="8759" anchor="ctr">
                    <a:lnL>
                      <a:noFill/>
                    </a:lnL>
                    <a:lnR>
                      <a:noFill/>
                    </a:lnR>
                    <a:lnT>
                      <a:noFill/>
                    </a:lnT>
                    <a:lnB>
                      <a:noFill/>
                    </a:lnB>
                    <a:noFill/>
                  </a:tcPr>
                </a:tc>
                <a:tc>
                  <a:txBody>
                    <a:bodyPr/>
                    <a:lstStyle/>
                    <a:p>
                      <a:r>
                        <a:rPr lang="en-US" sz="800"/>
                        <a:t>Long (10–40 hours for 100M tokens depending on model size)</a:t>
                      </a:r>
                    </a:p>
                  </a:txBody>
                  <a:tcPr marL="17518" marR="17518" marT="8759" marB="8759" anchor="ctr">
                    <a:lnL>
                      <a:noFill/>
                    </a:lnL>
                    <a:lnR>
                      <a:noFill/>
                    </a:lnR>
                    <a:lnT>
                      <a:noFill/>
                    </a:lnT>
                    <a:lnB>
                      <a:noFill/>
                    </a:lnB>
                    <a:noFill/>
                  </a:tcPr>
                </a:tc>
                <a:tc>
                  <a:txBody>
                    <a:bodyPr/>
                    <a:lstStyle/>
                    <a:p>
                      <a:r>
                        <a:rPr lang="en-US" sz="800"/>
                        <a:t>Medium (4–12 hours for 20K–100K examples depending on format)</a:t>
                      </a:r>
                    </a:p>
                  </a:txBody>
                  <a:tcPr marL="17518" marR="17518" marT="8759" marB="8759" anchor="ctr">
                    <a:lnL>
                      <a:noFill/>
                    </a:lnL>
                    <a:lnR>
                      <a:noFill/>
                    </a:lnR>
                    <a:lnT>
                      <a:noFill/>
                    </a:lnT>
                    <a:lnB>
                      <a:noFill/>
                    </a:lnB>
                    <a:noFill/>
                  </a:tcPr>
                </a:tc>
                <a:tc>
                  <a:txBody>
                    <a:bodyPr/>
                    <a:lstStyle/>
                    <a:p>
                      <a:r>
                        <a:rPr lang="en-US" sz="800" dirty="0"/>
                        <a:t>Longest (20–80 hours if running pretrain + instruction + eval loop with RAG)</a:t>
                      </a:r>
                    </a:p>
                  </a:txBody>
                  <a:tcPr marL="17518" marR="17518" marT="8759" marB="8759" anchor="ctr">
                    <a:lnL>
                      <a:noFill/>
                    </a:lnL>
                    <a:lnR>
                      <a:noFill/>
                    </a:lnR>
                    <a:lnT>
                      <a:noFill/>
                    </a:lnT>
                    <a:lnB>
                      <a:noFill/>
                    </a:lnB>
                    <a:noFill/>
                  </a:tcPr>
                </a:tc>
                <a:extLst>
                  <a:ext uri="{0D108BD9-81ED-4DB2-BD59-A6C34878D82A}">
                    <a16:rowId xmlns:a16="http://schemas.microsoft.com/office/drawing/2014/main" val="4145749804"/>
                  </a:ext>
                </a:extLst>
              </a:tr>
            </a:tbl>
          </a:graphicData>
        </a:graphic>
      </p:graphicFrame>
    </p:spTree>
    <p:extLst>
      <p:ext uri="{BB962C8B-B14F-4D97-AF65-F5344CB8AC3E}">
        <p14:creationId xmlns:p14="http://schemas.microsoft.com/office/powerpoint/2010/main" val="30334478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8ED6C1-C6F6-7294-0566-A62CADB29858}"/>
            </a:ext>
          </a:extLst>
        </p:cNvPr>
        <p:cNvGrpSpPr/>
        <p:nvPr/>
      </p:nvGrpSpPr>
      <p:grpSpPr>
        <a:xfrm>
          <a:off x="0" y="0"/>
          <a:ext cx="0" cy="0"/>
          <a:chOff x="0" y="0"/>
          <a:chExt cx="0" cy="0"/>
        </a:xfrm>
      </p:grpSpPr>
      <p:grpSp>
        <p:nvGrpSpPr>
          <p:cNvPr id="8199" name="Group 8198">
            <a:extLst>
              <a:ext uri="{FF2B5EF4-FFF2-40B4-BE49-F238E27FC236}">
                <a16:creationId xmlns:a16="http://schemas.microsoft.com/office/drawing/2014/main" id="{4091D54B-59AB-4A5E-8E9E-0421BD66D4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8200" name="Rectangle 8199">
              <a:extLst>
                <a:ext uri="{FF2B5EF4-FFF2-40B4-BE49-F238E27FC236}">
                  <a16:creationId xmlns:a16="http://schemas.microsoft.com/office/drawing/2014/main" id="{547CE62E-FFFD-4A1F-BA78-C3B89C36F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201" name="Freeform 5">
              <a:extLst>
                <a:ext uri="{FF2B5EF4-FFF2-40B4-BE49-F238E27FC236}">
                  <a16:creationId xmlns:a16="http://schemas.microsoft.com/office/drawing/2014/main" id="{AE51FD27-6B6A-4D21-BF22-245DA9BD0B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8203" name="Rectangle 8202">
            <a:extLst>
              <a:ext uri="{FF2B5EF4-FFF2-40B4-BE49-F238E27FC236}">
                <a16:creationId xmlns:a16="http://schemas.microsoft.com/office/drawing/2014/main" id="{B8144315-1C5A-4185-A952-25D98D303D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8D87EDC8-628E-91DA-FCE9-B987144CC2A1}"/>
              </a:ext>
            </a:extLst>
          </p:cNvPr>
          <p:cNvSpPr>
            <a:spLocks noGrp="1"/>
          </p:cNvSpPr>
          <p:nvPr>
            <p:ph type="title" idx="4294967295"/>
          </p:nvPr>
        </p:nvSpPr>
        <p:spPr>
          <a:xfrm>
            <a:off x="8382055" y="1241266"/>
            <a:ext cx="3161016" cy="3153753"/>
          </a:xfrm>
        </p:spPr>
        <p:txBody>
          <a:bodyPr vert="horz" lIns="91440" tIns="45720" rIns="91440" bIns="45720" rtlCol="0" anchor="b">
            <a:normAutofit/>
          </a:bodyPr>
          <a:lstStyle/>
          <a:p>
            <a:r>
              <a:rPr lang="en-US" b="0" i="0" kern="1200" dirty="0">
                <a:solidFill>
                  <a:srgbClr val="EBEBEB"/>
                </a:solidFill>
                <a:latin typeface="+mj-lt"/>
                <a:ea typeface="+mj-ea"/>
                <a:cs typeface="+mj-cs"/>
              </a:rPr>
              <a:t>Adapting LLMs for Cyber Security</a:t>
            </a:r>
          </a:p>
        </p:txBody>
      </p:sp>
      <p:grpSp>
        <p:nvGrpSpPr>
          <p:cNvPr id="8205" name="Group 8204">
            <a:extLst>
              <a:ext uri="{FF2B5EF4-FFF2-40B4-BE49-F238E27FC236}">
                <a16:creationId xmlns:a16="http://schemas.microsoft.com/office/drawing/2014/main" id="{25A657F0-42F3-40D3-BC75-7DA1F5C6A2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3332" y="396837"/>
            <a:ext cx="7906665" cy="6058999"/>
            <a:chOff x="423332" y="396837"/>
            <a:chExt cx="7906665" cy="6058999"/>
          </a:xfrm>
        </p:grpSpPr>
        <p:sp>
          <p:nvSpPr>
            <p:cNvPr id="8206" name="Rectangle 8205">
              <a:extLst>
                <a:ext uri="{FF2B5EF4-FFF2-40B4-BE49-F238E27FC236}">
                  <a16:creationId xmlns:a16="http://schemas.microsoft.com/office/drawing/2014/main" id="{2E94FF68-7A60-47B7-AB98-1674FC7F2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flipH="1">
              <a:off x="423332" y="402165"/>
              <a:ext cx="678513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207" name="Freeform 5">
              <a:extLst>
                <a:ext uri="{FF2B5EF4-FFF2-40B4-BE49-F238E27FC236}">
                  <a16:creationId xmlns:a16="http://schemas.microsoft.com/office/drawing/2014/main" id="{42B4F8D7-4E9C-45EF-9072-1AF32CEF71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400000" flipH="1">
              <a:off x="4616676" y="2801722"/>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8208" name="Freeform 5">
              <a:extLst>
                <a:ext uri="{FF2B5EF4-FFF2-40B4-BE49-F238E27FC236}">
                  <a16:creationId xmlns:a16="http://schemas.microsoft.com/office/drawing/2014/main" id="{3ECBDDDB-593C-40F0-8E80-AA75798EE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677511" flipH="1">
              <a:off x="6459831" y="1826079"/>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grpSp>
      <p:pic>
        <p:nvPicPr>
          <p:cNvPr id="8194" name="Picture 2">
            <a:extLst>
              <a:ext uri="{FF2B5EF4-FFF2-40B4-BE49-F238E27FC236}">
                <a16:creationId xmlns:a16="http://schemas.microsoft.com/office/drawing/2014/main" id="{3378FBFE-3928-64AE-0EF7-62E4C5641E2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91250" y="402164"/>
            <a:ext cx="7341876" cy="534121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EAB3CBB-224D-7BB7-B82E-9D6267FD5E92}"/>
              </a:ext>
            </a:extLst>
          </p:cNvPr>
          <p:cNvSpPr txBox="1"/>
          <p:nvPr/>
        </p:nvSpPr>
        <p:spPr>
          <a:xfrm>
            <a:off x="125629" y="6056753"/>
            <a:ext cx="7873117" cy="600164"/>
          </a:xfrm>
          <a:prstGeom prst="rect">
            <a:avLst/>
          </a:prstGeom>
          <a:noFill/>
        </p:spPr>
        <p:txBody>
          <a:bodyPr wrap="square" rtlCol="0">
            <a:spAutoFit/>
          </a:bodyPr>
          <a:lstStyle/>
          <a:p>
            <a:pPr algn="ctr"/>
            <a:r>
              <a:rPr lang="en-US" sz="1100" i="1" dirty="0"/>
              <a:t>Hybrid approaches are proving to be the most effective and involve a combination of traditional finetuning strategies along with the instruction based tuning and RLHF. Source: https://</a:t>
            </a:r>
            <a:r>
              <a:rPr lang="en-US" sz="1100" i="1" dirty="0" err="1"/>
              <a:t>gradientflow.com</a:t>
            </a:r>
            <a:r>
              <a:rPr lang="en-US" sz="1100" i="1" dirty="0"/>
              <a:t>/maximizing-the-potential-of-large-language-models/</a:t>
            </a:r>
          </a:p>
        </p:txBody>
      </p:sp>
    </p:spTree>
    <p:extLst>
      <p:ext uri="{BB962C8B-B14F-4D97-AF65-F5344CB8AC3E}">
        <p14:creationId xmlns:p14="http://schemas.microsoft.com/office/powerpoint/2010/main" val="38287954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CBEA2-6E3F-ADEB-BE34-AA6EDB0DB8D9}"/>
              </a:ext>
            </a:extLst>
          </p:cNvPr>
          <p:cNvSpPr>
            <a:spLocks noGrp="1"/>
          </p:cNvSpPr>
          <p:nvPr>
            <p:ph type="title"/>
          </p:nvPr>
        </p:nvSpPr>
        <p:spPr/>
        <p:txBody>
          <a:bodyPr/>
          <a:lstStyle/>
          <a:p>
            <a:r>
              <a:rPr lang="en-US" dirty="0"/>
              <a:t>LLM Product Lifecycle</a:t>
            </a:r>
          </a:p>
        </p:txBody>
      </p:sp>
      <p:sp>
        <p:nvSpPr>
          <p:cNvPr id="3" name="Text Placeholder 2">
            <a:extLst>
              <a:ext uri="{FF2B5EF4-FFF2-40B4-BE49-F238E27FC236}">
                <a16:creationId xmlns:a16="http://schemas.microsoft.com/office/drawing/2014/main" id="{130B5C23-C452-F549-294A-C8F374C76C2A}"/>
              </a:ext>
            </a:extLst>
          </p:cNvPr>
          <p:cNvSpPr>
            <a:spLocks noGrp="1"/>
          </p:cNvSpPr>
          <p:nvPr>
            <p:ph type="body" idx="1"/>
          </p:nvPr>
        </p:nvSpPr>
        <p:spPr/>
        <p:txBody>
          <a:bodyPr/>
          <a:lstStyle/>
          <a:p>
            <a:r>
              <a:rPr lang="en-US" dirty="0"/>
              <a:t>Methodology: Build, Evaluate, Test, Deploy, Iterate</a:t>
            </a:r>
          </a:p>
        </p:txBody>
      </p:sp>
    </p:spTree>
    <p:extLst>
      <p:ext uri="{BB962C8B-B14F-4D97-AF65-F5344CB8AC3E}">
        <p14:creationId xmlns:p14="http://schemas.microsoft.com/office/powerpoint/2010/main" val="25842081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D95C4C9-8DB0-94AE-0FA5-E1C7BE0171EF}"/>
              </a:ext>
            </a:extLst>
          </p:cNvPr>
          <p:cNvPicPr>
            <a:picLocks noChangeAspect="1"/>
          </p:cNvPicPr>
          <p:nvPr/>
        </p:nvPicPr>
        <p:blipFill>
          <a:blip r:embed="rId2"/>
          <a:stretch>
            <a:fillRect/>
          </a:stretch>
        </p:blipFill>
        <p:spPr>
          <a:xfrm>
            <a:off x="793048" y="758480"/>
            <a:ext cx="9495183" cy="5341039"/>
          </a:xfrm>
          <a:prstGeom prst="rect">
            <a:avLst/>
          </a:prstGeom>
        </p:spPr>
      </p:pic>
    </p:spTree>
    <p:extLst>
      <p:ext uri="{BB962C8B-B14F-4D97-AF65-F5344CB8AC3E}">
        <p14:creationId xmlns:p14="http://schemas.microsoft.com/office/powerpoint/2010/main" val="26095293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FCDFB-5DE6-5A26-CC6C-D0C03D04FB8C}"/>
              </a:ext>
            </a:extLst>
          </p:cNvPr>
          <p:cNvSpPr>
            <a:spLocks noGrp="1"/>
          </p:cNvSpPr>
          <p:nvPr>
            <p:ph type="title"/>
          </p:nvPr>
        </p:nvSpPr>
        <p:spPr>
          <a:xfrm>
            <a:off x="1435244" y="1292267"/>
            <a:ext cx="8825658" cy="586380"/>
          </a:xfrm>
        </p:spPr>
        <p:txBody>
          <a:bodyPr vert="horz" lIns="91440" tIns="45720" rIns="91440" bIns="45720" rtlCol="0" anchor="b">
            <a:normAutofit/>
          </a:bodyPr>
          <a:lstStyle/>
          <a:p>
            <a:pPr>
              <a:lnSpc>
                <a:spcPct val="90000"/>
              </a:lnSpc>
            </a:pPr>
            <a:r>
              <a:rPr lang="en-US" b="0" i="0" kern="1200" dirty="0">
                <a:solidFill>
                  <a:srgbClr val="EBEBEB"/>
                </a:solidFill>
                <a:latin typeface="+mj-lt"/>
                <a:ea typeface="+mj-ea"/>
                <a:cs typeface="+mj-cs"/>
              </a:rPr>
              <a:t>Project Lifecycle</a:t>
            </a:r>
          </a:p>
        </p:txBody>
      </p:sp>
      <p:pic>
        <p:nvPicPr>
          <p:cNvPr id="3" name="Picture 2">
            <a:extLst>
              <a:ext uri="{FF2B5EF4-FFF2-40B4-BE49-F238E27FC236}">
                <a16:creationId xmlns:a16="http://schemas.microsoft.com/office/drawing/2014/main" id="{F11FA000-A52A-2112-F88F-7E4340D03308}"/>
              </a:ext>
            </a:extLst>
          </p:cNvPr>
          <p:cNvPicPr>
            <a:picLocks noChangeAspect="1"/>
          </p:cNvPicPr>
          <p:nvPr/>
        </p:nvPicPr>
        <p:blipFill>
          <a:blip r:embed="rId2"/>
          <a:stretch>
            <a:fillRect/>
          </a:stretch>
        </p:blipFill>
        <p:spPr>
          <a:xfrm>
            <a:off x="1435244" y="2322876"/>
            <a:ext cx="9345468" cy="3691461"/>
          </a:xfrm>
          <a:prstGeom prst="rect">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4056554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B9ED13C-7F8D-0CAB-5D51-E9C17DD2691B}"/>
              </a:ext>
            </a:extLst>
          </p:cNvPr>
          <p:cNvPicPr>
            <a:picLocks noChangeAspect="1"/>
          </p:cNvPicPr>
          <p:nvPr/>
        </p:nvPicPr>
        <p:blipFill>
          <a:blip r:embed="rId2"/>
          <a:stretch>
            <a:fillRect/>
          </a:stretch>
        </p:blipFill>
        <p:spPr>
          <a:xfrm>
            <a:off x="1789471" y="170588"/>
            <a:ext cx="9953617" cy="6516824"/>
          </a:xfrm>
          <a:prstGeom prst="rect">
            <a:avLst/>
          </a:prstGeom>
        </p:spPr>
      </p:pic>
      <p:sp>
        <p:nvSpPr>
          <p:cNvPr id="3" name="TextBox 2">
            <a:extLst>
              <a:ext uri="{FF2B5EF4-FFF2-40B4-BE49-F238E27FC236}">
                <a16:creationId xmlns:a16="http://schemas.microsoft.com/office/drawing/2014/main" id="{B2C642B5-59F3-5217-B9C9-4AF117FC0869}"/>
              </a:ext>
            </a:extLst>
          </p:cNvPr>
          <p:cNvSpPr txBox="1"/>
          <p:nvPr/>
        </p:nvSpPr>
        <p:spPr>
          <a:xfrm>
            <a:off x="196646" y="2015613"/>
            <a:ext cx="1504335" cy="1569660"/>
          </a:xfrm>
          <a:prstGeom prst="rect">
            <a:avLst/>
          </a:prstGeom>
          <a:noFill/>
        </p:spPr>
        <p:txBody>
          <a:bodyPr wrap="square" rtlCol="0">
            <a:spAutoFit/>
          </a:bodyPr>
          <a:lstStyle/>
          <a:p>
            <a:pPr algn="ctr"/>
            <a:r>
              <a:rPr lang="en-US" sz="1600" i="1" dirty="0"/>
              <a:t>Finetuning strategy to be aligned with optimal compute requirements</a:t>
            </a:r>
          </a:p>
        </p:txBody>
      </p:sp>
    </p:spTree>
    <p:extLst>
      <p:ext uri="{BB962C8B-B14F-4D97-AF65-F5344CB8AC3E}">
        <p14:creationId xmlns:p14="http://schemas.microsoft.com/office/powerpoint/2010/main" val="5677924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3EA85-F26B-EE9C-3015-D17C494BF5A6}"/>
              </a:ext>
            </a:extLst>
          </p:cNvPr>
          <p:cNvSpPr>
            <a:spLocks noGrp="1"/>
          </p:cNvSpPr>
          <p:nvPr>
            <p:ph type="title"/>
          </p:nvPr>
        </p:nvSpPr>
        <p:spPr/>
        <p:txBody>
          <a:bodyPr/>
          <a:lstStyle/>
          <a:p>
            <a:r>
              <a:rPr lang="en-US" dirty="0"/>
              <a:t>Flashpoint Integration</a:t>
            </a:r>
          </a:p>
        </p:txBody>
      </p:sp>
      <p:sp>
        <p:nvSpPr>
          <p:cNvPr id="3" name="Text Placeholder 2">
            <a:extLst>
              <a:ext uri="{FF2B5EF4-FFF2-40B4-BE49-F238E27FC236}">
                <a16:creationId xmlns:a16="http://schemas.microsoft.com/office/drawing/2014/main" id="{AF7AEDF9-61C8-B9D7-F36A-9D0DF32EA275}"/>
              </a:ext>
            </a:extLst>
          </p:cNvPr>
          <p:cNvSpPr>
            <a:spLocks noGrp="1"/>
          </p:cNvSpPr>
          <p:nvPr>
            <p:ph type="body" idx="1"/>
          </p:nvPr>
        </p:nvSpPr>
        <p:spPr/>
        <p:txBody>
          <a:bodyPr/>
          <a:lstStyle/>
          <a:p>
            <a:r>
              <a:rPr lang="en-US" dirty="0"/>
              <a:t>Integrating Flashpoint Ignite data into a Stand- Alone Cyber Security Trained LLM</a:t>
            </a:r>
          </a:p>
        </p:txBody>
      </p:sp>
    </p:spTree>
    <p:extLst>
      <p:ext uri="{BB962C8B-B14F-4D97-AF65-F5344CB8AC3E}">
        <p14:creationId xmlns:p14="http://schemas.microsoft.com/office/powerpoint/2010/main" val="5627541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68255-C909-903D-81F8-A45F1CD82CCF}"/>
              </a:ext>
            </a:extLst>
          </p:cNvPr>
          <p:cNvSpPr>
            <a:spLocks noGrp="1"/>
          </p:cNvSpPr>
          <p:nvPr>
            <p:ph type="title"/>
          </p:nvPr>
        </p:nvSpPr>
        <p:spPr>
          <a:xfrm>
            <a:off x="803012" y="459562"/>
            <a:ext cx="9837625" cy="706964"/>
          </a:xfrm>
        </p:spPr>
        <p:txBody>
          <a:bodyPr/>
          <a:lstStyle/>
          <a:p>
            <a:r>
              <a:rPr lang="en-US" sz="2400" dirty="0"/>
              <a:t>Cyber Security Use Cases leveraging Flashpoint Ignite</a:t>
            </a:r>
          </a:p>
        </p:txBody>
      </p:sp>
      <p:sp>
        <p:nvSpPr>
          <p:cNvPr id="3" name="Content Placeholder 2">
            <a:extLst>
              <a:ext uri="{FF2B5EF4-FFF2-40B4-BE49-F238E27FC236}">
                <a16:creationId xmlns:a16="http://schemas.microsoft.com/office/drawing/2014/main" id="{9CA91EA4-9007-9D20-62AE-9CAB279B8F72}"/>
              </a:ext>
            </a:extLst>
          </p:cNvPr>
          <p:cNvSpPr>
            <a:spLocks noGrp="1"/>
          </p:cNvSpPr>
          <p:nvPr>
            <p:ph idx="1"/>
          </p:nvPr>
        </p:nvSpPr>
        <p:spPr>
          <a:xfrm>
            <a:off x="762341" y="1486829"/>
            <a:ext cx="4205083" cy="4326421"/>
          </a:xfrm>
        </p:spPr>
        <p:txBody>
          <a:bodyPr>
            <a:normAutofit fontScale="92500" lnSpcReduction="10000"/>
          </a:bodyPr>
          <a:lstStyle/>
          <a:p>
            <a:pPr marL="0" indent="0">
              <a:lnSpc>
                <a:spcPct val="120000"/>
              </a:lnSpc>
              <a:spcBef>
                <a:spcPts val="0"/>
              </a:spcBef>
              <a:buNone/>
            </a:pPr>
            <a:r>
              <a:rPr lang="en-US" sz="1200" dirty="0">
                <a:solidFill>
                  <a:schemeClr val="tx1"/>
                </a:solidFill>
              </a:rPr>
              <a:t>Actionable Threat Intelligence</a:t>
            </a:r>
          </a:p>
          <a:p>
            <a:pPr marL="0" lvl="1">
              <a:lnSpc>
                <a:spcPct val="120000"/>
              </a:lnSpc>
              <a:spcBef>
                <a:spcPts val="0"/>
              </a:spcBef>
              <a:buFont typeface="System Font Regular"/>
              <a:buChar char="−"/>
            </a:pPr>
            <a:r>
              <a:rPr lang="en-US" sz="1000" dirty="0">
                <a:solidFill>
                  <a:schemeClr val="tx1"/>
                </a:solidFill>
              </a:rPr>
              <a:t>Real-time alerts on emerging cyber threats</a:t>
            </a:r>
          </a:p>
          <a:p>
            <a:pPr marL="0" lvl="1">
              <a:lnSpc>
                <a:spcPct val="120000"/>
              </a:lnSpc>
              <a:spcBef>
                <a:spcPts val="0"/>
              </a:spcBef>
              <a:buFont typeface="System Font Regular"/>
              <a:buChar char="−"/>
            </a:pPr>
            <a:r>
              <a:rPr lang="en-US" sz="1000" dirty="0">
                <a:solidFill>
                  <a:schemeClr val="tx1"/>
                </a:solidFill>
              </a:rPr>
              <a:t>Indicators of Compromise (IOCs) and threat actor intelligence</a:t>
            </a:r>
          </a:p>
          <a:p>
            <a:pPr marL="0" lvl="1">
              <a:lnSpc>
                <a:spcPct val="120000"/>
              </a:lnSpc>
              <a:spcBef>
                <a:spcPts val="0"/>
              </a:spcBef>
              <a:buFont typeface="System Font Regular"/>
              <a:buChar char="−"/>
            </a:pPr>
            <a:r>
              <a:rPr lang="en-US" sz="1000" dirty="0">
                <a:solidFill>
                  <a:schemeClr val="tx1"/>
                </a:solidFill>
              </a:rPr>
              <a:t>Curated insights into darknet and deep web activities</a:t>
            </a:r>
          </a:p>
          <a:p>
            <a:pPr marL="0">
              <a:lnSpc>
                <a:spcPct val="120000"/>
              </a:lnSpc>
              <a:spcBef>
                <a:spcPts val="0"/>
              </a:spcBef>
              <a:buFont typeface="System Font Regular"/>
              <a:buChar char="−"/>
            </a:pPr>
            <a:endParaRPr lang="en-US" sz="1200" dirty="0">
              <a:solidFill>
                <a:schemeClr val="tx1"/>
              </a:solidFill>
            </a:endParaRPr>
          </a:p>
          <a:p>
            <a:pPr marL="0" indent="0">
              <a:lnSpc>
                <a:spcPct val="120000"/>
              </a:lnSpc>
              <a:spcBef>
                <a:spcPts val="0"/>
              </a:spcBef>
              <a:buNone/>
            </a:pPr>
            <a:r>
              <a:rPr lang="en-US" sz="1200" dirty="0">
                <a:solidFill>
                  <a:schemeClr val="tx1"/>
                </a:solidFill>
              </a:rPr>
              <a:t>Risk Management and Vulnerability Assessment</a:t>
            </a:r>
          </a:p>
          <a:p>
            <a:pPr marL="0" lvl="1">
              <a:lnSpc>
                <a:spcPct val="120000"/>
              </a:lnSpc>
              <a:spcBef>
                <a:spcPts val="0"/>
              </a:spcBef>
              <a:buFont typeface="System Font Regular"/>
              <a:buChar char="−"/>
            </a:pPr>
            <a:r>
              <a:rPr lang="en-US" sz="1000" dirty="0">
                <a:solidFill>
                  <a:schemeClr val="tx1"/>
                </a:solidFill>
              </a:rPr>
              <a:t>Detailed vulnerability information, CVE analysis, exploit availability</a:t>
            </a:r>
          </a:p>
          <a:p>
            <a:pPr marL="0" lvl="1">
              <a:lnSpc>
                <a:spcPct val="120000"/>
              </a:lnSpc>
              <a:spcBef>
                <a:spcPts val="0"/>
              </a:spcBef>
              <a:buFont typeface="System Font Regular"/>
              <a:buChar char="−"/>
            </a:pPr>
            <a:r>
              <a:rPr lang="en-US" sz="1000" dirty="0">
                <a:solidFill>
                  <a:schemeClr val="tx1"/>
                </a:solidFill>
              </a:rPr>
              <a:t>Predictive insights to prioritize patching and security remediation</a:t>
            </a:r>
          </a:p>
          <a:p>
            <a:pPr marL="0">
              <a:lnSpc>
                <a:spcPct val="120000"/>
              </a:lnSpc>
              <a:spcBef>
                <a:spcPts val="0"/>
              </a:spcBef>
              <a:buFont typeface="System Font Regular"/>
              <a:buChar char="−"/>
            </a:pPr>
            <a:endParaRPr lang="en-US" sz="1200" dirty="0">
              <a:solidFill>
                <a:schemeClr val="tx1"/>
              </a:solidFill>
            </a:endParaRPr>
          </a:p>
          <a:p>
            <a:pPr marL="0" indent="0">
              <a:lnSpc>
                <a:spcPct val="120000"/>
              </a:lnSpc>
              <a:spcBef>
                <a:spcPts val="0"/>
              </a:spcBef>
              <a:buNone/>
            </a:pPr>
            <a:r>
              <a:rPr lang="en-US" sz="1200" dirty="0">
                <a:solidFill>
                  <a:schemeClr val="tx1"/>
                </a:solidFill>
              </a:rPr>
              <a:t>Cybercrime Monitoring</a:t>
            </a:r>
          </a:p>
          <a:p>
            <a:pPr marL="0" lvl="1">
              <a:lnSpc>
                <a:spcPct val="120000"/>
              </a:lnSpc>
              <a:spcBef>
                <a:spcPts val="0"/>
              </a:spcBef>
              <a:buFont typeface="System Font Regular"/>
              <a:buChar char="−"/>
            </a:pPr>
            <a:r>
              <a:rPr lang="en-US" sz="1000" dirty="0">
                <a:solidFill>
                  <a:schemeClr val="tx1"/>
                </a:solidFill>
              </a:rPr>
              <a:t>Monitoring dark web forums, marketplaces, and illicit communities</a:t>
            </a:r>
          </a:p>
          <a:p>
            <a:pPr marL="0" lvl="1">
              <a:lnSpc>
                <a:spcPct val="120000"/>
              </a:lnSpc>
              <a:spcBef>
                <a:spcPts val="0"/>
              </a:spcBef>
              <a:buFont typeface="System Font Regular"/>
              <a:buChar char="−"/>
            </a:pPr>
            <a:r>
              <a:rPr lang="en-US" sz="1000" dirty="0">
                <a:solidFill>
                  <a:schemeClr val="tx1"/>
                </a:solidFill>
              </a:rPr>
              <a:t>Early detection of credential leaks, fraudulent activities, and malicious campaigns</a:t>
            </a:r>
          </a:p>
          <a:p>
            <a:pPr marL="0">
              <a:lnSpc>
                <a:spcPct val="120000"/>
              </a:lnSpc>
              <a:spcBef>
                <a:spcPts val="0"/>
              </a:spcBef>
              <a:buFont typeface="System Font Regular"/>
              <a:buChar char="−"/>
            </a:pPr>
            <a:endParaRPr lang="en-US" sz="1200" dirty="0">
              <a:solidFill>
                <a:schemeClr val="tx1"/>
              </a:solidFill>
            </a:endParaRPr>
          </a:p>
          <a:p>
            <a:pPr marL="0" indent="0">
              <a:lnSpc>
                <a:spcPct val="120000"/>
              </a:lnSpc>
              <a:spcBef>
                <a:spcPts val="0"/>
              </a:spcBef>
              <a:buNone/>
            </a:pPr>
            <a:r>
              <a:rPr lang="en-US" sz="1200" dirty="0">
                <a:solidFill>
                  <a:schemeClr val="tx1"/>
                </a:solidFill>
              </a:rPr>
              <a:t>Integrations and API</a:t>
            </a:r>
          </a:p>
          <a:p>
            <a:pPr marL="0" lvl="1">
              <a:lnSpc>
                <a:spcPct val="120000"/>
              </a:lnSpc>
              <a:spcBef>
                <a:spcPts val="0"/>
              </a:spcBef>
              <a:buFont typeface="System Font Regular"/>
              <a:buChar char="−"/>
            </a:pPr>
            <a:r>
              <a:rPr lang="en-US" sz="1000" dirty="0">
                <a:solidFill>
                  <a:schemeClr val="tx1"/>
                </a:solidFill>
              </a:rPr>
              <a:t>Seamless integrations with existing security stacks (SIEM, SOAR, endpoint security solutions)</a:t>
            </a:r>
          </a:p>
          <a:p>
            <a:pPr marL="0" lvl="1">
              <a:lnSpc>
                <a:spcPct val="120000"/>
              </a:lnSpc>
              <a:spcBef>
                <a:spcPts val="0"/>
              </a:spcBef>
              <a:buFont typeface="System Font Regular"/>
              <a:buChar char="−"/>
            </a:pPr>
            <a:r>
              <a:rPr lang="en-US" sz="1000" dirty="0">
                <a:solidFill>
                  <a:schemeClr val="tx1"/>
                </a:solidFill>
              </a:rPr>
              <a:t>Rich API for threat feeds and automation workflows</a:t>
            </a:r>
          </a:p>
          <a:p>
            <a:pPr marL="0">
              <a:lnSpc>
                <a:spcPct val="120000"/>
              </a:lnSpc>
              <a:spcBef>
                <a:spcPts val="0"/>
              </a:spcBef>
              <a:buFont typeface="System Font Regular"/>
              <a:buChar char="−"/>
            </a:pPr>
            <a:endParaRPr lang="en-US" sz="1200" dirty="0">
              <a:solidFill>
                <a:schemeClr val="tx1"/>
              </a:solidFill>
            </a:endParaRPr>
          </a:p>
          <a:p>
            <a:pPr marL="0" indent="0">
              <a:lnSpc>
                <a:spcPct val="120000"/>
              </a:lnSpc>
              <a:spcBef>
                <a:spcPts val="0"/>
              </a:spcBef>
              <a:buNone/>
            </a:pPr>
            <a:r>
              <a:rPr lang="en-US" sz="1200" dirty="0">
                <a:solidFill>
                  <a:schemeClr val="tx1"/>
                </a:solidFill>
              </a:rPr>
              <a:t>Malware &amp; Threat Actor Profiling</a:t>
            </a:r>
          </a:p>
          <a:p>
            <a:pPr marL="0" lvl="1">
              <a:lnSpc>
                <a:spcPct val="120000"/>
              </a:lnSpc>
              <a:spcBef>
                <a:spcPts val="0"/>
              </a:spcBef>
              <a:buFont typeface="System Font Regular"/>
              <a:buChar char="−"/>
            </a:pPr>
            <a:r>
              <a:rPr lang="en-US" sz="1000" dirty="0">
                <a:solidFill>
                  <a:schemeClr val="tx1"/>
                </a:solidFill>
              </a:rPr>
              <a:t>Detailed threat actor reports, attribution, and behavior analysis</a:t>
            </a:r>
          </a:p>
          <a:p>
            <a:pPr marL="0" lvl="1">
              <a:lnSpc>
                <a:spcPct val="120000"/>
              </a:lnSpc>
              <a:spcBef>
                <a:spcPts val="0"/>
              </a:spcBef>
              <a:buFont typeface="System Font Regular"/>
              <a:buChar char="−"/>
            </a:pPr>
            <a:r>
              <a:rPr lang="en-US" sz="1000" dirty="0">
                <a:solidFill>
                  <a:schemeClr val="tx1"/>
                </a:solidFill>
              </a:rPr>
              <a:t>Insights into geopolitical threats, hacktivism, organized crime, and nation-state actors</a:t>
            </a:r>
          </a:p>
          <a:p>
            <a:pPr marL="0" lvl="1">
              <a:lnSpc>
                <a:spcPct val="120000"/>
              </a:lnSpc>
              <a:spcBef>
                <a:spcPts val="0"/>
              </a:spcBef>
              <a:buFont typeface="System Font Regular"/>
              <a:buChar char="−"/>
            </a:pPr>
            <a:r>
              <a:rPr lang="en-US" sz="1000" dirty="0">
                <a:solidFill>
                  <a:schemeClr val="tx1"/>
                </a:solidFill>
              </a:rPr>
              <a:t>Latest Malware exploits &amp; Attack Vectors</a:t>
            </a:r>
          </a:p>
        </p:txBody>
      </p:sp>
      <p:sp>
        <p:nvSpPr>
          <p:cNvPr id="11" name="TextBox 10">
            <a:extLst>
              <a:ext uri="{FF2B5EF4-FFF2-40B4-BE49-F238E27FC236}">
                <a16:creationId xmlns:a16="http://schemas.microsoft.com/office/drawing/2014/main" id="{81AC8ADE-B77C-370C-2B4E-5BBC204098DA}"/>
              </a:ext>
            </a:extLst>
          </p:cNvPr>
          <p:cNvSpPr txBox="1"/>
          <p:nvPr/>
        </p:nvSpPr>
        <p:spPr>
          <a:xfrm>
            <a:off x="6302478" y="2095406"/>
            <a:ext cx="4886633" cy="3046988"/>
          </a:xfrm>
          <a:prstGeom prst="rect">
            <a:avLst/>
          </a:prstGeom>
          <a:noFill/>
        </p:spPr>
        <p:txBody>
          <a:bodyPr wrap="square">
            <a:spAutoFit/>
          </a:bodyPr>
          <a:lstStyle/>
          <a:p>
            <a:pPr>
              <a:buNone/>
            </a:pPr>
            <a:r>
              <a:rPr lang="en-US" sz="1100" dirty="0"/>
              <a:t>Real-Time Threat Intelligence Analysis &amp; Summarization</a:t>
            </a:r>
          </a:p>
          <a:p>
            <a:pPr marL="171450" indent="-171450">
              <a:buFont typeface="System Font Regular"/>
              <a:buChar char="−"/>
            </a:pPr>
            <a:r>
              <a:rPr lang="en-US" sz="900" dirty="0"/>
              <a:t>Automatically generate concise summaries of new threats and intelligence reports.</a:t>
            </a:r>
          </a:p>
          <a:p>
            <a:pPr marL="171450" indent="-171450">
              <a:buFont typeface="System Font Regular"/>
              <a:buChar char="−"/>
            </a:pPr>
            <a:r>
              <a:rPr lang="en-US" sz="900" dirty="0"/>
              <a:t>Reduces analyst time spent reviewing large threat intel documents.</a:t>
            </a:r>
            <a:endParaRPr lang="en-US" sz="1100" dirty="0"/>
          </a:p>
          <a:p>
            <a:pPr>
              <a:buNone/>
            </a:pPr>
            <a:endParaRPr lang="en-US" sz="1100" dirty="0"/>
          </a:p>
          <a:p>
            <a:pPr>
              <a:buNone/>
            </a:pPr>
            <a:r>
              <a:rPr lang="en-US" sz="1100" dirty="0"/>
              <a:t>Automated Incident Triage &amp; Root Cause Analysis</a:t>
            </a:r>
          </a:p>
          <a:p>
            <a:pPr marL="171450" indent="-171450">
              <a:buFont typeface="System Font Regular"/>
              <a:buChar char="−"/>
            </a:pPr>
            <a:r>
              <a:rPr lang="en-US" sz="900" dirty="0"/>
              <a:t>Objective: Leverage the LLM to swiftly analyze incidents by correlating alerts with known vulnerabilities, threat actors, and recent intelligence.</a:t>
            </a:r>
          </a:p>
          <a:p>
            <a:pPr marL="171450" indent="-171450">
              <a:buFont typeface="System Font Regular"/>
              <a:buChar char="−"/>
            </a:pPr>
            <a:r>
              <a:rPr lang="en-US" sz="900" dirty="0"/>
              <a:t>Benefit: Accelerates response time and provides immediate contextual understanding.</a:t>
            </a:r>
          </a:p>
          <a:p>
            <a:pPr>
              <a:buNone/>
            </a:pPr>
            <a:endParaRPr lang="en-US" sz="1100" dirty="0"/>
          </a:p>
          <a:p>
            <a:pPr>
              <a:buNone/>
            </a:pPr>
            <a:r>
              <a:rPr lang="en-US" sz="1100" dirty="0"/>
              <a:t>Proactive Vulnerability &amp; Exploit Prioritization</a:t>
            </a:r>
          </a:p>
          <a:p>
            <a:pPr marL="171450" indent="-171450">
              <a:buFont typeface="System Font Regular"/>
              <a:buChar char="−"/>
            </a:pPr>
            <a:r>
              <a:rPr lang="en-US" sz="900" dirty="0"/>
              <a:t>Objective: Analyze CVEs, exploit availability, and real-world threat activity to prioritize patches and responses.</a:t>
            </a:r>
          </a:p>
          <a:p>
            <a:pPr marL="171450" indent="-171450">
              <a:buFont typeface="System Font Regular"/>
              <a:buChar char="−"/>
            </a:pPr>
            <a:r>
              <a:rPr lang="en-US" sz="900" dirty="0"/>
              <a:t>Benefit: Improves security posture by aligning efforts with real-world risk.</a:t>
            </a:r>
          </a:p>
          <a:p>
            <a:pPr>
              <a:buNone/>
            </a:pPr>
            <a:endParaRPr lang="en-US" sz="900" dirty="0"/>
          </a:p>
          <a:p>
            <a:pPr>
              <a:buNone/>
            </a:pPr>
            <a:r>
              <a:rPr lang="en-US" sz="1100" dirty="0"/>
              <a:t>Threat Actor Attribution &amp; Behavioral Analysis</a:t>
            </a:r>
          </a:p>
          <a:p>
            <a:pPr marL="171450" indent="-171450">
              <a:buFont typeface="System Font Regular"/>
              <a:buChar char="−"/>
            </a:pPr>
            <a:r>
              <a:rPr lang="en-US" sz="900" dirty="0"/>
              <a:t>Objective: Generate threat actor profiles from detailed data, recognizing patterns, tools, and tactics.</a:t>
            </a:r>
          </a:p>
          <a:p>
            <a:pPr marL="171450" indent="-171450">
              <a:buFont typeface="System Font Regular"/>
              <a:buChar char="−"/>
            </a:pPr>
            <a:r>
              <a:rPr lang="en-US" sz="900" dirty="0"/>
              <a:t>Benefit: Enhances attribution accuracy and threat prediction capabilities.</a:t>
            </a:r>
          </a:p>
        </p:txBody>
      </p:sp>
      <p:sp>
        <p:nvSpPr>
          <p:cNvPr id="12" name="Right Arrow 11">
            <a:extLst>
              <a:ext uri="{FF2B5EF4-FFF2-40B4-BE49-F238E27FC236}">
                <a16:creationId xmlns:a16="http://schemas.microsoft.com/office/drawing/2014/main" id="{328FB4E1-473B-A093-C142-D69E269FC0B3}"/>
              </a:ext>
            </a:extLst>
          </p:cNvPr>
          <p:cNvSpPr/>
          <p:nvPr/>
        </p:nvSpPr>
        <p:spPr>
          <a:xfrm>
            <a:off x="5065747" y="3276345"/>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6E585AA-3827-5A68-3943-6A9EC9FF02DE}"/>
              </a:ext>
            </a:extLst>
          </p:cNvPr>
          <p:cNvSpPr txBox="1"/>
          <p:nvPr/>
        </p:nvSpPr>
        <p:spPr>
          <a:xfrm>
            <a:off x="3716593" y="5548054"/>
            <a:ext cx="8386916" cy="1046440"/>
          </a:xfrm>
          <a:prstGeom prst="rect">
            <a:avLst/>
          </a:prstGeom>
          <a:noFill/>
        </p:spPr>
        <p:txBody>
          <a:bodyPr wrap="square">
            <a:spAutoFit/>
          </a:bodyPr>
          <a:lstStyle/>
          <a:p>
            <a:pPr algn="ctr">
              <a:spcBef>
                <a:spcPts val="600"/>
              </a:spcBef>
              <a:buNone/>
            </a:pPr>
            <a:r>
              <a:rPr lang="en-US" sz="1400" b="1" dirty="0"/>
              <a:t>Expected Benefits</a:t>
            </a:r>
          </a:p>
          <a:p>
            <a:pPr marL="171450" indent="-171450">
              <a:spcBef>
                <a:spcPts val="600"/>
              </a:spcBef>
              <a:buFont typeface="Wingdings" pitchFamily="2" charset="2"/>
              <a:buChar char="ü"/>
            </a:pPr>
            <a:r>
              <a:rPr lang="en-US" sz="1100" i="1" dirty="0"/>
              <a:t>Accelerate security operations by significantly reducing the time-to-analysis for threat intelligence.</a:t>
            </a:r>
          </a:p>
          <a:p>
            <a:pPr marL="171450" indent="-171450">
              <a:spcBef>
                <a:spcPts val="600"/>
              </a:spcBef>
              <a:buFont typeface="Wingdings" pitchFamily="2" charset="2"/>
              <a:buChar char="ü"/>
            </a:pPr>
            <a:r>
              <a:rPr lang="en-US" sz="1100" i="1" dirty="0"/>
              <a:t>Enhance analytical accuracy through real-time integration with evolving threat data.</a:t>
            </a:r>
          </a:p>
          <a:p>
            <a:pPr marL="171450" indent="-171450">
              <a:spcBef>
                <a:spcPts val="600"/>
              </a:spcBef>
              <a:buFont typeface="Wingdings" pitchFamily="2" charset="2"/>
              <a:buChar char="ü"/>
            </a:pPr>
            <a:r>
              <a:rPr lang="en-US" sz="1100" i="1" dirty="0"/>
              <a:t>Improve cybersecurity decision-making, prioritization, and proactive response.</a:t>
            </a:r>
          </a:p>
        </p:txBody>
      </p:sp>
    </p:spTree>
    <p:extLst>
      <p:ext uri="{BB962C8B-B14F-4D97-AF65-F5344CB8AC3E}">
        <p14:creationId xmlns:p14="http://schemas.microsoft.com/office/powerpoint/2010/main" val="33986031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47F02-438C-D1D8-A177-FF11DC6019DB}"/>
              </a:ext>
            </a:extLst>
          </p:cNvPr>
          <p:cNvSpPr>
            <a:spLocks noGrp="1"/>
          </p:cNvSpPr>
          <p:nvPr>
            <p:ph type="title"/>
          </p:nvPr>
        </p:nvSpPr>
        <p:spPr/>
        <p:txBody>
          <a:bodyPr/>
          <a:lstStyle/>
          <a:p>
            <a:r>
              <a:rPr lang="en-US" dirty="0"/>
              <a:t>Finetuning And Integration Strategy</a:t>
            </a:r>
          </a:p>
        </p:txBody>
      </p:sp>
      <p:sp>
        <p:nvSpPr>
          <p:cNvPr id="3" name="Content Placeholder 2">
            <a:extLst>
              <a:ext uri="{FF2B5EF4-FFF2-40B4-BE49-F238E27FC236}">
                <a16:creationId xmlns:a16="http://schemas.microsoft.com/office/drawing/2014/main" id="{8532A97D-7D39-EA5E-7D6F-6998778DA1E1}"/>
              </a:ext>
            </a:extLst>
          </p:cNvPr>
          <p:cNvSpPr>
            <a:spLocks noGrp="1"/>
          </p:cNvSpPr>
          <p:nvPr>
            <p:ph idx="1"/>
          </p:nvPr>
        </p:nvSpPr>
        <p:spPr>
          <a:xfrm>
            <a:off x="525559" y="1401441"/>
            <a:ext cx="4734683" cy="4934477"/>
          </a:xfrm>
        </p:spPr>
        <p:txBody>
          <a:bodyPr>
            <a:noAutofit/>
          </a:bodyPr>
          <a:lstStyle/>
          <a:p>
            <a:pPr marL="0" indent="0">
              <a:spcBef>
                <a:spcPts val="600"/>
              </a:spcBef>
              <a:buNone/>
            </a:pPr>
            <a:r>
              <a:rPr lang="en-US" sz="1050" dirty="0">
                <a:solidFill>
                  <a:schemeClr val="tx1"/>
                </a:solidFill>
              </a:rPr>
              <a:t>Step 1: Domain Corpus Preparation</a:t>
            </a:r>
          </a:p>
          <a:p>
            <a:pPr marL="0" indent="0">
              <a:spcBef>
                <a:spcPts val="600"/>
              </a:spcBef>
              <a:buNone/>
            </a:pPr>
            <a:r>
              <a:rPr lang="en-US" sz="900" dirty="0">
                <a:solidFill>
                  <a:schemeClr val="tx1"/>
                </a:solidFill>
              </a:rPr>
              <a:t>Data Sources; </a:t>
            </a:r>
            <a:r>
              <a:rPr lang="en-US" sz="800" dirty="0">
                <a:solidFill>
                  <a:schemeClr val="tx1"/>
                </a:solidFill>
              </a:rPr>
              <a:t>Flashpoint Ignite threat intelligence feeds (dark web forums, CVEs, threat actor reports, incident summaries). Structured indicators (IOC, TTPs, MITRE ATT&amp;CK mappings).</a:t>
            </a:r>
          </a:p>
          <a:p>
            <a:pPr marL="0" indent="0">
              <a:spcBef>
                <a:spcPts val="600"/>
              </a:spcBef>
              <a:buNone/>
            </a:pPr>
            <a:r>
              <a:rPr lang="en-US" sz="900" dirty="0">
                <a:solidFill>
                  <a:schemeClr val="tx1"/>
                </a:solidFill>
              </a:rPr>
              <a:t>Fine-Tuning Objective: </a:t>
            </a:r>
            <a:r>
              <a:rPr lang="en-US" sz="800" dirty="0">
                <a:solidFill>
                  <a:schemeClr val="tx1"/>
                </a:solidFill>
              </a:rPr>
              <a:t>Masked Language Modeling (MLM) to internalize threat intelligence vocabulary and cybersecurity-specific context.</a:t>
            </a:r>
          </a:p>
          <a:p>
            <a:pPr>
              <a:spcBef>
                <a:spcPts val="600"/>
              </a:spcBef>
            </a:pPr>
            <a:endParaRPr lang="en-US" sz="800" dirty="0">
              <a:solidFill>
                <a:schemeClr val="tx1"/>
              </a:solidFill>
            </a:endParaRPr>
          </a:p>
          <a:p>
            <a:pPr marL="0" indent="0">
              <a:spcBef>
                <a:spcPts val="600"/>
              </a:spcBef>
              <a:buNone/>
            </a:pPr>
            <a:r>
              <a:rPr lang="en-US" sz="1050" dirty="0">
                <a:solidFill>
                  <a:schemeClr val="tx1"/>
                </a:solidFill>
              </a:rPr>
              <a:t>Step 2: Curated Instruction Dataset Creation</a:t>
            </a:r>
          </a:p>
          <a:p>
            <a:pPr marL="0" indent="0">
              <a:spcBef>
                <a:spcPts val="600"/>
              </a:spcBef>
              <a:buNone/>
            </a:pPr>
            <a:r>
              <a:rPr lang="en-US" sz="900" dirty="0">
                <a:solidFill>
                  <a:schemeClr val="tx1"/>
                </a:solidFill>
              </a:rPr>
              <a:t>Instructions Examples:</a:t>
            </a:r>
          </a:p>
          <a:p>
            <a:pPr>
              <a:spcBef>
                <a:spcPts val="600"/>
              </a:spcBef>
              <a:buFont typeface="System Font Regular"/>
              <a:buChar char="−"/>
            </a:pPr>
            <a:r>
              <a:rPr lang="en-US" sz="800" dirty="0">
                <a:solidFill>
                  <a:schemeClr val="tx1"/>
                </a:solidFill>
              </a:rPr>
              <a:t>"Summarize this threat report.”</a:t>
            </a:r>
          </a:p>
          <a:p>
            <a:pPr>
              <a:spcBef>
                <a:spcPts val="600"/>
              </a:spcBef>
              <a:buFont typeface="System Font Regular"/>
              <a:buChar char="−"/>
            </a:pPr>
            <a:r>
              <a:rPr lang="en-US" sz="800" dirty="0">
                <a:solidFill>
                  <a:schemeClr val="tx1"/>
                </a:solidFill>
              </a:rPr>
              <a:t>"Attribute this incident to a known threat actor.”</a:t>
            </a:r>
          </a:p>
          <a:p>
            <a:pPr>
              <a:spcBef>
                <a:spcPts val="600"/>
              </a:spcBef>
              <a:buFont typeface="System Font Regular"/>
              <a:buChar char="−"/>
            </a:pPr>
            <a:r>
              <a:rPr lang="en-US" sz="800" dirty="0">
                <a:solidFill>
                  <a:schemeClr val="tx1"/>
                </a:solidFill>
              </a:rPr>
              <a:t>"Identify potential impacts of this CVE.”</a:t>
            </a:r>
          </a:p>
          <a:p>
            <a:pPr>
              <a:spcBef>
                <a:spcPts val="600"/>
              </a:spcBef>
              <a:buFont typeface="System Font Regular"/>
              <a:buChar char="−"/>
            </a:pPr>
            <a:r>
              <a:rPr lang="en-US" sz="800" dirty="0">
                <a:solidFill>
                  <a:schemeClr val="tx1"/>
                </a:solidFill>
              </a:rPr>
              <a:t>"Extract all relevant IOCs from this threat document."</a:t>
            </a:r>
          </a:p>
          <a:p>
            <a:pPr marL="0" indent="0">
              <a:spcBef>
                <a:spcPts val="600"/>
              </a:spcBef>
              <a:buNone/>
            </a:pPr>
            <a:r>
              <a:rPr lang="en-US" sz="900" dirty="0">
                <a:solidFill>
                  <a:schemeClr val="tx1"/>
                </a:solidFill>
              </a:rPr>
              <a:t>Format: Structured as (Instruction, Input → Desired Output) tuples.</a:t>
            </a:r>
          </a:p>
          <a:p>
            <a:pPr marL="0" indent="0">
              <a:spcBef>
                <a:spcPts val="600"/>
              </a:spcBef>
              <a:buNone/>
            </a:pPr>
            <a:endParaRPr lang="en-US" sz="900" dirty="0">
              <a:solidFill>
                <a:schemeClr val="tx1"/>
              </a:solidFill>
            </a:endParaRPr>
          </a:p>
          <a:p>
            <a:pPr marL="0" indent="0">
              <a:spcBef>
                <a:spcPts val="600"/>
              </a:spcBef>
              <a:buNone/>
            </a:pPr>
            <a:r>
              <a:rPr lang="en-US" sz="1050" dirty="0">
                <a:solidFill>
                  <a:schemeClr val="tx1"/>
                </a:solidFill>
              </a:rPr>
              <a:t>Step 3: Instruction Tuning</a:t>
            </a:r>
          </a:p>
          <a:p>
            <a:pPr marL="57150" indent="0">
              <a:spcBef>
                <a:spcPts val="600"/>
              </a:spcBef>
              <a:buNone/>
            </a:pPr>
            <a:r>
              <a:rPr lang="en-US" sz="900" dirty="0">
                <a:solidFill>
                  <a:schemeClr val="tx1"/>
                </a:solidFill>
              </a:rPr>
              <a:t>Objective: Enable the LLM to follow security-specific instructions.</a:t>
            </a:r>
          </a:p>
          <a:p>
            <a:pPr marL="57150" indent="0">
              <a:spcBef>
                <a:spcPts val="600"/>
              </a:spcBef>
              <a:buNone/>
            </a:pPr>
            <a:r>
              <a:rPr lang="en-US" sz="900" dirty="0">
                <a:solidFill>
                  <a:schemeClr val="tx1"/>
                </a:solidFill>
              </a:rPr>
              <a:t>Methodology: Supervised fine-tuning with instruction tuples, cross-entropy loss on generated outputs.</a:t>
            </a:r>
          </a:p>
          <a:p>
            <a:pPr>
              <a:spcBef>
                <a:spcPts val="600"/>
              </a:spcBef>
            </a:pPr>
            <a:endParaRPr lang="en-US" sz="800" dirty="0">
              <a:solidFill>
                <a:schemeClr val="tx1"/>
              </a:solidFill>
            </a:endParaRPr>
          </a:p>
          <a:p>
            <a:pPr marL="0" indent="0">
              <a:spcBef>
                <a:spcPts val="600"/>
              </a:spcBef>
              <a:buNone/>
            </a:pPr>
            <a:r>
              <a:rPr lang="en-US" sz="1050" dirty="0">
                <a:solidFill>
                  <a:schemeClr val="tx1"/>
                </a:solidFill>
              </a:rPr>
              <a:t>Step 4: Integration of Retrieval-Augmented Generation (RAG)</a:t>
            </a:r>
          </a:p>
          <a:p>
            <a:pPr marL="57150" indent="0">
              <a:spcBef>
                <a:spcPts val="600"/>
              </a:spcBef>
              <a:buNone/>
            </a:pPr>
            <a:r>
              <a:rPr lang="en-US" sz="900" dirty="0">
                <a:solidFill>
                  <a:schemeClr val="tx1"/>
                </a:solidFill>
              </a:rPr>
              <a:t>Combine the LLM with </a:t>
            </a:r>
            <a:r>
              <a:rPr lang="en-US" sz="900" dirty="0" err="1">
                <a:solidFill>
                  <a:schemeClr val="tx1"/>
                </a:solidFill>
              </a:rPr>
              <a:t>Ignite’s</a:t>
            </a:r>
            <a:r>
              <a:rPr lang="en-US" sz="900" dirty="0">
                <a:solidFill>
                  <a:schemeClr val="tx1"/>
                </a:solidFill>
              </a:rPr>
              <a:t> real-time data retrieval via embeddings and vector stores.</a:t>
            </a:r>
          </a:p>
          <a:p>
            <a:pPr marL="57150" indent="0">
              <a:spcBef>
                <a:spcPts val="600"/>
              </a:spcBef>
              <a:buNone/>
            </a:pPr>
            <a:r>
              <a:rPr lang="en-US" sz="900" dirty="0">
                <a:solidFill>
                  <a:schemeClr val="tx1"/>
                </a:solidFill>
              </a:rPr>
              <a:t>Provide the model with external real-time context (latest threats, CVEs, etc.) to answer queries more accurately.</a:t>
            </a:r>
          </a:p>
          <a:p>
            <a:pPr marL="0" indent="0">
              <a:buNone/>
            </a:pPr>
            <a:endParaRPr lang="en-US" sz="1050" dirty="0">
              <a:solidFill>
                <a:schemeClr val="tx1"/>
              </a:solidFill>
            </a:endParaRPr>
          </a:p>
        </p:txBody>
      </p:sp>
      <p:sp>
        <p:nvSpPr>
          <p:cNvPr id="5" name="TextBox 4">
            <a:extLst>
              <a:ext uri="{FF2B5EF4-FFF2-40B4-BE49-F238E27FC236}">
                <a16:creationId xmlns:a16="http://schemas.microsoft.com/office/drawing/2014/main" id="{8703488A-CF08-B7D5-0E74-C4D1390CB8C7}"/>
              </a:ext>
            </a:extLst>
          </p:cNvPr>
          <p:cNvSpPr txBox="1"/>
          <p:nvPr/>
        </p:nvSpPr>
        <p:spPr>
          <a:xfrm>
            <a:off x="5934202" y="-728382"/>
            <a:ext cx="8761413" cy="523220"/>
          </a:xfrm>
          <a:prstGeom prst="rect">
            <a:avLst/>
          </a:prstGeom>
          <a:noFill/>
        </p:spPr>
        <p:txBody>
          <a:bodyPr wrap="square">
            <a:spAutoFit/>
          </a:bodyPr>
          <a:lstStyle/>
          <a:p>
            <a:pPr algn="ctr"/>
            <a:r>
              <a:rPr lang="en-US" sz="1400" i="1" dirty="0"/>
              <a:t>Given </a:t>
            </a:r>
            <a:r>
              <a:rPr lang="en-US" sz="1400" i="1" dirty="0" err="1"/>
              <a:t>Ignite’s</a:t>
            </a:r>
            <a:r>
              <a:rPr lang="en-US" sz="1400" i="1" dirty="0"/>
              <a:t> data-rich and specialized threat-intel environment, the ideal fine-tuning approach is a Hybrid Fine-Tuning + Instruction Tuning strategy. </a:t>
            </a:r>
          </a:p>
        </p:txBody>
      </p:sp>
      <p:sp>
        <p:nvSpPr>
          <p:cNvPr id="7" name="Content Placeholder 2">
            <a:extLst>
              <a:ext uri="{FF2B5EF4-FFF2-40B4-BE49-F238E27FC236}">
                <a16:creationId xmlns:a16="http://schemas.microsoft.com/office/drawing/2014/main" id="{994DCF37-1E0E-6795-977A-64A111496FA8}"/>
              </a:ext>
            </a:extLst>
          </p:cNvPr>
          <p:cNvSpPr txBox="1">
            <a:spLocks/>
          </p:cNvSpPr>
          <p:nvPr/>
        </p:nvSpPr>
        <p:spPr>
          <a:xfrm>
            <a:off x="5570408" y="2215975"/>
            <a:ext cx="5195914" cy="411994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indent="0">
              <a:buNone/>
            </a:pPr>
            <a:endParaRPr lang="en-US" sz="1050" dirty="0">
              <a:solidFill>
                <a:schemeClr val="tx1"/>
              </a:solidFill>
            </a:endParaRPr>
          </a:p>
        </p:txBody>
      </p:sp>
      <p:pic>
        <p:nvPicPr>
          <p:cNvPr id="8" name="Picture 7">
            <a:extLst>
              <a:ext uri="{FF2B5EF4-FFF2-40B4-BE49-F238E27FC236}">
                <a16:creationId xmlns:a16="http://schemas.microsoft.com/office/drawing/2014/main" id="{DC8E0EBC-AA0F-3067-18B1-BCCD8C551414}"/>
              </a:ext>
            </a:extLst>
          </p:cNvPr>
          <p:cNvPicPr>
            <a:picLocks noChangeAspect="1"/>
          </p:cNvPicPr>
          <p:nvPr/>
        </p:nvPicPr>
        <p:blipFill>
          <a:blip r:embed="rId2"/>
          <a:stretch>
            <a:fillRect/>
          </a:stretch>
        </p:blipFill>
        <p:spPr>
          <a:xfrm>
            <a:off x="5934202" y="1519708"/>
            <a:ext cx="4697941" cy="4697941"/>
          </a:xfrm>
          <a:prstGeom prst="rect">
            <a:avLst/>
          </a:prstGeom>
        </p:spPr>
      </p:pic>
    </p:spTree>
    <p:extLst>
      <p:ext uri="{BB962C8B-B14F-4D97-AF65-F5344CB8AC3E}">
        <p14:creationId xmlns:p14="http://schemas.microsoft.com/office/powerpoint/2010/main" val="20456223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A2CB7-4D9B-0759-0847-7F7C2A04F1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54947F-153A-CBAD-CD2F-3A84EC50EEFF}"/>
              </a:ext>
            </a:extLst>
          </p:cNvPr>
          <p:cNvSpPr>
            <a:spLocks noGrp="1"/>
          </p:cNvSpPr>
          <p:nvPr>
            <p:ph type="title"/>
          </p:nvPr>
        </p:nvSpPr>
        <p:spPr>
          <a:xfrm>
            <a:off x="963798" y="449961"/>
            <a:ext cx="10073599" cy="706964"/>
          </a:xfrm>
        </p:spPr>
        <p:txBody>
          <a:bodyPr/>
          <a:lstStyle/>
          <a:p>
            <a:r>
              <a:rPr lang="en-US" sz="2400" dirty="0"/>
              <a:t>LLM Model&amp; Context Integration &amp; Compute Requirements</a:t>
            </a:r>
          </a:p>
        </p:txBody>
      </p:sp>
      <p:sp>
        <p:nvSpPr>
          <p:cNvPr id="3" name="Content Placeholder 2">
            <a:extLst>
              <a:ext uri="{FF2B5EF4-FFF2-40B4-BE49-F238E27FC236}">
                <a16:creationId xmlns:a16="http://schemas.microsoft.com/office/drawing/2014/main" id="{E173BC5E-9402-6915-08F9-CBAA1B021E8A}"/>
              </a:ext>
            </a:extLst>
          </p:cNvPr>
          <p:cNvSpPr>
            <a:spLocks noGrp="1"/>
          </p:cNvSpPr>
          <p:nvPr>
            <p:ph idx="1"/>
          </p:nvPr>
        </p:nvSpPr>
        <p:spPr>
          <a:xfrm>
            <a:off x="904805" y="2288096"/>
            <a:ext cx="4679917" cy="4119943"/>
          </a:xfrm>
        </p:spPr>
        <p:txBody>
          <a:bodyPr>
            <a:noAutofit/>
          </a:bodyPr>
          <a:lstStyle/>
          <a:p>
            <a:pPr marL="0" indent="0">
              <a:buNone/>
            </a:pPr>
            <a:r>
              <a:rPr lang="en-US" sz="1200" dirty="0">
                <a:solidFill>
                  <a:schemeClr val="tx1"/>
                </a:solidFill>
              </a:rPr>
              <a:t>Leverage state of the art Cyber Security LLMs with robust instruction-following capabilities and retrieval augmentation compatibility:</a:t>
            </a:r>
          </a:p>
          <a:p>
            <a:pPr>
              <a:buFont typeface="System Font Regular"/>
              <a:buChar char="−"/>
            </a:pPr>
            <a:r>
              <a:rPr lang="en-US" sz="1200" dirty="0">
                <a:solidFill>
                  <a:schemeClr val="tx1"/>
                </a:solidFill>
              </a:rPr>
              <a:t>Llama-Primus or Sec-Gemini v1 (instruction-tuned, cybersecurity-focused), or</a:t>
            </a:r>
          </a:p>
          <a:p>
            <a:pPr>
              <a:buFont typeface="System Font Regular"/>
              <a:buChar char="−"/>
            </a:pPr>
            <a:r>
              <a:rPr lang="en-US" sz="1200" dirty="0">
                <a:solidFill>
                  <a:schemeClr val="tx1"/>
                </a:solidFill>
              </a:rPr>
              <a:t>Alternative: Zephyr-7b-beta for efficiency.</a:t>
            </a:r>
          </a:p>
          <a:p>
            <a:pPr marL="0" indent="0">
              <a:buNone/>
            </a:pPr>
            <a:endParaRPr lang="en-US" sz="1200" u="sng" dirty="0">
              <a:solidFill>
                <a:schemeClr val="tx1"/>
              </a:solidFill>
            </a:endParaRPr>
          </a:p>
          <a:p>
            <a:pPr marL="0" indent="0">
              <a:buNone/>
            </a:pPr>
            <a:r>
              <a:rPr lang="en-US" sz="1200" dirty="0">
                <a:solidFill>
                  <a:schemeClr val="tx1"/>
                </a:solidFill>
              </a:rPr>
              <a:t>PEFT: Utilize LoRA (Low-Rank Adaptation) or adapters for efficient updates and rapid deployment.</a:t>
            </a:r>
          </a:p>
          <a:p>
            <a:pPr marL="0" indent="0">
              <a:buNone/>
            </a:pPr>
            <a:endParaRPr lang="en-US" sz="1200" dirty="0">
              <a:solidFill>
                <a:schemeClr val="tx1"/>
              </a:solidFill>
            </a:endParaRPr>
          </a:p>
          <a:p>
            <a:pPr marL="0" indent="0">
              <a:buNone/>
            </a:pPr>
            <a:r>
              <a:rPr lang="en-US" sz="1200" dirty="0">
                <a:solidFill>
                  <a:schemeClr val="tx1"/>
                </a:solidFill>
              </a:rPr>
              <a:t>RAG Integration (Inference &amp; Retrieval):</a:t>
            </a:r>
          </a:p>
          <a:p>
            <a:pPr>
              <a:buFont typeface="System Font Regular"/>
              <a:buChar char="-"/>
            </a:pPr>
            <a:r>
              <a:rPr lang="en-US" sz="1050" dirty="0">
                <a:solidFill>
                  <a:schemeClr val="tx1"/>
                </a:solidFill>
              </a:rPr>
              <a:t>Utilize vector stores (e.g., Neo-4j) for embedding-based real-time retrieval of environment context. (Minimal additional GPU overhead, primarily inference-focused.)</a:t>
            </a:r>
            <a:endParaRPr lang="en-US" sz="900" dirty="0">
              <a:solidFill>
                <a:schemeClr val="tx1"/>
              </a:solidFill>
            </a:endParaRPr>
          </a:p>
        </p:txBody>
      </p:sp>
      <p:sp>
        <p:nvSpPr>
          <p:cNvPr id="5" name="TextBox 4">
            <a:extLst>
              <a:ext uri="{FF2B5EF4-FFF2-40B4-BE49-F238E27FC236}">
                <a16:creationId xmlns:a16="http://schemas.microsoft.com/office/drawing/2014/main" id="{1A321401-BF1C-9F71-FF26-E5B06B5BC18E}"/>
              </a:ext>
            </a:extLst>
          </p:cNvPr>
          <p:cNvSpPr txBox="1"/>
          <p:nvPr/>
        </p:nvSpPr>
        <p:spPr>
          <a:xfrm>
            <a:off x="2995038" y="1460900"/>
            <a:ext cx="6201924" cy="523220"/>
          </a:xfrm>
          <a:prstGeom prst="rect">
            <a:avLst/>
          </a:prstGeom>
          <a:noFill/>
        </p:spPr>
        <p:txBody>
          <a:bodyPr wrap="square">
            <a:spAutoFit/>
          </a:bodyPr>
          <a:lstStyle/>
          <a:p>
            <a:pPr algn="ctr"/>
            <a:r>
              <a:rPr lang="en-US" sz="1400" i="1" dirty="0"/>
              <a:t>Leverage state of the art Cyber Security LLMs and finetune against Flashpoint data using optimized finetuning strategies</a:t>
            </a:r>
          </a:p>
        </p:txBody>
      </p:sp>
      <p:sp>
        <p:nvSpPr>
          <p:cNvPr id="7" name="Content Placeholder 2">
            <a:extLst>
              <a:ext uri="{FF2B5EF4-FFF2-40B4-BE49-F238E27FC236}">
                <a16:creationId xmlns:a16="http://schemas.microsoft.com/office/drawing/2014/main" id="{70ACD4E1-756A-1234-D06D-DC03038BE5DA}"/>
              </a:ext>
            </a:extLst>
          </p:cNvPr>
          <p:cNvSpPr txBox="1">
            <a:spLocks/>
          </p:cNvSpPr>
          <p:nvPr/>
        </p:nvSpPr>
        <p:spPr>
          <a:xfrm>
            <a:off x="6402357" y="2425748"/>
            <a:ext cx="4216481" cy="3352982"/>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indent="0" algn="ctr">
              <a:buNone/>
            </a:pPr>
            <a:r>
              <a:rPr lang="en-US" dirty="0">
                <a:solidFill>
                  <a:schemeClr val="tx1"/>
                </a:solidFill>
              </a:rPr>
              <a:t>Compute Requirements (roughly)</a:t>
            </a:r>
          </a:p>
          <a:p>
            <a:pPr marL="0" indent="0">
              <a:buNone/>
            </a:pPr>
            <a:endParaRPr lang="en-US" sz="1400" dirty="0">
              <a:solidFill>
                <a:schemeClr val="tx1"/>
              </a:solidFill>
            </a:endParaRPr>
          </a:p>
          <a:p>
            <a:pPr marL="0" indent="0">
              <a:buNone/>
            </a:pPr>
            <a:r>
              <a:rPr lang="en-US" sz="1200" dirty="0">
                <a:solidFill>
                  <a:schemeClr val="tx1"/>
                </a:solidFill>
              </a:rPr>
              <a:t>Continual Pretraining (MLM):</a:t>
            </a:r>
          </a:p>
          <a:p>
            <a:pPr>
              <a:buFont typeface="System Font Regular"/>
              <a:buChar char="-"/>
            </a:pPr>
            <a:r>
              <a:rPr lang="en-US" sz="1100" dirty="0">
                <a:solidFill>
                  <a:schemeClr val="tx1"/>
                </a:solidFill>
              </a:rPr>
              <a:t>Moderate-to-large GPU resources (e.g., 8x NVIDIA A100 GPUs).</a:t>
            </a:r>
          </a:p>
          <a:p>
            <a:pPr>
              <a:buFont typeface="System Font Regular"/>
              <a:buChar char="-"/>
            </a:pPr>
            <a:r>
              <a:rPr lang="en-US" sz="1100" dirty="0">
                <a:solidFill>
                  <a:schemeClr val="tx1"/>
                </a:solidFill>
              </a:rPr>
              <a:t>Expected training duration: ~10–40 hours depending on corpus size (50M–200M tokens).</a:t>
            </a:r>
          </a:p>
          <a:p>
            <a:pPr>
              <a:buFont typeface="System Font Regular"/>
              <a:buChar char="-"/>
            </a:pPr>
            <a:endParaRPr lang="en-US" sz="1200" u="sng" dirty="0">
              <a:solidFill>
                <a:schemeClr val="tx1"/>
              </a:solidFill>
            </a:endParaRPr>
          </a:p>
          <a:p>
            <a:pPr marL="0" indent="0">
              <a:buNone/>
            </a:pPr>
            <a:r>
              <a:rPr lang="en-US" sz="1200" dirty="0">
                <a:solidFill>
                  <a:schemeClr val="tx1"/>
                </a:solidFill>
              </a:rPr>
              <a:t>Instruction Tuning:</a:t>
            </a:r>
          </a:p>
          <a:p>
            <a:pPr>
              <a:buFont typeface="System Font Regular"/>
              <a:buChar char="-"/>
            </a:pPr>
            <a:r>
              <a:rPr lang="en-US" sz="1100" dirty="0">
                <a:solidFill>
                  <a:schemeClr val="tx1"/>
                </a:solidFill>
              </a:rPr>
              <a:t>4–12 hours on 8x NVIDIA A100 GPUs for datasets of 20K–100K instruction tuples.</a:t>
            </a:r>
          </a:p>
          <a:p>
            <a:pPr marL="0" indent="0">
              <a:buNone/>
            </a:pPr>
            <a:endParaRPr lang="en-US" sz="1100" u="sng" dirty="0">
              <a:solidFill>
                <a:schemeClr val="tx1"/>
              </a:solidFill>
            </a:endParaRPr>
          </a:p>
        </p:txBody>
      </p:sp>
    </p:spTree>
    <p:extLst>
      <p:ext uri="{BB962C8B-B14F-4D97-AF65-F5344CB8AC3E}">
        <p14:creationId xmlns:p14="http://schemas.microsoft.com/office/powerpoint/2010/main" val="3401266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37DE4-D372-E9AC-4B63-F0CA7F85CE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89FA57-33AB-B508-4C3E-FBCC5D7B09BC}"/>
              </a:ext>
            </a:extLst>
          </p:cNvPr>
          <p:cNvSpPr>
            <a:spLocks noGrp="1"/>
          </p:cNvSpPr>
          <p:nvPr>
            <p:ph type="ctrTitle"/>
          </p:nvPr>
        </p:nvSpPr>
        <p:spPr>
          <a:xfrm>
            <a:off x="8160773" y="1113062"/>
            <a:ext cx="3382297" cy="3281957"/>
          </a:xfrm>
        </p:spPr>
        <p:txBody>
          <a:bodyPr>
            <a:normAutofit/>
          </a:bodyPr>
          <a:lstStyle/>
          <a:p>
            <a:r>
              <a:rPr lang="en-US">
                <a:solidFill>
                  <a:srgbClr val="EBEBEB"/>
                </a:solidFill>
              </a:rPr>
              <a:t>Athena Software Group</a:t>
            </a:r>
          </a:p>
        </p:txBody>
      </p:sp>
      <p:sp>
        <p:nvSpPr>
          <p:cNvPr id="3" name="Subtitle 2">
            <a:extLst>
              <a:ext uri="{FF2B5EF4-FFF2-40B4-BE49-F238E27FC236}">
                <a16:creationId xmlns:a16="http://schemas.microsoft.com/office/drawing/2014/main" id="{4E92CDE8-CD60-CA2E-223F-76A53504251D}"/>
              </a:ext>
            </a:extLst>
          </p:cNvPr>
          <p:cNvSpPr>
            <a:spLocks noGrp="1"/>
          </p:cNvSpPr>
          <p:nvPr>
            <p:ph type="subTitle" idx="1"/>
          </p:nvPr>
        </p:nvSpPr>
        <p:spPr>
          <a:xfrm>
            <a:off x="8160773" y="4591665"/>
            <a:ext cx="3382298" cy="1150156"/>
          </a:xfrm>
        </p:spPr>
        <p:txBody>
          <a:bodyPr>
            <a:normAutofit/>
          </a:bodyPr>
          <a:lstStyle/>
          <a:p>
            <a:pPr>
              <a:lnSpc>
                <a:spcPct val="90000"/>
              </a:lnSpc>
            </a:pPr>
            <a:r>
              <a:rPr lang="en-US" i="1" dirty="0"/>
              <a:t>Best in Class, AI Enabled, security solutions for Enterprise application providers.</a:t>
            </a:r>
            <a:endParaRPr lang="en-US" i="1"/>
          </a:p>
        </p:txBody>
      </p:sp>
      <p:pic>
        <p:nvPicPr>
          <p:cNvPr id="5" name="Picture 4">
            <a:extLst>
              <a:ext uri="{FF2B5EF4-FFF2-40B4-BE49-F238E27FC236}">
                <a16:creationId xmlns:a16="http://schemas.microsoft.com/office/drawing/2014/main" id="{97678170-9CB9-9E3B-855F-C3C5DAE8265B}"/>
              </a:ext>
            </a:extLst>
          </p:cNvPr>
          <p:cNvPicPr>
            <a:picLocks noChangeAspect="1"/>
          </p:cNvPicPr>
          <p:nvPr/>
        </p:nvPicPr>
        <p:blipFill>
          <a:blip r:embed="rId2"/>
          <a:stretch>
            <a:fillRect/>
          </a:stretch>
        </p:blipFill>
        <p:spPr>
          <a:xfrm>
            <a:off x="1109763" y="1316544"/>
            <a:ext cx="6470907" cy="4221795"/>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32526049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C94A2-B12D-0FC3-CDF7-B7315B5904AB}"/>
              </a:ext>
            </a:extLst>
          </p:cNvPr>
          <p:cNvSpPr>
            <a:spLocks noGrp="1"/>
          </p:cNvSpPr>
          <p:nvPr>
            <p:ph type="title" idx="4294967295"/>
          </p:nvPr>
        </p:nvSpPr>
        <p:spPr>
          <a:xfrm>
            <a:off x="1000372" y="1209957"/>
            <a:ext cx="3034580" cy="4438087"/>
          </a:xfrm>
        </p:spPr>
        <p:txBody>
          <a:bodyPr vert="horz" lIns="91440" tIns="45720" rIns="91440" bIns="45720" rtlCol="0" anchor="ctr">
            <a:normAutofit/>
          </a:bodyPr>
          <a:lstStyle/>
          <a:p>
            <a:pPr algn="r"/>
            <a:r>
              <a:rPr lang="en-US" sz="3200"/>
              <a:t>Athena Software Group Inc.</a:t>
            </a:r>
          </a:p>
        </p:txBody>
      </p:sp>
      <p:sp>
        <p:nvSpPr>
          <p:cNvPr id="25" name="Content Placeholder 2">
            <a:extLst>
              <a:ext uri="{FF2B5EF4-FFF2-40B4-BE49-F238E27FC236}">
                <a16:creationId xmlns:a16="http://schemas.microsoft.com/office/drawing/2014/main" id="{8F26F023-E979-BF7F-8669-50610F99DF69}"/>
              </a:ext>
            </a:extLst>
          </p:cNvPr>
          <p:cNvSpPr>
            <a:spLocks noGrp="1"/>
          </p:cNvSpPr>
          <p:nvPr>
            <p:ph idx="4294967295"/>
          </p:nvPr>
        </p:nvSpPr>
        <p:spPr>
          <a:xfrm>
            <a:off x="4678424" y="1059025"/>
            <a:ext cx="5302189" cy="4739950"/>
          </a:xfrm>
        </p:spPr>
        <p:txBody>
          <a:bodyPr vert="horz" lIns="91440" tIns="45720" rIns="91440" bIns="45720" rtlCol="0" anchor="ctr">
            <a:normAutofit/>
          </a:bodyPr>
          <a:lstStyle/>
          <a:p>
            <a:pPr marL="0" indent="0">
              <a:lnSpc>
                <a:spcPct val="90000"/>
              </a:lnSpc>
              <a:buNone/>
            </a:pPr>
            <a:r>
              <a:rPr lang="en-US" sz="1300" u="none" strike="noStrike" dirty="0">
                <a:solidFill>
                  <a:schemeClr val="tx1"/>
                </a:solidFill>
                <a:effectLst/>
              </a:rPr>
              <a:t>A company founded under the principles of integrating Cyber Security best practices, high end custom enterprise software and artificial intelligence (LLMs). </a:t>
            </a:r>
          </a:p>
          <a:p>
            <a:pPr marL="0" indent="0">
              <a:lnSpc>
                <a:spcPct val="90000"/>
              </a:lnSpc>
              <a:buNone/>
            </a:pPr>
            <a:r>
              <a:rPr lang="en-US" sz="1300" u="none" strike="noStrike" dirty="0">
                <a:solidFill>
                  <a:schemeClr val="tx1"/>
                </a:solidFill>
                <a:effectLst/>
              </a:rPr>
              <a:t>Athena Software Group brings together some of the best minds in computer science, cyber defense and SaaS to design solutions </a:t>
            </a:r>
            <a:r>
              <a:rPr lang="en-US" sz="1300" dirty="0">
                <a:solidFill>
                  <a:schemeClr val="tx1"/>
                </a:solidFill>
              </a:rPr>
              <a:t>specifically </a:t>
            </a:r>
            <a:r>
              <a:rPr lang="en-US" sz="1300" u="none" strike="noStrike" dirty="0">
                <a:solidFill>
                  <a:schemeClr val="tx1"/>
                </a:solidFill>
                <a:effectLst/>
              </a:rPr>
              <a:t>for application service providers. </a:t>
            </a:r>
          </a:p>
          <a:p>
            <a:pPr marL="0" indent="0">
              <a:lnSpc>
                <a:spcPct val="90000"/>
              </a:lnSpc>
              <a:buNone/>
            </a:pPr>
            <a:r>
              <a:rPr lang="en-US" sz="1300" u="none" strike="noStrike" dirty="0">
                <a:solidFill>
                  <a:schemeClr val="tx1"/>
                </a:solidFill>
                <a:effectLst/>
              </a:rPr>
              <a:t>We take a fully integrated and analytical approach to Cyber Security defense, knowing through experience that the best Cyber Defense strategies arise from providing the best analysts with the best tools from within a fully integrated cyber security infrastructure that is informed by the latest cyber and t</a:t>
            </a:r>
          </a:p>
          <a:p>
            <a:pPr marL="0" indent="0">
              <a:lnSpc>
                <a:spcPct val="90000"/>
              </a:lnSpc>
              <a:buNone/>
            </a:pPr>
            <a:r>
              <a:rPr lang="en-US" sz="1300" u="none" strike="noStrike" dirty="0">
                <a:solidFill>
                  <a:schemeClr val="tx1"/>
                </a:solidFill>
                <a:effectLst/>
              </a:rPr>
              <a:t>We intend to set a new bar in Cyber </a:t>
            </a:r>
            <a:r>
              <a:rPr lang="en-US" sz="1300" dirty="0">
                <a:solidFill>
                  <a:schemeClr val="tx1"/>
                </a:solidFill>
              </a:rPr>
              <a:t>defense by providing tools along the entire Cyber defense stack which are fully integrated with Cyber specific trained LLMs that both understand the global threat landscape AND are informed by the technical specifications which underpin the application specific infrastructure environment </a:t>
            </a:r>
            <a:r>
              <a:rPr lang="en-US" sz="1300" u="none" strike="noStrike" dirty="0">
                <a:solidFill>
                  <a:schemeClr val="tx1"/>
                </a:solidFill>
                <a:effectLst/>
              </a:rPr>
              <a:t>facilitating higher quality, more rapid and informed outcomes with respect to threat and anomaly detection, response management, vulnerability management and compliance.</a:t>
            </a:r>
          </a:p>
        </p:txBody>
      </p:sp>
    </p:spTree>
    <p:extLst>
      <p:ext uri="{BB962C8B-B14F-4D97-AF65-F5344CB8AC3E}">
        <p14:creationId xmlns:p14="http://schemas.microsoft.com/office/powerpoint/2010/main" val="19202485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9334C-CDDD-E6A7-E166-3719B482A9A1}"/>
              </a:ext>
            </a:extLst>
          </p:cNvPr>
          <p:cNvSpPr>
            <a:spLocks noGrp="1"/>
          </p:cNvSpPr>
          <p:nvPr>
            <p:ph type="title"/>
          </p:nvPr>
        </p:nvSpPr>
        <p:spPr>
          <a:xfrm>
            <a:off x="772181" y="120316"/>
            <a:ext cx="8761413" cy="1115148"/>
          </a:xfrm>
        </p:spPr>
        <p:txBody>
          <a:bodyPr/>
          <a:lstStyle/>
          <a:p>
            <a:r>
              <a:rPr lang="en-US" sz="2800" i="1" dirty="0"/>
              <a:t>Glaukopis (</a:t>
            </a:r>
            <a:r>
              <a:rPr lang="el-GR" sz="2800" i="1" dirty="0"/>
              <a:t>γλαυκῶπις</a:t>
            </a:r>
            <a:r>
              <a:rPr lang="en-US" sz="2800" i="1" dirty="0"/>
              <a:t>)</a:t>
            </a:r>
            <a:br>
              <a:rPr lang="en-US" sz="2800" dirty="0"/>
            </a:br>
            <a:r>
              <a:rPr lang="en-US" sz="2000" i="1" dirty="0"/>
              <a:t>the “grey eyed one”</a:t>
            </a:r>
            <a:endParaRPr lang="en-US" sz="2800" i="1" dirty="0"/>
          </a:p>
        </p:txBody>
      </p:sp>
      <p:pic>
        <p:nvPicPr>
          <p:cNvPr id="5" name="Picture 4">
            <a:extLst>
              <a:ext uri="{FF2B5EF4-FFF2-40B4-BE49-F238E27FC236}">
                <a16:creationId xmlns:a16="http://schemas.microsoft.com/office/drawing/2014/main" id="{A8A1A29D-4D1D-485F-7E7A-6DA6F40E0B31}"/>
              </a:ext>
            </a:extLst>
          </p:cNvPr>
          <p:cNvPicPr>
            <a:picLocks noChangeAspect="1"/>
          </p:cNvPicPr>
          <p:nvPr/>
        </p:nvPicPr>
        <p:blipFill>
          <a:blip r:embed="rId2"/>
          <a:stretch>
            <a:fillRect/>
          </a:stretch>
        </p:blipFill>
        <p:spPr>
          <a:xfrm>
            <a:off x="5152887" y="1481477"/>
            <a:ext cx="6468978" cy="4777742"/>
          </a:xfrm>
          <a:prstGeom prst="rect">
            <a:avLst/>
          </a:prstGeom>
        </p:spPr>
      </p:pic>
      <p:pic>
        <p:nvPicPr>
          <p:cNvPr id="1026" name="Picture 2" descr="In Homer's 'Odyssey,' what is the meaning behind Athena being referred to  as “gray-eyed” and “owl-eyed” at different points? - Quora">
            <a:extLst>
              <a:ext uri="{FF2B5EF4-FFF2-40B4-BE49-F238E27FC236}">
                <a16:creationId xmlns:a16="http://schemas.microsoft.com/office/drawing/2014/main" id="{2E3F3C76-2F4A-85D1-1ABE-EA3BC81A09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181" y="1481477"/>
            <a:ext cx="3721735" cy="4531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525766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Berlin</Template>
  <TotalTime>12770</TotalTime>
  <Words>3339</Words>
  <Application>Microsoft Macintosh PowerPoint</Application>
  <PresentationFormat>Widescreen</PresentationFormat>
  <Paragraphs>324</Paragraphs>
  <Slides>28</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28</vt:i4>
      </vt:variant>
    </vt:vector>
  </HeadingPairs>
  <TitlesOfParts>
    <vt:vector size="40" baseType="lpstr">
      <vt:lpstr>Aptos</vt:lpstr>
      <vt:lpstr>Aptos Narrow</vt:lpstr>
      <vt:lpstr>Arial</vt:lpstr>
      <vt:lpstr>Century Gothic</vt:lpstr>
      <vt:lpstr>HelveticaNeue Regular</vt:lpstr>
      <vt:lpstr>Lucida Grande</vt:lpstr>
      <vt:lpstr>Open Sans</vt:lpstr>
      <vt:lpstr>Segoe UI Black</vt:lpstr>
      <vt:lpstr>System Font Regular</vt:lpstr>
      <vt:lpstr>Wingdings</vt:lpstr>
      <vt:lpstr>Wingdings 3</vt:lpstr>
      <vt:lpstr>Ion Boardroom</vt:lpstr>
      <vt:lpstr>Athena Cyber LLM Codename: Glaukopis  Adapting Cyber Defense to the Advance of AI</vt:lpstr>
      <vt:lpstr>PowerPoint Presentation</vt:lpstr>
      <vt:lpstr>Cyber LLMs</vt:lpstr>
      <vt:lpstr>Foundational Use Cases for Cyber Security Language Models </vt:lpstr>
      <vt:lpstr>Cyber Security Language Models</vt:lpstr>
      <vt:lpstr>Evaluating the Performance of Cyber Security LLMs Benchmarks for Cyber Security Language Models</vt:lpstr>
      <vt:lpstr>CyBERT (2021) Contextualized Embeddings for the Cybersecurity Domain</vt:lpstr>
      <vt:lpstr>Pretraining vs Finetuning</vt:lpstr>
      <vt:lpstr>Finetuning LLMs</vt:lpstr>
      <vt:lpstr>PEFT: Parameter Efficient Fine Tuning</vt:lpstr>
      <vt:lpstr>PowerPoint Presentation</vt:lpstr>
      <vt:lpstr>LoRA and QLoRA for Coefficient Selection</vt:lpstr>
      <vt:lpstr>Instruction Tuning Finetuned Language Net (FLAN)</vt:lpstr>
      <vt:lpstr>Prompt Tuning</vt:lpstr>
      <vt:lpstr>Tuning Approaches</vt:lpstr>
      <vt:lpstr>Different Training Strategies</vt:lpstr>
      <vt:lpstr>Adapting LLMs for Cyber Security</vt:lpstr>
      <vt:lpstr>LLM Product Lifecycle</vt:lpstr>
      <vt:lpstr>PowerPoint Presentation</vt:lpstr>
      <vt:lpstr>Project Lifecycle</vt:lpstr>
      <vt:lpstr>PowerPoint Presentation</vt:lpstr>
      <vt:lpstr>Flashpoint Integration</vt:lpstr>
      <vt:lpstr>Cyber Security Use Cases leveraging Flashpoint Ignite</vt:lpstr>
      <vt:lpstr>Finetuning And Integration Strategy</vt:lpstr>
      <vt:lpstr>LLM Model&amp; Context Integration &amp; Compute Requirements</vt:lpstr>
      <vt:lpstr>Athena Software Group</vt:lpstr>
      <vt:lpstr>Athena Software Group Inc.</vt:lpstr>
      <vt:lpstr>Glaukopis (γλαυκῶπις) the “grey eyed one”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Peter Worth</dc:creator>
  <cp:lastModifiedBy>Peter Worth</cp:lastModifiedBy>
  <cp:revision>80</cp:revision>
  <dcterms:created xsi:type="dcterms:W3CDTF">2025-02-21T13:12:15Z</dcterms:created>
  <dcterms:modified xsi:type="dcterms:W3CDTF">2025-04-28T05:49:59Z</dcterms:modified>
</cp:coreProperties>
</file>