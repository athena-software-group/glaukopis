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44"/>
  </p:notesMasterIdLst>
  <p:handoutMasterIdLst>
    <p:handoutMasterId r:id="rId45"/>
  </p:handoutMasterIdLst>
  <p:sldIdLst>
    <p:sldId id="256" r:id="rId2"/>
    <p:sldId id="532" r:id="rId3"/>
    <p:sldId id="512" r:id="rId4"/>
    <p:sldId id="288" r:id="rId5"/>
    <p:sldId id="514" r:id="rId6"/>
    <p:sldId id="260" r:id="rId7"/>
    <p:sldId id="517" r:id="rId8"/>
    <p:sldId id="259" r:id="rId9"/>
    <p:sldId id="528" r:id="rId10"/>
    <p:sldId id="332" r:id="rId11"/>
    <p:sldId id="518" r:id="rId12"/>
    <p:sldId id="291" r:id="rId13"/>
    <p:sldId id="529" r:id="rId14"/>
    <p:sldId id="305" r:id="rId15"/>
    <p:sldId id="310" r:id="rId16"/>
    <p:sldId id="308" r:id="rId17"/>
    <p:sldId id="339" r:id="rId18"/>
    <p:sldId id="506" r:id="rId19"/>
    <p:sldId id="531" r:id="rId20"/>
    <p:sldId id="360" r:id="rId21"/>
    <p:sldId id="277" r:id="rId22"/>
    <p:sldId id="530" r:id="rId23"/>
    <p:sldId id="317" r:id="rId24"/>
    <p:sldId id="299" r:id="rId25"/>
    <p:sldId id="366" r:id="rId26"/>
    <p:sldId id="367" r:id="rId27"/>
    <p:sldId id="364" r:id="rId28"/>
    <p:sldId id="534" r:id="rId29"/>
    <p:sldId id="535" r:id="rId30"/>
    <p:sldId id="270" r:id="rId31"/>
    <p:sldId id="268" r:id="rId32"/>
    <p:sldId id="271" r:id="rId33"/>
    <p:sldId id="281" r:id="rId34"/>
    <p:sldId id="282" r:id="rId35"/>
    <p:sldId id="283" r:id="rId36"/>
    <p:sldId id="284" r:id="rId37"/>
    <p:sldId id="285" r:id="rId38"/>
    <p:sldId id="287" r:id="rId39"/>
    <p:sldId id="536" r:id="rId40"/>
    <p:sldId id="289" r:id="rId41"/>
    <p:sldId id="520"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C09936-B9DD-1741-BD59-CD77E0F6213E}">
          <p14:sldIdLst>
            <p14:sldId id="256"/>
            <p14:sldId id="532"/>
            <p14:sldId id="512"/>
            <p14:sldId id="288"/>
            <p14:sldId id="514"/>
            <p14:sldId id="260"/>
            <p14:sldId id="517"/>
            <p14:sldId id="259"/>
            <p14:sldId id="528"/>
            <p14:sldId id="332"/>
            <p14:sldId id="518"/>
            <p14:sldId id="291"/>
          </p14:sldIdLst>
        </p14:section>
        <p14:section name="Athena-CTI-LLM Design" id="{64A7240C-4846-1542-A48D-2ABAD5A888B8}">
          <p14:sldIdLst>
            <p14:sldId id="529"/>
            <p14:sldId id="305"/>
            <p14:sldId id="310"/>
            <p14:sldId id="308"/>
            <p14:sldId id="339"/>
            <p14:sldId id="506"/>
            <p14:sldId id="531"/>
            <p14:sldId id="360"/>
            <p14:sldId id="277"/>
            <p14:sldId id="530"/>
          </p14:sldIdLst>
        </p14:section>
        <p14:section name="LLM Testing and Lifecycle Management" id="{CD741BDB-3A0C-5544-8E6D-157B57AFB996}">
          <p14:sldIdLst>
            <p14:sldId id="317"/>
            <p14:sldId id="299"/>
            <p14:sldId id="366"/>
            <p14:sldId id="367"/>
            <p14:sldId id="364"/>
            <p14:sldId id="534"/>
            <p14:sldId id="535"/>
            <p14:sldId id="270"/>
            <p14:sldId id="268"/>
            <p14:sldId id="271"/>
            <p14:sldId id="281"/>
            <p14:sldId id="282"/>
            <p14:sldId id="283"/>
            <p14:sldId id="284"/>
            <p14:sldId id="285"/>
            <p14:sldId id="287"/>
            <p14:sldId id="536"/>
            <p14:sldId id="289"/>
          </p14:sldIdLst>
        </p14:section>
        <p14:section name="Summary" id="{420E750F-CE44-B842-81C7-69DE9F0F5EEB}">
          <p14:sldIdLst>
            <p14:sldId id="520"/>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CEF2C7-6C1F-1C4F-BA0B-44F9681D24E8}" v="1" dt="2025-10-29T12:11:24.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1"/>
    <p:restoredTop sz="94626"/>
  </p:normalViewPr>
  <p:slideViewPr>
    <p:cSldViewPr snapToGrid="0">
      <p:cViewPr varScale="1">
        <p:scale>
          <a:sx n="121" d="100"/>
          <a:sy n="121" d="100"/>
        </p:scale>
        <p:origin x="848" y="16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Worth Jr" userId="36bd9be7-63e8-49ff-9300-4baccca301a5" providerId="ADAL" clId="{0C51DF2F-2FE9-5A53-A9D9-CFB3F6DC8401}"/>
    <pc:docChg chg="custSel addSld modSld">
      <pc:chgData name="Peter Worth Jr" userId="36bd9be7-63e8-49ff-9300-4baccca301a5" providerId="ADAL" clId="{0C51DF2F-2FE9-5A53-A9D9-CFB3F6DC8401}" dt="2025-10-29T12:11:25.016" v="12" actId="27636"/>
      <pc:docMkLst>
        <pc:docMk/>
      </pc:docMkLst>
      <pc:sldChg chg="delSp add setBg delDesignElem">
        <pc:chgData name="Peter Worth Jr" userId="36bd9be7-63e8-49ff-9300-4baccca301a5" providerId="ADAL" clId="{0C51DF2F-2FE9-5A53-A9D9-CFB3F6DC8401}" dt="2025-10-29T12:11:24.885" v="10"/>
        <pc:sldMkLst>
          <pc:docMk/>
          <pc:sldMk cId="2297681225" sldId="268"/>
        </pc:sldMkLst>
        <pc:spChg chg="del">
          <ac:chgData name="Peter Worth Jr" userId="36bd9be7-63e8-49ff-9300-4baccca301a5" providerId="ADAL" clId="{0C51DF2F-2FE9-5A53-A9D9-CFB3F6DC8401}" dt="2025-10-29T12:11:24.885" v="10"/>
          <ac:spMkLst>
            <pc:docMk/>
            <pc:sldMk cId="2297681225" sldId="268"/>
            <ac:spMk id="9" creationId="{F3060C83-F051-4F0E-ABAD-AA0DFC48B218}"/>
          </ac:spMkLst>
        </pc:spChg>
        <pc:spChg chg="del">
          <ac:chgData name="Peter Worth Jr" userId="36bd9be7-63e8-49ff-9300-4baccca301a5" providerId="ADAL" clId="{0C51DF2F-2FE9-5A53-A9D9-CFB3F6DC8401}" dt="2025-10-29T12:11:24.885" v="10"/>
          <ac:spMkLst>
            <pc:docMk/>
            <pc:sldMk cId="2297681225" sldId="268"/>
            <ac:spMk id="11" creationId="{83C98ABE-055B-441F-B07E-44F97F083C39}"/>
          </ac:spMkLst>
        </pc:spChg>
        <pc:spChg chg="del">
          <ac:chgData name="Peter Worth Jr" userId="36bd9be7-63e8-49ff-9300-4baccca301a5" providerId="ADAL" clId="{0C51DF2F-2FE9-5A53-A9D9-CFB3F6DC8401}" dt="2025-10-29T12:11:24.885" v="10"/>
          <ac:spMkLst>
            <pc:docMk/>
            <pc:sldMk cId="2297681225" sldId="268"/>
            <ac:spMk id="13" creationId="{29FDB030-9B49-4CED-8CCD-4D99382388AC}"/>
          </ac:spMkLst>
        </pc:spChg>
        <pc:spChg chg="del">
          <ac:chgData name="Peter Worth Jr" userId="36bd9be7-63e8-49ff-9300-4baccca301a5" providerId="ADAL" clId="{0C51DF2F-2FE9-5A53-A9D9-CFB3F6DC8401}" dt="2025-10-29T12:11:24.885" v="10"/>
          <ac:spMkLst>
            <pc:docMk/>
            <pc:sldMk cId="2297681225" sldId="268"/>
            <ac:spMk id="15" creationId="{3783CA14-24A1-485C-8B30-D6A5D87987AD}"/>
          </ac:spMkLst>
        </pc:spChg>
        <pc:spChg chg="del">
          <ac:chgData name="Peter Worth Jr" userId="36bd9be7-63e8-49ff-9300-4baccca301a5" providerId="ADAL" clId="{0C51DF2F-2FE9-5A53-A9D9-CFB3F6DC8401}" dt="2025-10-29T12:11:24.885" v="10"/>
          <ac:spMkLst>
            <pc:docMk/>
            <pc:sldMk cId="2297681225" sldId="268"/>
            <ac:spMk id="17" creationId="{9A97C86A-04D6-40F7-AE84-31AB43E6A846}"/>
          </ac:spMkLst>
        </pc:spChg>
        <pc:spChg chg="del">
          <ac:chgData name="Peter Worth Jr" userId="36bd9be7-63e8-49ff-9300-4baccca301a5" providerId="ADAL" clId="{0C51DF2F-2FE9-5A53-A9D9-CFB3F6DC8401}" dt="2025-10-29T12:11:24.885" v="10"/>
          <ac:spMkLst>
            <pc:docMk/>
            <pc:sldMk cId="2297681225" sldId="268"/>
            <ac:spMk id="19" creationId="{FF9F2414-84E8-453E-B1F3-389FDE8192D9}"/>
          </ac:spMkLst>
        </pc:spChg>
        <pc:spChg chg="del">
          <ac:chgData name="Peter Worth Jr" userId="36bd9be7-63e8-49ff-9300-4baccca301a5" providerId="ADAL" clId="{0C51DF2F-2FE9-5A53-A9D9-CFB3F6DC8401}" dt="2025-10-29T12:11:24.885" v="10"/>
          <ac:spMkLst>
            <pc:docMk/>
            <pc:sldMk cId="2297681225" sldId="268"/>
            <ac:spMk id="21" creationId="{3ECA69A1-7536-43AC-85EF-C7106179F5ED}"/>
          </ac:spMkLst>
        </pc:spChg>
      </pc:sldChg>
      <pc:sldChg chg="delSp modSp add mod setBg delDesignElem">
        <pc:chgData name="Peter Worth Jr" userId="36bd9be7-63e8-49ff-9300-4baccca301a5" providerId="ADAL" clId="{0C51DF2F-2FE9-5A53-A9D9-CFB3F6DC8401}" dt="2025-10-29T12:11:25.016" v="12" actId="27636"/>
        <pc:sldMkLst>
          <pc:docMk/>
          <pc:sldMk cId="3693146036" sldId="270"/>
        </pc:sldMkLst>
        <pc:spChg chg="mod">
          <ac:chgData name="Peter Worth Jr" userId="36bd9be7-63e8-49ff-9300-4baccca301a5" providerId="ADAL" clId="{0C51DF2F-2FE9-5A53-A9D9-CFB3F6DC8401}" dt="2025-10-29T12:11:25.016" v="12" actId="27636"/>
          <ac:spMkLst>
            <pc:docMk/>
            <pc:sldMk cId="3693146036" sldId="270"/>
            <ac:spMk id="4" creationId="{29823CC8-5AEF-CB06-10F6-F7F33C0C6F6D}"/>
          </ac:spMkLst>
        </pc:spChg>
        <pc:spChg chg="del">
          <ac:chgData name="Peter Worth Jr" userId="36bd9be7-63e8-49ff-9300-4baccca301a5" providerId="ADAL" clId="{0C51DF2F-2FE9-5A53-A9D9-CFB3F6DC8401}" dt="2025-10-29T12:11:24.885" v="10"/>
          <ac:spMkLst>
            <pc:docMk/>
            <pc:sldMk cId="3693146036" sldId="270"/>
            <ac:spMk id="31" creationId="{DBF61EA3-B236-439E-9C0B-340980D56BEE}"/>
          </ac:spMkLst>
        </pc:spChg>
        <pc:spChg chg="del">
          <ac:chgData name="Peter Worth Jr" userId="36bd9be7-63e8-49ff-9300-4baccca301a5" providerId="ADAL" clId="{0C51DF2F-2FE9-5A53-A9D9-CFB3F6DC8401}" dt="2025-10-29T12:11:24.885" v="10"/>
          <ac:spMkLst>
            <pc:docMk/>
            <pc:sldMk cId="3693146036" sldId="270"/>
            <ac:spMk id="34" creationId="{E659831F-0D9A-4C63-9EBB-8435B85A440F}"/>
          </ac:spMkLst>
        </pc:spChg>
        <pc:grpChg chg="del">
          <ac:chgData name="Peter Worth Jr" userId="36bd9be7-63e8-49ff-9300-4baccca301a5" providerId="ADAL" clId="{0C51DF2F-2FE9-5A53-A9D9-CFB3F6DC8401}" dt="2025-10-29T12:11:24.885" v="10"/>
          <ac:grpSpMkLst>
            <pc:docMk/>
            <pc:sldMk cId="3693146036" sldId="270"/>
            <ac:grpSpMk id="32" creationId="{28FAF094-D087-493F-8DF9-A486C2D6BBAA}"/>
          </ac:grpSpMkLst>
        </pc:grpChg>
      </pc:sldChg>
      <pc:sldChg chg="add">
        <pc:chgData name="Peter Worth Jr" userId="36bd9be7-63e8-49ff-9300-4baccca301a5" providerId="ADAL" clId="{0C51DF2F-2FE9-5A53-A9D9-CFB3F6DC8401}" dt="2025-10-29T12:11:24.885" v="10"/>
        <pc:sldMkLst>
          <pc:docMk/>
          <pc:sldMk cId="64224685" sldId="271"/>
        </pc:sldMkLst>
      </pc:sldChg>
      <pc:sldChg chg="delSp add setBg delDesignElem">
        <pc:chgData name="Peter Worth Jr" userId="36bd9be7-63e8-49ff-9300-4baccca301a5" providerId="ADAL" clId="{0C51DF2F-2FE9-5A53-A9D9-CFB3F6DC8401}" dt="2025-10-29T12:11:24.885" v="10"/>
        <pc:sldMkLst>
          <pc:docMk/>
          <pc:sldMk cId="399984206" sldId="281"/>
        </pc:sldMkLst>
        <pc:spChg chg="del">
          <ac:chgData name="Peter Worth Jr" userId="36bd9be7-63e8-49ff-9300-4baccca301a5" providerId="ADAL" clId="{0C51DF2F-2FE9-5A53-A9D9-CFB3F6DC8401}" dt="2025-10-29T12:11:24.885" v="10"/>
          <ac:spMkLst>
            <pc:docMk/>
            <pc:sldMk cId="399984206" sldId="281"/>
            <ac:spMk id="34" creationId="{2B97F24A-32CE-4C1C-A50D-3016B394DCFB}"/>
          </ac:spMkLst>
        </pc:spChg>
        <pc:spChg chg="del">
          <ac:chgData name="Peter Worth Jr" userId="36bd9be7-63e8-49ff-9300-4baccca301a5" providerId="ADAL" clId="{0C51DF2F-2FE9-5A53-A9D9-CFB3F6DC8401}" dt="2025-10-29T12:11:24.885" v="10"/>
          <ac:spMkLst>
            <pc:docMk/>
            <pc:sldMk cId="399984206" sldId="281"/>
            <ac:spMk id="36" creationId="{6357EC4F-235E-4222-A36F-C7878ACE37F2}"/>
          </ac:spMkLst>
        </pc:spChg>
      </pc:sldChg>
      <pc:sldChg chg="delSp add setBg delDesignElem">
        <pc:chgData name="Peter Worth Jr" userId="36bd9be7-63e8-49ff-9300-4baccca301a5" providerId="ADAL" clId="{0C51DF2F-2FE9-5A53-A9D9-CFB3F6DC8401}" dt="2025-10-29T12:11:24.885" v="10"/>
        <pc:sldMkLst>
          <pc:docMk/>
          <pc:sldMk cId="2830842008" sldId="282"/>
        </pc:sldMkLst>
        <pc:spChg chg="del">
          <ac:chgData name="Peter Worth Jr" userId="36bd9be7-63e8-49ff-9300-4baccca301a5" providerId="ADAL" clId="{0C51DF2F-2FE9-5A53-A9D9-CFB3F6DC8401}" dt="2025-10-29T12:11:24.885" v="10"/>
          <ac:spMkLst>
            <pc:docMk/>
            <pc:sldMk cId="2830842008" sldId="282"/>
            <ac:spMk id="21" creationId="{743AA782-23D1-4521-8CAD-47662984AA08}"/>
          </ac:spMkLst>
        </pc:spChg>
        <pc:spChg chg="del">
          <ac:chgData name="Peter Worth Jr" userId="36bd9be7-63e8-49ff-9300-4baccca301a5" providerId="ADAL" clId="{0C51DF2F-2FE9-5A53-A9D9-CFB3F6DC8401}" dt="2025-10-29T12:11:24.885" v="10"/>
          <ac:spMkLst>
            <pc:docMk/>
            <pc:sldMk cId="2830842008" sldId="282"/>
            <ac:spMk id="22" creationId="{650D18FE-0824-4A46-B22C-A86B52E5780A}"/>
          </ac:spMkLst>
        </pc:spChg>
      </pc:sldChg>
      <pc:sldChg chg="delSp add setBg delDesignElem">
        <pc:chgData name="Peter Worth Jr" userId="36bd9be7-63e8-49ff-9300-4baccca301a5" providerId="ADAL" clId="{0C51DF2F-2FE9-5A53-A9D9-CFB3F6DC8401}" dt="2025-10-29T12:11:24.885" v="10"/>
        <pc:sldMkLst>
          <pc:docMk/>
          <pc:sldMk cId="1318554253" sldId="283"/>
        </pc:sldMkLst>
        <pc:spChg chg="del">
          <ac:chgData name="Peter Worth Jr" userId="36bd9be7-63e8-49ff-9300-4baccca301a5" providerId="ADAL" clId="{0C51DF2F-2FE9-5A53-A9D9-CFB3F6DC8401}" dt="2025-10-29T12:11:24.885" v="10"/>
          <ac:spMkLst>
            <pc:docMk/>
            <pc:sldMk cId="1318554253" sldId="283"/>
            <ac:spMk id="24" creationId="{2B97F24A-32CE-4C1C-A50D-3016B394DCFB}"/>
          </ac:spMkLst>
        </pc:spChg>
        <pc:spChg chg="del">
          <ac:chgData name="Peter Worth Jr" userId="36bd9be7-63e8-49ff-9300-4baccca301a5" providerId="ADAL" clId="{0C51DF2F-2FE9-5A53-A9D9-CFB3F6DC8401}" dt="2025-10-29T12:11:24.885" v="10"/>
          <ac:spMkLst>
            <pc:docMk/>
            <pc:sldMk cId="1318554253" sldId="283"/>
            <ac:spMk id="26" creationId="{6357EC4F-235E-4222-A36F-C7878ACE37F2}"/>
          </ac:spMkLst>
        </pc:spChg>
      </pc:sldChg>
      <pc:sldChg chg="delSp modSp add mod setBg delDesignElem">
        <pc:chgData name="Peter Worth Jr" userId="36bd9be7-63e8-49ff-9300-4baccca301a5" providerId="ADAL" clId="{0C51DF2F-2FE9-5A53-A9D9-CFB3F6DC8401}" dt="2025-10-29T12:11:24.993" v="11" actId="27636"/>
        <pc:sldMkLst>
          <pc:docMk/>
          <pc:sldMk cId="462279766" sldId="284"/>
        </pc:sldMkLst>
        <pc:spChg chg="mod">
          <ac:chgData name="Peter Worth Jr" userId="36bd9be7-63e8-49ff-9300-4baccca301a5" providerId="ADAL" clId="{0C51DF2F-2FE9-5A53-A9D9-CFB3F6DC8401}" dt="2025-10-29T12:11:24.993" v="11" actId="27636"/>
          <ac:spMkLst>
            <pc:docMk/>
            <pc:sldMk cId="462279766" sldId="284"/>
            <ac:spMk id="5" creationId="{1ED2312E-FF98-8505-AD4A-EEAAF3D48F90}"/>
          </ac:spMkLst>
        </pc:spChg>
        <pc:spChg chg="del">
          <ac:chgData name="Peter Worth Jr" userId="36bd9be7-63e8-49ff-9300-4baccca301a5" providerId="ADAL" clId="{0C51DF2F-2FE9-5A53-A9D9-CFB3F6DC8401}" dt="2025-10-29T12:11:24.885" v="10"/>
          <ac:spMkLst>
            <pc:docMk/>
            <pc:sldMk cId="462279766" sldId="284"/>
            <ac:spMk id="17" creationId="{2B97F24A-32CE-4C1C-A50D-3016B394DCFB}"/>
          </ac:spMkLst>
        </pc:spChg>
        <pc:spChg chg="del">
          <ac:chgData name="Peter Worth Jr" userId="36bd9be7-63e8-49ff-9300-4baccca301a5" providerId="ADAL" clId="{0C51DF2F-2FE9-5A53-A9D9-CFB3F6DC8401}" dt="2025-10-29T12:11:24.885" v="10"/>
          <ac:spMkLst>
            <pc:docMk/>
            <pc:sldMk cId="462279766" sldId="284"/>
            <ac:spMk id="19" creationId="{6357EC4F-235E-4222-A36F-C7878ACE37F2}"/>
          </ac:spMkLst>
        </pc:spChg>
      </pc:sldChg>
      <pc:sldChg chg="delSp add setBg delDesignElem">
        <pc:chgData name="Peter Worth Jr" userId="36bd9be7-63e8-49ff-9300-4baccca301a5" providerId="ADAL" clId="{0C51DF2F-2FE9-5A53-A9D9-CFB3F6DC8401}" dt="2025-10-29T12:11:24.885" v="10"/>
        <pc:sldMkLst>
          <pc:docMk/>
          <pc:sldMk cId="3333009503" sldId="285"/>
        </pc:sldMkLst>
        <pc:spChg chg="del">
          <ac:chgData name="Peter Worth Jr" userId="36bd9be7-63e8-49ff-9300-4baccca301a5" providerId="ADAL" clId="{0C51DF2F-2FE9-5A53-A9D9-CFB3F6DC8401}" dt="2025-10-29T12:11:24.885" v="10"/>
          <ac:spMkLst>
            <pc:docMk/>
            <pc:sldMk cId="3333009503" sldId="285"/>
            <ac:spMk id="17" creationId="{743AA782-23D1-4521-8CAD-47662984AA08}"/>
          </ac:spMkLst>
        </pc:spChg>
        <pc:spChg chg="del">
          <ac:chgData name="Peter Worth Jr" userId="36bd9be7-63e8-49ff-9300-4baccca301a5" providerId="ADAL" clId="{0C51DF2F-2FE9-5A53-A9D9-CFB3F6DC8401}" dt="2025-10-29T12:11:24.885" v="10"/>
          <ac:spMkLst>
            <pc:docMk/>
            <pc:sldMk cId="3333009503" sldId="285"/>
            <ac:spMk id="19" creationId="{71877DBC-BB60-40F0-AC93-2ACDBAAE60CE}"/>
          </ac:spMkLst>
        </pc:spChg>
      </pc:sldChg>
      <pc:sldChg chg="delSp add setBg delDesignElem">
        <pc:chgData name="Peter Worth Jr" userId="36bd9be7-63e8-49ff-9300-4baccca301a5" providerId="ADAL" clId="{0C51DF2F-2FE9-5A53-A9D9-CFB3F6DC8401}" dt="2025-10-29T12:11:24.885" v="10"/>
        <pc:sldMkLst>
          <pc:docMk/>
          <pc:sldMk cId="3290426144" sldId="287"/>
        </pc:sldMkLst>
        <pc:spChg chg="del">
          <ac:chgData name="Peter Worth Jr" userId="36bd9be7-63e8-49ff-9300-4baccca301a5" providerId="ADAL" clId="{0C51DF2F-2FE9-5A53-A9D9-CFB3F6DC8401}" dt="2025-10-29T12:11:24.885" v="10"/>
          <ac:spMkLst>
            <pc:docMk/>
            <pc:sldMk cId="3290426144" sldId="287"/>
            <ac:spMk id="10" creationId="{A8908DB7-C3A6-4FCB-9820-CEE02B398C4A}"/>
          </ac:spMkLst>
        </pc:spChg>
        <pc:spChg chg="del">
          <ac:chgData name="Peter Worth Jr" userId="36bd9be7-63e8-49ff-9300-4baccca301a5" providerId="ADAL" clId="{0C51DF2F-2FE9-5A53-A9D9-CFB3F6DC8401}" dt="2025-10-29T12:11:24.885" v="10"/>
          <ac:spMkLst>
            <pc:docMk/>
            <pc:sldMk cId="3290426144" sldId="287"/>
            <ac:spMk id="12" creationId="{535742DD-1B16-4E9D-B715-0D74B4574A68}"/>
          </ac:spMkLst>
        </pc:spChg>
      </pc:sldChg>
      <pc:sldChg chg="delSp add setBg delDesignElem">
        <pc:chgData name="Peter Worth Jr" userId="36bd9be7-63e8-49ff-9300-4baccca301a5" providerId="ADAL" clId="{0C51DF2F-2FE9-5A53-A9D9-CFB3F6DC8401}" dt="2025-10-29T12:11:24.885" v="10"/>
        <pc:sldMkLst>
          <pc:docMk/>
          <pc:sldMk cId="1250429663" sldId="289"/>
        </pc:sldMkLst>
        <pc:spChg chg="del">
          <ac:chgData name="Peter Worth Jr" userId="36bd9be7-63e8-49ff-9300-4baccca301a5" providerId="ADAL" clId="{0C51DF2F-2FE9-5A53-A9D9-CFB3F6DC8401}" dt="2025-10-29T12:11:24.885" v="10"/>
          <ac:spMkLst>
            <pc:docMk/>
            <pc:sldMk cId="1250429663" sldId="289"/>
            <ac:spMk id="11" creationId="{777A147A-9ED8-46B4-8660-1B3C2AA880B5}"/>
          </ac:spMkLst>
        </pc:spChg>
        <pc:spChg chg="del">
          <ac:chgData name="Peter Worth Jr" userId="36bd9be7-63e8-49ff-9300-4baccca301a5" providerId="ADAL" clId="{0C51DF2F-2FE9-5A53-A9D9-CFB3F6DC8401}" dt="2025-10-29T12:11:24.885" v="10"/>
          <ac:spMkLst>
            <pc:docMk/>
            <pc:sldMk cId="1250429663" sldId="289"/>
            <ac:spMk id="13" creationId="{5D6C15A0-C087-4593-8414-2B4EC1CDC3DE}"/>
          </ac:spMkLst>
        </pc:spChg>
      </pc:sldChg>
      <pc:sldChg chg="delSp add setBg delDesignElem">
        <pc:chgData name="Peter Worth Jr" userId="36bd9be7-63e8-49ff-9300-4baccca301a5" providerId="ADAL" clId="{0C51DF2F-2FE9-5A53-A9D9-CFB3F6DC8401}" dt="2025-10-29T12:11:24.885" v="10"/>
        <pc:sldMkLst>
          <pc:docMk/>
          <pc:sldMk cId="34809845" sldId="536"/>
        </pc:sldMkLst>
        <pc:spChg chg="del">
          <ac:chgData name="Peter Worth Jr" userId="36bd9be7-63e8-49ff-9300-4baccca301a5" providerId="ADAL" clId="{0C51DF2F-2FE9-5A53-A9D9-CFB3F6DC8401}" dt="2025-10-29T12:11:24.885" v="10"/>
          <ac:spMkLst>
            <pc:docMk/>
            <pc:sldMk cId="34809845" sldId="536"/>
            <ac:spMk id="28" creationId="{E659831F-0D9A-4C63-9EBB-8435B85A440F}"/>
          </ac:spMkLst>
        </pc:spChg>
        <pc:spChg chg="del">
          <ac:chgData name="Peter Worth Jr" userId="36bd9be7-63e8-49ff-9300-4baccca301a5" providerId="ADAL" clId="{0C51DF2F-2FE9-5A53-A9D9-CFB3F6DC8401}" dt="2025-10-29T12:11:24.885" v="10"/>
          <ac:spMkLst>
            <pc:docMk/>
            <pc:sldMk cId="34809845" sldId="536"/>
            <ac:spMk id="29" creationId="{058A14AF-9FB5-4CC7-BA35-E8E85D3EDF0E}"/>
          </ac:spMkLst>
        </pc:spChg>
        <pc:spChg chg="del">
          <ac:chgData name="Peter Worth Jr" userId="36bd9be7-63e8-49ff-9300-4baccca301a5" providerId="ADAL" clId="{0C51DF2F-2FE9-5A53-A9D9-CFB3F6DC8401}" dt="2025-10-29T12:11:24.885" v="10"/>
          <ac:spMkLst>
            <pc:docMk/>
            <pc:sldMk cId="34809845" sldId="536"/>
            <ac:spMk id="30" creationId="{E6995CE5-F890-4ABA-82A2-26507CE8D2A3}"/>
          </ac:spMkLst>
        </pc:spChg>
        <pc:spChg chg="del">
          <ac:chgData name="Peter Worth Jr" userId="36bd9be7-63e8-49ff-9300-4baccca301a5" providerId="ADAL" clId="{0C51DF2F-2FE9-5A53-A9D9-CFB3F6DC8401}" dt="2025-10-29T12:11:24.885" v="10"/>
          <ac:spMkLst>
            <pc:docMk/>
            <pc:sldMk cId="34809845" sldId="536"/>
            <ac:spMk id="31" creationId="{3A9A4357-BD1D-4622-A4FE-766E6AB8DE8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10/29/25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10/29/25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639757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359640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92372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52596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0207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199403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66AB-72B5-E2D5-EA1E-09E38A2EE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9FF38-3DB1-5234-F578-36A197F928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7E72FB-010B-368E-121A-A08B5FF9E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9E405-C778-1998-7749-12911EC0CF1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28293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20</a:t>
            </a:fld>
            <a:endParaRPr lang="en-US" dirty="0"/>
          </a:p>
        </p:txBody>
      </p:sp>
    </p:spTree>
    <p:extLst>
      <p:ext uri="{BB962C8B-B14F-4D97-AF65-F5344CB8AC3E}">
        <p14:creationId xmlns:p14="http://schemas.microsoft.com/office/powerpoint/2010/main" val="173010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4B03E-6095-02D4-67F3-30C7D84D2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A3DD3-915D-6BD2-EEF8-FCD8212C11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20F31F-B564-4F13-A5AA-0999CABEF1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A9F613-F527-E582-E5B2-E8543A1F89E7}"/>
              </a:ext>
            </a:extLst>
          </p:cNvPr>
          <p:cNvSpPr>
            <a:spLocks noGrp="1"/>
          </p:cNvSpPr>
          <p:nvPr>
            <p:ph type="sldNum" sz="quarter" idx="5"/>
          </p:nvPr>
        </p:nvSpPr>
        <p:spPr/>
        <p:txBody>
          <a:bodyPr/>
          <a:lstStyle/>
          <a:p>
            <a:fld id="{F3544625-0ADF-4414-89A2-9E135F0C849F}" type="slidenum">
              <a:rPr lang="en-US" smtClean="0"/>
              <a:t>21</a:t>
            </a:fld>
            <a:endParaRPr lang="en-US" dirty="0"/>
          </a:p>
        </p:txBody>
      </p:sp>
    </p:spTree>
    <p:extLst>
      <p:ext uri="{BB962C8B-B14F-4D97-AF65-F5344CB8AC3E}">
        <p14:creationId xmlns:p14="http://schemas.microsoft.com/office/powerpoint/2010/main" val="1706495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63744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40307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96273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20491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78012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70171-6302-FE7C-C562-224D999C4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85DF4-168F-669B-6F80-96EA65ACA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1CA3B-FCB5-74DA-2E15-5F9754B5B86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74714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35D5-F17E-E6FA-3D3C-6052C9F25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24BF6-B30A-15B3-FE29-07ABC003B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D0480-9FB9-A133-6D60-103EB1531D7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06113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BD6AF-CFD6-365D-AF5C-72F9316BE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171DC-EDFE-7DA2-521A-CEBD6D633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F8788-9E6C-B9B6-0505-D0EDB1C7A2C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3292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1685A-9432-2294-F1ED-43F57F42B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3CAA8-9E74-578E-6699-FEAC7850D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C2531-1190-B9F9-4846-84262252F79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02180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82394-381F-CC2E-19F5-D215EACD8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FF510-71FC-EA75-5E23-71284169B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7D3F7-4B35-DFAC-74C8-CCE5AA59E24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96288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72363-0AE8-7F08-F1AD-915DF68DA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82F4F-D849-6CD6-843B-672BB5491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A299D-344F-1D68-BB69-96ADF5184A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37367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8A8AA-4AB7-E963-1C0B-A2DB4F545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80492-5305-34A9-40B4-A5C93080E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F64F2-6E8A-9E2B-2DBB-A7FC9C1A7B3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76447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42</a:t>
            </a:fld>
            <a:endParaRPr lang="en-US"/>
          </a:p>
        </p:txBody>
      </p:sp>
    </p:spTree>
    <p:extLst>
      <p:ext uri="{BB962C8B-B14F-4D97-AF65-F5344CB8AC3E}">
        <p14:creationId xmlns:p14="http://schemas.microsoft.com/office/powerpoint/2010/main" val="4208274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2DB"/>
          </a:solidFill>
          <a:ln/>
        </p:spPr>
        <p:txBody>
          <a:bodyPr/>
          <a:lstStyle/>
          <a:p>
            <a:endParaRPr lang="en-US" sz="1500"/>
          </a:p>
        </p:txBody>
      </p:sp>
      <p:sp>
        <p:nvSpPr>
          <p:cNvPr id="3" name="Shape 1"/>
          <p:cNvSpPr/>
          <p:nvPr/>
        </p:nvSpPr>
        <p:spPr>
          <a:xfrm>
            <a:off x="0" y="0"/>
            <a:ext cx="12192000" cy="6858000"/>
          </a:xfrm>
          <a:prstGeom prst="rect">
            <a:avLst/>
          </a:prstGeom>
          <a:solidFill>
            <a:srgbClr val="F9F8F5"/>
          </a:solidFill>
          <a:ln/>
        </p:spPr>
        <p:txBody>
          <a:bodyPr/>
          <a:lstStyle/>
          <a:p>
            <a:endParaRPr lang="en-US" sz="1500"/>
          </a:p>
        </p:txBody>
      </p:sp>
    </p:spTree>
    <p:extLst>
      <p:ext uri="{BB962C8B-B14F-4D97-AF65-F5344CB8AC3E}">
        <p14:creationId xmlns:p14="http://schemas.microsoft.com/office/powerpoint/2010/main" val="3140976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txBody>
          <a:bodyPr/>
          <a:lstStyle/>
          <a:p>
            <a:endParaRPr lang="en-US"/>
          </a:p>
        </p:txBody>
      </p:sp>
    </p:spTree>
    <p:extLst>
      <p:ext uri="{BB962C8B-B14F-4D97-AF65-F5344CB8AC3E}">
        <p14:creationId xmlns:p14="http://schemas.microsoft.com/office/powerpoint/2010/main" val="1323533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2DB"/>
          </a:solidFill>
          <a:ln/>
        </p:spPr>
        <p:txBody>
          <a:bodyPr/>
          <a:lstStyle/>
          <a:p>
            <a:endParaRPr lang="en-US" sz="1500"/>
          </a:p>
        </p:txBody>
      </p:sp>
    </p:spTree>
    <p:extLst>
      <p:ext uri="{BB962C8B-B14F-4D97-AF65-F5344CB8AC3E}">
        <p14:creationId xmlns:p14="http://schemas.microsoft.com/office/powerpoint/2010/main" val="770388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txBody>
          <a:bodyPr/>
          <a:lstStyle/>
          <a:p>
            <a:endParaRPr lang="en-US"/>
          </a:p>
        </p:txBody>
      </p:sp>
    </p:spTree>
    <p:extLst>
      <p:ext uri="{BB962C8B-B14F-4D97-AF65-F5344CB8AC3E}">
        <p14:creationId xmlns:p14="http://schemas.microsoft.com/office/powerpoint/2010/main" val="34240399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1_BLANK">
    <p:spTree>
      <p:nvGrpSpPr>
        <p:cNvPr id="1" name="Shape 20"/>
        <p:cNvGrpSpPr/>
        <p:nvPr/>
      </p:nvGrpSpPr>
      <p:grpSpPr>
        <a:xfrm>
          <a:off x="0" y="0"/>
          <a:ext cx="0" cy="0"/>
          <a:chOff x="0" y="0"/>
          <a:chExt cx="0" cy="0"/>
        </a:xfrm>
      </p:grpSpPr>
    </p:spTree>
    <p:extLst>
      <p:ext uri="{BB962C8B-B14F-4D97-AF65-F5344CB8AC3E}">
        <p14:creationId xmlns:p14="http://schemas.microsoft.com/office/powerpoint/2010/main" val="1168126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5"/>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 id="2147483748" r:id="rId19"/>
    <p:sldLayoutId id="2147483754" r:id="rId20"/>
    <p:sldLayoutId id="2147483756" r:id="rId21"/>
    <p:sldLayoutId id="2147483757" r:id="rId22"/>
    <p:sldLayoutId id="2147483758" r:id="rId23"/>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eepchecks.com/training-custom-large-language-models/" TargetMode="External"/><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48258" y="1521423"/>
            <a:ext cx="9395059" cy="2677648"/>
          </a:xfrm>
        </p:spPr>
        <p:txBody>
          <a:bodyPr>
            <a:normAutofit/>
          </a:bodyPr>
          <a:lstStyle/>
          <a:p>
            <a:r>
              <a:rPr lang="en-US" sz="4400" dirty="0">
                <a:solidFill>
                  <a:srgbClr val="FFFFFF"/>
                </a:solidFill>
                <a:latin typeface="+mn-lt"/>
              </a:rPr>
              <a:t>Athena-CTI-LLM Overview</a:t>
            </a:r>
            <a:br>
              <a:rPr lang="en-US" sz="4400" i="1" dirty="0">
                <a:solidFill>
                  <a:srgbClr val="FFFFFF"/>
                </a:solidFill>
                <a:latin typeface="+mn-lt"/>
              </a:rPr>
            </a:br>
            <a:r>
              <a:rPr lang="en-US" sz="2400" i="1" dirty="0">
                <a:solidFill>
                  <a:srgbClr val="FFFFFF"/>
                </a:solidFill>
                <a:latin typeface="+mn-lt"/>
              </a:rPr>
              <a:t>aka Glaukopis</a:t>
            </a:r>
            <a:br>
              <a:rPr lang="en-US" sz="4400" i="1" dirty="0">
                <a:solidFill>
                  <a:srgbClr val="FFFFFF"/>
                </a:solidFill>
              </a:rPr>
            </a:br>
            <a:br>
              <a:rPr lang="en-US" sz="4400" i="1" dirty="0">
                <a:solidFill>
                  <a:srgbClr val="FFFFFF"/>
                </a:solidFill>
              </a:rPr>
            </a:br>
            <a:r>
              <a:rPr lang="en-US" sz="2700" i="1" dirty="0">
                <a:solidFill>
                  <a:srgbClr val="FFFFFF"/>
                </a:solidFill>
              </a:rPr>
              <a:t>Foundational Cyber Threat Intelligence Language Model for the next generation SOC</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248540"/>
            <a:ext cx="4939353" cy="918001"/>
          </a:xfrm>
        </p:spPr>
        <p:txBody>
          <a:bodyPr>
            <a:noAutofit/>
          </a:bodyPr>
          <a:lstStyle/>
          <a:p>
            <a:pPr algn="r"/>
            <a:r>
              <a:rPr lang="en-US" sz="900" i="1" dirty="0">
                <a:solidFill>
                  <a:srgbClr val="FFFFFF"/>
                </a:solidFill>
              </a:rPr>
              <a:t>By Peter J Worth Jr</a:t>
            </a:r>
          </a:p>
          <a:p>
            <a:pPr algn="r"/>
            <a:r>
              <a:rPr lang="en-US" sz="900" i="1" dirty="0">
                <a:solidFill>
                  <a:srgbClr val="FFFFFF"/>
                </a:solidFill>
              </a:rPr>
              <a:t>Founder, President &amp; CEO</a:t>
            </a:r>
          </a:p>
          <a:p>
            <a:pPr algn="r"/>
            <a:r>
              <a:rPr lang="en-US" sz="900" i="1" dirty="0">
                <a:solidFill>
                  <a:srgbClr val="FFFFFF"/>
                </a:solidFill>
              </a:rPr>
              <a:t>Athena Security Group LLC</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2">
            <a:extLst>
              <a:ext uri="{FF2B5EF4-FFF2-40B4-BE49-F238E27FC236}">
                <a16:creationId xmlns:a16="http://schemas.microsoft.com/office/drawing/2014/main" id="{1C0FEFBE-6899-481C-B846-FD4CE84B4D9F}"/>
              </a:ext>
            </a:extLst>
          </p:cNvPr>
          <p:cNvSpPr>
            <a:spLocks noChangeArrowheads="1"/>
          </p:cNvSpPr>
          <p:nvPr/>
        </p:nvSpPr>
        <p:spPr bwMode="auto">
          <a:xfrm>
            <a:off x="1752863" y="2078390"/>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3" name="Straight Connector 72">
            <a:extLst>
              <a:ext uri="{FF2B5EF4-FFF2-40B4-BE49-F238E27FC236}">
                <a16:creationId xmlns:a16="http://schemas.microsoft.com/office/drawing/2014/main" id="{71E328C2-3E31-4B1B-8535-694FF26A7A50}"/>
              </a:ext>
            </a:extLst>
          </p:cNvPr>
          <p:cNvCxnSpPr>
            <a:cxnSpLocks/>
          </p:cNvCxnSpPr>
          <p:nvPr/>
        </p:nvCxnSpPr>
        <p:spPr>
          <a:xfrm flipH="1" flipV="1">
            <a:off x="5008076" y="3932711"/>
            <a:ext cx="1151729" cy="6053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8347E3-D28F-4631-8850-27E0A7D066BC}"/>
              </a:ext>
            </a:extLst>
          </p:cNvPr>
          <p:cNvCxnSpPr>
            <a:cxnSpLocks/>
          </p:cNvCxnSpPr>
          <p:nvPr/>
        </p:nvCxnSpPr>
        <p:spPr>
          <a:xfrm flipV="1">
            <a:off x="4557247" y="1438583"/>
            <a:ext cx="1121790" cy="509048"/>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65561FF-69B4-4280-B496-F8D3509EFB00}"/>
              </a:ext>
            </a:extLst>
          </p:cNvPr>
          <p:cNvCxnSpPr>
            <a:cxnSpLocks/>
          </p:cNvCxnSpPr>
          <p:nvPr/>
        </p:nvCxnSpPr>
        <p:spPr>
          <a:xfrm flipV="1">
            <a:off x="5019160" y="2739483"/>
            <a:ext cx="1140644" cy="3770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7EC7F7-6E85-4074-9607-6CB908406337}"/>
              </a:ext>
            </a:extLst>
          </p:cNvPr>
          <p:cNvCxnSpPr>
            <a:cxnSpLocks/>
          </p:cNvCxnSpPr>
          <p:nvPr/>
        </p:nvCxnSpPr>
        <p:spPr>
          <a:xfrm>
            <a:off x="4557248" y="4785100"/>
            <a:ext cx="1112363" cy="471339"/>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E5291BEF-C843-469D-B463-CCD2D2AA7D42}"/>
              </a:ext>
            </a:extLst>
          </p:cNvPr>
          <p:cNvSpPr/>
          <p:nvPr/>
        </p:nvSpPr>
        <p:spPr>
          <a:xfrm>
            <a:off x="6198612" y="2297482"/>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448D429D-E052-4EAA-8E9E-43E43D48062A}"/>
              </a:ext>
            </a:extLst>
          </p:cNvPr>
          <p:cNvSpPr/>
          <p:nvPr/>
        </p:nvSpPr>
        <p:spPr>
          <a:xfrm>
            <a:off x="5806011" y="2380177"/>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58" name="Rectangle 57">
            <a:extLst>
              <a:ext uri="{FF2B5EF4-FFF2-40B4-BE49-F238E27FC236}">
                <a16:creationId xmlns:a16="http://schemas.microsoft.com/office/drawing/2014/main" id="{98CB7327-E8E0-483E-A1CF-8B6250262002}"/>
              </a:ext>
            </a:extLst>
          </p:cNvPr>
          <p:cNvSpPr/>
          <p:nvPr/>
        </p:nvSpPr>
        <p:spPr>
          <a:xfrm>
            <a:off x="6844364" y="2609078"/>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CTI-LLM Design: Instruction Finetuning</a:t>
            </a:r>
          </a:p>
        </p:txBody>
      </p:sp>
      <p:sp>
        <p:nvSpPr>
          <p:cNvPr id="39" name="Rectangle: Rounded Corners 38">
            <a:extLst>
              <a:ext uri="{FF2B5EF4-FFF2-40B4-BE49-F238E27FC236}">
                <a16:creationId xmlns:a16="http://schemas.microsoft.com/office/drawing/2014/main" id="{CA42E078-31DE-4B00-8572-E7FF75E1B754}"/>
              </a:ext>
            </a:extLst>
          </p:cNvPr>
          <p:cNvSpPr/>
          <p:nvPr/>
        </p:nvSpPr>
        <p:spPr>
          <a:xfrm>
            <a:off x="6196218" y="3573813"/>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E3276214-0485-49E9-959A-71040A595F50}"/>
              </a:ext>
            </a:extLst>
          </p:cNvPr>
          <p:cNvSpPr/>
          <p:nvPr/>
        </p:nvSpPr>
        <p:spPr>
          <a:xfrm>
            <a:off x="5806011" y="3656508"/>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59" name="Rectangle 58">
            <a:extLst>
              <a:ext uri="{FF2B5EF4-FFF2-40B4-BE49-F238E27FC236}">
                <a16:creationId xmlns:a16="http://schemas.microsoft.com/office/drawing/2014/main" id="{795C9383-3BEB-458E-A6E6-DB8FE4FF36F9}"/>
              </a:ext>
            </a:extLst>
          </p:cNvPr>
          <p:cNvSpPr/>
          <p:nvPr/>
        </p:nvSpPr>
        <p:spPr>
          <a:xfrm>
            <a:off x="6865073" y="3885409"/>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Testing &amp; Lifecycle Management</a:t>
            </a:r>
          </a:p>
        </p:txBody>
      </p:sp>
      <p:sp>
        <p:nvSpPr>
          <p:cNvPr id="26" name="Oval 25">
            <a:extLst>
              <a:ext uri="{FF2B5EF4-FFF2-40B4-BE49-F238E27FC236}">
                <a16:creationId xmlns:a16="http://schemas.microsoft.com/office/drawing/2014/main" id="{7658948B-6400-4947-A46E-AE5C146E965E}"/>
              </a:ext>
            </a:extLst>
          </p:cNvPr>
          <p:cNvSpPr/>
          <p:nvPr/>
        </p:nvSpPr>
        <p:spPr>
          <a:xfrm>
            <a:off x="2988810" y="1260963"/>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936375" y="1210455"/>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936375" y="5403264"/>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435A159-032C-4DEA-817C-4AAED3E59DA6}"/>
              </a:ext>
            </a:extLst>
          </p:cNvPr>
          <p:cNvSpPr/>
          <p:nvPr/>
        </p:nvSpPr>
        <p:spPr>
          <a:xfrm>
            <a:off x="4466132" y="4683355"/>
            <a:ext cx="175885" cy="175885"/>
          </a:xfrm>
          <a:prstGeom prst="ellipse">
            <a:avLst/>
          </a:prstGeom>
          <a:solidFill>
            <a:schemeClr val="accent4"/>
          </a:solidFill>
          <a:ln w="5715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0D42A82-9055-4055-9ACC-4186E22809A9}"/>
              </a:ext>
            </a:extLst>
          </p:cNvPr>
          <p:cNvSpPr/>
          <p:nvPr/>
        </p:nvSpPr>
        <p:spPr>
          <a:xfrm>
            <a:off x="4479050" y="1875150"/>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3382DD6-2C32-43C1-B0C7-28A6FCA1793A}"/>
              </a:ext>
            </a:extLst>
          </p:cNvPr>
          <p:cNvSpPr/>
          <p:nvPr/>
        </p:nvSpPr>
        <p:spPr>
          <a:xfrm>
            <a:off x="4933140" y="2702501"/>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1537E82B-2882-48E3-85B7-A21577EA3C55}"/>
              </a:ext>
            </a:extLst>
          </p:cNvPr>
          <p:cNvSpPr/>
          <p:nvPr/>
        </p:nvSpPr>
        <p:spPr>
          <a:xfrm>
            <a:off x="4933140" y="3864564"/>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Rounded Corners 32">
            <a:extLst>
              <a:ext uri="{FF2B5EF4-FFF2-40B4-BE49-F238E27FC236}">
                <a16:creationId xmlns:a16="http://schemas.microsoft.com/office/drawing/2014/main" id="{FDC6F539-FB9B-4A07-B8C4-4EE1AD62329A}"/>
              </a:ext>
            </a:extLst>
          </p:cNvPr>
          <p:cNvSpPr/>
          <p:nvPr/>
        </p:nvSpPr>
        <p:spPr>
          <a:xfrm>
            <a:off x="5694556" y="1021151"/>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195EFC69-61B4-4807-8A33-42C11A5E9B87}"/>
              </a:ext>
            </a:extLst>
          </p:cNvPr>
          <p:cNvSpPr/>
          <p:nvPr/>
        </p:nvSpPr>
        <p:spPr>
          <a:xfrm>
            <a:off x="5323411" y="1103846"/>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56" name="Rectangle 55">
            <a:extLst>
              <a:ext uri="{FF2B5EF4-FFF2-40B4-BE49-F238E27FC236}">
                <a16:creationId xmlns:a16="http://schemas.microsoft.com/office/drawing/2014/main" id="{ACD098C0-1942-4629-ACF1-E55D6E583B78}"/>
              </a:ext>
            </a:extLst>
          </p:cNvPr>
          <p:cNvSpPr/>
          <p:nvPr/>
        </p:nvSpPr>
        <p:spPr>
          <a:xfrm>
            <a:off x="6336364" y="1332747"/>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Introduction: On Athena</a:t>
            </a:r>
          </a:p>
        </p:txBody>
      </p:sp>
      <p:sp>
        <p:nvSpPr>
          <p:cNvPr id="48" name="Rectangle: Rounded Corners 47">
            <a:extLst>
              <a:ext uri="{FF2B5EF4-FFF2-40B4-BE49-F238E27FC236}">
                <a16:creationId xmlns:a16="http://schemas.microsoft.com/office/drawing/2014/main" id="{FE8E0F92-F750-40E7-831D-8D311D7283CA}"/>
              </a:ext>
            </a:extLst>
          </p:cNvPr>
          <p:cNvSpPr/>
          <p:nvPr/>
        </p:nvSpPr>
        <p:spPr>
          <a:xfrm>
            <a:off x="5694556" y="4850145"/>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BB67A40-C33C-4539-865E-F5B5C0900BC0}"/>
              </a:ext>
            </a:extLst>
          </p:cNvPr>
          <p:cNvSpPr/>
          <p:nvPr/>
        </p:nvSpPr>
        <p:spPr>
          <a:xfrm>
            <a:off x="5323411" y="4932840"/>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55" name="Rectangle 54">
            <a:extLst>
              <a:ext uri="{FF2B5EF4-FFF2-40B4-BE49-F238E27FC236}">
                <a16:creationId xmlns:a16="http://schemas.microsoft.com/office/drawing/2014/main" id="{DD6D5CEB-6E8A-4405-BE78-73BAE1C5A2C9}"/>
              </a:ext>
            </a:extLst>
          </p:cNvPr>
          <p:cNvSpPr/>
          <p:nvPr/>
        </p:nvSpPr>
        <p:spPr>
          <a:xfrm>
            <a:off x="6336364" y="5161741"/>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Summary</a:t>
            </a:r>
          </a:p>
        </p:txBody>
      </p:sp>
      <p:sp>
        <p:nvSpPr>
          <p:cNvPr id="2" name="Freeform 5">
            <a:extLst>
              <a:ext uri="{FF2B5EF4-FFF2-40B4-BE49-F238E27FC236}">
                <a16:creationId xmlns:a16="http://schemas.microsoft.com/office/drawing/2014/main" id="{F2A1C647-FB98-4D66-A22F-7F8B6451B132}"/>
              </a:ext>
            </a:extLst>
          </p:cNvPr>
          <p:cNvSpPr>
            <a:spLocks/>
          </p:cNvSpPr>
          <p:nvPr/>
        </p:nvSpPr>
        <p:spPr bwMode="auto">
          <a:xfrm rot="2261061">
            <a:off x="3272370" y="2631640"/>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3" name="Freeform 6">
            <a:extLst>
              <a:ext uri="{FF2B5EF4-FFF2-40B4-BE49-F238E27FC236}">
                <a16:creationId xmlns:a16="http://schemas.microsoft.com/office/drawing/2014/main" id="{9EDF4E97-3872-4B40-B132-75055EB6B7C9}"/>
              </a:ext>
            </a:extLst>
          </p:cNvPr>
          <p:cNvSpPr>
            <a:spLocks/>
          </p:cNvSpPr>
          <p:nvPr/>
        </p:nvSpPr>
        <p:spPr bwMode="auto">
          <a:xfrm rot="2261061">
            <a:off x="2889379" y="3464655"/>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 name="Freeform 7">
            <a:extLst>
              <a:ext uri="{FF2B5EF4-FFF2-40B4-BE49-F238E27FC236}">
                <a16:creationId xmlns:a16="http://schemas.microsoft.com/office/drawing/2014/main" id="{740EB313-064E-4E7C-AD21-AD8FDAD1E228}"/>
              </a:ext>
            </a:extLst>
          </p:cNvPr>
          <p:cNvSpPr>
            <a:spLocks/>
          </p:cNvSpPr>
          <p:nvPr/>
        </p:nvSpPr>
        <p:spPr bwMode="auto">
          <a:xfrm rot="2261061">
            <a:off x="3358259" y="2379951"/>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 name="Freeform 8">
            <a:extLst>
              <a:ext uri="{FF2B5EF4-FFF2-40B4-BE49-F238E27FC236}">
                <a16:creationId xmlns:a16="http://schemas.microsoft.com/office/drawing/2014/main" id="{B2D8AD34-3757-4821-9155-96B73E501570}"/>
              </a:ext>
            </a:extLst>
          </p:cNvPr>
          <p:cNvSpPr>
            <a:spLocks/>
          </p:cNvSpPr>
          <p:nvPr/>
        </p:nvSpPr>
        <p:spPr bwMode="auto">
          <a:xfrm rot="2261061">
            <a:off x="3138186" y="3024850"/>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dirty="0"/>
          </a:p>
        </p:txBody>
      </p:sp>
      <p:sp>
        <p:nvSpPr>
          <p:cNvPr id="15" name="Oval 12">
            <a:extLst>
              <a:ext uri="{FF2B5EF4-FFF2-40B4-BE49-F238E27FC236}">
                <a16:creationId xmlns:a16="http://schemas.microsoft.com/office/drawing/2014/main" id="{99A2100A-62B7-4C3F-8592-7BD46F8C61F2}"/>
              </a:ext>
            </a:extLst>
          </p:cNvPr>
          <p:cNvSpPr>
            <a:spLocks noChangeArrowheads="1"/>
          </p:cNvSpPr>
          <p:nvPr/>
        </p:nvSpPr>
        <p:spPr bwMode="auto">
          <a:xfrm>
            <a:off x="1899196" y="2234798"/>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Athena CTI LLM Overview</a:t>
            </a:r>
          </a:p>
        </p:txBody>
      </p:sp>
    </p:spTree>
    <p:extLst>
      <p:ext uri="{BB962C8B-B14F-4D97-AF65-F5344CB8AC3E}">
        <p14:creationId xmlns:p14="http://schemas.microsoft.com/office/powerpoint/2010/main" val="583875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36C0-3B66-C790-5048-83A3A7A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D5EC0-DF35-F2A6-0FA0-D7254E9B06DA}"/>
              </a:ext>
            </a:extLst>
          </p:cNvPr>
          <p:cNvSpPr>
            <a:spLocks noGrp="1"/>
          </p:cNvSpPr>
          <p:nvPr>
            <p:ph type="title"/>
          </p:nvPr>
        </p:nvSpPr>
        <p:spPr/>
        <p:txBody>
          <a:bodyPr/>
          <a:lstStyle/>
          <a:p>
            <a:r>
              <a:rPr lang="en-US" dirty="0"/>
              <a:t>Athena Security Group</a:t>
            </a:r>
          </a:p>
        </p:txBody>
      </p:sp>
      <p:sp>
        <p:nvSpPr>
          <p:cNvPr id="3" name="Text Placeholder 2">
            <a:extLst>
              <a:ext uri="{FF2B5EF4-FFF2-40B4-BE49-F238E27FC236}">
                <a16:creationId xmlns:a16="http://schemas.microsoft.com/office/drawing/2014/main" id="{2C0A9480-0BED-319A-9F05-E2493ACA24D0}"/>
              </a:ext>
            </a:extLst>
          </p:cNvPr>
          <p:cNvSpPr>
            <a:spLocks noGrp="1"/>
          </p:cNvSpPr>
          <p:nvPr>
            <p:ph type="body" idx="1"/>
          </p:nvPr>
        </p:nvSpPr>
        <p:spPr/>
        <p:txBody>
          <a:bodyPr/>
          <a:lstStyle/>
          <a:p>
            <a:r>
              <a:rPr lang="en-US"/>
              <a:t>Who we are and why we are different</a:t>
            </a:r>
          </a:p>
        </p:txBody>
      </p:sp>
    </p:spTree>
    <p:extLst>
      <p:ext uri="{BB962C8B-B14F-4D97-AF65-F5344CB8AC3E}">
        <p14:creationId xmlns:p14="http://schemas.microsoft.com/office/powerpoint/2010/main" val="2760448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dirty="0"/>
              <a:t>Athena Security Group</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789943" y="474563"/>
            <a:ext cx="6652414" cy="6273478"/>
          </a:xfrm>
        </p:spPr>
        <p:txBody>
          <a:bodyPr vert="horz" lIns="91440" tIns="45720" rIns="91440" bIns="45720" rtlCol="0" anchor="ctr">
            <a:normAutofit/>
          </a:bodyPr>
          <a:lstStyle/>
          <a:p>
            <a:pPr marL="0" indent="0">
              <a:lnSpc>
                <a:spcPct val="90000"/>
              </a:lnSpc>
              <a:buNone/>
            </a:pPr>
            <a:r>
              <a:rPr lang="en-US" sz="16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600" u="none" strike="noStrike" dirty="0">
                <a:solidFill>
                  <a:schemeClr val="tx1"/>
                </a:solidFill>
                <a:effectLst/>
              </a:rPr>
              <a:t>Athena Software Group brings together some of the best minds in computer science, cyber defense and SaaS to design solutions </a:t>
            </a:r>
            <a:r>
              <a:rPr lang="en-US" sz="1600" dirty="0">
                <a:solidFill>
                  <a:schemeClr val="tx1"/>
                </a:solidFill>
              </a:rPr>
              <a:t>specifically </a:t>
            </a:r>
            <a:r>
              <a:rPr lang="en-US" sz="1600" u="none" strike="noStrike" dirty="0">
                <a:solidFill>
                  <a:schemeClr val="tx1"/>
                </a:solidFill>
                <a:effectLst/>
              </a:rPr>
              <a:t>for application service providers. </a:t>
            </a:r>
          </a:p>
          <a:p>
            <a:pPr marL="0" indent="0">
              <a:lnSpc>
                <a:spcPct val="90000"/>
              </a:lnSpc>
              <a:buNone/>
            </a:pPr>
            <a:r>
              <a:rPr lang="en-US" sz="16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600" u="none" strike="noStrike" dirty="0">
                <a:solidFill>
                  <a:schemeClr val="tx1"/>
                </a:solidFill>
                <a:effectLst/>
              </a:rPr>
              <a:t>We intend to set a new bar in Cyber </a:t>
            </a:r>
            <a:r>
              <a:rPr lang="en-US" sz="16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6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2931941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4"/>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333333"/>
              </a:buClr>
              <a:buSzPts val="3750"/>
              <a:buFont typeface="Inter"/>
              <a:buNone/>
            </a:pPr>
            <a:r>
              <a:rPr lang="en-US" sz="3750" b="1" i="0" u="none" strike="noStrike" cap="none">
                <a:solidFill>
                  <a:srgbClr val="333333"/>
                </a:solidFill>
                <a:latin typeface="Inter"/>
                <a:ea typeface="Inter"/>
                <a:cs typeface="Inter"/>
                <a:sym typeface="Inter"/>
              </a:rPr>
              <a:t>The Cybersecurity Challenge</a:t>
            </a:r>
            <a:endParaRPr sz="1800" b="0" i="0" u="none" strike="noStrike" cap="none">
              <a:solidFill>
                <a:schemeClr val="dk1"/>
              </a:solidFill>
              <a:latin typeface="Arial"/>
              <a:ea typeface="Arial"/>
              <a:cs typeface="Arial"/>
              <a:sym typeface="Arial"/>
            </a:endParaRPr>
          </a:p>
        </p:txBody>
      </p:sp>
      <p:sp>
        <p:nvSpPr>
          <p:cNvPr id="26" name="Google Shape;26;p4"/>
          <p:cNvSpPr/>
          <p:nvPr/>
        </p:nvSpPr>
        <p:spPr>
          <a:xfrm>
            <a:off x="476131" y="1595039"/>
            <a:ext cx="714196" cy="714196"/>
          </a:xfrm>
          <a:prstGeom prst="ellipse">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4"/>
          <p:cNvPicPr preferRelativeResize="0"/>
          <p:nvPr/>
        </p:nvPicPr>
        <p:blipFill rotWithShape="1">
          <a:blip r:embed="rId3">
            <a:alphaModFix/>
          </a:blip>
          <a:srcRect/>
          <a:stretch/>
        </p:blipFill>
        <p:spPr>
          <a:xfrm>
            <a:off x="664809" y="1780563"/>
            <a:ext cx="314246" cy="361860"/>
          </a:xfrm>
          <a:prstGeom prst="rect">
            <a:avLst/>
          </a:prstGeom>
          <a:noFill/>
          <a:ln>
            <a:noFill/>
          </a:ln>
        </p:spPr>
      </p:pic>
      <p:sp>
        <p:nvSpPr>
          <p:cNvPr id="28" name="Google Shape;28;p4"/>
          <p:cNvSpPr/>
          <p:nvPr/>
        </p:nvSpPr>
        <p:spPr>
          <a:xfrm>
            <a:off x="1380781" y="1546086"/>
            <a:ext cx="238510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Proliferation of security tools</a:t>
            </a:r>
            <a:endParaRPr b="0" i="0" u="none" strike="noStrike" cap="none">
              <a:solidFill>
                <a:schemeClr val="dk1"/>
              </a:solidFill>
              <a:latin typeface="Arial"/>
              <a:ea typeface="Arial"/>
              <a:cs typeface="Arial"/>
              <a:sym typeface="Arial"/>
            </a:endParaRPr>
          </a:p>
        </p:txBody>
      </p:sp>
      <p:sp>
        <p:nvSpPr>
          <p:cNvPr id="29" name="Google Shape;29;p4"/>
          <p:cNvSpPr/>
          <p:nvPr/>
        </p:nvSpPr>
        <p:spPr>
          <a:xfrm>
            <a:off x="1380780" y="2204331"/>
            <a:ext cx="2775843" cy="2632111"/>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400" b="0" i="0" u="none" strike="noStrike" cap="none" dirty="0">
                <a:solidFill>
                  <a:srgbClr val="000000"/>
                </a:solidFill>
                <a:latin typeface="Inter"/>
                <a:ea typeface="Inter"/>
                <a:cs typeface="Inter"/>
                <a:sym typeface="Inter"/>
              </a:rPr>
              <a:t>Organizations employ a variety of security tools, such as firewalls, web application firewalls (WAFs), intrusion detection systems (IDS), and endpoint detection and response (EDR) solutions, leading to a complex and fragmented security landscape.</a:t>
            </a:r>
            <a:endParaRPr sz="1200" b="0" i="0" u="none" strike="noStrike" cap="none" dirty="0">
              <a:solidFill>
                <a:schemeClr val="dk1"/>
              </a:solidFill>
              <a:latin typeface="Arial"/>
              <a:ea typeface="Arial"/>
              <a:cs typeface="Arial"/>
              <a:sym typeface="Arial"/>
            </a:endParaRPr>
          </a:p>
        </p:txBody>
      </p:sp>
      <p:sp>
        <p:nvSpPr>
          <p:cNvPr id="30" name="Google Shape;30;p4"/>
          <p:cNvSpPr/>
          <p:nvPr/>
        </p:nvSpPr>
        <p:spPr>
          <a:xfrm>
            <a:off x="4380405" y="1595039"/>
            <a:ext cx="714196" cy="714196"/>
          </a:xfrm>
          <a:prstGeom prst="ellipse">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4"/>
          <p:cNvPicPr preferRelativeResize="0"/>
          <p:nvPr/>
        </p:nvPicPr>
        <p:blipFill rotWithShape="1">
          <a:blip r:embed="rId4">
            <a:alphaModFix/>
          </a:blip>
          <a:srcRect/>
          <a:stretch/>
        </p:blipFill>
        <p:spPr>
          <a:xfrm>
            <a:off x="4557692" y="1788934"/>
            <a:ext cx="361860" cy="333292"/>
          </a:xfrm>
          <a:prstGeom prst="rect">
            <a:avLst/>
          </a:prstGeom>
          <a:noFill/>
          <a:ln>
            <a:noFill/>
          </a:ln>
        </p:spPr>
      </p:pic>
      <p:sp>
        <p:nvSpPr>
          <p:cNvPr id="32" name="Google Shape;32;p4"/>
          <p:cNvSpPr/>
          <p:nvPr/>
        </p:nvSpPr>
        <p:spPr>
          <a:xfrm>
            <a:off x="5285053" y="1546086"/>
            <a:ext cx="2775843"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Siloed data and lack of integration</a:t>
            </a:r>
            <a:endParaRPr b="0" i="0" u="none" strike="noStrike" cap="none">
              <a:solidFill>
                <a:schemeClr val="dk1"/>
              </a:solidFill>
              <a:latin typeface="Arial"/>
              <a:ea typeface="Arial"/>
              <a:cs typeface="Arial"/>
              <a:sym typeface="Arial"/>
            </a:endParaRPr>
          </a:p>
        </p:txBody>
      </p:sp>
      <p:sp>
        <p:nvSpPr>
          <p:cNvPr id="33" name="Google Shape;33;p4"/>
          <p:cNvSpPr/>
          <p:nvPr/>
        </p:nvSpPr>
        <p:spPr>
          <a:xfrm>
            <a:off x="5285053"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400" b="0" i="0" u="none" strike="noStrike" cap="none">
                <a:solidFill>
                  <a:srgbClr val="000000"/>
                </a:solidFill>
                <a:latin typeface="Inter"/>
                <a:ea typeface="Inter"/>
                <a:cs typeface="Inter"/>
                <a:sym typeface="Inter"/>
              </a:rPr>
              <a:t>Security data is often trapped in individual tools, making it difficult to gain a comprehensive view of the threat landscape and hindering effective threat detection and response.</a:t>
            </a:r>
            <a:endParaRPr sz="1200" b="0" i="0" u="none" strike="noStrike" cap="none">
              <a:solidFill>
                <a:schemeClr val="dk1"/>
              </a:solidFill>
              <a:latin typeface="Arial"/>
              <a:ea typeface="Arial"/>
              <a:cs typeface="Arial"/>
              <a:sym typeface="Arial"/>
            </a:endParaRPr>
          </a:p>
        </p:txBody>
      </p:sp>
      <p:sp>
        <p:nvSpPr>
          <p:cNvPr id="34" name="Google Shape;34;p4"/>
          <p:cNvSpPr/>
          <p:nvPr/>
        </p:nvSpPr>
        <p:spPr>
          <a:xfrm>
            <a:off x="8284678" y="1595039"/>
            <a:ext cx="714196" cy="714196"/>
          </a:xfrm>
          <a:prstGeom prst="ellipse">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4"/>
          <p:cNvPicPr preferRelativeResize="0"/>
          <p:nvPr/>
        </p:nvPicPr>
        <p:blipFill rotWithShape="1">
          <a:blip r:embed="rId5">
            <a:alphaModFix/>
          </a:blip>
          <a:srcRect/>
          <a:stretch/>
        </p:blipFill>
        <p:spPr>
          <a:xfrm>
            <a:off x="8461965" y="1784746"/>
            <a:ext cx="361860" cy="342814"/>
          </a:xfrm>
          <a:prstGeom prst="rect">
            <a:avLst/>
          </a:prstGeom>
          <a:noFill/>
          <a:ln>
            <a:noFill/>
          </a:ln>
        </p:spPr>
      </p:pic>
      <p:sp>
        <p:nvSpPr>
          <p:cNvPr id="36" name="Google Shape;36;p4"/>
          <p:cNvSpPr/>
          <p:nvPr/>
        </p:nvSpPr>
        <p:spPr>
          <a:xfrm>
            <a:off x="9189328" y="1546086"/>
            <a:ext cx="233786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Overwhelmed security teams</a:t>
            </a:r>
            <a:endParaRPr b="0" i="0" u="none" strike="noStrike" cap="none">
              <a:solidFill>
                <a:schemeClr val="dk1"/>
              </a:solidFill>
              <a:latin typeface="Arial"/>
              <a:ea typeface="Arial"/>
              <a:cs typeface="Arial"/>
              <a:sym typeface="Arial"/>
            </a:endParaRPr>
          </a:p>
        </p:txBody>
      </p:sp>
      <p:sp>
        <p:nvSpPr>
          <p:cNvPr id="37" name="Google Shape;37;p4"/>
          <p:cNvSpPr/>
          <p:nvPr/>
        </p:nvSpPr>
        <p:spPr>
          <a:xfrm>
            <a:off x="9189327"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400" b="0" i="0" u="none" strike="noStrike" cap="none">
                <a:solidFill>
                  <a:srgbClr val="000000"/>
                </a:solidFill>
                <a:latin typeface="Inter"/>
                <a:ea typeface="Inter"/>
                <a:cs typeface="Inter"/>
                <a:sym typeface="Inter"/>
              </a:rPr>
              <a:t>Security teams struggle to correlate and analyze data from multiple disparate tools, leading to increased workloads and delays in identifying and addressing security incidents.</a:t>
            </a:r>
            <a:endParaRPr sz="1200" b="0" i="0" u="none" strike="noStrike" cap="none">
              <a:solidFill>
                <a:schemeClr val="dk1"/>
              </a:solidFill>
              <a:latin typeface="Arial"/>
              <a:ea typeface="Arial"/>
              <a:cs typeface="Arial"/>
              <a:sym typeface="Arial"/>
            </a:endParaRPr>
          </a:p>
        </p:txBody>
      </p:sp>
      <p:sp>
        <p:nvSpPr>
          <p:cNvPr id="38" name="Google Shape;38;p4"/>
          <p:cNvSpPr/>
          <p:nvPr/>
        </p:nvSpPr>
        <p:spPr>
          <a:xfrm>
            <a:off x="0" y="5218395"/>
            <a:ext cx="12188952" cy="163789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4809" y="5538518"/>
            <a:ext cx="10936728" cy="997643"/>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333333"/>
              </a:buClr>
              <a:buSzPts val="2250"/>
              <a:buFont typeface="Inter"/>
              <a:buNone/>
            </a:pPr>
            <a:r>
              <a:rPr lang="en-US" sz="1800" b="1" i="1" u="none" strike="noStrike" cap="none">
                <a:solidFill>
                  <a:srgbClr val="333333"/>
                </a:solidFill>
                <a:latin typeface="Inter"/>
                <a:ea typeface="Inter"/>
                <a:cs typeface="Inter"/>
                <a:sym typeface="Inter"/>
              </a:rPr>
              <a:t>The fragmentation of security tools and siloed data across an organization's network infrastructure hinders the ability to detect, analyze, and respond to threats in a timely and effective manner, presenting a significant challenge in today's evolving cybersecurity landscape.</a:t>
            </a:r>
            <a:endParaRPr b="0" i="1"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627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6"/>
        <p:cNvGrpSpPr/>
        <p:nvPr/>
      </p:nvGrpSpPr>
      <p:grpSpPr>
        <a:xfrm>
          <a:off x="0" y="0"/>
          <a:ext cx="0" cy="0"/>
          <a:chOff x="0" y="0"/>
          <a:chExt cx="0" cy="0"/>
        </a:xfrm>
      </p:grpSpPr>
      <p:sp>
        <p:nvSpPr>
          <p:cNvPr id="97" name="Google Shape;97;p7"/>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2800" b="1" i="0" u="none" strike="noStrike" cap="none">
                <a:solidFill>
                  <a:srgbClr val="FFFFFF"/>
                </a:solidFill>
                <a:latin typeface="Inter"/>
                <a:ea typeface="Inter"/>
                <a:cs typeface="Inter"/>
                <a:sym typeface="Inter"/>
              </a:rPr>
              <a:t>Key Components of </a:t>
            </a:r>
            <a:r>
              <a:rPr lang="en-US" sz="2800" b="1">
                <a:solidFill>
                  <a:srgbClr val="FFFFFF"/>
                </a:solidFill>
                <a:latin typeface="Inter"/>
                <a:ea typeface="Inter"/>
                <a:cs typeface="Inter"/>
                <a:sym typeface="Inter"/>
              </a:rPr>
              <a:t>Athena’s Fully-</a:t>
            </a:r>
            <a:r>
              <a:rPr lang="en-US" sz="2800" b="1" i="0" u="none" strike="noStrike" cap="none">
                <a:solidFill>
                  <a:srgbClr val="FFFFFF"/>
                </a:solidFill>
                <a:latin typeface="Inter"/>
                <a:ea typeface="Inter"/>
                <a:cs typeface="Inter"/>
                <a:sym typeface="Inter"/>
              </a:rPr>
              <a:t>Integrated Cyber Defense Solution</a:t>
            </a:r>
            <a:endParaRPr sz="1200" b="0" i="0" u="none" strike="noStrike" cap="none">
              <a:solidFill>
                <a:schemeClr val="dk1"/>
              </a:solidFill>
              <a:latin typeface="Arial"/>
              <a:ea typeface="Arial"/>
              <a:cs typeface="Arial"/>
              <a:sym typeface="Arial"/>
            </a:endParaRPr>
          </a:p>
        </p:txBody>
      </p:sp>
      <p:sp>
        <p:nvSpPr>
          <p:cNvPr id="98" name="Google Shape;98;p7"/>
          <p:cNvSpPr/>
          <p:nvPr/>
        </p:nvSpPr>
        <p:spPr>
          <a:xfrm>
            <a:off x="670894" y="1604561"/>
            <a:ext cx="4780784" cy="4215321"/>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Web Application Firewall (WAF)</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Protects web applications from common web-based attacks by inspecting and filtering incoming traffic, enforcing security policies, and detecting and mitigating threats such as SQL injection, cross-site scripting, and application-level DDoS attacks.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Firewall</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Provides a perimeter defense by controlling and monitoring the incoming and outgoing network traffic based on predetermined security rules, protecting the network from unauthorized access and preventing the spread of malware and other threats.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Network Intrusion Detection System (NIDS)</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Monitors network traffic for signs of malicious activity, such as unauthorized access attempts, network-based attacks, and suspicious data patterns, and alerts security teams to potential threats in real-time.</a:t>
            </a:r>
            <a:endParaRPr sz="1400" b="0" i="0" u="none" strike="noStrike" cap="none">
              <a:solidFill>
                <a:schemeClr val="dk1"/>
              </a:solidFill>
              <a:latin typeface="Arial"/>
              <a:ea typeface="Arial"/>
              <a:cs typeface="Arial"/>
              <a:sym typeface="Arial"/>
            </a:endParaRPr>
          </a:p>
        </p:txBody>
      </p:sp>
      <p:sp>
        <p:nvSpPr>
          <p:cNvPr id="99" name="Google Shape;99;p7"/>
          <p:cNvSpPr/>
          <p:nvPr/>
        </p:nvSpPr>
        <p:spPr>
          <a:xfrm>
            <a:off x="6304010" y="1915499"/>
            <a:ext cx="4888709" cy="3027002"/>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Endpoint Detection and Response (EDR)</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Continuously monitors and analyzes activity on individual endpoints (e.g., laptops, desktops, servers) to detect, investigate, and respond to advanced threats, including malware, zero-day attacks, and suspicious user behavior.</a:t>
            </a:r>
            <a:endParaRPr lang="en-US"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Security Information and Event Management (SIEM)</a:t>
            </a:r>
            <a:endParaRPr lang="en-US"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Collects, analyzes, and correlates security-related data from various sources across the network, providing a centralized view of the organization's security posture and enabling faster detection, investigation, and response to security incidents.</a:t>
            </a:r>
            <a:endParaRPr sz="1400" b="0" i="0" u="none" strike="noStrike" cap="none">
              <a:solidFill>
                <a:schemeClr val="dk1"/>
              </a:solidFill>
              <a:latin typeface="Arial"/>
              <a:ea typeface="Arial"/>
              <a:cs typeface="Arial"/>
              <a:sym typeface="Arial"/>
            </a:endParaRPr>
          </a:p>
        </p:txBody>
      </p:sp>
      <p:sp>
        <p:nvSpPr>
          <p:cNvPr id="100" name="Google Shape;100;p7"/>
          <p:cNvSpPr/>
          <p:nvPr/>
        </p:nvSpPr>
        <p:spPr>
          <a:xfrm>
            <a:off x="11865183" y="6496137"/>
            <a:ext cx="133317"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6</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750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ED300-3346-0A37-FF75-E0D35357C489}"/>
              </a:ext>
            </a:extLst>
          </p:cNvPr>
          <p:cNvSpPr txBox="1"/>
          <p:nvPr/>
        </p:nvSpPr>
        <p:spPr>
          <a:xfrm>
            <a:off x="833378" y="656694"/>
            <a:ext cx="4224759" cy="6001643"/>
          </a:xfrm>
          <a:prstGeom prst="rect">
            <a:avLst/>
          </a:prstGeom>
          <a:noFill/>
        </p:spPr>
        <p:txBody>
          <a:bodyPr wrap="square" rtlCol="0">
            <a:spAutoFit/>
          </a:bodyPr>
          <a:lstStyle/>
          <a:p>
            <a:r>
              <a:rPr lang="en-US" sz="2400"/>
              <a:t>We have potential threats originating from multiple systems, each of which requires its own identity management system (potentially integrated but not so simple), its own interface and analytics, and each of which requires in depth understanding of the system in question and the specific domain being protected.</a:t>
            </a:r>
          </a:p>
          <a:p>
            <a:endParaRPr lang="en-US" sz="2400"/>
          </a:p>
          <a:p>
            <a:endParaRPr lang="en-US" sz="2400"/>
          </a:p>
        </p:txBody>
      </p:sp>
      <p:pic>
        <p:nvPicPr>
          <p:cNvPr id="5" name="Picture 4">
            <a:extLst>
              <a:ext uri="{FF2B5EF4-FFF2-40B4-BE49-F238E27FC236}">
                <a16:creationId xmlns:a16="http://schemas.microsoft.com/office/drawing/2014/main" id="{59BED386-2284-5DD2-700C-23BC1889B519}"/>
              </a:ext>
            </a:extLst>
          </p:cNvPr>
          <p:cNvPicPr>
            <a:picLocks noChangeAspect="1"/>
          </p:cNvPicPr>
          <p:nvPr/>
        </p:nvPicPr>
        <p:blipFill>
          <a:blip r:embed="rId2"/>
          <a:stretch>
            <a:fillRect/>
          </a:stretch>
        </p:blipFill>
        <p:spPr>
          <a:xfrm>
            <a:off x="5806632" y="443374"/>
            <a:ext cx="5971251" cy="5971251"/>
          </a:xfrm>
          <a:prstGeom prst="rect">
            <a:avLst/>
          </a:prstGeom>
        </p:spPr>
      </p:pic>
    </p:spTree>
    <p:extLst>
      <p:ext uri="{BB962C8B-B14F-4D97-AF65-F5344CB8AC3E}">
        <p14:creationId xmlns:p14="http://schemas.microsoft.com/office/powerpoint/2010/main" val="4134143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6"/>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750" b="1" i="0" u="none" strike="noStrike" cap="none">
                <a:solidFill>
                  <a:srgbClr val="FFFFFF"/>
                </a:solidFill>
                <a:latin typeface="Inter"/>
                <a:ea typeface="Inter"/>
                <a:cs typeface="Inter"/>
                <a:sym typeface="Inter"/>
              </a:rPr>
              <a:t>The Value of an Integrated Approach</a:t>
            </a: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476131" y="1590277"/>
            <a:ext cx="3618595" cy="2109260"/>
          </a:xfrm>
          <a:prstGeom prst="rect">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761810"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Threat Detection</a:t>
            </a:r>
            <a:endParaRPr sz="1800" b="0" i="0" u="none" strike="noStrike" cap="none">
              <a:solidFill>
                <a:schemeClr val="dk1"/>
              </a:solidFill>
              <a:latin typeface="Arial"/>
              <a:ea typeface="Arial"/>
              <a:cs typeface="Arial"/>
              <a:sym typeface="Arial"/>
            </a:endParaRPr>
          </a:p>
        </p:txBody>
      </p:sp>
      <p:sp>
        <p:nvSpPr>
          <p:cNvPr id="77" name="Google Shape;77;p6"/>
          <p:cNvSpPr/>
          <p:nvPr/>
        </p:nvSpPr>
        <p:spPr>
          <a:xfrm>
            <a:off x="761810" y="2164685"/>
            <a:ext cx="3456711"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across the network allows for a more comprehensive view of potential threats, enabling faster and more accurate detection of anomalies and suspicious activities.</a:t>
            </a:r>
            <a:endParaRPr sz="1800" b="0" i="0" u="none" strike="noStrike" cap="none">
              <a:solidFill>
                <a:schemeClr val="dk1"/>
              </a:solidFill>
              <a:latin typeface="Arial"/>
              <a:ea typeface="Arial"/>
              <a:cs typeface="Arial"/>
              <a:sym typeface="Arial"/>
            </a:endParaRPr>
          </a:p>
        </p:txBody>
      </p:sp>
      <p:sp>
        <p:nvSpPr>
          <p:cNvPr id="78" name="Google Shape;78;p6"/>
          <p:cNvSpPr/>
          <p:nvPr/>
        </p:nvSpPr>
        <p:spPr>
          <a:xfrm>
            <a:off x="4285178" y="1590277"/>
            <a:ext cx="3618595" cy="2109260"/>
          </a:xfrm>
          <a:prstGeom prst="rect">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4570857"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Improved Threat Analysis</a:t>
            </a:r>
            <a:endParaRPr sz="1800" b="0" i="0" u="none" strike="noStrike" cap="none">
              <a:solidFill>
                <a:schemeClr val="dk1"/>
              </a:solidFill>
              <a:latin typeface="Arial"/>
              <a:ea typeface="Arial"/>
              <a:cs typeface="Arial"/>
              <a:sym typeface="Arial"/>
            </a:endParaRPr>
          </a:p>
        </p:txBody>
      </p:sp>
      <p:sp>
        <p:nvSpPr>
          <p:cNvPr id="80" name="Google Shape;80;p6"/>
          <p:cNvSpPr/>
          <p:nvPr/>
        </p:nvSpPr>
        <p:spPr>
          <a:xfrm>
            <a:off x="4570858" y="2164685"/>
            <a:ext cx="3105290"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By integrating data from various security components, security teams can analyze threat patterns and indicators more effectively, leading to better informed decision-making and more efficient incident response.</a:t>
            </a:r>
            <a:endParaRPr sz="1800" b="0" i="0" u="none" strike="noStrike" cap="none">
              <a:solidFill>
                <a:schemeClr val="dk1"/>
              </a:solidFill>
              <a:latin typeface="Arial"/>
              <a:ea typeface="Arial"/>
              <a:cs typeface="Arial"/>
              <a:sym typeface="Arial"/>
            </a:endParaRPr>
          </a:p>
        </p:txBody>
      </p:sp>
      <p:sp>
        <p:nvSpPr>
          <p:cNvPr id="81" name="Google Shape;81;p6"/>
          <p:cNvSpPr/>
          <p:nvPr/>
        </p:nvSpPr>
        <p:spPr>
          <a:xfrm>
            <a:off x="8094226" y="1590277"/>
            <a:ext cx="3618595" cy="2109260"/>
          </a:xfrm>
          <a:prstGeom prst="rect">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79905"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Streamlined Remediation</a:t>
            </a:r>
            <a:endParaRPr sz="1800" b="0" i="0" u="none" strike="noStrike" cap="none">
              <a:solidFill>
                <a:schemeClr val="dk1"/>
              </a:solidFill>
              <a:latin typeface="Arial"/>
              <a:ea typeface="Arial"/>
              <a:cs typeface="Arial"/>
              <a:sym typeface="Arial"/>
            </a:endParaRPr>
          </a:p>
        </p:txBody>
      </p:sp>
      <p:sp>
        <p:nvSpPr>
          <p:cNvPr id="83" name="Google Shape;83;p6"/>
          <p:cNvSpPr/>
          <p:nvPr/>
        </p:nvSpPr>
        <p:spPr>
          <a:xfrm>
            <a:off x="8379905" y="2164685"/>
            <a:ext cx="3050285"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An integrated approach facilitates the coordination of remediation efforts, allowing security teams to respond to threats quickly and consistently across the entire network infrastructure.</a:t>
            </a:r>
            <a:endParaRPr sz="1800" b="0" i="0" u="none" strike="noStrike" cap="none">
              <a:solidFill>
                <a:schemeClr val="dk1"/>
              </a:solidFill>
              <a:latin typeface="Arial"/>
              <a:ea typeface="Arial"/>
              <a:cs typeface="Arial"/>
              <a:sym typeface="Arial"/>
            </a:endParaRPr>
          </a:p>
        </p:txBody>
      </p:sp>
      <p:sp>
        <p:nvSpPr>
          <p:cNvPr id="84" name="Google Shape;84;p6"/>
          <p:cNvSpPr/>
          <p:nvPr/>
        </p:nvSpPr>
        <p:spPr>
          <a:xfrm>
            <a:off x="476131" y="3889990"/>
            <a:ext cx="5523119" cy="210926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761810"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Reduced Operational Overhead</a:t>
            </a:r>
            <a:endParaRPr sz="1800" b="0" i="0" u="none" strike="noStrike" cap="none">
              <a:solidFill>
                <a:schemeClr val="dk1"/>
              </a:solidFill>
              <a:latin typeface="Arial"/>
              <a:ea typeface="Arial"/>
              <a:cs typeface="Arial"/>
              <a:sym typeface="Arial"/>
            </a:endParaRPr>
          </a:p>
        </p:txBody>
      </p:sp>
      <p:sp>
        <p:nvSpPr>
          <p:cNvPr id="86" name="Google Shape;86;p6"/>
          <p:cNvSpPr/>
          <p:nvPr/>
        </p:nvSpPr>
        <p:spPr>
          <a:xfrm>
            <a:off x="761810" y="4464397"/>
            <a:ext cx="4135043"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eliminates the need for manual correlation and analysis across disparate systems, reducing the time and resources required for security operations.</a:t>
            </a:r>
            <a:endParaRPr sz="1800" b="0" i="0" u="none" strike="noStrike" cap="none">
              <a:solidFill>
                <a:schemeClr val="dk1"/>
              </a:solidFill>
              <a:latin typeface="Arial"/>
              <a:ea typeface="Arial"/>
              <a:cs typeface="Arial"/>
              <a:sym typeface="Arial"/>
            </a:endParaRPr>
          </a:p>
        </p:txBody>
      </p:sp>
      <p:sp>
        <p:nvSpPr>
          <p:cNvPr id="87" name="Google Shape;87;p6"/>
          <p:cNvSpPr/>
          <p:nvPr/>
        </p:nvSpPr>
        <p:spPr>
          <a:xfrm>
            <a:off x="6189702" y="3889990"/>
            <a:ext cx="5523119" cy="2109260"/>
          </a:xfrm>
          <a:prstGeom prst="rect">
            <a:avLst/>
          </a:prstGeom>
          <a:solidFill>
            <a:srgbClr val="FF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6475381"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Visibility and Reporting</a:t>
            </a:r>
            <a:endParaRPr sz="1800" b="0" i="0" u="none" strike="noStrike" cap="none">
              <a:solidFill>
                <a:schemeClr val="dk1"/>
              </a:solidFill>
              <a:latin typeface="Arial"/>
              <a:ea typeface="Arial"/>
              <a:cs typeface="Arial"/>
              <a:sym typeface="Arial"/>
            </a:endParaRPr>
          </a:p>
        </p:txBody>
      </p:sp>
      <p:sp>
        <p:nvSpPr>
          <p:cNvPr id="89" name="Google Shape;89;p6"/>
          <p:cNvSpPr/>
          <p:nvPr/>
        </p:nvSpPr>
        <p:spPr>
          <a:xfrm>
            <a:off x="6475382" y="4464397"/>
            <a:ext cx="4689924"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Integrated security solutions provide a holistic view of the organization's security posture, enabling more comprehensive and meaningful reporting to stakeholders and decision-makers.</a:t>
            </a:r>
            <a:endParaRPr sz="1800" b="0" i="0" u="none" strike="noStrike" cap="none">
              <a:solidFill>
                <a:schemeClr val="dk1"/>
              </a:solidFill>
              <a:latin typeface="Arial"/>
              <a:ea typeface="Arial"/>
              <a:cs typeface="Arial"/>
              <a:sym typeface="Arial"/>
            </a:endParaRPr>
          </a:p>
        </p:txBody>
      </p:sp>
      <p:sp>
        <p:nvSpPr>
          <p:cNvPr id="90" name="Google Shape;90;p6"/>
          <p:cNvSpPr/>
          <p:nvPr/>
        </p:nvSpPr>
        <p:spPr>
          <a:xfrm>
            <a:off x="11855660" y="6496137"/>
            <a:ext cx="142839"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8</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1674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1492" y="1539479"/>
            <a:ext cx="10869018" cy="529233"/>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Athena Software Group is at the forefront of integrating advanced AI capabilities into cybersecurity strategy and operations, helping organizations transition from reactive to proactive security postures.</a:t>
            </a:r>
            <a:endParaRPr lang="en-US" sz="1292" dirty="0">
              <a:latin typeface="Optima" panose="02000503060000020004" pitchFamily="2" charset="0"/>
            </a:endParaRPr>
          </a:p>
        </p:txBody>
      </p:sp>
      <p:pic>
        <p:nvPicPr>
          <p:cNvPr id="4" name="Image 0" descr="preencoded.png"/>
          <p:cNvPicPr>
            <a:picLocks noChangeAspect="1"/>
          </p:cNvPicPr>
          <p:nvPr/>
        </p:nvPicPr>
        <p:blipFill>
          <a:blip r:embed="rId3"/>
          <a:stretch>
            <a:fillRect/>
          </a:stretch>
        </p:blipFill>
        <p:spPr>
          <a:xfrm>
            <a:off x="661492" y="2254746"/>
            <a:ext cx="3622973" cy="661492"/>
          </a:xfrm>
          <a:prstGeom prst="rect">
            <a:avLst/>
          </a:prstGeom>
        </p:spPr>
      </p:pic>
      <p:sp>
        <p:nvSpPr>
          <p:cNvPr id="5" name="Text 2"/>
          <p:cNvSpPr/>
          <p:nvPr/>
        </p:nvSpPr>
        <p:spPr>
          <a:xfrm>
            <a:off x="826790" y="3081536"/>
            <a:ext cx="2978646" cy="258465"/>
          </a:xfrm>
          <a:prstGeom prst="rect">
            <a:avLst/>
          </a:prstGeom>
          <a:noFill/>
          <a:ln/>
        </p:spPr>
        <p:txBody>
          <a:bodyPr wrap="non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Threat Intelligence Enrichment</a:t>
            </a:r>
            <a:endParaRPr lang="en-US" sz="1625" b="1" dirty="0">
              <a:latin typeface="Optima" panose="02000503060000020004" pitchFamily="2" charset="0"/>
            </a:endParaRPr>
          </a:p>
        </p:txBody>
      </p:sp>
      <p:sp>
        <p:nvSpPr>
          <p:cNvPr id="6" name="Text 3"/>
          <p:cNvSpPr/>
          <p:nvPr/>
        </p:nvSpPr>
        <p:spPr>
          <a:xfrm>
            <a:off x="826790" y="3439219"/>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Our AI systems analyze global threat data from multiple sources, correlating it with your specific environment to provide contextualized intelligence about emerging threats relevant to your industry and technology stack.</a:t>
            </a:r>
            <a:endParaRPr lang="en-US" sz="1292" dirty="0">
              <a:latin typeface="Optima" panose="02000503060000020004" pitchFamily="2" charset="0"/>
            </a:endParaRPr>
          </a:p>
        </p:txBody>
      </p:sp>
      <p:pic>
        <p:nvPicPr>
          <p:cNvPr id="7" name="Image 1" descr="preencoded.png"/>
          <p:cNvPicPr>
            <a:picLocks noChangeAspect="1"/>
          </p:cNvPicPr>
          <p:nvPr/>
        </p:nvPicPr>
        <p:blipFill>
          <a:blip r:embed="rId4"/>
          <a:stretch>
            <a:fillRect/>
          </a:stretch>
        </p:blipFill>
        <p:spPr>
          <a:xfrm>
            <a:off x="4284464" y="2254746"/>
            <a:ext cx="3622973" cy="661492"/>
          </a:xfrm>
          <a:prstGeom prst="rect">
            <a:avLst/>
          </a:prstGeom>
        </p:spPr>
      </p:pic>
      <p:sp>
        <p:nvSpPr>
          <p:cNvPr id="8" name="Text 4"/>
          <p:cNvSpPr/>
          <p:nvPr/>
        </p:nvSpPr>
        <p:spPr>
          <a:xfrm>
            <a:off x="4449763" y="3081536"/>
            <a:ext cx="3292376" cy="516930"/>
          </a:xfrm>
          <a:prstGeom prst="rect">
            <a:avLst/>
          </a:prstGeom>
          <a:noFill/>
          <a:ln/>
        </p:spPr>
        <p:txBody>
          <a:bodyPr wrap="squar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Anomaly Detection &amp; Behavior Analysis</a:t>
            </a:r>
            <a:endParaRPr lang="en-US" sz="1625" b="1" dirty="0">
              <a:latin typeface="Optima" panose="02000503060000020004" pitchFamily="2" charset="0"/>
            </a:endParaRPr>
          </a:p>
        </p:txBody>
      </p:sp>
      <p:sp>
        <p:nvSpPr>
          <p:cNvPr id="9" name="Text 5"/>
          <p:cNvSpPr/>
          <p:nvPr/>
        </p:nvSpPr>
        <p:spPr>
          <a:xfrm>
            <a:off x="4449763" y="3697684"/>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Advanced machine learning algorithms establish baselines of normal behavior across networks, systems, and users, identifying subtle deviations that may indicate compromise before traditional detection methods.</a:t>
            </a:r>
            <a:endParaRPr lang="en-US" sz="1292" dirty="0">
              <a:latin typeface="Optima" panose="02000503060000020004" pitchFamily="2" charset="0"/>
            </a:endParaRPr>
          </a:p>
        </p:txBody>
      </p:sp>
      <p:pic>
        <p:nvPicPr>
          <p:cNvPr id="10" name="Image 2" descr="preencoded.png"/>
          <p:cNvPicPr>
            <a:picLocks noChangeAspect="1"/>
          </p:cNvPicPr>
          <p:nvPr/>
        </p:nvPicPr>
        <p:blipFill>
          <a:blip r:embed="rId5"/>
          <a:stretch>
            <a:fillRect/>
          </a:stretch>
        </p:blipFill>
        <p:spPr>
          <a:xfrm>
            <a:off x="7907437" y="2254746"/>
            <a:ext cx="3622973" cy="661492"/>
          </a:xfrm>
          <a:prstGeom prst="rect">
            <a:avLst/>
          </a:prstGeom>
        </p:spPr>
      </p:pic>
      <p:sp>
        <p:nvSpPr>
          <p:cNvPr id="11" name="Text 6"/>
          <p:cNvSpPr/>
          <p:nvPr/>
        </p:nvSpPr>
        <p:spPr>
          <a:xfrm>
            <a:off x="8072735" y="3081536"/>
            <a:ext cx="3292376" cy="516930"/>
          </a:xfrm>
          <a:prstGeom prst="rect">
            <a:avLst/>
          </a:prstGeom>
          <a:noFill/>
          <a:ln/>
        </p:spPr>
        <p:txBody>
          <a:bodyPr wrap="squar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Automated Response Orchestration</a:t>
            </a:r>
            <a:endParaRPr lang="en-US" sz="1625" b="1" dirty="0">
              <a:latin typeface="Optima" panose="02000503060000020004" pitchFamily="2" charset="0"/>
            </a:endParaRPr>
          </a:p>
        </p:txBody>
      </p:sp>
      <p:sp>
        <p:nvSpPr>
          <p:cNvPr id="12" name="Text 7"/>
          <p:cNvSpPr/>
          <p:nvPr/>
        </p:nvSpPr>
        <p:spPr>
          <a:xfrm>
            <a:off x="8072735" y="3697684"/>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AI-powered playbooks automate incident response workflows, reducing mean time to remediate (MTTR) by coordinating actions across security tools while maintaining human oversight for critical decisions.</a:t>
            </a:r>
            <a:endParaRPr lang="en-US" sz="1292" dirty="0">
              <a:latin typeface="Optima" panose="02000503060000020004" pitchFamily="2" charset="0"/>
            </a:endParaRPr>
          </a:p>
        </p:txBody>
      </p:sp>
      <p:sp>
        <p:nvSpPr>
          <p:cNvPr id="13" name="Text 8"/>
          <p:cNvSpPr/>
          <p:nvPr/>
        </p:nvSpPr>
        <p:spPr>
          <a:xfrm>
            <a:off x="2038351" y="5741492"/>
            <a:ext cx="8396784" cy="529233"/>
          </a:xfrm>
          <a:prstGeom prst="rect">
            <a:avLst/>
          </a:prstGeom>
          <a:noFill/>
          <a:ln/>
        </p:spPr>
        <p:txBody>
          <a:bodyPr wrap="square" lIns="0" tIns="0" rIns="0" bIns="0" rtlCol="0" anchor="t"/>
          <a:lstStyle/>
          <a:p>
            <a:pPr algn="ctr">
              <a:lnSpc>
                <a:spcPts val="2083"/>
              </a:lnSpc>
            </a:pPr>
            <a:r>
              <a:rPr lang="en-US" sz="1292" i="1" dirty="0">
                <a:solidFill>
                  <a:srgbClr val="161613"/>
                </a:solidFill>
                <a:latin typeface="Optima" panose="02000503060000020004" pitchFamily="2" charset="0"/>
                <a:ea typeface="Inter" pitchFamily="34" charset="-122"/>
                <a:cs typeface="Inter" pitchFamily="34" charset="-120"/>
              </a:rPr>
              <a:t>Our AI solutions are designed to augment human expertise, not replace it. We focus on reducing alert fatigue, accelerating analysis, and enabling security teams to focus on strategic priorities while machines handle repetitive tasks.</a:t>
            </a:r>
            <a:endParaRPr lang="en-US" sz="1292" i="1" dirty="0">
              <a:latin typeface="Optima" panose="02000503060000020004" pitchFamily="2" charset="0"/>
            </a:endParaRPr>
          </a:p>
        </p:txBody>
      </p:sp>
      <p:sp>
        <p:nvSpPr>
          <p:cNvPr id="2" name="Title 1">
            <a:extLst>
              <a:ext uri="{FF2B5EF4-FFF2-40B4-BE49-F238E27FC236}">
                <a16:creationId xmlns:a16="http://schemas.microsoft.com/office/drawing/2014/main" id="{DF690C87-78C1-869A-E0F5-1008E12049E9}"/>
              </a:ext>
            </a:extLst>
          </p:cNvPr>
          <p:cNvSpPr>
            <a:spLocks noGrp="1"/>
          </p:cNvSpPr>
          <p:nvPr>
            <p:ph type="title" idx="4294967295"/>
          </p:nvPr>
        </p:nvSpPr>
        <p:spPr>
          <a:xfrm>
            <a:off x="850569" y="231726"/>
            <a:ext cx="10514542" cy="784772"/>
          </a:xfrm>
          <a:prstGeom prst="rect">
            <a:avLst/>
          </a:prstGeom>
        </p:spPr>
        <p:txBody>
          <a:bodyPr/>
          <a:lstStyle/>
          <a:p>
            <a:r>
              <a:rPr lang="en-US" b="1" dirty="0">
                <a:solidFill>
                  <a:srgbClr val="333F70"/>
                </a:solidFill>
                <a:latin typeface="Unbounded Bold" pitchFamily="34" charset="0"/>
                <a:ea typeface="Unbounded Bold" pitchFamily="34" charset="-122"/>
                <a:cs typeface="Unbounded Bold" pitchFamily="34" charset="-120"/>
              </a:rPr>
              <a:t>AI Enablement</a:t>
            </a:r>
            <a:endParaRPr lang="en-US" dirty="0"/>
          </a:p>
        </p:txBody>
      </p:sp>
    </p:spTree>
    <p:extLst>
      <p:ext uri="{BB962C8B-B14F-4D97-AF65-F5344CB8AC3E}">
        <p14:creationId xmlns:p14="http://schemas.microsoft.com/office/powerpoint/2010/main" val="1353135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51457" y="1171773"/>
            <a:ext cx="5376367" cy="5376367"/>
          </a:xfrm>
          <a:prstGeom prst="rect">
            <a:avLst/>
          </a:prstGeom>
        </p:spPr>
      </p:pic>
      <p:sp>
        <p:nvSpPr>
          <p:cNvPr id="4" name="Text 1"/>
          <p:cNvSpPr/>
          <p:nvPr/>
        </p:nvSpPr>
        <p:spPr>
          <a:xfrm>
            <a:off x="6270526" y="1249759"/>
            <a:ext cx="4259362" cy="258465"/>
          </a:xfrm>
          <a:prstGeom prst="rect">
            <a:avLst/>
          </a:prstGeom>
          <a:noFill/>
          <a:ln/>
        </p:spPr>
        <p:txBody>
          <a:bodyPr wrap="none" lIns="0" tIns="0" rIns="0" bIns="0" rtlCol="0" anchor="t"/>
          <a:lstStyle/>
          <a:p>
            <a:pPr>
              <a:lnSpc>
                <a:spcPts val="2000"/>
              </a:lnSpc>
            </a:pPr>
            <a:r>
              <a:rPr lang="en-US" sz="1625" b="1" dirty="0">
                <a:solidFill>
                  <a:srgbClr val="233E32"/>
                </a:solidFill>
                <a:latin typeface="Optima" panose="02000503060000020004" pitchFamily="2" charset="0"/>
                <a:ea typeface="Alice" pitchFamily="34" charset="-122"/>
                <a:cs typeface="Alice" pitchFamily="34" charset="-120"/>
              </a:rPr>
              <a:t>Integrated AI-Enabled Cybersecurity Platform</a:t>
            </a:r>
            <a:endParaRPr lang="en-US" sz="1625" b="1" dirty="0">
              <a:latin typeface="Optima" panose="02000503060000020004" pitchFamily="2" charset="0"/>
            </a:endParaRPr>
          </a:p>
        </p:txBody>
      </p:sp>
      <p:sp>
        <p:nvSpPr>
          <p:cNvPr id="5" name="Text 2"/>
          <p:cNvSpPr/>
          <p:nvPr/>
        </p:nvSpPr>
        <p:spPr>
          <a:xfrm>
            <a:off x="6270526" y="1562149"/>
            <a:ext cx="5376367" cy="882650"/>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Our flagship Enterprise Security Suite delivers comprehensive protection through a unified platform that eliminates security gaps and simplifies management. Powered by advanced artificial intelligence, the suite continuously learns and adapts to emerging threats.</a:t>
            </a:r>
            <a:endParaRPr lang="en-US" sz="1083" dirty="0">
              <a:latin typeface="Optima" panose="02000503060000020004" pitchFamily="2" charset="0"/>
            </a:endParaRPr>
          </a:p>
        </p:txBody>
      </p:sp>
      <p:sp>
        <p:nvSpPr>
          <p:cNvPr id="6" name="Shape 3"/>
          <p:cNvSpPr/>
          <p:nvPr/>
        </p:nvSpPr>
        <p:spPr>
          <a:xfrm>
            <a:off x="6270526" y="2588519"/>
            <a:ext cx="310158" cy="310158"/>
          </a:xfrm>
          <a:prstGeom prst="roundRect">
            <a:avLst>
              <a:gd name="adj" fmla="val 6668"/>
            </a:avLst>
          </a:prstGeom>
          <a:solidFill>
            <a:schemeClr val="accent1"/>
          </a:solidFill>
          <a:ln/>
        </p:spPr>
        <p:txBody>
          <a:bodyPr/>
          <a:lstStyle/>
          <a:p>
            <a:endParaRPr lang="en-US" sz="1500"/>
          </a:p>
        </p:txBody>
      </p:sp>
      <p:sp>
        <p:nvSpPr>
          <p:cNvPr id="7" name="Text 4"/>
          <p:cNvSpPr/>
          <p:nvPr/>
        </p:nvSpPr>
        <p:spPr>
          <a:xfrm>
            <a:off x="6718498" y="2635846"/>
            <a:ext cx="3110607"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XDR (Extended Detection and Response)</a:t>
            </a:r>
            <a:endParaRPr lang="en-US" sz="1333" b="1" dirty="0">
              <a:latin typeface="Optima" panose="02000503060000020004" pitchFamily="2" charset="0"/>
            </a:endParaRPr>
          </a:p>
        </p:txBody>
      </p:sp>
      <p:sp>
        <p:nvSpPr>
          <p:cNvPr id="8" name="Text 5"/>
          <p:cNvSpPr/>
          <p:nvPr/>
        </p:nvSpPr>
        <p:spPr>
          <a:xfrm>
            <a:off x="6718499" y="2891193"/>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Detect and respond to threats across endpoints, networks, cloud workloads, and applications with correlated security data and automated response capabilities.</a:t>
            </a:r>
            <a:endParaRPr lang="en-US" sz="1083" dirty="0">
              <a:latin typeface="Optima" panose="02000503060000020004" pitchFamily="2" charset="0"/>
            </a:endParaRPr>
          </a:p>
        </p:txBody>
      </p:sp>
      <p:sp>
        <p:nvSpPr>
          <p:cNvPr id="9" name="Shape 6"/>
          <p:cNvSpPr/>
          <p:nvPr/>
        </p:nvSpPr>
        <p:spPr>
          <a:xfrm>
            <a:off x="6270526" y="3458395"/>
            <a:ext cx="310158" cy="310158"/>
          </a:xfrm>
          <a:prstGeom prst="roundRect">
            <a:avLst>
              <a:gd name="adj" fmla="val 6668"/>
            </a:avLst>
          </a:prstGeom>
          <a:solidFill>
            <a:schemeClr val="accent1"/>
          </a:solidFill>
          <a:ln/>
        </p:spPr>
        <p:txBody>
          <a:bodyPr/>
          <a:lstStyle/>
          <a:p>
            <a:endParaRPr lang="en-US" sz="1500"/>
          </a:p>
        </p:txBody>
      </p:sp>
      <p:sp>
        <p:nvSpPr>
          <p:cNvPr id="10" name="Text 7"/>
          <p:cNvSpPr/>
          <p:nvPr/>
        </p:nvSpPr>
        <p:spPr>
          <a:xfrm>
            <a:off x="6718499" y="3505722"/>
            <a:ext cx="2047181"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WAF &amp; Firewall Protection</a:t>
            </a:r>
            <a:endParaRPr lang="en-US" sz="1333" b="1" dirty="0">
              <a:latin typeface="Optima" panose="02000503060000020004" pitchFamily="2" charset="0"/>
            </a:endParaRPr>
          </a:p>
        </p:txBody>
      </p:sp>
      <p:sp>
        <p:nvSpPr>
          <p:cNvPr id="11" name="Text 8"/>
          <p:cNvSpPr/>
          <p:nvPr/>
        </p:nvSpPr>
        <p:spPr>
          <a:xfrm>
            <a:off x="6718499" y="3754079"/>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Defend web applications and network perimeters with intelligent filtering that blocks malicious traffic while allowing legitimate users to access critical resources.</a:t>
            </a:r>
            <a:endParaRPr lang="en-US" sz="1083" dirty="0">
              <a:latin typeface="Optima" panose="02000503060000020004" pitchFamily="2" charset="0"/>
            </a:endParaRPr>
          </a:p>
        </p:txBody>
      </p:sp>
      <p:sp>
        <p:nvSpPr>
          <p:cNvPr id="12" name="Shape 9"/>
          <p:cNvSpPr/>
          <p:nvPr/>
        </p:nvSpPr>
        <p:spPr>
          <a:xfrm>
            <a:off x="6270526" y="4314290"/>
            <a:ext cx="310158" cy="310158"/>
          </a:xfrm>
          <a:prstGeom prst="roundRect">
            <a:avLst>
              <a:gd name="adj" fmla="val 6668"/>
            </a:avLst>
          </a:prstGeom>
          <a:solidFill>
            <a:schemeClr val="accent1"/>
          </a:solidFill>
          <a:ln/>
        </p:spPr>
        <p:txBody>
          <a:bodyPr/>
          <a:lstStyle/>
          <a:p>
            <a:endParaRPr lang="en-US" sz="1500"/>
          </a:p>
        </p:txBody>
      </p:sp>
      <p:sp>
        <p:nvSpPr>
          <p:cNvPr id="13" name="Text 10"/>
          <p:cNvSpPr/>
          <p:nvPr/>
        </p:nvSpPr>
        <p:spPr>
          <a:xfrm>
            <a:off x="6718498" y="4361617"/>
            <a:ext cx="1965722"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SIEM &amp; NIDS Integration</a:t>
            </a:r>
            <a:endParaRPr lang="en-US" sz="1333" b="1" dirty="0">
              <a:latin typeface="Optima" panose="02000503060000020004" pitchFamily="2" charset="0"/>
            </a:endParaRPr>
          </a:p>
        </p:txBody>
      </p:sp>
      <p:sp>
        <p:nvSpPr>
          <p:cNvPr id="14" name="Text 11"/>
          <p:cNvSpPr/>
          <p:nvPr/>
        </p:nvSpPr>
        <p:spPr>
          <a:xfrm>
            <a:off x="6718499" y="4616964"/>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Centralize security event monitoring and network intrusion detection to identify suspicious patterns and provide complete visibility across your infrastructure.</a:t>
            </a:r>
            <a:endParaRPr lang="en-US" sz="1083" dirty="0">
              <a:latin typeface="Optima" panose="02000503060000020004" pitchFamily="2" charset="0"/>
            </a:endParaRPr>
          </a:p>
        </p:txBody>
      </p:sp>
      <p:sp>
        <p:nvSpPr>
          <p:cNvPr id="16" name="Shape 9">
            <a:extLst>
              <a:ext uri="{FF2B5EF4-FFF2-40B4-BE49-F238E27FC236}">
                <a16:creationId xmlns:a16="http://schemas.microsoft.com/office/drawing/2014/main" id="{A9998899-F567-FCD3-B3AC-8B9EE2164A11}"/>
              </a:ext>
            </a:extLst>
          </p:cNvPr>
          <p:cNvSpPr/>
          <p:nvPr/>
        </p:nvSpPr>
        <p:spPr>
          <a:xfrm>
            <a:off x="6270526" y="5170185"/>
            <a:ext cx="310158" cy="310158"/>
          </a:xfrm>
          <a:prstGeom prst="roundRect">
            <a:avLst>
              <a:gd name="adj" fmla="val 6668"/>
            </a:avLst>
          </a:prstGeom>
          <a:solidFill>
            <a:schemeClr val="accent1"/>
          </a:solidFill>
          <a:ln/>
        </p:spPr>
        <p:txBody>
          <a:bodyPr/>
          <a:lstStyle/>
          <a:p>
            <a:endParaRPr lang="en-US" sz="1500"/>
          </a:p>
        </p:txBody>
      </p:sp>
      <p:sp>
        <p:nvSpPr>
          <p:cNvPr id="17" name="Text 10">
            <a:extLst>
              <a:ext uri="{FF2B5EF4-FFF2-40B4-BE49-F238E27FC236}">
                <a16:creationId xmlns:a16="http://schemas.microsoft.com/office/drawing/2014/main" id="{905E27E5-BA72-C405-0C54-0E76473DBE93}"/>
              </a:ext>
            </a:extLst>
          </p:cNvPr>
          <p:cNvSpPr/>
          <p:nvPr/>
        </p:nvSpPr>
        <p:spPr>
          <a:xfrm>
            <a:off x="6718498" y="5217512"/>
            <a:ext cx="1965722"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Advanced CTI LLM Integration</a:t>
            </a:r>
            <a:endParaRPr lang="en-US" sz="1333" b="1" dirty="0">
              <a:latin typeface="Optima" panose="02000503060000020004" pitchFamily="2" charset="0"/>
            </a:endParaRPr>
          </a:p>
        </p:txBody>
      </p:sp>
      <p:sp>
        <p:nvSpPr>
          <p:cNvPr id="18" name="Text 11">
            <a:extLst>
              <a:ext uri="{FF2B5EF4-FFF2-40B4-BE49-F238E27FC236}">
                <a16:creationId xmlns:a16="http://schemas.microsoft.com/office/drawing/2014/main" id="{5D0449E3-FFC5-1105-C8D3-B98123563B07}"/>
              </a:ext>
            </a:extLst>
          </p:cNvPr>
          <p:cNvSpPr/>
          <p:nvPr/>
        </p:nvSpPr>
        <p:spPr>
          <a:xfrm>
            <a:off x="6718499" y="5472859"/>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Built in Integration with the industries most advanced Threat Intelligence LLM (built with Flashpoint Intelligence)</a:t>
            </a:r>
            <a:endParaRPr lang="en-US" sz="1083" dirty="0">
              <a:latin typeface="Optima" panose="02000503060000020004" pitchFamily="2" charset="0"/>
            </a:endParaRPr>
          </a:p>
        </p:txBody>
      </p:sp>
      <p:sp>
        <p:nvSpPr>
          <p:cNvPr id="19" name="Title 18">
            <a:extLst>
              <a:ext uri="{FF2B5EF4-FFF2-40B4-BE49-F238E27FC236}">
                <a16:creationId xmlns:a16="http://schemas.microsoft.com/office/drawing/2014/main" id="{D3C18566-4665-FFCC-0474-BA5AEA86674E}"/>
              </a:ext>
            </a:extLst>
          </p:cNvPr>
          <p:cNvSpPr>
            <a:spLocks noGrp="1"/>
          </p:cNvSpPr>
          <p:nvPr>
            <p:ph type="title" idx="4294967295"/>
          </p:nvPr>
        </p:nvSpPr>
        <p:spPr>
          <a:xfrm>
            <a:off x="838729" y="365125"/>
            <a:ext cx="10514542" cy="652684"/>
          </a:xfrm>
          <a:prstGeom prst="rect">
            <a:avLst/>
          </a:prstGeom>
        </p:spPr>
        <p:txBody>
          <a:bodyPr/>
          <a:lstStyle/>
          <a:p>
            <a:r>
              <a:rPr lang="en-US" b="1" dirty="0">
                <a:solidFill>
                  <a:srgbClr val="333F70"/>
                </a:solidFill>
                <a:latin typeface="Unbounded Bold" pitchFamily="34" charset="0"/>
                <a:ea typeface="Unbounded Bold" pitchFamily="34" charset="-122"/>
                <a:cs typeface="Unbounded Bold" pitchFamily="34" charset="-120"/>
              </a:rPr>
              <a:t>Enterprise Grade Security</a:t>
            </a:r>
            <a:endParaRPr lang="en-US" dirty="0"/>
          </a:p>
        </p:txBody>
      </p:sp>
    </p:spTree>
    <p:extLst>
      <p:ext uri="{BB962C8B-B14F-4D97-AF65-F5344CB8AC3E}">
        <p14:creationId xmlns:p14="http://schemas.microsoft.com/office/powerpoint/2010/main" val="588816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1BBC70-2425-56E7-5010-B547D02C1984}"/>
              </a:ext>
            </a:extLst>
          </p:cNvPr>
          <p:cNvSpPr txBox="1"/>
          <p:nvPr/>
        </p:nvSpPr>
        <p:spPr>
          <a:xfrm>
            <a:off x="457200" y="1351757"/>
            <a:ext cx="6027482" cy="3970318"/>
          </a:xfrm>
          <a:prstGeom prst="rect">
            <a:avLst/>
          </a:prstGeom>
          <a:noFill/>
        </p:spPr>
        <p:txBody>
          <a:bodyPr wrap="square">
            <a:spAutoFit/>
          </a:bodyPr>
          <a:lstStyle/>
          <a:p>
            <a:r>
              <a:rPr lang="en-US" sz="2800" i="1"/>
              <a:t>Stop the madness!</a:t>
            </a:r>
          </a:p>
          <a:p>
            <a:endParaRPr lang="en-US" sz="2800"/>
          </a:p>
          <a:p>
            <a:r>
              <a:rPr lang="en-US" sz="2800"/>
              <a:t>Consolidate threat sources and normalize the data. Feed into CTI-LLM that collates the detailed technical info with best-in-class industry knowledge (Ignite).</a:t>
            </a:r>
          </a:p>
          <a:p>
            <a:endParaRPr lang="en-US" sz="2800"/>
          </a:p>
          <a:p>
            <a:r>
              <a:rPr lang="en-US" sz="2800"/>
              <a:t>Enter Athena…</a:t>
            </a:r>
          </a:p>
        </p:txBody>
      </p:sp>
      <p:pic>
        <p:nvPicPr>
          <p:cNvPr id="4" name="Picture 3">
            <a:extLst>
              <a:ext uri="{FF2B5EF4-FFF2-40B4-BE49-F238E27FC236}">
                <a16:creationId xmlns:a16="http://schemas.microsoft.com/office/drawing/2014/main" id="{68DC5D95-96EC-4753-7E25-23AF75656FE6}"/>
              </a:ext>
            </a:extLst>
          </p:cNvPr>
          <p:cNvPicPr>
            <a:picLocks noChangeAspect="1"/>
          </p:cNvPicPr>
          <p:nvPr/>
        </p:nvPicPr>
        <p:blipFill>
          <a:blip r:embed="rId2"/>
          <a:stretch>
            <a:fillRect/>
          </a:stretch>
        </p:blipFill>
        <p:spPr>
          <a:xfrm>
            <a:off x="7294910" y="0"/>
            <a:ext cx="4292347" cy="6858000"/>
          </a:xfrm>
          <a:prstGeom prst="rect">
            <a:avLst/>
          </a:prstGeom>
        </p:spPr>
      </p:pic>
    </p:spTree>
    <p:extLst>
      <p:ext uri="{BB962C8B-B14F-4D97-AF65-F5344CB8AC3E}">
        <p14:creationId xmlns:p14="http://schemas.microsoft.com/office/powerpoint/2010/main" val="1014833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6EB4DC67-5286-4E88-90B5-D3D6B79E5796}"/>
              </a:ext>
            </a:extLst>
          </p:cNvPr>
          <p:cNvSpPr/>
          <p:nvPr/>
        </p:nvSpPr>
        <p:spPr>
          <a:xfrm>
            <a:off x="1108501" y="3443736"/>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5"/>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9"/>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2"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1" name="Oval 50">
            <a:extLst>
              <a:ext uri="{FF2B5EF4-FFF2-40B4-BE49-F238E27FC236}">
                <a16:creationId xmlns:a16="http://schemas.microsoft.com/office/drawing/2014/main" id="{E4695610-7443-41A2-8CA5-401FAD026F15}"/>
              </a:ext>
            </a:extLst>
          </p:cNvPr>
          <p:cNvSpPr/>
          <p:nvPr/>
        </p:nvSpPr>
        <p:spPr>
          <a:xfrm flipV="1">
            <a:off x="5993863" y="4627530"/>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50" y="4020236"/>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3" y="4083099"/>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9"/>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60"/>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60"/>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470210" y="1532756"/>
            <a:ext cx="2074046" cy="374398"/>
          </a:xfrm>
          <a:prstGeom prst="rect">
            <a:avLst/>
          </a:prstGeom>
          <a:noFill/>
        </p:spPr>
        <p:txBody>
          <a:bodyPr wrap="square" rtlCol="0">
            <a:spAutoFit/>
          </a:bodyPr>
          <a:lstStyle/>
          <a:p>
            <a:pPr algn="ctr"/>
            <a:r>
              <a:rPr lang="en-IN" sz="1833" dirty="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810835" y="1532756"/>
            <a:ext cx="2060447" cy="374398"/>
          </a:xfrm>
          <a:prstGeom prst="rect">
            <a:avLst/>
          </a:prstGeom>
          <a:noFill/>
        </p:spPr>
        <p:txBody>
          <a:bodyPr wrap="square" rtlCol="0">
            <a:spAutoFit/>
          </a:bodyPr>
          <a:lstStyle/>
          <a:p>
            <a:pPr algn="ctr"/>
            <a:r>
              <a:rPr lang="en-IN" sz="1833" dirty="0">
                <a:solidFill>
                  <a:schemeClr val="accent3"/>
                </a:solidFill>
                <a:latin typeface="Open Sans"/>
              </a:rPr>
              <a:t>Q1-Q2 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5915" y="1532756"/>
            <a:ext cx="2060446" cy="374398"/>
          </a:xfrm>
          <a:prstGeom prst="rect">
            <a:avLst/>
          </a:prstGeom>
          <a:noFill/>
        </p:spPr>
        <p:txBody>
          <a:bodyPr wrap="square" rtlCol="0">
            <a:spAutoFit/>
          </a:bodyPr>
          <a:lstStyle/>
          <a:p>
            <a:pPr algn="ctr"/>
            <a:r>
              <a:rPr lang="en-IN" sz="1833" dirty="0">
                <a:solidFill>
                  <a:schemeClr val="accent4"/>
                </a:solidFill>
                <a:latin typeface="Open Sans"/>
              </a:rPr>
              <a:t>Q3-Q4 2026</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44480" y="1532756"/>
            <a:ext cx="2096171" cy="374398"/>
          </a:xfrm>
          <a:prstGeom prst="rect">
            <a:avLst/>
          </a:prstGeom>
          <a:noFill/>
        </p:spPr>
        <p:txBody>
          <a:bodyPr wrap="square" rtlCol="0">
            <a:spAutoFit/>
          </a:bodyPr>
          <a:lstStyle/>
          <a:p>
            <a:r>
              <a:rPr lang="en-IN" sz="1833" dirty="0">
                <a:solidFill>
                  <a:schemeClr val="accent5"/>
                </a:solidFill>
                <a:latin typeface="Open Sans"/>
              </a:rPr>
              <a:t>2027 -&gt;</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341417" y="2023573"/>
            <a:ext cx="2074047" cy="271934"/>
          </a:xfrm>
          <a:prstGeom prst="rect">
            <a:avLst/>
          </a:prstGeom>
          <a:noFill/>
        </p:spPr>
        <p:txBody>
          <a:bodyPr wrap="square" rtlCol="0" anchor="b">
            <a:spAutoFit/>
          </a:bodyPr>
          <a:lstStyle/>
          <a:p>
            <a:r>
              <a:rPr lang="en-US" sz="1167" b="1" kern="0" dirty="0">
                <a:solidFill>
                  <a:schemeClr val="accent1"/>
                </a:solidFill>
                <a:latin typeface="Open Sans"/>
                <a:cs typeface="Arial" panose="020B0604020202020204" pitchFamily="34" charset="0"/>
              </a:rPr>
              <a:t>ALPHA / BETA </a:t>
            </a:r>
            <a:endParaRPr lang="en-IN" sz="1167" b="1" dirty="0">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853389" y="2023573"/>
            <a:ext cx="2074047" cy="271934"/>
          </a:xfrm>
          <a:prstGeom prst="rect">
            <a:avLst/>
          </a:prstGeom>
          <a:noFill/>
        </p:spPr>
        <p:txBody>
          <a:bodyPr wrap="square" rtlCol="0" anchor="b">
            <a:spAutoFit/>
          </a:bodyPr>
          <a:lstStyle/>
          <a:p>
            <a:r>
              <a:rPr lang="en-US" sz="1167" b="1" kern="0" dirty="0">
                <a:solidFill>
                  <a:schemeClr val="accent3"/>
                </a:solidFill>
                <a:latin typeface="Open Sans"/>
                <a:cs typeface="Arial" panose="020B0604020202020204" pitchFamily="34" charset="0"/>
              </a:rPr>
              <a:t>Gamma (GA)</a:t>
            </a:r>
            <a:endParaRPr lang="en-IN" sz="1167" b="1" dirty="0">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327143" y="2023573"/>
            <a:ext cx="2074047" cy="271934"/>
          </a:xfrm>
          <a:prstGeom prst="rect">
            <a:avLst/>
          </a:prstGeom>
          <a:noFill/>
        </p:spPr>
        <p:txBody>
          <a:bodyPr wrap="square" rtlCol="0" anchor="b">
            <a:spAutoFit/>
          </a:bodyPr>
          <a:lstStyle/>
          <a:p>
            <a:r>
              <a:rPr lang="en-US" sz="1167" b="1" kern="0" dirty="0">
                <a:solidFill>
                  <a:schemeClr val="accent4"/>
                </a:solidFill>
                <a:latin typeface="Open Sans"/>
                <a:cs typeface="Arial" panose="020B0604020202020204" pitchFamily="34" charset="0"/>
              </a:rPr>
              <a:t>DELTA</a:t>
            </a:r>
            <a:endParaRPr lang="en-IN" sz="1167" b="1" dirty="0">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646103" y="2023573"/>
            <a:ext cx="2074047" cy="271934"/>
          </a:xfrm>
          <a:prstGeom prst="rect">
            <a:avLst/>
          </a:prstGeom>
          <a:noFill/>
        </p:spPr>
        <p:txBody>
          <a:bodyPr wrap="square" rtlCol="0" anchor="b">
            <a:spAutoFit/>
          </a:bodyPr>
          <a:lstStyle/>
          <a:p>
            <a:r>
              <a:rPr lang="en-US" sz="1167" b="1" kern="0" dirty="0">
                <a:solidFill>
                  <a:schemeClr val="accent5"/>
                </a:solidFill>
                <a:latin typeface="Open Sans"/>
                <a:cs typeface="Arial" panose="020B0604020202020204" pitchFamily="34" charset="0"/>
              </a:rPr>
              <a:t>EPSILON</a:t>
            </a:r>
            <a:endParaRPr lang="en-IN" sz="1167" b="1" dirty="0">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19415" y="2442868"/>
            <a:ext cx="1721057" cy="1754326"/>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Entity &amp; Team Build. </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Site setup and Branding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Proof of Concept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Initial Round Funding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SaaS Operations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BETA Product Delivery</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Go to Market Strategy</a:t>
            </a:r>
          </a:p>
        </p:txBody>
      </p:sp>
      <p:sp>
        <p:nvSpPr>
          <p:cNvPr id="7" name="TextBox 6">
            <a:extLst>
              <a:ext uri="{FF2B5EF4-FFF2-40B4-BE49-F238E27FC236}">
                <a16:creationId xmlns:a16="http://schemas.microsoft.com/office/drawing/2014/main" id="{20928F6C-A3B0-E55D-1FAB-64A3330A2F42}"/>
              </a:ext>
            </a:extLst>
          </p:cNvPr>
          <p:cNvSpPr txBox="1"/>
          <p:nvPr/>
        </p:nvSpPr>
        <p:spPr>
          <a:xfrm>
            <a:off x="3829063" y="2443935"/>
            <a:ext cx="1643840" cy="1515800"/>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Team &amp; Pipeline</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2 Certification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Promachos GA</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CTI-LLM GA</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Customer Adoption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Operations</a:t>
            </a:r>
          </a:p>
        </p:txBody>
      </p:sp>
      <p:sp>
        <p:nvSpPr>
          <p:cNvPr id="8" name="TextBox 7">
            <a:extLst>
              <a:ext uri="{FF2B5EF4-FFF2-40B4-BE49-F238E27FC236}">
                <a16:creationId xmlns:a16="http://schemas.microsoft.com/office/drawing/2014/main" id="{DD9633C3-4D73-F5A3-2FE8-ED00E3E532F8}"/>
              </a:ext>
            </a:extLst>
          </p:cNvPr>
          <p:cNvSpPr txBox="1"/>
          <p:nvPr/>
        </p:nvSpPr>
        <p:spPr>
          <a:xfrm>
            <a:off x="6327144" y="2443935"/>
            <a:ext cx="1848388" cy="1677382"/>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Second Round Funding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Generation II CTI-LLM</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Promachos V2.0</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Partner Channel Development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&amp; Marketing Scale</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Support &amp; Services Teams</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1226" y="2445005"/>
            <a:ext cx="1848388" cy="1438855"/>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Market Disruption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Advanced AI Capabilities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Extended Integration Footprint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Regulated Companies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European Expansion</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386045" y="5754831"/>
            <a:ext cx="6316870" cy="800219"/>
          </a:xfrm>
          <a:prstGeom prst="rect">
            <a:avLst/>
          </a:prstGeom>
          <a:noFill/>
        </p:spPr>
        <p:txBody>
          <a:bodyPr wrap="square" lIns="0" tIns="0" rIns="0" bIns="0" rtlCol="0" anchor="ctr">
            <a:spAutoFit/>
          </a:bodyPr>
          <a:lstStyle/>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Release Early &amp; Often</a:t>
            </a:r>
          </a:p>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Raise funds only as necessary</a:t>
            </a:r>
            <a:endParaRPr lang="en-US" sz="1400" i="1" dirty="0">
              <a:solidFill>
                <a:schemeClr val="tx1">
                  <a:lumMod val="75000"/>
                  <a:lumOff val="25000"/>
                </a:schemeClr>
              </a:solidFill>
              <a:ea typeface="Calibri Light" charset="0"/>
              <a:cs typeface="Segoe UI" panose="020B0502040204020203" pitchFamily="34" charset="0"/>
            </a:endParaRPr>
          </a:p>
        </p:txBody>
      </p:sp>
      <p:sp>
        <p:nvSpPr>
          <p:cNvPr id="2" name="Title 1">
            <a:extLst>
              <a:ext uri="{FF2B5EF4-FFF2-40B4-BE49-F238E27FC236}">
                <a16:creationId xmlns:a16="http://schemas.microsoft.com/office/drawing/2014/main" id="{7C4886D8-1237-5A6B-D824-D5B85CDDFF93}"/>
              </a:ext>
            </a:extLst>
          </p:cNvPr>
          <p:cNvSpPr txBox="1">
            <a:spLocks/>
          </p:cNvSpPr>
          <p:nvPr/>
        </p:nvSpPr>
        <p:spPr>
          <a:xfrm>
            <a:off x="370344" y="169382"/>
            <a:ext cx="10514542" cy="95735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67" b="1" dirty="0">
                <a:solidFill>
                  <a:srgbClr val="333F70"/>
                </a:solidFill>
                <a:latin typeface="Unbounded Bold" pitchFamily="34" charset="0"/>
                <a:ea typeface="Unbounded Bold" pitchFamily="34" charset="-122"/>
                <a:cs typeface="Unbounded Bold" pitchFamily="34" charset="-120"/>
              </a:rPr>
              <a:t>Product Roadmap</a:t>
            </a:r>
            <a:endParaRPr lang="en-US" sz="3667" dirty="0"/>
          </a:p>
        </p:txBody>
      </p:sp>
    </p:spTree>
    <p:extLst>
      <p:ext uri="{BB962C8B-B14F-4D97-AF65-F5344CB8AC3E}">
        <p14:creationId xmlns:p14="http://schemas.microsoft.com/office/powerpoint/2010/main" val="370403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427F6-54B3-F9F6-A158-97D6874CC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18F04-9ABE-E6DA-5C26-E34C2B9316D6}"/>
              </a:ext>
            </a:extLst>
          </p:cNvPr>
          <p:cNvSpPr>
            <a:spLocks noGrp="1"/>
          </p:cNvSpPr>
          <p:nvPr>
            <p:ph type="title"/>
          </p:nvPr>
        </p:nvSpPr>
        <p:spPr/>
        <p:txBody>
          <a:bodyPr/>
          <a:lstStyle/>
          <a:p>
            <a:r>
              <a:rPr lang="en-US" dirty="0"/>
              <a:t>Athena-CTI-LLM</a:t>
            </a:r>
          </a:p>
        </p:txBody>
      </p:sp>
      <p:sp>
        <p:nvSpPr>
          <p:cNvPr id="3" name="Text Placeholder 2">
            <a:extLst>
              <a:ext uri="{FF2B5EF4-FFF2-40B4-BE49-F238E27FC236}">
                <a16:creationId xmlns:a16="http://schemas.microsoft.com/office/drawing/2014/main" id="{01BF9632-4F93-0FA1-B3E1-09D8815B85E3}"/>
              </a:ext>
            </a:extLst>
          </p:cNvPr>
          <p:cNvSpPr>
            <a:spLocks noGrp="1"/>
          </p:cNvSpPr>
          <p:nvPr>
            <p:ph type="body" idx="1"/>
          </p:nvPr>
        </p:nvSpPr>
        <p:spPr/>
        <p:txBody>
          <a:bodyPr/>
          <a:lstStyle/>
          <a:p>
            <a:r>
              <a:rPr lang="en-US" dirty="0"/>
              <a:t>Using CTI Data to Instruction Fine Tune a State of the Art CTI LLM</a:t>
            </a:r>
          </a:p>
        </p:txBody>
      </p:sp>
    </p:spTree>
    <p:extLst>
      <p:ext uri="{BB962C8B-B14F-4D97-AF65-F5344CB8AC3E}">
        <p14:creationId xmlns:p14="http://schemas.microsoft.com/office/powerpoint/2010/main" val="173555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a:solidFill>
                  <a:schemeClr val="tx1"/>
                </a:solidFill>
              </a:rPr>
              <a:t>Foundational Use Cases for Cyber Security Language Models</a:t>
            </a:r>
            <a:r>
              <a:rPr lang="en-US" sz="280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a:t>6. Intelligent Threat Intelligence</a:t>
            </a:r>
          </a:p>
          <a:p>
            <a:pPr marL="0" indent="0">
              <a:spcBef>
                <a:spcPts val="600"/>
              </a:spcBef>
              <a:buNone/>
            </a:pPr>
            <a:r>
              <a:rPr lang="en-US" sz="90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a:p>
          <a:p>
            <a:pPr>
              <a:spcBef>
                <a:spcPts val="600"/>
              </a:spcBef>
              <a:buNone/>
            </a:pPr>
            <a:r>
              <a:rPr lang="en-US" sz="900" b="1"/>
              <a:t>7. Cybersecurity Assistant (Chatbot/Virtual Analyst)</a:t>
            </a:r>
          </a:p>
          <a:p>
            <a:pPr marL="0" indent="0">
              <a:spcBef>
                <a:spcPts val="600"/>
              </a:spcBef>
              <a:buNone/>
            </a:pPr>
            <a:r>
              <a:rPr lang="en-US" sz="90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a:p>
          <a:p>
            <a:pPr>
              <a:spcBef>
                <a:spcPts val="600"/>
              </a:spcBef>
              <a:buNone/>
            </a:pPr>
            <a:r>
              <a:rPr lang="en-US" sz="900" b="1"/>
              <a:t>8. Code and Software Security Analysis</a:t>
            </a:r>
          </a:p>
          <a:p>
            <a:pPr marL="0" indent="0">
              <a:spcBef>
                <a:spcPts val="600"/>
              </a:spcBef>
              <a:buNone/>
            </a:pPr>
            <a:r>
              <a:rPr lang="en-US" sz="90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a:p>
          <a:p>
            <a:pPr>
              <a:spcBef>
                <a:spcPts val="600"/>
              </a:spcBef>
              <a:buNone/>
            </a:pPr>
            <a:r>
              <a:rPr lang="en-US" sz="900" b="1"/>
              <a:t>9. Enhanced SIEM and Log Analysis</a:t>
            </a:r>
          </a:p>
          <a:p>
            <a:pPr marL="0" indent="0">
              <a:spcBef>
                <a:spcPts val="600"/>
              </a:spcBef>
              <a:buNone/>
            </a:pPr>
            <a:r>
              <a:rPr lang="en-US" sz="90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a:p>
          <a:p>
            <a:pPr>
              <a:spcBef>
                <a:spcPts val="600"/>
              </a:spcBef>
              <a:buNone/>
            </a:pPr>
            <a:r>
              <a:rPr lang="en-US" sz="900" b="1"/>
              <a:t>10. Retrieval-Augmented Generation (RAG) for Security</a:t>
            </a:r>
          </a:p>
          <a:p>
            <a:pPr marL="0" indent="0">
              <a:spcBef>
                <a:spcPts val="600"/>
              </a:spcBef>
              <a:buNone/>
            </a:pPr>
            <a:r>
              <a:rPr lang="en-US" sz="90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a:t>1. Threat Detection and Anomaly Identification</a:t>
            </a:r>
          </a:p>
          <a:p>
            <a:pPr marL="0" indent="0">
              <a:spcBef>
                <a:spcPts val="600"/>
              </a:spcBef>
              <a:buNone/>
            </a:pPr>
            <a:r>
              <a:rPr lang="en-US" sz="90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a:p>
          <a:p>
            <a:pPr>
              <a:spcBef>
                <a:spcPts val="600"/>
              </a:spcBef>
              <a:buNone/>
            </a:pPr>
            <a:r>
              <a:rPr lang="en-US" sz="900" b="1"/>
              <a:t>2. Security Incident Response Automation</a:t>
            </a:r>
          </a:p>
          <a:p>
            <a:pPr marL="0" indent="0">
              <a:spcBef>
                <a:spcPts val="600"/>
              </a:spcBef>
              <a:buNone/>
            </a:pPr>
            <a:r>
              <a:rPr lang="en-US" sz="90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a:p>
          <a:p>
            <a:pPr>
              <a:spcBef>
                <a:spcPts val="600"/>
              </a:spcBef>
              <a:buNone/>
            </a:pPr>
            <a:r>
              <a:rPr lang="en-US" sz="900" b="1"/>
              <a:t>3. Vulnerability Assessment and Management</a:t>
            </a:r>
          </a:p>
          <a:p>
            <a:pPr marL="0" indent="0">
              <a:spcBef>
                <a:spcPts val="600"/>
              </a:spcBef>
              <a:buNone/>
            </a:pPr>
            <a:r>
              <a:rPr lang="en-US" sz="90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a:p>
          <a:p>
            <a:pPr>
              <a:spcBef>
                <a:spcPts val="600"/>
              </a:spcBef>
              <a:buNone/>
            </a:pPr>
            <a:r>
              <a:rPr lang="en-US" sz="900" b="1"/>
              <a:t>4. Phishing and Social Engineering Detection</a:t>
            </a:r>
          </a:p>
          <a:p>
            <a:pPr marL="0" indent="0">
              <a:spcBef>
                <a:spcPts val="600"/>
              </a:spcBef>
              <a:buNone/>
            </a:pPr>
            <a:r>
              <a:rPr lang="en-US" sz="90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a:p>
          <a:p>
            <a:pPr>
              <a:spcBef>
                <a:spcPts val="600"/>
              </a:spcBef>
              <a:buNone/>
            </a:pPr>
            <a:r>
              <a:rPr lang="en-US" sz="900" b="1"/>
              <a:t>5. Cybersecurity Documentation and Compliance Automation</a:t>
            </a:r>
          </a:p>
          <a:p>
            <a:pPr marL="0" indent="0">
              <a:spcBef>
                <a:spcPts val="600"/>
              </a:spcBef>
              <a:buNone/>
            </a:pPr>
            <a:r>
              <a:rPr lang="en-US" sz="90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00330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a:solidFill>
                            <a:schemeClr val="tx1"/>
                          </a:solidFill>
                          <a:effectLst/>
                        </a:rPr>
                        <a:t>Model Name</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Introduced</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Developer(s)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Base Model</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Training Methodology</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Targeted Domains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a:solidFill>
                            <a:schemeClr val="tx1"/>
                          </a:solidFill>
                          <a:effectLst/>
                        </a:rPr>
                        <a:t>CyberPal.AI</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a:solidFill>
                            <a:schemeClr val="tx1"/>
                          </a:solidFill>
                          <a:effectLst/>
                        </a:rPr>
                        <a:t>Aug-24</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Not specified</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Instruction tuning with SecKnowledge dataset; evaluated using SecKnowledge-Eval benchmark</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a:solidFill>
                            <a:schemeClr val="tx1"/>
                          </a:solidFill>
                          <a:effectLst/>
                        </a:rPr>
                        <a:t>Llama-Primus</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Feb-25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Llama-3.1-8B-Instruct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on cybersecurity corpus; instruction fine-tuning with curated QA tasks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err="1">
                          <a:solidFill>
                            <a:schemeClr val="tx1"/>
                          </a:solidFill>
                          <a:effectLst/>
                        </a:rPr>
                        <a:t>SecBERT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cybersecurity texts including </a:t>
                      </a:r>
                      <a:r>
                        <a:rPr lang="en-US" sz="900" u="none" strike="noStrike" cap="none" spc="0" err="1">
                          <a:solidFill>
                            <a:schemeClr val="tx1"/>
                          </a:solidFill>
                          <a:effectLst/>
                        </a:rPr>
                        <a:t>APTnotes</a:t>
                      </a:r>
                      <a:r>
                        <a:rPr lang="en-US" sz="900" u="none" strike="noStrike" cap="none" spc="0">
                          <a:solidFill>
                            <a:schemeClr val="tx1"/>
                          </a:solidFill>
                          <a:effectLst/>
                        </a:rPr>
                        <a:t>, Stucco-Data, CASIE, and SemEval-2018 Task 8; custom vocabulary</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err="1">
                          <a:solidFill>
                            <a:schemeClr val="tx1"/>
                          </a:solidFill>
                          <a:effectLst/>
                        </a:rPr>
                        <a:t>SecureBERT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with customized tokenizer on large corpus of cybersecurity 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a:solidFill>
                            <a:schemeClr val="tx1"/>
                          </a:solidFill>
                          <a:effectLst/>
                        </a:rPr>
                        <a:t>CTI-BERT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high-quality cybersecurity corpus containing CTI reports and publications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Cyber threat intelligence extraction, security entity (</a:t>
                      </a:r>
                      <a:r>
                        <a:rPr lang="en-US" sz="900" u="none" strike="noStrike" cap="none" spc="0" err="1">
                          <a:solidFill>
                            <a:schemeClr val="tx1"/>
                          </a:solidFill>
                          <a:effectLst/>
                        </a:rPr>
                        <a:t>IoCs</a:t>
                      </a:r>
                      <a:r>
                        <a:rPr lang="en-US" sz="900" u="none" strike="noStrike" cap="none" spc="0">
                          <a:solidFill>
                            <a:schemeClr val="tx1"/>
                          </a:solidFill>
                          <a:effectLst/>
                        </a:rPr>
                        <a:t>) extraction, attack technique (TTPs) classification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err="1">
                          <a:solidFill>
                            <a:schemeClr val="tx1"/>
                          </a:solidFill>
                          <a:effectLst/>
                        </a:rPr>
                        <a:t>SecurityLLM</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Direct Preference Optimization (DPO) training across 30+ security domains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Threat analysis, compliance verification, security architecture reviews, SOC operations, risk management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err="1">
                          <a:solidFill>
                            <a:schemeClr val="tx1"/>
                          </a:solidFill>
                          <a:effectLst/>
                        </a:rPr>
                        <a:t>SecurityBERT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Mohamed Amine </a:t>
                      </a:r>
                      <a:r>
                        <a:rPr lang="en-US" sz="900" u="none" strike="noStrike" cap="none" spc="0" err="1">
                          <a:solidFill>
                            <a:schemeClr val="tx1"/>
                          </a:solidFill>
                          <a:effectLst/>
                        </a:rPr>
                        <a:t>Ferrag</a:t>
                      </a:r>
                      <a:r>
                        <a:rPr lang="en-US" sz="900" u="none" strike="noStrike" cap="none" spc="0">
                          <a:solidFill>
                            <a:schemeClr val="tx1"/>
                          </a:solidFill>
                          <a:effectLst/>
                        </a:rPr>
                        <a:t>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Privacy-preserving encoding technique (PPFLE) combined with Byte-level Byte-Pair Encoder (BBPE) Tokenizer; trained on IoT data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Cyber threat detection in IoT/</a:t>
                      </a:r>
                      <a:r>
                        <a:rPr lang="en-US" sz="900" u="none" strike="noStrike" cap="none" spc="0" err="1">
                          <a:solidFill>
                            <a:schemeClr val="tx1"/>
                          </a:solidFill>
                          <a:effectLst/>
                        </a:rPr>
                        <a:t>IIoT</a:t>
                      </a:r>
                      <a:r>
                        <a:rPr lang="en-US" sz="900" u="none" strike="noStrike" cap="none" spc="0">
                          <a:solidFill>
                            <a:schemeClr val="tx1"/>
                          </a:solidFill>
                          <a:effectLst/>
                        </a:rPr>
                        <a:t> devices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344852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a:solidFill>
                  <a:schemeClr val="tx1"/>
                </a:solidFill>
              </a:rPr>
              <a:t>Evaluating the Performance of Cyber Security LLMs</a:t>
            </a:r>
            <a:br>
              <a:rPr lang="en-US" sz="2400">
                <a:solidFill>
                  <a:schemeClr val="tx1"/>
                </a:solidFill>
              </a:rPr>
            </a:br>
            <a:r>
              <a:rPr lang="en-US" sz="1600" i="1">
                <a:solidFill>
                  <a:schemeClr val="tx1"/>
                </a:solidFill>
              </a:rPr>
              <a:t>Benchmarks for Cyber Security Language Models</a:t>
            </a:r>
            <a:endParaRPr lang="en-US" sz="2400" i="1">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878721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B2EE8-CFF4-EDAE-7CFF-7F9C42A8A51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502F490-A141-646E-F0B3-27C2923F4AB7}"/>
              </a:ext>
            </a:extLst>
          </p:cNvPr>
          <p:cNvSpPr/>
          <p:nvPr/>
        </p:nvSpPr>
        <p:spPr>
          <a:xfrm>
            <a:off x="492782" y="1456569"/>
            <a:ext cx="6148975" cy="2211138"/>
          </a:xfrm>
          <a:prstGeom prst="rect">
            <a:avLst/>
          </a:prstGeom>
          <a:noFill/>
          <a:ln/>
        </p:spPr>
        <p:txBody>
          <a:bodyPr wrap="square" lIns="0" tIns="0" rIns="0" bIns="0" rtlCol="0" anchor="t"/>
          <a:lstStyle/>
          <a:p>
            <a:r>
              <a:rPr lang="en-US" sz="1000" dirty="0">
                <a:solidFill>
                  <a:srgbClr val="2C2821"/>
                </a:solidFill>
                <a:latin typeface="Optima" panose="02000503060000020004" pitchFamily="2" charset="0"/>
                <a:ea typeface="Lora" pitchFamily="34" charset="-122"/>
                <a:cs typeface="Lora" pitchFamily="34" charset="-120"/>
              </a:rPr>
              <a:t>Cyber Threat Intelligence (CTI) is the cornerstone of effective cyber security. It involves the systematic collection, analysis, and dissemination of information about existing and potential threats to an organization’s digital infrastructure. </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CTI provides crucial insights into attacker tactics, techniques, and procedures (TTPs), vulnerabilities, and emerging threats. Armed with this intelligence, organizations can make informed decisions, strengthen their defenses, and mitigate risks.</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The expanding use of LLM in cyber security is bringing substantial changes to the CTI landscape. These models excel at processing unstructured data, which constitutes a significant portion of threat intelligence. By ingesting massive volumes of security reports, blogs, news articles, social media posts, and technical documents, LLMs can extract relevant information, identify patterns, and uncover hidden connections. </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This ability to sift through mountains of data and distill actionable insights is invaluable for security analysts, who can now leverage more diverse and comprehensive intelligence sources than ever before.</a:t>
            </a:r>
            <a:endParaRPr lang="en-US" sz="1000" dirty="0">
              <a:latin typeface="Optima" panose="02000503060000020004" pitchFamily="2" charset="0"/>
            </a:endParaRPr>
          </a:p>
        </p:txBody>
      </p:sp>
      <p:sp>
        <p:nvSpPr>
          <p:cNvPr id="5" name="Text 3">
            <a:extLst>
              <a:ext uri="{FF2B5EF4-FFF2-40B4-BE49-F238E27FC236}">
                <a16:creationId xmlns:a16="http://schemas.microsoft.com/office/drawing/2014/main" id="{91B6C2B7-DBFB-23FD-11C5-C865CEFB0E2D}"/>
              </a:ext>
            </a:extLst>
          </p:cNvPr>
          <p:cNvSpPr/>
          <p:nvPr/>
        </p:nvSpPr>
        <p:spPr>
          <a:xfrm>
            <a:off x="1271908" y="4203482"/>
            <a:ext cx="9648185" cy="2318958"/>
          </a:xfrm>
          <a:prstGeom prst="rect">
            <a:avLst/>
          </a:prstGeom>
          <a:noFill/>
          <a:ln/>
        </p:spPr>
        <p:txBody>
          <a:bodyPr wrap="square" lIns="0" tIns="0" rIns="0" bIns="0" rtlCol="0" anchor="t"/>
          <a:lstStyle/>
          <a:p>
            <a:r>
              <a:rPr lang="en-US" sz="917" dirty="0">
                <a:solidFill>
                  <a:srgbClr val="2C2821"/>
                </a:solidFill>
                <a:latin typeface="Optima" panose="02000503060000020004" pitchFamily="2" charset="0"/>
                <a:ea typeface="Lora" pitchFamily="34" charset="-122"/>
                <a:cs typeface="Lora" pitchFamily="34" charset="-120"/>
              </a:rPr>
              <a:t>The integration of LLM threat intelligence solutions into standard workflows offers a multitude of benefits:</a:t>
            </a:r>
          </a:p>
          <a:p>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Enhanced threat detection and prediction. </a:t>
            </a:r>
            <a:r>
              <a:rPr lang="en-US" sz="917" dirty="0">
                <a:solidFill>
                  <a:srgbClr val="2C2821"/>
                </a:solidFill>
                <a:latin typeface="Optima" panose="02000503060000020004" pitchFamily="2" charset="0"/>
                <a:ea typeface="Lora" pitchFamily="34" charset="-122"/>
                <a:cs typeface="Lora" pitchFamily="34" charset="-120"/>
              </a:rPr>
              <a:t>Language models can analyze historical attack data to identify patterns and trends, enabling the proactive detection and prediction of future threats. This early warning system allows organizations to take preventative measures before attacks occur. In fact, such models can identify fourteen (14) different types of attacks with an overall accuracy of 98%. </a:t>
            </a:r>
          </a:p>
          <a:p>
            <a:pPr marL="142869" indent="-142869">
              <a:buFont typeface="Wingdings" pitchFamily="2" charset="2"/>
              <a:buChar char="ü"/>
            </a:pPr>
            <a:endParaRPr lang="en-US" sz="917" b="1"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Accelerated incident response</a:t>
            </a:r>
            <a:r>
              <a:rPr lang="en-US" sz="917" dirty="0">
                <a:solidFill>
                  <a:srgbClr val="2C2821"/>
                </a:solidFill>
                <a:latin typeface="Optima" panose="02000503060000020004" pitchFamily="2" charset="0"/>
                <a:ea typeface="Lora" pitchFamily="34" charset="-122"/>
                <a:cs typeface="Lora" pitchFamily="34" charset="-120"/>
              </a:rPr>
              <a:t>. In the aftermath of a security breach, AI systems rapidly analyze incident data to determine the scope of the attack, identify the root cause, and recommend remediation strategies. This speeds up incident reaction and minimizes damage.</a:t>
            </a:r>
          </a:p>
          <a:p>
            <a:pPr marL="142869" indent="-142869">
              <a:buFont typeface="Wingdings" pitchFamily="2" charset="2"/>
              <a:buChar char="ü"/>
            </a:pPr>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Improved threat hunting</a:t>
            </a:r>
            <a:r>
              <a:rPr lang="en-US" sz="917" dirty="0">
                <a:solidFill>
                  <a:srgbClr val="2C2821"/>
                </a:solidFill>
                <a:latin typeface="Optima" panose="02000503060000020004" pitchFamily="2" charset="0"/>
                <a:ea typeface="Lora" pitchFamily="34" charset="-122"/>
                <a:cs typeface="Lora" pitchFamily="34" charset="-120"/>
              </a:rPr>
              <a:t>. This is one of the key areas of cyber security for LLM, enabling them to continuously scan for anomalies and potential vulnerabilities in the system. By identifying patterns and deviations from normal behavior, models help analysts uncover hidden threats and take preemptive action before they cause damage.</a:t>
            </a:r>
          </a:p>
          <a:p>
            <a:pPr marL="142869" indent="-142869">
              <a:buFont typeface="Wingdings" pitchFamily="2" charset="2"/>
              <a:buChar char="ü"/>
            </a:pPr>
            <a:endParaRPr lang="en-US" sz="917" b="1"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Streamlined threat intelligence analysis</a:t>
            </a:r>
            <a:r>
              <a:rPr lang="en-US" sz="917" dirty="0">
                <a:solidFill>
                  <a:srgbClr val="2C2821"/>
                </a:solidFill>
                <a:latin typeface="Optima" panose="02000503060000020004" pitchFamily="2" charset="0"/>
                <a:ea typeface="Lora" pitchFamily="34" charset="-122"/>
                <a:cs typeface="Lora" pitchFamily="34" charset="-120"/>
              </a:rPr>
              <a:t>. Intelligent algorithms can automate many of the time-consuming and repetitive tasks such as data collection, aggregation, and correlation. This frees up analysts to focus on higher-order tasks, such as strategic planning and decision-making.</a:t>
            </a:r>
          </a:p>
          <a:p>
            <a:pPr algn="l"/>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Improved Threat Actor Profiling.</a:t>
            </a:r>
            <a:r>
              <a:rPr lang="en-US" sz="917" dirty="0">
                <a:solidFill>
                  <a:srgbClr val="2C2821"/>
                </a:solidFill>
                <a:latin typeface="Optima" panose="02000503060000020004" pitchFamily="2" charset="0"/>
                <a:ea typeface="Lora" pitchFamily="34" charset="-122"/>
                <a:cs typeface="Lora" pitchFamily="34" charset="-120"/>
              </a:rPr>
              <a:t> LLMs can analyze threat data to create comprehensive profiles of threat actors, including their motivations, tactics, techniques, and procedures, and infrastructure. This can help organizations to better understand their adversaries and develop more targeted defenses.</a:t>
            </a:r>
            <a:endParaRPr lang="en-US" sz="917" dirty="0">
              <a:latin typeface="Optima" panose="02000503060000020004" pitchFamily="2" charset="0"/>
            </a:endParaRPr>
          </a:p>
        </p:txBody>
      </p:sp>
      <p:sp>
        <p:nvSpPr>
          <p:cNvPr id="2" name="Title 1">
            <a:extLst>
              <a:ext uri="{FF2B5EF4-FFF2-40B4-BE49-F238E27FC236}">
                <a16:creationId xmlns:a16="http://schemas.microsoft.com/office/drawing/2014/main" id="{A8EC03A5-43B5-1532-3F01-F21085B04193}"/>
              </a:ext>
            </a:extLst>
          </p:cNvPr>
          <p:cNvSpPr>
            <a:spLocks noGrp="1"/>
          </p:cNvSpPr>
          <p:nvPr>
            <p:ph type="title" idx="4294967295"/>
          </p:nvPr>
        </p:nvSpPr>
        <p:spPr>
          <a:xfrm>
            <a:off x="370344" y="169382"/>
            <a:ext cx="10514542" cy="957358"/>
          </a:xfrm>
          <a:prstGeom prst="rect">
            <a:avLst/>
          </a:prstGeom>
        </p:spPr>
        <p:txBody>
          <a:bodyPr/>
          <a:lstStyle/>
          <a:p>
            <a:pPr algn="l"/>
            <a:r>
              <a:rPr lang="en-US" b="1" dirty="0">
                <a:solidFill>
                  <a:srgbClr val="333F70"/>
                </a:solidFill>
                <a:latin typeface="Unbounded Bold" pitchFamily="34" charset="0"/>
                <a:ea typeface="Unbounded Bold" pitchFamily="34" charset="-122"/>
                <a:cs typeface="Unbounded Bold" pitchFamily="34" charset="-120"/>
              </a:rPr>
              <a:t>Athena’s Cyber Threat Intelligence LLM</a:t>
            </a:r>
            <a:br>
              <a:rPr lang="en-US" b="1" dirty="0">
                <a:solidFill>
                  <a:srgbClr val="333F70"/>
                </a:solidFill>
                <a:latin typeface="Unbounded Bold" pitchFamily="34" charset="0"/>
                <a:ea typeface="Unbounded Bold" pitchFamily="34" charset="-122"/>
                <a:cs typeface="Unbounded Bold" pitchFamily="34" charset="-120"/>
              </a:rPr>
            </a:br>
            <a:r>
              <a:rPr lang="en-US" sz="2000" dirty="0">
                <a:solidFill>
                  <a:srgbClr val="333F70"/>
                </a:solidFill>
                <a:latin typeface="Unbounded Bold" pitchFamily="34" charset="0"/>
                <a:ea typeface="Unbounded Bold" pitchFamily="34" charset="-122"/>
                <a:cs typeface="Unbounded Bold" pitchFamily="34" charset="-120"/>
              </a:rPr>
              <a:t>Injecting AI directly into the Threat Response Pipeline</a:t>
            </a:r>
            <a:endParaRPr lang="en-US" dirty="0"/>
          </a:p>
        </p:txBody>
      </p:sp>
      <p:pic>
        <p:nvPicPr>
          <p:cNvPr id="1026" name="Picture 2" descr="How LLMs Amplify Cyber Threat Intelligence">
            <a:extLst>
              <a:ext uri="{FF2B5EF4-FFF2-40B4-BE49-F238E27FC236}">
                <a16:creationId xmlns:a16="http://schemas.microsoft.com/office/drawing/2014/main" id="{FE0F3372-10A2-6AAA-E01E-450C5D14F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206" y="1150034"/>
            <a:ext cx="4192831" cy="262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603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820D-0050-1C02-55D8-A8F02B726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BCDC3-4AA1-305D-5BAD-1CF73EB8466F}"/>
              </a:ext>
            </a:extLst>
          </p:cNvPr>
          <p:cNvSpPr>
            <a:spLocks noGrp="1"/>
          </p:cNvSpPr>
          <p:nvPr>
            <p:ph type="title"/>
          </p:nvPr>
        </p:nvSpPr>
        <p:spPr>
          <a:xfrm>
            <a:off x="761549" y="362349"/>
            <a:ext cx="10668451" cy="706964"/>
          </a:xfrm>
        </p:spPr>
        <p:txBody>
          <a:bodyPr/>
          <a:lstStyle/>
          <a:p>
            <a:r>
              <a:rPr lang="en-US" sz="3200" dirty="0"/>
              <a:t>Holistic LLM Design &amp; Integration Strategy</a:t>
            </a:r>
          </a:p>
        </p:txBody>
      </p:sp>
      <p:sp>
        <p:nvSpPr>
          <p:cNvPr id="3" name="Content Placeholder 2">
            <a:extLst>
              <a:ext uri="{FF2B5EF4-FFF2-40B4-BE49-F238E27FC236}">
                <a16:creationId xmlns:a16="http://schemas.microsoft.com/office/drawing/2014/main" id="{4F07738F-7F6F-3BA2-B3B5-22E30427083A}"/>
              </a:ext>
            </a:extLst>
          </p:cNvPr>
          <p:cNvSpPr>
            <a:spLocks noGrp="1"/>
          </p:cNvSpPr>
          <p:nvPr>
            <p:ph idx="1"/>
          </p:nvPr>
        </p:nvSpPr>
        <p:spPr>
          <a:xfrm>
            <a:off x="701546"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B36229D0-1872-1509-5958-F4E29453FA1A}"/>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C7479A06-4ADE-F2A8-D4D7-4F451FF6B955}"/>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8" name="Picture 7">
            <a:extLst>
              <a:ext uri="{FF2B5EF4-FFF2-40B4-BE49-F238E27FC236}">
                <a16:creationId xmlns:a16="http://schemas.microsoft.com/office/drawing/2014/main" id="{C6664798-4120-1F36-BD93-4F7CC2E004CD}"/>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54005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E1EA-BADD-4500-3BB3-594232974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D2A79-0B5B-FE3E-AA24-D715F16EBA68}"/>
              </a:ext>
            </a:extLst>
          </p:cNvPr>
          <p:cNvSpPr>
            <a:spLocks noGrp="1"/>
          </p:cNvSpPr>
          <p:nvPr>
            <p:ph type="title"/>
          </p:nvPr>
        </p:nvSpPr>
        <p:spPr/>
        <p:txBody>
          <a:bodyPr/>
          <a:lstStyle/>
          <a:p>
            <a:r>
              <a:rPr lang="en-US" dirty="0"/>
              <a:t>Instruction Finetuning (IFT)</a:t>
            </a:r>
          </a:p>
        </p:txBody>
      </p:sp>
      <p:sp>
        <p:nvSpPr>
          <p:cNvPr id="5" name="TextBox 4">
            <a:extLst>
              <a:ext uri="{FF2B5EF4-FFF2-40B4-BE49-F238E27FC236}">
                <a16:creationId xmlns:a16="http://schemas.microsoft.com/office/drawing/2014/main" id="{E9970A32-9302-A1E6-5F74-3E0EA662B617}"/>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pic>
        <p:nvPicPr>
          <p:cNvPr id="1026" name="Picture 2" descr="Instruction Tuning">
            <a:extLst>
              <a:ext uri="{FF2B5EF4-FFF2-40B4-BE49-F238E27FC236}">
                <a16:creationId xmlns:a16="http://schemas.microsoft.com/office/drawing/2014/main" id="{7BAC8707-BD90-7366-F8AE-250FD17E4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585" y="1653260"/>
            <a:ext cx="6816451" cy="41199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5A4EB2-24DC-B881-701B-855365F7DE94}"/>
              </a:ext>
            </a:extLst>
          </p:cNvPr>
          <p:cNvSpPr txBox="1"/>
          <p:nvPr/>
        </p:nvSpPr>
        <p:spPr>
          <a:xfrm>
            <a:off x="475488" y="1636824"/>
            <a:ext cx="3035808" cy="4801314"/>
          </a:xfrm>
          <a:prstGeom prst="rect">
            <a:avLst/>
          </a:prstGeom>
          <a:noFill/>
        </p:spPr>
        <p:txBody>
          <a:bodyPr wrap="square">
            <a:spAutoFit/>
          </a:bodyPr>
          <a:lstStyle/>
          <a:p>
            <a:pPr algn="l">
              <a:buNone/>
            </a:pPr>
            <a:r>
              <a:rPr lang="en-US" b="0" i="0" u="none" strike="noStrike" dirty="0">
                <a:effectLst/>
                <a:latin typeface="Plus Jakarta Sans"/>
              </a:rPr>
              <a:t>Instruction tuning involves further </a:t>
            </a:r>
            <a:r>
              <a:rPr lang="en-US" b="0" i="0" u="none" strike="noStrike" dirty="0">
                <a:solidFill>
                  <a:srgbClr val="9D60FB"/>
                </a:solidFill>
                <a:effectLst/>
                <a:latin typeface="Plus Jakarta Sans"/>
                <a:hlinkClick r:id="rId3"/>
              </a:rPr>
              <a:t>training LLMs</a:t>
            </a:r>
            <a:r>
              <a:rPr lang="en-US" b="0" i="0" u="none" strike="noStrike" dirty="0">
                <a:effectLst/>
                <a:latin typeface="Plus Jakarta Sans"/>
              </a:rPr>
              <a:t> on datasets comprising (instruction, output) pairs, enabling models to better align with human instructions across diverse tasks. While traditional fine-tuning methods rely on generic datasets, instruction fine-tuning focuses on training models to align their outputs with user-provided instructions across a diverse set of tasks.</a:t>
            </a:r>
          </a:p>
          <a:p>
            <a:pPr>
              <a:buNone/>
            </a:pPr>
            <a:br>
              <a:rPr lang="en-US" dirty="0"/>
            </a:br>
            <a:endParaRPr lang="en-US" dirty="0"/>
          </a:p>
        </p:txBody>
      </p:sp>
      <p:sp>
        <p:nvSpPr>
          <p:cNvPr id="8" name="TextBox 7">
            <a:extLst>
              <a:ext uri="{FF2B5EF4-FFF2-40B4-BE49-F238E27FC236}">
                <a16:creationId xmlns:a16="http://schemas.microsoft.com/office/drawing/2014/main" id="{1559C9FA-4064-5E92-881C-F2CF06226C6A}"/>
              </a:ext>
            </a:extLst>
          </p:cNvPr>
          <p:cNvSpPr txBox="1"/>
          <p:nvPr/>
        </p:nvSpPr>
        <p:spPr>
          <a:xfrm>
            <a:off x="6584979" y="6357151"/>
            <a:ext cx="5131533" cy="276999"/>
          </a:xfrm>
          <a:prstGeom prst="rect">
            <a:avLst/>
          </a:prstGeom>
          <a:noFill/>
        </p:spPr>
        <p:txBody>
          <a:bodyPr wrap="none" rtlCol="0">
            <a:spAutoFit/>
          </a:bodyPr>
          <a:lstStyle/>
          <a:p>
            <a:r>
              <a:rPr lang="en-US" sz="1200" i="1" dirty="0"/>
              <a:t>source: https://</a:t>
            </a:r>
            <a:r>
              <a:rPr lang="en-US" sz="1200" i="1" dirty="0" err="1"/>
              <a:t>www.deepchecks.com</a:t>
            </a:r>
            <a:r>
              <a:rPr lang="en-US" sz="1200" i="1" dirty="0"/>
              <a:t>/glossary/instruction-tuning/</a:t>
            </a:r>
          </a:p>
        </p:txBody>
      </p:sp>
    </p:spTree>
    <p:extLst>
      <p:ext uri="{BB962C8B-B14F-4D97-AF65-F5344CB8AC3E}">
        <p14:creationId xmlns:p14="http://schemas.microsoft.com/office/powerpoint/2010/main" val="2869171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241E-3110-4B1C-B9B0-F17B90FEEC1D}"/>
              </a:ext>
            </a:extLst>
          </p:cNvPr>
          <p:cNvSpPr>
            <a:spLocks noGrp="1"/>
          </p:cNvSpPr>
          <p:nvPr>
            <p:ph type="title"/>
          </p:nvPr>
        </p:nvSpPr>
        <p:spPr>
          <a:xfrm>
            <a:off x="1064962" y="246672"/>
            <a:ext cx="7390680" cy="789609"/>
          </a:xfrm>
        </p:spPr>
        <p:txBody>
          <a:bodyPr vert="horz" lIns="91440" tIns="45720" rIns="91440" bIns="45720" rtlCol="0" anchor="ctr">
            <a:normAutofit/>
          </a:bodyPr>
          <a:lstStyle/>
          <a:p>
            <a:pPr algn="ctr"/>
            <a:r>
              <a:rPr lang="en-US" dirty="0"/>
              <a:t>Ariadne: Graph Model</a:t>
            </a:r>
          </a:p>
        </p:txBody>
      </p:sp>
      <p:grpSp>
        <p:nvGrpSpPr>
          <p:cNvPr id="11" name="Group 10">
            <a:extLst>
              <a:ext uri="{FF2B5EF4-FFF2-40B4-BE49-F238E27FC236}">
                <a16:creationId xmlns:a16="http://schemas.microsoft.com/office/drawing/2014/main" id="{CF0EE028-E660-CF2F-CD25-75EDC9609240}"/>
              </a:ext>
            </a:extLst>
          </p:cNvPr>
          <p:cNvGrpSpPr/>
          <p:nvPr/>
        </p:nvGrpSpPr>
        <p:grpSpPr>
          <a:xfrm>
            <a:off x="1165752" y="1516566"/>
            <a:ext cx="10297701" cy="5096108"/>
            <a:chOff x="217898" y="406953"/>
            <a:chExt cx="11812994" cy="6285496"/>
          </a:xfrm>
        </p:grpSpPr>
        <p:sp>
          <p:nvSpPr>
            <p:cNvPr id="79" name="TextBox 78">
              <a:extLst>
                <a:ext uri="{FF2B5EF4-FFF2-40B4-BE49-F238E27FC236}">
                  <a16:creationId xmlns:a16="http://schemas.microsoft.com/office/drawing/2014/main" id="{B8BB6CCD-156F-F4BD-0D79-E5A2B2CE7F9A}"/>
                </a:ext>
              </a:extLst>
            </p:cNvPr>
            <p:cNvSpPr txBox="1"/>
            <p:nvPr/>
          </p:nvSpPr>
          <p:spPr>
            <a:xfrm>
              <a:off x="10400151" y="406953"/>
              <a:ext cx="1630741" cy="584775"/>
            </a:xfrm>
            <a:prstGeom prst="rect">
              <a:avLst/>
            </a:prstGeom>
            <a:noFill/>
          </p:spPr>
          <p:txBody>
            <a:bodyPr wrap="square" rtlCol="0">
              <a:spAutoFit/>
            </a:bodyPr>
            <a:lstStyle/>
            <a:p>
              <a:r>
                <a:rPr lang="en-CA" sz="1600" dirty="0"/>
                <a:t>Detection</a:t>
              </a:r>
            </a:p>
            <a:p>
              <a:r>
                <a:rPr lang="en-CA" sz="1600" dirty="0"/>
                <a:t>Intelligence</a:t>
              </a:r>
            </a:p>
          </p:txBody>
        </p:sp>
        <p:sp>
          <p:nvSpPr>
            <p:cNvPr id="3" name="Oval 2">
              <a:extLst>
                <a:ext uri="{FF2B5EF4-FFF2-40B4-BE49-F238E27FC236}">
                  <a16:creationId xmlns:a16="http://schemas.microsoft.com/office/drawing/2014/main" id="{7A2EFAA9-7AEA-40C9-DF1A-71E041E1398D}"/>
                </a:ext>
              </a:extLst>
            </p:cNvPr>
            <p:cNvSpPr/>
            <p:nvPr/>
          </p:nvSpPr>
          <p:spPr>
            <a:xfrm>
              <a:off x="5685101" y="1908558"/>
              <a:ext cx="1244506" cy="1221609"/>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ATT&amp;CK</a:t>
              </a:r>
            </a:p>
          </p:txBody>
        </p:sp>
        <p:sp>
          <p:nvSpPr>
            <p:cNvPr id="8" name="Oval 7">
              <a:extLst>
                <a:ext uri="{FF2B5EF4-FFF2-40B4-BE49-F238E27FC236}">
                  <a16:creationId xmlns:a16="http://schemas.microsoft.com/office/drawing/2014/main" id="{505962EB-4B3A-A536-A8D1-F79EAB35C791}"/>
                </a:ext>
              </a:extLst>
            </p:cNvPr>
            <p:cNvSpPr/>
            <p:nvPr/>
          </p:nvSpPr>
          <p:spPr>
            <a:xfrm>
              <a:off x="4670337" y="3015358"/>
              <a:ext cx="1122777" cy="1072976"/>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CAPEC</a:t>
              </a:r>
            </a:p>
          </p:txBody>
        </p:sp>
        <p:sp>
          <p:nvSpPr>
            <p:cNvPr id="9" name="Oval 8">
              <a:extLst>
                <a:ext uri="{FF2B5EF4-FFF2-40B4-BE49-F238E27FC236}">
                  <a16:creationId xmlns:a16="http://schemas.microsoft.com/office/drawing/2014/main" id="{8BF77826-E305-C177-8A77-80875196486B}"/>
                </a:ext>
              </a:extLst>
            </p:cNvPr>
            <p:cNvSpPr/>
            <p:nvPr/>
          </p:nvSpPr>
          <p:spPr>
            <a:xfrm>
              <a:off x="6670643" y="3380922"/>
              <a:ext cx="1122777" cy="1072977"/>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CWE</a:t>
              </a:r>
            </a:p>
          </p:txBody>
        </p:sp>
        <p:sp>
          <p:nvSpPr>
            <p:cNvPr id="10" name="Oval 9">
              <a:extLst>
                <a:ext uri="{FF2B5EF4-FFF2-40B4-BE49-F238E27FC236}">
                  <a16:creationId xmlns:a16="http://schemas.microsoft.com/office/drawing/2014/main" id="{283C80D9-6EA8-2D4F-3D5D-BC546D4009E5}"/>
                </a:ext>
              </a:extLst>
            </p:cNvPr>
            <p:cNvSpPr/>
            <p:nvPr/>
          </p:nvSpPr>
          <p:spPr>
            <a:xfrm>
              <a:off x="5203222" y="4453900"/>
              <a:ext cx="1122777" cy="1072976"/>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CISA CVE</a:t>
              </a:r>
            </a:p>
          </p:txBody>
        </p:sp>
        <p:cxnSp>
          <p:nvCxnSpPr>
            <p:cNvPr id="12" name="Connector: Curved 11">
              <a:extLst>
                <a:ext uri="{FF2B5EF4-FFF2-40B4-BE49-F238E27FC236}">
                  <a16:creationId xmlns:a16="http://schemas.microsoft.com/office/drawing/2014/main" id="{D138545D-8D08-7416-8196-36CCEA31068F}"/>
                </a:ext>
              </a:extLst>
            </p:cNvPr>
            <p:cNvCxnSpPr>
              <a:cxnSpLocks/>
              <a:stCxn id="3" idx="2"/>
              <a:endCxn id="8" idx="1"/>
            </p:cNvCxnSpPr>
            <p:nvPr/>
          </p:nvCxnSpPr>
          <p:spPr>
            <a:xfrm rot="10800000" flipV="1">
              <a:off x="4834766" y="2519362"/>
              <a:ext cx="850337" cy="65312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4D12FD83-0E64-BF80-AF43-1ACE57CADF63}"/>
                </a:ext>
              </a:extLst>
            </p:cNvPr>
            <p:cNvCxnSpPr>
              <a:cxnSpLocks/>
              <a:stCxn id="8" idx="7"/>
              <a:endCxn id="9" idx="1"/>
            </p:cNvCxnSpPr>
            <p:nvPr/>
          </p:nvCxnSpPr>
          <p:spPr>
            <a:xfrm rot="16200000" flipH="1">
              <a:off x="6049096" y="2752083"/>
              <a:ext cx="365565" cy="1206383"/>
            </a:xfrm>
            <a:prstGeom prst="curvedConnector3">
              <a:avLst>
                <a:gd name="adj1" fmla="val 26696"/>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7F84F3C1-3C0E-6BCE-B74B-744EC850B889}"/>
                </a:ext>
              </a:extLst>
            </p:cNvPr>
            <p:cNvCxnSpPr>
              <a:cxnSpLocks/>
              <a:stCxn id="9" idx="2"/>
              <a:endCxn id="10" idx="0"/>
            </p:cNvCxnSpPr>
            <p:nvPr/>
          </p:nvCxnSpPr>
          <p:spPr>
            <a:xfrm rot="10800000" flipV="1">
              <a:off x="5764611" y="3917411"/>
              <a:ext cx="906032" cy="536488"/>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8A5088DF-0BB3-9A0A-1A84-2CDC70701DC9}"/>
                </a:ext>
              </a:extLst>
            </p:cNvPr>
            <p:cNvSpPr/>
            <p:nvPr/>
          </p:nvSpPr>
          <p:spPr>
            <a:xfrm>
              <a:off x="2857290" y="1532763"/>
              <a:ext cx="1244506" cy="1221609"/>
            </a:xfrm>
            <a:prstGeom prst="ellipse">
              <a:avLst/>
            </a:prstGeom>
            <a:solidFill>
              <a:schemeClr val="accent3">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D3FEND</a:t>
              </a:r>
            </a:p>
          </p:txBody>
        </p:sp>
        <p:sp>
          <p:nvSpPr>
            <p:cNvPr id="50" name="Oval 49">
              <a:extLst>
                <a:ext uri="{FF2B5EF4-FFF2-40B4-BE49-F238E27FC236}">
                  <a16:creationId xmlns:a16="http://schemas.microsoft.com/office/drawing/2014/main" id="{FF0163B8-CE0A-87CC-F9DE-92C1635906C7}"/>
                </a:ext>
              </a:extLst>
            </p:cNvPr>
            <p:cNvSpPr/>
            <p:nvPr/>
          </p:nvSpPr>
          <p:spPr>
            <a:xfrm>
              <a:off x="4440595" y="720321"/>
              <a:ext cx="1319990" cy="1221609"/>
            </a:xfrm>
            <a:prstGeom prst="ellipse">
              <a:avLst/>
            </a:prstGeom>
            <a:solidFill>
              <a:schemeClr val="accent3">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ATT&amp;CK Mitigations</a:t>
              </a:r>
            </a:p>
          </p:txBody>
        </p:sp>
        <p:cxnSp>
          <p:nvCxnSpPr>
            <p:cNvPr id="51" name="Connector: Curved 50">
              <a:extLst>
                <a:ext uri="{FF2B5EF4-FFF2-40B4-BE49-F238E27FC236}">
                  <a16:creationId xmlns:a16="http://schemas.microsoft.com/office/drawing/2014/main" id="{B1327C34-2C68-5FFD-C00F-008D86EF5626}"/>
                </a:ext>
              </a:extLst>
            </p:cNvPr>
            <p:cNvCxnSpPr>
              <a:cxnSpLocks/>
              <a:stCxn id="3" idx="0"/>
              <a:endCxn id="50" idx="6"/>
            </p:cNvCxnSpPr>
            <p:nvPr/>
          </p:nvCxnSpPr>
          <p:spPr>
            <a:xfrm rot="16200000" flipV="1">
              <a:off x="5745254" y="1346457"/>
              <a:ext cx="577432" cy="54676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Curved 53">
              <a:extLst>
                <a:ext uri="{FF2B5EF4-FFF2-40B4-BE49-F238E27FC236}">
                  <a16:creationId xmlns:a16="http://schemas.microsoft.com/office/drawing/2014/main" id="{41CD653D-97A8-1199-0F52-59FAE56EF067}"/>
                </a:ext>
              </a:extLst>
            </p:cNvPr>
            <p:cNvCxnSpPr>
              <a:cxnSpLocks/>
              <a:stCxn id="50" idx="2"/>
              <a:endCxn id="49" idx="7"/>
            </p:cNvCxnSpPr>
            <p:nvPr/>
          </p:nvCxnSpPr>
          <p:spPr>
            <a:xfrm rot="10800000" flipV="1">
              <a:off x="3919543" y="1331125"/>
              <a:ext cx="521053" cy="380537"/>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8644082C-5B5D-7A18-55A3-2C2BA7EAF7DA}"/>
                </a:ext>
              </a:extLst>
            </p:cNvPr>
            <p:cNvSpPr/>
            <p:nvPr/>
          </p:nvSpPr>
          <p:spPr>
            <a:xfrm>
              <a:off x="2356766" y="4669317"/>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EPSS</a:t>
              </a:r>
            </a:p>
          </p:txBody>
        </p:sp>
        <p:cxnSp>
          <p:nvCxnSpPr>
            <p:cNvPr id="58" name="Connector: Curved 57">
              <a:extLst>
                <a:ext uri="{FF2B5EF4-FFF2-40B4-BE49-F238E27FC236}">
                  <a16:creationId xmlns:a16="http://schemas.microsoft.com/office/drawing/2014/main" id="{6229AFDC-4B09-0A4D-11A2-92E5835A7B58}"/>
                </a:ext>
              </a:extLst>
            </p:cNvPr>
            <p:cNvCxnSpPr>
              <a:cxnSpLocks/>
              <a:stCxn id="10" idx="2"/>
              <a:endCxn id="57" idx="6"/>
            </p:cNvCxnSpPr>
            <p:nvPr/>
          </p:nvCxnSpPr>
          <p:spPr>
            <a:xfrm rot="10800000" flipV="1">
              <a:off x="3479542" y="4990387"/>
              <a:ext cx="1723680" cy="215418"/>
            </a:xfrm>
            <a:prstGeom prst="curvedConnector3">
              <a:avLst>
                <a:gd name="adj1" fmla="val 50000"/>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B5CC43F6-AD26-0AE0-BE12-A1CDC43E04EB}"/>
                </a:ext>
              </a:extLst>
            </p:cNvPr>
            <p:cNvSpPr/>
            <p:nvPr/>
          </p:nvSpPr>
          <p:spPr>
            <a:xfrm>
              <a:off x="7501350" y="549235"/>
              <a:ext cx="1158036" cy="1072977"/>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err="1"/>
                <a:t>Wazuh</a:t>
              </a:r>
              <a:endParaRPr lang="en-CA" sz="1100" dirty="0"/>
            </a:p>
            <a:p>
              <a:pPr algn="ctr"/>
              <a:r>
                <a:rPr lang="en-CA" sz="1100" dirty="0"/>
                <a:t>Ruleset</a:t>
              </a:r>
            </a:p>
          </p:txBody>
        </p:sp>
        <p:sp>
          <p:nvSpPr>
            <p:cNvPr id="65" name="Oval 64">
              <a:extLst>
                <a:ext uri="{FF2B5EF4-FFF2-40B4-BE49-F238E27FC236}">
                  <a16:creationId xmlns:a16="http://schemas.microsoft.com/office/drawing/2014/main" id="{68009D88-2B75-B59D-2389-9DFDB6C9D09B}"/>
                </a:ext>
              </a:extLst>
            </p:cNvPr>
            <p:cNvSpPr/>
            <p:nvPr/>
          </p:nvSpPr>
          <p:spPr>
            <a:xfrm>
              <a:off x="8787029" y="2613331"/>
              <a:ext cx="1557480" cy="1535182"/>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Flashpoint</a:t>
              </a:r>
            </a:p>
          </p:txBody>
        </p:sp>
        <p:sp>
          <p:nvSpPr>
            <p:cNvPr id="66" name="Oval 65">
              <a:extLst>
                <a:ext uri="{FF2B5EF4-FFF2-40B4-BE49-F238E27FC236}">
                  <a16:creationId xmlns:a16="http://schemas.microsoft.com/office/drawing/2014/main" id="{89292AC9-C8C5-F31B-0EF4-A0C5717EB311}"/>
                </a:ext>
              </a:extLst>
            </p:cNvPr>
            <p:cNvSpPr/>
            <p:nvPr/>
          </p:nvSpPr>
          <p:spPr>
            <a:xfrm>
              <a:off x="8960217" y="1176524"/>
              <a:ext cx="1158975" cy="1154941"/>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ET</a:t>
              </a:r>
            </a:p>
            <a:p>
              <a:pPr algn="ctr"/>
              <a:r>
                <a:rPr lang="en-CA" sz="1100" dirty="0"/>
                <a:t>Ruleset</a:t>
              </a:r>
            </a:p>
          </p:txBody>
        </p:sp>
        <p:cxnSp>
          <p:nvCxnSpPr>
            <p:cNvPr id="67" name="Connector: Curved 66">
              <a:extLst>
                <a:ext uri="{FF2B5EF4-FFF2-40B4-BE49-F238E27FC236}">
                  <a16:creationId xmlns:a16="http://schemas.microsoft.com/office/drawing/2014/main" id="{1881B3C5-25D6-168C-560B-ED45A1431988}"/>
                </a:ext>
              </a:extLst>
            </p:cNvPr>
            <p:cNvCxnSpPr>
              <a:cxnSpLocks/>
              <a:stCxn id="64" idx="2"/>
              <a:endCxn id="3" idx="7"/>
            </p:cNvCxnSpPr>
            <p:nvPr/>
          </p:nvCxnSpPr>
          <p:spPr>
            <a:xfrm rot="10800000" flipV="1">
              <a:off x="6747355" y="1085724"/>
              <a:ext cx="753997" cy="1001734"/>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69">
              <a:extLst>
                <a:ext uri="{FF2B5EF4-FFF2-40B4-BE49-F238E27FC236}">
                  <a16:creationId xmlns:a16="http://schemas.microsoft.com/office/drawing/2014/main" id="{559E68BC-906A-299F-19D0-5B4E0B0D39AF}"/>
                </a:ext>
              </a:extLst>
            </p:cNvPr>
            <p:cNvCxnSpPr>
              <a:cxnSpLocks/>
              <a:stCxn id="66" idx="3"/>
              <a:endCxn id="3" idx="6"/>
            </p:cNvCxnSpPr>
            <p:nvPr/>
          </p:nvCxnSpPr>
          <p:spPr>
            <a:xfrm rot="5400000">
              <a:off x="7851259" y="1240677"/>
              <a:ext cx="357035" cy="2200337"/>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Connector: Curved 72">
              <a:extLst>
                <a:ext uri="{FF2B5EF4-FFF2-40B4-BE49-F238E27FC236}">
                  <a16:creationId xmlns:a16="http://schemas.microsoft.com/office/drawing/2014/main" id="{24166147-3E50-F306-EC74-47C18A7132EC}"/>
                </a:ext>
              </a:extLst>
            </p:cNvPr>
            <p:cNvCxnSpPr>
              <a:cxnSpLocks/>
              <a:stCxn id="65" idx="2"/>
              <a:endCxn id="3" idx="5"/>
            </p:cNvCxnSpPr>
            <p:nvPr/>
          </p:nvCxnSpPr>
          <p:spPr>
            <a:xfrm rot="10800000">
              <a:off x="6747354" y="2951266"/>
              <a:ext cx="2039676" cy="429656"/>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8561B796-089B-3856-B06A-6272646753B0}"/>
                </a:ext>
              </a:extLst>
            </p:cNvPr>
            <p:cNvCxnSpPr>
              <a:cxnSpLocks/>
              <a:stCxn id="64" idx="7"/>
              <a:endCxn id="79" idx="1"/>
            </p:cNvCxnSpPr>
            <p:nvPr/>
          </p:nvCxnSpPr>
          <p:spPr>
            <a:xfrm flipV="1">
              <a:off x="8489796" y="699341"/>
              <a:ext cx="1910355" cy="7028"/>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68D6CE4-5083-C400-082E-E564D1C044C4}"/>
                </a:ext>
              </a:extLst>
            </p:cNvPr>
            <p:cNvCxnSpPr>
              <a:cxnSpLocks/>
              <a:stCxn id="66" idx="7"/>
              <a:endCxn id="79" idx="1"/>
            </p:cNvCxnSpPr>
            <p:nvPr/>
          </p:nvCxnSpPr>
          <p:spPr>
            <a:xfrm flipV="1">
              <a:off x="9949464" y="699341"/>
              <a:ext cx="450687" cy="64632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9DC3501-83EC-7494-11ED-18A3BA6E2E7B}"/>
                </a:ext>
              </a:extLst>
            </p:cNvPr>
            <p:cNvCxnSpPr>
              <a:cxnSpLocks/>
              <a:stCxn id="65" idx="6"/>
              <a:endCxn id="79" idx="1"/>
            </p:cNvCxnSpPr>
            <p:nvPr/>
          </p:nvCxnSpPr>
          <p:spPr>
            <a:xfrm flipV="1">
              <a:off x="10344509" y="699341"/>
              <a:ext cx="55642" cy="268158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68142A98-354F-F322-130B-E8DCD524F15A}"/>
                </a:ext>
              </a:extLst>
            </p:cNvPr>
            <p:cNvSpPr txBox="1"/>
            <p:nvPr/>
          </p:nvSpPr>
          <p:spPr>
            <a:xfrm>
              <a:off x="7014681" y="5511461"/>
              <a:ext cx="1772349" cy="584775"/>
            </a:xfrm>
            <a:prstGeom prst="rect">
              <a:avLst/>
            </a:prstGeom>
            <a:noFill/>
          </p:spPr>
          <p:txBody>
            <a:bodyPr wrap="square" rtlCol="0">
              <a:spAutoFit/>
            </a:bodyPr>
            <a:lstStyle/>
            <a:p>
              <a:r>
                <a:rPr lang="en-CA" sz="1600" dirty="0"/>
                <a:t>Vulnerability</a:t>
              </a:r>
            </a:p>
            <a:p>
              <a:r>
                <a:rPr lang="en-CA" sz="1600" dirty="0"/>
                <a:t>Intelligence</a:t>
              </a:r>
            </a:p>
          </p:txBody>
        </p:sp>
        <p:cxnSp>
          <p:nvCxnSpPr>
            <p:cNvPr id="94" name="Straight Arrow Connector 93">
              <a:extLst>
                <a:ext uri="{FF2B5EF4-FFF2-40B4-BE49-F238E27FC236}">
                  <a16:creationId xmlns:a16="http://schemas.microsoft.com/office/drawing/2014/main" id="{A432BD55-DBFB-4FB9-54E8-FCA610E281C5}"/>
                </a:ext>
              </a:extLst>
            </p:cNvPr>
            <p:cNvCxnSpPr>
              <a:cxnSpLocks/>
              <a:stCxn id="3" idx="4"/>
              <a:endCxn id="93" idx="1"/>
            </p:cNvCxnSpPr>
            <p:nvPr/>
          </p:nvCxnSpPr>
          <p:spPr>
            <a:xfrm>
              <a:off x="6307354" y="3130167"/>
              <a:ext cx="707327" cy="267368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7A201A87-4F43-1E0A-8E89-1E80AE3D191E}"/>
                </a:ext>
              </a:extLst>
            </p:cNvPr>
            <p:cNvCxnSpPr>
              <a:cxnSpLocks/>
              <a:stCxn id="9" idx="4"/>
              <a:endCxn id="93" idx="1"/>
            </p:cNvCxnSpPr>
            <p:nvPr/>
          </p:nvCxnSpPr>
          <p:spPr>
            <a:xfrm flipH="1">
              <a:off x="7014681" y="4453899"/>
              <a:ext cx="217351" cy="134995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127F8D6A-7DA4-32DD-2F99-72574196B586}"/>
                </a:ext>
              </a:extLst>
            </p:cNvPr>
            <p:cNvCxnSpPr>
              <a:cxnSpLocks/>
              <a:stCxn id="8" idx="6"/>
              <a:endCxn id="93" idx="1"/>
            </p:cNvCxnSpPr>
            <p:nvPr/>
          </p:nvCxnSpPr>
          <p:spPr>
            <a:xfrm>
              <a:off x="5793114" y="3551846"/>
              <a:ext cx="1221567" cy="2252003"/>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9A030B58-EF7D-2C7D-148E-A8D98D8D17AD}"/>
                </a:ext>
              </a:extLst>
            </p:cNvPr>
            <p:cNvCxnSpPr>
              <a:cxnSpLocks/>
              <a:stCxn id="10" idx="6"/>
              <a:endCxn id="93" idx="1"/>
            </p:cNvCxnSpPr>
            <p:nvPr/>
          </p:nvCxnSpPr>
          <p:spPr>
            <a:xfrm>
              <a:off x="6325999" y="4990388"/>
              <a:ext cx="688682" cy="81346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D670E2BF-A004-4F77-F61C-B2ECB4DB0EE9}"/>
                </a:ext>
              </a:extLst>
            </p:cNvPr>
            <p:cNvSpPr/>
            <p:nvPr/>
          </p:nvSpPr>
          <p:spPr>
            <a:xfrm>
              <a:off x="2506997" y="3410063"/>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CISA KEV</a:t>
              </a:r>
            </a:p>
          </p:txBody>
        </p:sp>
        <p:sp>
          <p:nvSpPr>
            <p:cNvPr id="108" name="Oval 107">
              <a:extLst>
                <a:ext uri="{FF2B5EF4-FFF2-40B4-BE49-F238E27FC236}">
                  <a16:creationId xmlns:a16="http://schemas.microsoft.com/office/drawing/2014/main" id="{569D5D1D-A58D-A505-28FC-0FD4A779B57B}"/>
                </a:ext>
              </a:extLst>
            </p:cNvPr>
            <p:cNvSpPr/>
            <p:nvPr/>
          </p:nvSpPr>
          <p:spPr>
            <a:xfrm>
              <a:off x="3736106" y="5619472"/>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CVSS</a:t>
              </a:r>
            </a:p>
          </p:txBody>
        </p:sp>
        <p:cxnSp>
          <p:nvCxnSpPr>
            <p:cNvPr id="117" name="Connector: Curved 116">
              <a:extLst>
                <a:ext uri="{FF2B5EF4-FFF2-40B4-BE49-F238E27FC236}">
                  <a16:creationId xmlns:a16="http://schemas.microsoft.com/office/drawing/2014/main" id="{8884CBDA-CA1C-106D-27BD-A3AB680A3F35}"/>
                </a:ext>
              </a:extLst>
            </p:cNvPr>
            <p:cNvCxnSpPr>
              <a:cxnSpLocks/>
              <a:stCxn id="10" idx="1"/>
              <a:endCxn id="107" idx="6"/>
            </p:cNvCxnSpPr>
            <p:nvPr/>
          </p:nvCxnSpPr>
          <p:spPr>
            <a:xfrm rot="16200000" flipV="1">
              <a:off x="4166473" y="3409856"/>
              <a:ext cx="664481" cy="1737875"/>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5" name="Connector: Curved 124">
              <a:extLst>
                <a:ext uri="{FF2B5EF4-FFF2-40B4-BE49-F238E27FC236}">
                  <a16:creationId xmlns:a16="http://schemas.microsoft.com/office/drawing/2014/main" id="{6E5B3766-6110-C6BF-BD6D-F87127A79612}"/>
                </a:ext>
              </a:extLst>
            </p:cNvPr>
            <p:cNvCxnSpPr>
              <a:cxnSpLocks/>
              <a:stCxn id="10" idx="4"/>
              <a:endCxn id="108" idx="6"/>
            </p:cNvCxnSpPr>
            <p:nvPr/>
          </p:nvCxnSpPr>
          <p:spPr>
            <a:xfrm rot="5400000">
              <a:off x="4997206" y="5388554"/>
              <a:ext cx="629085" cy="90572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2A63EAE2-B1E9-D830-28D7-EA7EDDCAE0C6}"/>
                </a:ext>
              </a:extLst>
            </p:cNvPr>
            <p:cNvSpPr txBox="1"/>
            <p:nvPr/>
          </p:nvSpPr>
          <p:spPr>
            <a:xfrm>
              <a:off x="217898" y="5458673"/>
              <a:ext cx="1649556" cy="584775"/>
            </a:xfrm>
            <a:prstGeom prst="rect">
              <a:avLst/>
            </a:prstGeom>
            <a:noFill/>
          </p:spPr>
          <p:txBody>
            <a:bodyPr wrap="square" rtlCol="0">
              <a:spAutoFit/>
            </a:bodyPr>
            <a:lstStyle/>
            <a:p>
              <a:r>
                <a:rPr lang="en-CA" sz="1600" dirty="0"/>
                <a:t>Severity</a:t>
              </a:r>
            </a:p>
            <a:p>
              <a:r>
                <a:rPr lang="en-CA" sz="1600" dirty="0"/>
                <a:t>Intelligence</a:t>
              </a:r>
            </a:p>
          </p:txBody>
        </p:sp>
        <p:cxnSp>
          <p:nvCxnSpPr>
            <p:cNvPr id="136" name="Straight Arrow Connector 135">
              <a:extLst>
                <a:ext uri="{FF2B5EF4-FFF2-40B4-BE49-F238E27FC236}">
                  <a16:creationId xmlns:a16="http://schemas.microsoft.com/office/drawing/2014/main" id="{A704FA06-A98F-DC99-F374-ABCB47F39668}"/>
                </a:ext>
              </a:extLst>
            </p:cNvPr>
            <p:cNvCxnSpPr>
              <a:cxnSpLocks/>
              <a:stCxn id="107" idx="2"/>
              <a:endCxn id="128" idx="3"/>
            </p:cNvCxnSpPr>
            <p:nvPr/>
          </p:nvCxnSpPr>
          <p:spPr>
            <a:xfrm flipH="1">
              <a:off x="1867454" y="3946552"/>
              <a:ext cx="639543" cy="180450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157A981B-259A-E08A-46E0-E7526CE2D6B4}"/>
                </a:ext>
              </a:extLst>
            </p:cNvPr>
            <p:cNvCxnSpPr>
              <a:cxnSpLocks/>
              <a:stCxn id="57" idx="2"/>
              <a:endCxn id="128" idx="3"/>
            </p:cNvCxnSpPr>
            <p:nvPr/>
          </p:nvCxnSpPr>
          <p:spPr>
            <a:xfrm flipH="1">
              <a:off x="1867454" y="5205806"/>
              <a:ext cx="489312" cy="54525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5EE36473-D49C-3C7B-B046-6FDC8D6B34DF}"/>
                </a:ext>
              </a:extLst>
            </p:cNvPr>
            <p:cNvCxnSpPr>
              <a:cxnSpLocks/>
              <a:stCxn id="108" idx="2"/>
              <a:endCxn id="128" idx="3"/>
            </p:cNvCxnSpPr>
            <p:nvPr/>
          </p:nvCxnSpPr>
          <p:spPr>
            <a:xfrm flipH="1" flipV="1">
              <a:off x="1867454" y="5751061"/>
              <a:ext cx="1868652" cy="40490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532E3012-2056-2875-3928-65D6F7B53CFB}"/>
                </a:ext>
              </a:extLst>
            </p:cNvPr>
            <p:cNvSpPr txBox="1"/>
            <p:nvPr/>
          </p:nvSpPr>
          <p:spPr>
            <a:xfrm>
              <a:off x="317806" y="514663"/>
              <a:ext cx="1649556" cy="584775"/>
            </a:xfrm>
            <a:prstGeom prst="rect">
              <a:avLst/>
            </a:prstGeom>
            <a:noFill/>
          </p:spPr>
          <p:txBody>
            <a:bodyPr wrap="square" rtlCol="0">
              <a:spAutoFit/>
            </a:bodyPr>
            <a:lstStyle/>
            <a:p>
              <a:r>
                <a:rPr lang="en-CA" sz="1600" dirty="0"/>
                <a:t>Mitigation</a:t>
              </a:r>
            </a:p>
            <a:p>
              <a:r>
                <a:rPr lang="en-CA" sz="1600" dirty="0"/>
                <a:t>Intelligence</a:t>
              </a:r>
            </a:p>
          </p:txBody>
        </p:sp>
        <p:cxnSp>
          <p:nvCxnSpPr>
            <p:cNvPr id="152" name="Straight Arrow Connector 151">
              <a:extLst>
                <a:ext uri="{FF2B5EF4-FFF2-40B4-BE49-F238E27FC236}">
                  <a16:creationId xmlns:a16="http://schemas.microsoft.com/office/drawing/2014/main" id="{968A4DB0-22D0-5A86-9985-DA20323D7498}"/>
                </a:ext>
              </a:extLst>
            </p:cNvPr>
            <p:cNvCxnSpPr>
              <a:cxnSpLocks/>
              <a:stCxn id="50" idx="1"/>
              <a:endCxn id="151" idx="3"/>
            </p:cNvCxnSpPr>
            <p:nvPr/>
          </p:nvCxnSpPr>
          <p:spPr>
            <a:xfrm flipH="1" flipV="1">
              <a:off x="1967362" y="807051"/>
              <a:ext cx="2666541" cy="9217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C6F485C0-A458-0214-F1A7-B7B71E6DD1F0}"/>
                </a:ext>
              </a:extLst>
            </p:cNvPr>
            <p:cNvCxnSpPr>
              <a:cxnSpLocks/>
              <a:stCxn id="49" idx="2"/>
              <a:endCxn id="151" idx="3"/>
            </p:cNvCxnSpPr>
            <p:nvPr/>
          </p:nvCxnSpPr>
          <p:spPr>
            <a:xfrm flipH="1" flipV="1">
              <a:off x="1967362" y="807051"/>
              <a:ext cx="889928" cy="1336517"/>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Curved 159">
              <a:extLst>
                <a:ext uri="{FF2B5EF4-FFF2-40B4-BE49-F238E27FC236}">
                  <a16:creationId xmlns:a16="http://schemas.microsoft.com/office/drawing/2014/main" id="{29654923-C9DD-858D-4E86-860219AD45BB}"/>
                </a:ext>
              </a:extLst>
            </p:cNvPr>
            <p:cNvCxnSpPr>
              <a:cxnSpLocks/>
              <a:stCxn id="65" idx="3"/>
              <a:endCxn id="10" idx="6"/>
            </p:cNvCxnSpPr>
            <p:nvPr/>
          </p:nvCxnSpPr>
          <p:spPr>
            <a:xfrm rot="5400000">
              <a:off x="7137210" y="3112480"/>
              <a:ext cx="1066696" cy="2689118"/>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4828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4EFF0-B03F-46A8-7929-39B2C4A25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183DA-3E9B-707F-6879-42B85F7292E3}"/>
              </a:ext>
            </a:extLst>
          </p:cNvPr>
          <p:cNvSpPr>
            <a:spLocks noGrp="1"/>
          </p:cNvSpPr>
          <p:nvPr>
            <p:ph type="title"/>
          </p:nvPr>
        </p:nvSpPr>
        <p:spPr>
          <a:xfrm>
            <a:off x="552940" y="219218"/>
            <a:ext cx="6143423" cy="692211"/>
          </a:xfrm>
        </p:spPr>
        <p:txBody>
          <a:bodyPr>
            <a:normAutofit/>
          </a:bodyPr>
          <a:lstStyle/>
          <a:p>
            <a:r>
              <a:rPr lang="en-US" dirty="0"/>
              <a:t>Flashpoint Ignite Data</a:t>
            </a:r>
            <a:endParaRPr lang="ru-RU" dirty="0"/>
          </a:p>
        </p:txBody>
      </p:sp>
      <p:pic>
        <p:nvPicPr>
          <p:cNvPr id="7" name="Picture 6">
            <a:extLst>
              <a:ext uri="{FF2B5EF4-FFF2-40B4-BE49-F238E27FC236}">
                <a16:creationId xmlns:a16="http://schemas.microsoft.com/office/drawing/2014/main" id="{817DE122-91B8-8F4B-F39B-B5461872340F}"/>
              </a:ext>
            </a:extLst>
          </p:cNvPr>
          <p:cNvPicPr>
            <a:picLocks noChangeAspect="1"/>
          </p:cNvPicPr>
          <p:nvPr/>
        </p:nvPicPr>
        <p:blipFill>
          <a:blip r:embed="rId3"/>
          <a:stretch>
            <a:fillRect/>
          </a:stretch>
        </p:blipFill>
        <p:spPr>
          <a:xfrm>
            <a:off x="552940" y="1176457"/>
            <a:ext cx="11364790" cy="4876871"/>
          </a:xfrm>
          <a:prstGeom prst="rect">
            <a:avLst/>
          </a:prstGeom>
        </p:spPr>
      </p:pic>
    </p:spTree>
    <p:extLst>
      <p:ext uri="{BB962C8B-B14F-4D97-AF65-F5344CB8AC3E}">
        <p14:creationId xmlns:p14="http://schemas.microsoft.com/office/powerpoint/2010/main" val="334931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8AADA-9BB5-F8A9-19A9-781595412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175F0-A054-94A7-AE5F-B0DA4D171BCB}"/>
              </a:ext>
            </a:extLst>
          </p:cNvPr>
          <p:cNvSpPr>
            <a:spLocks noGrp="1"/>
          </p:cNvSpPr>
          <p:nvPr>
            <p:ph type="title"/>
          </p:nvPr>
        </p:nvSpPr>
        <p:spPr/>
        <p:txBody>
          <a:bodyPr/>
          <a:lstStyle/>
          <a:p>
            <a:r>
              <a:rPr lang="en-US" dirty="0"/>
              <a:t>Athena-CTI-LLM IFT Design</a:t>
            </a:r>
          </a:p>
        </p:txBody>
      </p:sp>
      <p:sp>
        <p:nvSpPr>
          <p:cNvPr id="5" name="TextBox 4">
            <a:extLst>
              <a:ext uri="{FF2B5EF4-FFF2-40B4-BE49-F238E27FC236}">
                <a16:creationId xmlns:a16="http://schemas.microsoft.com/office/drawing/2014/main" id="{3E08992E-04BE-386F-56AE-86DC69988010}"/>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FDC87A80-184B-E60B-477E-AFFEBC591D34}"/>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9" name="Picture 8">
            <a:extLst>
              <a:ext uri="{FF2B5EF4-FFF2-40B4-BE49-F238E27FC236}">
                <a16:creationId xmlns:a16="http://schemas.microsoft.com/office/drawing/2014/main" id="{B377E04A-53AF-750E-447A-6B0EB24395E6}"/>
              </a:ext>
            </a:extLst>
          </p:cNvPr>
          <p:cNvPicPr>
            <a:picLocks noChangeAspect="1"/>
          </p:cNvPicPr>
          <p:nvPr/>
        </p:nvPicPr>
        <p:blipFill>
          <a:blip r:embed="rId2"/>
          <a:stretch>
            <a:fillRect/>
          </a:stretch>
        </p:blipFill>
        <p:spPr>
          <a:xfrm>
            <a:off x="237365" y="1636824"/>
            <a:ext cx="7527624" cy="4552103"/>
          </a:xfrm>
          <a:prstGeom prst="rect">
            <a:avLst/>
          </a:prstGeom>
        </p:spPr>
      </p:pic>
      <p:pic>
        <p:nvPicPr>
          <p:cNvPr id="11" name="Picture 10">
            <a:extLst>
              <a:ext uri="{FF2B5EF4-FFF2-40B4-BE49-F238E27FC236}">
                <a16:creationId xmlns:a16="http://schemas.microsoft.com/office/drawing/2014/main" id="{E396DD47-01C2-119B-280B-4EC2160D87C4}"/>
              </a:ext>
            </a:extLst>
          </p:cNvPr>
          <p:cNvPicPr>
            <a:picLocks noChangeAspect="1"/>
          </p:cNvPicPr>
          <p:nvPr/>
        </p:nvPicPr>
        <p:blipFill>
          <a:blip r:embed="rId3"/>
          <a:stretch>
            <a:fillRect/>
          </a:stretch>
        </p:blipFill>
        <p:spPr>
          <a:xfrm>
            <a:off x="7581350" y="1416359"/>
            <a:ext cx="3883223" cy="4552103"/>
          </a:xfrm>
          <a:prstGeom prst="rect">
            <a:avLst/>
          </a:prstGeom>
        </p:spPr>
      </p:pic>
      <p:sp>
        <p:nvSpPr>
          <p:cNvPr id="12" name="TextBox 11">
            <a:extLst>
              <a:ext uri="{FF2B5EF4-FFF2-40B4-BE49-F238E27FC236}">
                <a16:creationId xmlns:a16="http://schemas.microsoft.com/office/drawing/2014/main" id="{659FA77C-6FBD-C151-BDAF-880F46A70964}"/>
              </a:ext>
            </a:extLst>
          </p:cNvPr>
          <p:cNvSpPr txBox="1"/>
          <p:nvPr/>
        </p:nvSpPr>
        <p:spPr>
          <a:xfrm>
            <a:off x="5422204" y="6495651"/>
            <a:ext cx="6571030" cy="400110"/>
          </a:xfrm>
          <a:prstGeom prst="rect">
            <a:avLst/>
          </a:prstGeom>
          <a:noFill/>
        </p:spPr>
        <p:txBody>
          <a:bodyPr wrap="none" rtlCol="0">
            <a:spAutoFit/>
          </a:bodyPr>
          <a:lstStyle/>
          <a:p>
            <a:r>
              <a:rPr lang="en-US" sz="1000" i="1" dirty="0"/>
              <a:t>source: </a:t>
            </a:r>
            <a:r>
              <a:rPr lang="en-US" sz="1000" i="1" dirty="0" err="1"/>
              <a:t>CyberPal.AI</a:t>
            </a:r>
            <a:r>
              <a:rPr lang="en-US" sz="1000" i="1" dirty="0"/>
              <a:t>: Empowering LLMs with Expert-Driven </a:t>
            </a:r>
            <a:r>
              <a:rPr lang="en-US" sz="1000" i="1" dirty="0" err="1"/>
              <a:t>CyberSecurity</a:t>
            </a:r>
            <a:r>
              <a:rPr lang="en-US" sz="1000" i="1" dirty="0"/>
              <a:t> Instructions; Levi et al Aug 2024</a:t>
            </a:r>
          </a:p>
          <a:p>
            <a:r>
              <a:rPr lang="en-US" sz="1000" i="1" dirty="0"/>
              <a:t> </a:t>
            </a:r>
          </a:p>
        </p:txBody>
      </p:sp>
    </p:spTree>
    <p:extLst>
      <p:ext uri="{BB962C8B-B14F-4D97-AF65-F5344CB8AC3E}">
        <p14:creationId xmlns:p14="http://schemas.microsoft.com/office/powerpoint/2010/main" val="1238381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p:txBody>
          <a:bodyPr vert="horz" lIns="91440" tIns="45720" rIns="91440" bIns="45720" rtlCol="0" anchor="b">
            <a:normAutofit/>
          </a:bodyPr>
          <a:lstStyle/>
          <a:p>
            <a:pPr>
              <a:lnSpc>
                <a:spcPct val="90000"/>
              </a:lnSpc>
            </a:pPr>
            <a:r>
              <a:rPr lang="en-US" dirty="0"/>
              <a:t>Athena-CTI-LLM Product Lifecycle</a:t>
            </a:r>
            <a:endParaRPr lang="en-US" b="0" i="0" kern="1200" dirty="0">
              <a:latin typeface="+mj-lt"/>
              <a:ea typeface="+mj-ea"/>
              <a:cs typeface="+mj-cs"/>
            </a:endParaRP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07354" y="1377390"/>
            <a:ext cx="11486766" cy="4537274"/>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615499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92051"/>
            <a:ext cx="85598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Mapping CTI-Bench Tasks to Use Cases</a:t>
            </a:r>
            <a:endParaRPr lang="en-US" sz="3708"/>
          </a:p>
        </p:txBody>
      </p:sp>
      <p:sp>
        <p:nvSpPr>
          <p:cNvPr id="3" name="Text 1"/>
          <p:cNvSpPr/>
          <p:nvPr/>
        </p:nvSpPr>
        <p:spPr>
          <a:xfrm>
            <a:off x="661492"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Use Cases</a:t>
            </a:r>
            <a:endParaRPr lang="en-US" sz="1833"/>
          </a:p>
        </p:txBody>
      </p:sp>
      <p:sp>
        <p:nvSpPr>
          <p:cNvPr id="4" name="Text 2"/>
          <p:cNvSpPr/>
          <p:nvPr/>
        </p:nvSpPr>
        <p:spPr>
          <a:xfrm>
            <a:off x="661492"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Summarize incoming threat reports</a:t>
            </a:r>
            <a:endParaRPr lang="en-US" sz="1458"/>
          </a:p>
        </p:txBody>
      </p:sp>
      <p:sp>
        <p:nvSpPr>
          <p:cNvPr id="5" name="Text 3"/>
          <p:cNvSpPr/>
          <p:nvPr/>
        </p:nvSpPr>
        <p:spPr>
          <a:xfrm>
            <a:off x="661492"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Extract IOCs from alerts/reports</a:t>
            </a:r>
            <a:endParaRPr lang="en-US" sz="1458"/>
          </a:p>
        </p:txBody>
      </p:sp>
      <p:sp>
        <p:nvSpPr>
          <p:cNvPr id="6" name="Text 4"/>
          <p:cNvSpPr/>
          <p:nvPr/>
        </p:nvSpPr>
        <p:spPr>
          <a:xfrm>
            <a:off x="661492"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Identify ATT&amp;CK techniques used</a:t>
            </a:r>
            <a:endParaRPr lang="en-US" sz="1458"/>
          </a:p>
        </p:txBody>
      </p:sp>
      <p:sp>
        <p:nvSpPr>
          <p:cNvPr id="7" name="Text 5"/>
          <p:cNvSpPr/>
          <p:nvPr/>
        </p:nvSpPr>
        <p:spPr>
          <a:xfrm>
            <a:off x="661492"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Answer analyst questions about threats</a:t>
            </a:r>
            <a:endParaRPr lang="en-US" sz="1458"/>
          </a:p>
        </p:txBody>
      </p:sp>
      <p:sp>
        <p:nvSpPr>
          <p:cNvPr id="8" name="Text 6"/>
          <p:cNvSpPr/>
          <p:nvPr/>
        </p:nvSpPr>
        <p:spPr>
          <a:xfrm>
            <a:off x="6332935"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CTI-Bench Tasks</a:t>
            </a:r>
            <a:endParaRPr lang="en-US" sz="1833"/>
          </a:p>
        </p:txBody>
      </p:sp>
      <p:sp>
        <p:nvSpPr>
          <p:cNvPr id="9" name="Text 7"/>
          <p:cNvSpPr/>
          <p:nvPr/>
        </p:nvSpPr>
        <p:spPr>
          <a:xfrm>
            <a:off x="6332935"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Report Summarization (ROUGE score)</a:t>
            </a:r>
            <a:endParaRPr lang="en-US" sz="1458"/>
          </a:p>
        </p:txBody>
      </p:sp>
      <p:sp>
        <p:nvSpPr>
          <p:cNvPr id="10" name="Text 8"/>
          <p:cNvSpPr/>
          <p:nvPr/>
        </p:nvSpPr>
        <p:spPr>
          <a:xfrm>
            <a:off x="6332935"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IOC Extraction (F1 score)</a:t>
            </a:r>
            <a:endParaRPr lang="en-US" sz="1458"/>
          </a:p>
        </p:txBody>
      </p:sp>
      <p:sp>
        <p:nvSpPr>
          <p:cNvPr id="11" name="Text 9"/>
          <p:cNvSpPr/>
          <p:nvPr/>
        </p:nvSpPr>
        <p:spPr>
          <a:xfrm>
            <a:off x="6332935"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TTP Identification (F1/Accuracy)</a:t>
            </a:r>
            <a:endParaRPr lang="en-US" sz="1458"/>
          </a:p>
        </p:txBody>
      </p:sp>
      <p:sp>
        <p:nvSpPr>
          <p:cNvPr id="12" name="Text 10"/>
          <p:cNvSpPr/>
          <p:nvPr/>
        </p:nvSpPr>
        <p:spPr>
          <a:xfrm>
            <a:off x="6332935"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Question Answering (Accuracy/F1)</a:t>
            </a:r>
            <a:endParaRPr lang="en-US" sz="1458"/>
          </a:p>
        </p:txBody>
      </p:sp>
      <p:sp>
        <p:nvSpPr>
          <p:cNvPr id="13" name="Text 11"/>
          <p:cNvSpPr/>
          <p:nvPr/>
        </p:nvSpPr>
        <p:spPr>
          <a:xfrm>
            <a:off x="661492" y="3926086"/>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chosen benchmark suite (e.g., CTI-Bench) should contain tasks that directly map to the intended use cases of the LLM within the platform.</a:t>
            </a:r>
            <a:endParaRPr lang="en-US" sz="1458"/>
          </a:p>
        </p:txBody>
      </p:sp>
      <p:sp>
        <p:nvSpPr>
          <p:cNvPr id="14" name="Text 12"/>
          <p:cNvSpPr/>
          <p:nvPr/>
        </p:nvSpPr>
        <p:spPr>
          <a:xfrm>
            <a:off x="661492" y="4743549"/>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Define "good enough" performance thresholds (e.g., F1 &gt; 0.80 for IOC Extraction, Accuracy &gt; 0.75 for TTP Identification) based on operational requirements and baseline performance. These thresholds determine if a model version is suitable for deployment.</a:t>
            </a:r>
            <a:endParaRPr lang="en-US" sz="1458"/>
          </a:p>
        </p:txBody>
      </p:sp>
      <p:sp>
        <p:nvSpPr>
          <p:cNvPr id="15" name="Text 13"/>
          <p:cNvSpPr/>
          <p:nvPr/>
        </p:nvSpPr>
        <p:spPr>
          <a:xfrm>
            <a:off x="661492" y="5561013"/>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Ensure the benchmark covers the critical capabilities expected from the LLM in production. If existing benchmarks lack coverage for specific use cases, custom evaluation tasks may need to be developed.</a:t>
            </a:r>
            <a:endParaRPr lang="en-US" sz="1458" dirty="0"/>
          </a:p>
        </p:txBody>
      </p:sp>
    </p:spTree>
    <p:extLst>
      <p:ext uri="{BB962C8B-B14F-4D97-AF65-F5344CB8AC3E}">
        <p14:creationId xmlns:p14="http://schemas.microsoft.com/office/powerpoint/2010/main" val="1588063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EEA1-CB6A-CBDB-2B91-63EBDC053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71716-AA78-9564-3051-FC9C360047D3}"/>
              </a:ext>
            </a:extLst>
          </p:cNvPr>
          <p:cNvSpPr>
            <a:spLocks noGrp="1"/>
          </p:cNvSpPr>
          <p:nvPr>
            <p:ph type="title"/>
          </p:nvPr>
        </p:nvSpPr>
        <p:spPr>
          <a:xfrm>
            <a:off x="520892" y="316288"/>
            <a:ext cx="8761413" cy="706964"/>
          </a:xfrm>
        </p:spPr>
        <p:txBody>
          <a:bodyPr/>
          <a:lstStyle/>
          <a:p>
            <a:r>
              <a:rPr lang="en-US" dirty="0"/>
              <a:t>CTIBench v1.0</a:t>
            </a:r>
            <a:br>
              <a:rPr lang="en-US" dirty="0"/>
            </a:br>
            <a:r>
              <a:rPr lang="en-US" sz="2400" dirty="0"/>
              <a:t>[Working on Athena-CTI-Bench: Q4 ‘25 delivery]</a:t>
            </a:r>
            <a:endParaRPr lang="en-US" dirty="0"/>
          </a:p>
        </p:txBody>
      </p:sp>
      <p:sp>
        <p:nvSpPr>
          <p:cNvPr id="4" name="TextBox 3">
            <a:extLst>
              <a:ext uri="{FF2B5EF4-FFF2-40B4-BE49-F238E27FC236}">
                <a16:creationId xmlns:a16="http://schemas.microsoft.com/office/drawing/2014/main" id="{077ACF27-F4D3-315F-89AE-12249E8EEE3A}"/>
              </a:ext>
            </a:extLst>
          </p:cNvPr>
          <p:cNvSpPr txBox="1"/>
          <p:nvPr/>
        </p:nvSpPr>
        <p:spPr>
          <a:xfrm>
            <a:off x="328559" y="1438507"/>
            <a:ext cx="4410709" cy="2839239"/>
          </a:xfrm>
          <a:prstGeom prst="rect">
            <a:avLst/>
          </a:prstGeom>
          <a:noFill/>
        </p:spPr>
        <p:txBody>
          <a:bodyPr wrap="square">
            <a:spAutoFit/>
          </a:bodyPr>
          <a:lstStyle/>
          <a:p>
            <a:pPr>
              <a:buNone/>
            </a:pPr>
            <a:r>
              <a:rPr lang="en-US" sz="1050" dirty="0">
                <a:latin typeface="Arial" panose="020B0604020202020204" pitchFamily="34" charset="0"/>
              </a:rPr>
              <a:t>Abstract: </a:t>
            </a:r>
          </a:p>
          <a:p>
            <a:pPr>
              <a:buNone/>
            </a:pPr>
            <a:endParaRPr lang="en-US" sz="1050" dirty="0">
              <a:latin typeface="Arial" panose="020B0604020202020204" pitchFamily="34" charset="0"/>
            </a:endParaRPr>
          </a:p>
          <a:p>
            <a:pPr>
              <a:buNone/>
            </a:pPr>
            <a:r>
              <a:rPr lang="en-US" sz="1050" dirty="0"/>
              <a:t>Cyber threat intelligence (CTI) is crucial in today's cybersecurity landscape, providing essential insights to understand and mitigate the ever-evolving cyber threats. The recent rise of Large Language Models (LLMs) have shown potential in this domain, but concerns about their reliability, accuracy, and hallucinations persist. While existing benchmarks provide general evaluations of LLMs, there are no benchmarks that address the practical and applied aspects of CTI-specific tasks. To bridge this gap, we introduce CTIBench, a benchmark designed to assess LLMs' performance in CTI applications. CTIBench includes multiple datasets focused on evaluating knowledge acquired by LLMs in the cyber-threat landscape. Our evaluation of several state-of-the-art models on these tasks provides insights into their strengths and weaknesses in CTI contexts, contributing to a better understanding of LLM capabilities in CTI.</a:t>
            </a:r>
          </a:p>
        </p:txBody>
      </p:sp>
      <p:sp>
        <p:nvSpPr>
          <p:cNvPr id="5" name="TextBox 4">
            <a:extLst>
              <a:ext uri="{FF2B5EF4-FFF2-40B4-BE49-F238E27FC236}">
                <a16:creationId xmlns:a16="http://schemas.microsoft.com/office/drawing/2014/main" id="{93AA79CA-E283-E1F4-C50D-F74B67E55750}"/>
              </a:ext>
            </a:extLst>
          </p:cNvPr>
          <p:cNvSpPr txBox="1"/>
          <p:nvPr/>
        </p:nvSpPr>
        <p:spPr>
          <a:xfrm>
            <a:off x="3730679" y="6499531"/>
            <a:ext cx="8392298" cy="246221"/>
          </a:xfrm>
          <a:prstGeom prst="rect">
            <a:avLst/>
          </a:prstGeom>
          <a:noFill/>
        </p:spPr>
        <p:txBody>
          <a:bodyPr wrap="square" rtlCol="0">
            <a:spAutoFit/>
          </a:bodyPr>
          <a:lstStyle/>
          <a:p>
            <a:r>
              <a:rPr lang="en-US" sz="1000" dirty="0"/>
              <a:t>CTIBench: A Benchmark for Evaluating LLMs in Cyber Threat Intelligence; Alam et al, Nov 2024</a:t>
            </a:r>
          </a:p>
        </p:txBody>
      </p:sp>
      <p:sp>
        <p:nvSpPr>
          <p:cNvPr id="6" name="TextBox 5">
            <a:extLst>
              <a:ext uri="{FF2B5EF4-FFF2-40B4-BE49-F238E27FC236}">
                <a16:creationId xmlns:a16="http://schemas.microsoft.com/office/drawing/2014/main" id="{3BD94D70-D091-0AB7-253E-85AA7B26BF35}"/>
              </a:ext>
            </a:extLst>
          </p:cNvPr>
          <p:cNvSpPr txBox="1"/>
          <p:nvPr/>
        </p:nvSpPr>
        <p:spPr>
          <a:xfrm>
            <a:off x="6255326" y="1576295"/>
            <a:ext cx="4874872" cy="1721497"/>
          </a:xfrm>
          <a:prstGeom prst="rect">
            <a:avLst/>
          </a:prstGeom>
          <a:noFill/>
        </p:spPr>
        <p:txBody>
          <a:bodyPr wrap="square">
            <a:spAutoFit/>
          </a:bodyPr>
          <a:lstStyle/>
          <a:p>
            <a:pPr marL="238115" indent="-238115">
              <a:spcAft>
                <a:spcPts val="500"/>
              </a:spcAft>
              <a:buFont typeface="Arial" panose="020B0604020202020204" pitchFamily="34" charset="0"/>
              <a:buChar char="•"/>
            </a:pPr>
            <a:r>
              <a:rPr lang="en-US" sz="1167" b="1" dirty="0">
                <a:latin typeface="Arial" panose="020B0604020202020204" pitchFamily="34" charset="0"/>
              </a:rPr>
              <a:t>CTI-MCQ (Acc)</a:t>
            </a:r>
            <a:r>
              <a:rPr lang="en-US" sz="1167" dirty="0">
                <a:latin typeface="Arial" panose="020B0604020202020204" pitchFamily="34" charset="0"/>
              </a:rPr>
              <a:t>: Multiple-choice question answering on CTI concepts, measured by accuracy. </a:t>
            </a:r>
          </a:p>
          <a:p>
            <a:pPr marL="238115" indent="-238115">
              <a:spcAft>
                <a:spcPts val="500"/>
              </a:spcAft>
              <a:buFont typeface="Arial" panose="020B0604020202020204" pitchFamily="34" charset="0"/>
              <a:buChar char="•"/>
            </a:pPr>
            <a:r>
              <a:rPr lang="en-US" sz="1167" b="1" dirty="0">
                <a:latin typeface="Arial" panose="020B0604020202020204" pitchFamily="34" charset="0"/>
              </a:rPr>
              <a:t>CTI-RCM (Acc)</a:t>
            </a:r>
            <a:r>
              <a:rPr lang="en-US" sz="1167" dirty="0">
                <a:latin typeface="Arial" panose="020B0604020202020204" pitchFamily="34" charset="0"/>
              </a:rPr>
              <a:t>: Response classification matching task, evaluated by accuracy. </a:t>
            </a:r>
          </a:p>
          <a:p>
            <a:pPr marL="238115" indent="-238115">
              <a:spcAft>
                <a:spcPts val="500"/>
              </a:spcAft>
              <a:buFont typeface="Arial" panose="020B0604020202020204" pitchFamily="34" charset="0"/>
              <a:buChar char="•"/>
            </a:pPr>
            <a:r>
              <a:rPr lang="en-US" sz="1167" b="1" dirty="0">
                <a:latin typeface="Arial" panose="020B0604020202020204" pitchFamily="34" charset="0"/>
              </a:rPr>
              <a:t>CTI-VSP (MAD)</a:t>
            </a:r>
            <a:r>
              <a:rPr lang="en-US" sz="1167" dirty="0">
                <a:latin typeface="Arial" panose="020B0604020202020204" pitchFamily="34" charset="0"/>
              </a:rPr>
              <a:t>: Vulnerability severity prediction, assessed using Mean Absolute Deviation (MAD). </a:t>
            </a:r>
          </a:p>
          <a:p>
            <a:pPr marL="238115" indent="-238115">
              <a:spcAft>
                <a:spcPts val="500"/>
              </a:spcAft>
              <a:buFont typeface="Arial" panose="020B0604020202020204" pitchFamily="34" charset="0"/>
              <a:buChar char="•"/>
            </a:pPr>
            <a:r>
              <a:rPr lang="en-US" sz="1167" b="1" dirty="0">
                <a:latin typeface="Arial" panose="020B0604020202020204" pitchFamily="34" charset="0"/>
              </a:rPr>
              <a:t>CTI-ATE (F1-Macro)</a:t>
            </a:r>
            <a:r>
              <a:rPr lang="en-US" sz="1167" dirty="0">
                <a:latin typeface="Arial" panose="020B0604020202020204" pitchFamily="34" charset="0"/>
              </a:rPr>
              <a:t>: Adversary technique extraction, scored with macro-averaged F1. </a:t>
            </a:r>
          </a:p>
        </p:txBody>
      </p:sp>
      <p:pic>
        <p:nvPicPr>
          <p:cNvPr id="3" name="Picture 2">
            <a:extLst>
              <a:ext uri="{FF2B5EF4-FFF2-40B4-BE49-F238E27FC236}">
                <a16:creationId xmlns:a16="http://schemas.microsoft.com/office/drawing/2014/main" id="{B9FB4123-2B74-C141-83E3-D8548E2B53B1}"/>
              </a:ext>
            </a:extLst>
          </p:cNvPr>
          <p:cNvPicPr>
            <a:picLocks noChangeAspect="1"/>
          </p:cNvPicPr>
          <p:nvPr/>
        </p:nvPicPr>
        <p:blipFill>
          <a:blip r:embed="rId2"/>
          <a:stretch>
            <a:fillRect/>
          </a:stretch>
        </p:blipFill>
        <p:spPr>
          <a:xfrm>
            <a:off x="600487" y="4693001"/>
            <a:ext cx="10396293" cy="1237653"/>
          </a:xfrm>
          <a:prstGeom prst="rect">
            <a:avLst/>
          </a:prstGeom>
        </p:spPr>
      </p:pic>
    </p:spTree>
    <p:extLst>
      <p:ext uri="{BB962C8B-B14F-4D97-AF65-F5344CB8AC3E}">
        <p14:creationId xmlns:p14="http://schemas.microsoft.com/office/powerpoint/2010/main" val="754752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EFB3-E3D4-DA9A-8878-86E75AED6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3BCC3-209D-75CB-E6D0-EDB76B16BEF3}"/>
              </a:ext>
            </a:extLst>
          </p:cNvPr>
          <p:cNvSpPr>
            <a:spLocks noGrp="1"/>
          </p:cNvSpPr>
          <p:nvPr>
            <p:ph type="title"/>
          </p:nvPr>
        </p:nvSpPr>
        <p:spPr>
          <a:xfrm>
            <a:off x="431683" y="243053"/>
            <a:ext cx="8761413" cy="706964"/>
          </a:xfrm>
        </p:spPr>
        <p:txBody>
          <a:bodyPr/>
          <a:lstStyle/>
          <a:p>
            <a:r>
              <a:rPr lang="en-US" sz="2400" i="1" dirty="0"/>
              <a:t>Will include Capabilities around measurement of trailing last 90 days of CTI data…</a:t>
            </a:r>
          </a:p>
        </p:txBody>
      </p:sp>
      <p:sp>
        <p:nvSpPr>
          <p:cNvPr id="4" name="TextBox 3">
            <a:extLst>
              <a:ext uri="{FF2B5EF4-FFF2-40B4-BE49-F238E27FC236}">
                <a16:creationId xmlns:a16="http://schemas.microsoft.com/office/drawing/2014/main" id="{E1F27528-6E49-CDB6-4879-723AA1948A3D}"/>
              </a:ext>
            </a:extLst>
          </p:cNvPr>
          <p:cNvSpPr txBox="1"/>
          <p:nvPr/>
        </p:nvSpPr>
        <p:spPr>
          <a:xfrm>
            <a:off x="339709" y="1418190"/>
            <a:ext cx="7510750" cy="1708160"/>
          </a:xfrm>
          <a:prstGeom prst="rect">
            <a:avLst/>
          </a:prstGeom>
          <a:noFill/>
        </p:spPr>
        <p:txBody>
          <a:bodyPr wrap="square">
            <a:spAutoFit/>
          </a:bodyPr>
          <a:lstStyle/>
          <a:p>
            <a:r>
              <a:rPr lang="en-US" sz="1500" b="1" dirty="0"/>
              <a:t>Last 90 Days </a:t>
            </a:r>
          </a:p>
          <a:p>
            <a:endParaRPr lang="en-US" sz="1500" b="1" dirty="0"/>
          </a:p>
          <a:p>
            <a:r>
              <a:rPr lang="en-US" sz="1500" dirty="0"/>
              <a:t>Tests last 90 day CTI info, most critical aspect of CTI landscape for security professionals. Test last 90 days of vulnerabilities and exploits.</a:t>
            </a:r>
          </a:p>
          <a:p>
            <a:endParaRPr lang="en-US" sz="1500" b="1" dirty="0"/>
          </a:p>
          <a:p>
            <a:r>
              <a:rPr lang="en-US" sz="1500" i="1" dirty="0"/>
              <a:t>If using the larger providers, search must be enabled…</a:t>
            </a:r>
          </a:p>
          <a:p>
            <a:endParaRPr lang="en-US" sz="1500" dirty="0"/>
          </a:p>
        </p:txBody>
      </p:sp>
      <p:pic>
        <p:nvPicPr>
          <p:cNvPr id="3" name="Picture 2">
            <a:extLst>
              <a:ext uri="{FF2B5EF4-FFF2-40B4-BE49-F238E27FC236}">
                <a16:creationId xmlns:a16="http://schemas.microsoft.com/office/drawing/2014/main" id="{567419E6-6C0D-5434-A606-24CC0ADF862B}"/>
              </a:ext>
            </a:extLst>
          </p:cNvPr>
          <p:cNvPicPr>
            <a:picLocks noChangeAspect="1"/>
          </p:cNvPicPr>
          <p:nvPr/>
        </p:nvPicPr>
        <p:blipFill>
          <a:blip r:embed="rId2"/>
          <a:stretch>
            <a:fillRect/>
          </a:stretch>
        </p:blipFill>
        <p:spPr>
          <a:xfrm>
            <a:off x="4095084" y="3731651"/>
            <a:ext cx="5664200" cy="1574800"/>
          </a:xfrm>
          <a:prstGeom prst="rect">
            <a:avLst/>
          </a:prstGeom>
        </p:spPr>
      </p:pic>
    </p:spTree>
    <p:extLst>
      <p:ext uri="{BB962C8B-B14F-4D97-AF65-F5344CB8AC3E}">
        <p14:creationId xmlns:p14="http://schemas.microsoft.com/office/powerpoint/2010/main" val="3386370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15F9-4DE8-36E2-198E-7853C3BB9F68}"/>
              </a:ext>
            </a:extLst>
          </p:cNvPr>
          <p:cNvSpPr>
            <a:spLocks noGrp="1"/>
          </p:cNvSpPr>
          <p:nvPr>
            <p:ph type="title"/>
          </p:nvPr>
        </p:nvSpPr>
        <p:spPr>
          <a:xfrm>
            <a:off x="257634" y="218587"/>
            <a:ext cx="8761413" cy="706964"/>
          </a:xfrm>
        </p:spPr>
        <p:txBody>
          <a:bodyPr/>
          <a:lstStyle/>
          <a:p>
            <a:r>
              <a:rPr lang="en-US" dirty="0"/>
              <a:t>CyberMetric: </a:t>
            </a:r>
            <a:br>
              <a:rPr lang="en-US" dirty="0"/>
            </a:br>
            <a:r>
              <a:rPr lang="en-US" sz="2800" dirty="0"/>
              <a:t>Additional CTI Benchmarking</a:t>
            </a:r>
            <a:endParaRPr lang="en-US" dirty="0"/>
          </a:p>
        </p:txBody>
      </p:sp>
      <p:sp>
        <p:nvSpPr>
          <p:cNvPr id="4" name="TextBox 3">
            <a:extLst>
              <a:ext uri="{FF2B5EF4-FFF2-40B4-BE49-F238E27FC236}">
                <a16:creationId xmlns:a16="http://schemas.microsoft.com/office/drawing/2014/main" id="{01CCCC81-6FA0-26C5-2161-70AC8ED73B83}"/>
              </a:ext>
            </a:extLst>
          </p:cNvPr>
          <p:cNvSpPr txBox="1"/>
          <p:nvPr/>
        </p:nvSpPr>
        <p:spPr>
          <a:xfrm>
            <a:off x="657921" y="1365028"/>
            <a:ext cx="9110547" cy="2965940"/>
          </a:xfrm>
          <a:prstGeom prst="rect">
            <a:avLst/>
          </a:prstGeom>
          <a:noFill/>
        </p:spPr>
        <p:txBody>
          <a:bodyPr wrap="square">
            <a:spAutoFit/>
          </a:bodyPr>
          <a:lstStyle/>
          <a:p>
            <a:pPr>
              <a:buNone/>
            </a:pPr>
            <a:r>
              <a:rPr lang="en-US" sz="1167" dirty="0">
                <a:latin typeface="Arial" panose="020B0604020202020204" pitchFamily="34" charset="0"/>
              </a:rPr>
              <a:t>Abstract: </a:t>
            </a:r>
          </a:p>
          <a:p>
            <a:pPr>
              <a:buNone/>
            </a:pPr>
            <a:endParaRPr lang="en-US" sz="1167" dirty="0">
              <a:latin typeface="Arial" panose="020B0604020202020204" pitchFamily="34" charset="0"/>
            </a:endParaRPr>
          </a:p>
          <a:p>
            <a:pPr>
              <a:buNone/>
            </a:pPr>
            <a:r>
              <a:rPr lang="en-US" sz="1167" dirty="0"/>
              <a:t>... To accurately test the general knowledge of LLMs in cybersecurity, the research community needs a diverse, accurate, and up-to-date dataset. To address this gap, we present CyberMetric-80, CyberMetric-500, CyberMetric-2000, and CyberMetric-10000, which are multiple-choice Q&amp;A benchmark datasets comprising 80, 500, 2000, and 10,000 questions respectively. By utilizing GPT-3.5 and Retrieval-Augmented Generation (RAG), we collected documents, including NIST standards, research papers, publicly accessible books, RFCs, and other publications in the cybersecurity domain, to generate questions, each with four possible answers. The results underwent several rounds of error checking and refinement. Human experts invested over 200 hours validating the questions and solutions to ensure their accuracy and relevance, and to filter out any questions unrelated to cybersecurity. We have evaluated and compared 25 state-of-the-art LLM models on the CyberMetric datasets. In addition to our primary goal of evaluating LLMs, we involved 30 human participants to solve CyberMetric-80 in a closed-book scenario. The results can serve as a reference for comparing the general cybersecurity knowledge of humans and LLMs. The findings revealed that GPT-4o, GPT-4-turbo, Mixtral-8x7B-Instruct, Falcon-180B-Chat, and GEMINI-pro 1.0 were the best-performing LLMs. Additionally, the top LLMs were more accurate than humans on CyberMetric-80, although highly experienced human experts still outperformed small models such as Llama-3-8B, Phi-2 or Gemma-7b.</a:t>
            </a:r>
          </a:p>
        </p:txBody>
      </p:sp>
      <p:sp>
        <p:nvSpPr>
          <p:cNvPr id="5" name="TextBox 4">
            <a:extLst>
              <a:ext uri="{FF2B5EF4-FFF2-40B4-BE49-F238E27FC236}">
                <a16:creationId xmlns:a16="http://schemas.microsoft.com/office/drawing/2014/main" id="{74EF43FD-F667-4443-E70E-E092CDD3F116}"/>
              </a:ext>
            </a:extLst>
          </p:cNvPr>
          <p:cNvSpPr txBox="1"/>
          <p:nvPr/>
        </p:nvSpPr>
        <p:spPr>
          <a:xfrm>
            <a:off x="2727362" y="6517988"/>
            <a:ext cx="10908690" cy="446276"/>
          </a:xfrm>
          <a:prstGeom prst="rect">
            <a:avLst/>
          </a:prstGeom>
          <a:noFill/>
        </p:spPr>
        <p:txBody>
          <a:bodyPr wrap="square" rtlCol="0">
            <a:spAutoFit/>
          </a:bodyPr>
          <a:lstStyle/>
          <a:p>
            <a:r>
              <a:rPr lang="en-US" sz="900" i="1" dirty="0"/>
              <a:t>CyberMetric: A Benchmark Dataset based on Retrieval-Augmented Generation for Evaluating LLMs in Cybersecurity Knowledge; Tihanyi et al, June 2024</a:t>
            </a:r>
          </a:p>
          <a:p>
            <a:endParaRPr lang="en-US" sz="1400" dirty="0"/>
          </a:p>
        </p:txBody>
      </p:sp>
      <p:pic>
        <p:nvPicPr>
          <p:cNvPr id="8" name="Picture 7">
            <a:extLst>
              <a:ext uri="{FF2B5EF4-FFF2-40B4-BE49-F238E27FC236}">
                <a16:creationId xmlns:a16="http://schemas.microsoft.com/office/drawing/2014/main" id="{084C1FFC-7421-4725-F531-E252DF8DB6DC}"/>
              </a:ext>
            </a:extLst>
          </p:cNvPr>
          <p:cNvPicPr>
            <a:picLocks noChangeAspect="1"/>
          </p:cNvPicPr>
          <p:nvPr/>
        </p:nvPicPr>
        <p:blipFill>
          <a:blip r:embed="rId2"/>
          <a:stretch>
            <a:fillRect/>
          </a:stretch>
        </p:blipFill>
        <p:spPr>
          <a:xfrm>
            <a:off x="442760" y="4612585"/>
            <a:ext cx="10398574" cy="1308712"/>
          </a:xfrm>
          <a:prstGeom prst="rect">
            <a:avLst/>
          </a:prstGeom>
        </p:spPr>
      </p:pic>
    </p:spTree>
    <p:extLst>
      <p:ext uri="{BB962C8B-B14F-4D97-AF65-F5344CB8AC3E}">
        <p14:creationId xmlns:p14="http://schemas.microsoft.com/office/powerpoint/2010/main" val="602272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F2774-EBEB-7F12-30FC-95DA23B7A379}"/>
              </a:ext>
            </a:extLst>
          </p:cNvPr>
          <p:cNvSpPr>
            <a:spLocks noGrp="1"/>
          </p:cNvSpPr>
          <p:nvPr>
            <p:ph type="title"/>
          </p:nvPr>
        </p:nvSpPr>
        <p:spPr>
          <a:xfrm>
            <a:off x="367989" y="203973"/>
            <a:ext cx="10835720" cy="706964"/>
          </a:xfrm>
        </p:spPr>
        <p:txBody>
          <a:bodyPr/>
          <a:lstStyle/>
          <a:p>
            <a:r>
              <a:rPr lang="en-US" sz="3200" dirty="0"/>
              <a:t>Natural Language Understanding Benchmarks</a:t>
            </a:r>
            <a:br>
              <a:rPr lang="en-US" sz="3200" dirty="0"/>
            </a:br>
            <a:r>
              <a:rPr lang="en-US" sz="2000" i="1" dirty="0"/>
              <a:t>Avoiding hallucinations (where is the bottom threshold on model size…) </a:t>
            </a:r>
            <a:endParaRPr lang="en-US" sz="3200" i="1" dirty="0"/>
          </a:p>
        </p:txBody>
      </p:sp>
      <p:sp>
        <p:nvSpPr>
          <p:cNvPr id="3" name="TextBox 2">
            <a:extLst>
              <a:ext uri="{FF2B5EF4-FFF2-40B4-BE49-F238E27FC236}">
                <a16:creationId xmlns:a16="http://schemas.microsoft.com/office/drawing/2014/main" id="{9802728D-F8B6-5289-F8CA-03FF26A2BDBE}"/>
              </a:ext>
            </a:extLst>
          </p:cNvPr>
          <p:cNvSpPr txBox="1"/>
          <p:nvPr/>
        </p:nvSpPr>
        <p:spPr>
          <a:xfrm>
            <a:off x="367989" y="1371600"/>
            <a:ext cx="11050859" cy="2677656"/>
          </a:xfrm>
          <a:prstGeom prst="rect">
            <a:avLst/>
          </a:prstGeom>
          <a:noFill/>
        </p:spPr>
        <p:txBody>
          <a:bodyPr wrap="square" rtlCol="0">
            <a:spAutoFit/>
          </a:bodyPr>
          <a:lstStyle/>
          <a:p>
            <a:r>
              <a:rPr lang="en-US" sz="1200" b="1" dirty="0"/>
              <a:t>GLUE – </a:t>
            </a:r>
            <a:r>
              <a:rPr lang="en-US" sz="1200" b="1" i="1" dirty="0"/>
              <a:t>General Language Understanding Evaluation</a:t>
            </a:r>
            <a:endParaRPr lang="en-US" sz="1200" b="1" dirty="0"/>
          </a:p>
          <a:p>
            <a:r>
              <a:rPr lang="en-US" sz="1200" dirty="0"/>
              <a:t>Introduced in </a:t>
            </a:r>
            <a:r>
              <a:rPr lang="en-US" sz="1200" b="1" dirty="0"/>
              <a:t>2018</a:t>
            </a:r>
            <a:r>
              <a:rPr lang="en-US" sz="1200" dirty="0"/>
              <a:t>, GLUE is a multi‑task benchmark designed to assess foundational natural language understanding capabilities. It combines </a:t>
            </a:r>
            <a:r>
              <a:rPr lang="en-US" sz="1200" b="1" dirty="0"/>
              <a:t>nine diverse tasks</a:t>
            </a:r>
            <a:r>
              <a:rPr lang="en-US" sz="1200" dirty="0"/>
              <a:t>—such as sentiment analysis, textual similarity, entailment, and linguistic acceptability—into a unified evaluation framework, and includes a hand‑crafted diagnostic suite for analyzing model weaknesses.</a:t>
            </a:r>
          </a:p>
          <a:p>
            <a:endParaRPr lang="en-US" sz="1200" dirty="0"/>
          </a:p>
          <a:p>
            <a:endParaRPr lang="en-US" sz="1200" dirty="0"/>
          </a:p>
          <a:p>
            <a:endParaRPr lang="en-US" sz="1200" dirty="0"/>
          </a:p>
          <a:p>
            <a:endParaRPr lang="en-US" sz="1200" dirty="0"/>
          </a:p>
          <a:p>
            <a:endParaRPr lang="en-US" sz="1200" dirty="0"/>
          </a:p>
          <a:p>
            <a:endParaRPr lang="en-US" sz="1200" b="1" dirty="0"/>
          </a:p>
          <a:p>
            <a:r>
              <a:rPr lang="en-US" sz="1200" b="1" dirty="0"/>
              <a:t>SuperGLUE – </a:t>
            </a:r>
            <a:r>
              <a:rPr lang="en-US" sz="1200" b="1" i="1" dirty="0"/>
              <a:t>A Stickier Benchmark for General-Purpose Language Understanding</a:t>
            </a:r>
            <a:endParaRPr lang="en-US" sz="1200" b="1" dirty="0"/>
          </a:p>
          <a:p>
            <a:r>
              <a:rPr lang="en-US" sz="1200" dirty="0"/>
              <a:t>Debuted in </a:t>
            </a:r>
            <a:r>
              <a:rPr lang="en-US" sz="1200" b="1" dirty="0"/>
              <a:t>2019</a:t>
            </a:r>
            <a:r>
              <a:rPr lang="en-US" sz="1200" dirty="0"/>
              <a:t> as a more challenging successor to GLUE, SuperGLUE comprises </a:t>
            </a:r>
            <a:r>
              <a:rPr lang="en-US" sz="1200" b="1" dirty="0"/>
              <a:t>eight higher‑difficulty tasks</a:t>
            </a:r>
            <a:r>
              <a:rPr lang="en-US" sz="1200" dirty="0"/>
              <a:t>, including advanced reading comprehension, natural language inference, coreference resolution, and question answering. It also sets a stronger human baseline and includes an integrated toolkit and public leaderboard.</a:t>
            </a:r>
          </a:p>
        </p:txBody>
      </p:sp>
      <p:pic>
        <p:nvPicPr>
          <p:cNvPr id="5" name="Picture 4">
            <a:extLst>
              <a:ext uri="{FF2B5EF4-FFF2-40B4-BE49-F238E27FC236}">
                <a16:creationId xmlns:a16="http://schemas.microsoft.com/office/drawing/2014/main" id="{858BDC01-C8CE-3C49-88FF-FE1B2F6FB0FA}"/>
              </a:ext>
            </a:extLst>
          </p:cNvPr>
          <p:cNvPicPr>
            <a:picLocks noChangeAspect="1"/>
          </p:cNvPicPr>
          <p:nvPr/>
        </p:nvPicPr>
        <p:blipFill>
          <a:blip r:embed="rId2"/>
          <a:stretch>
            <a:fillRect/>
          </a:stretch>
        </p:blipFill>
        <p:spPr>
          <a:xfrm>
            <a:off x="189308" y="2348536"/>
            <a:ext cx="11408220" cy="723784"/>
          </a:xfrm>
          <a:prstGeom prst="rect">
            <a:avLst/>
          </a:prstGeom>
        </p:spPr>
      </p:pic>
      <p:pic>
        <p:nvPicPr>
          <p:cNvPr id="6" name="Picture 5">
            <a:extLst>
              <a:ext uri="{FF2B5EF4-FFF2-40B4-BE49-F238E27FC236}">
                <a16:creationId xmlns:a16="http://schemas.microsoft.com/office/drawing/2014/main" id="{B63FAE34-EAF2-BBEE-0A15-D060B0A3B939}"/>
              </a:ext>
            </a:extLst>
          </p:cNvPr>
          <p:cNvPicPr>
            <a:picLocks noChangeAspect="1"/>
          </p:cNvPicPr>
          <p:nvPr/>
        </p:nvPicPr>
        <p:blipFill>
          <a:blip r:embed="rId3"/>
          <a:stretch>
            <a:fillRect/>
          </a:stretch>
        </p:blipFill>
        <p:spPr>
          <a:xfrm>
            <a:off x="525002" y="4176539"/>
            <a:ext cx="10249898" cy="851282"/>
          </a:xfrm>
          <a:prstGeom prst="rect">
            <a:avLst/>
          </a:prstGeom>
        </p:spPr>
      </p:pic>
    </p:spTree>
    <p:extLst>
      <p:ext uri="{BB962C8B-B14F-4D97-AF65-F5344CB8AC3E}">
        <p14:creationId xmlns:p14="http://schemas.microsoft.com/office/powerpoint/2010/main" val="3170952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574E-CC4E-105A-17FB-3B80A2F52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95DE0-2F53-F6C3-6291-5ED00A3A77DB}"/>
              </a:ext>
            </a:extLst>
          </p:cNvPr>
          <p:cNvSpPr>
            <a:spLocks noGrp="1"/>
          </p:cNvSpPr>
          <p:nvPr>
            <p:ph type="title"/>
          </p:nvPr>
        </p:nvSpPr>
        <p:spPr>
          <a:xfrm>
            <a:off x="468350" y="215124"/>
            <a:ext cx="10835720" cy="706964"/>
          </a:xfrm>
        </p:spPr>
        <p:txBody>
          <a:bodyPr/>
          <a:lstStyle/>
          <a:p>
            <a:r>
              <a:rPr lang="en-US" sz="3200" dirty="0"/>
              <a:t>NLU Benchmarks (CONT): </a:t>
            </a:r>
            <a:r>
              <a:rPr lang="en-US" sz="3200" i="1" dirty="0"/>
              <a:t>MMLU</a:t>
            </a:r>
          </a:p>
        </p:txBody>
      </p:sp>
      <p:sp>
        <p:nvSpPr>
          <p:cNvPr id="3" name="TextBox 2">
            <a:extLst>
              <a:ext uri="{FF2B5EF4-FFF2-40B4-BE49-F238E27FC236}">
                <a16:creationId xmlns:a16="http://schemas.microsoft.com/office/drawing/2014/main" id="{4E9EDB24-9DB0-B955-A6A7-4AF01FBD397D}"/>
              </a:ext>
            </a:extLst>
          </p:cNvPr>
          <p:cNvSpPr txBox="1"/>
          <p:nvPr/>
        </p:nvSpPr>
        <p:spPr>
          <a:xfrm>
            <a:off x="367989" y="1694623"/>
            <a:ext cx="6289289" cy="1569660"/>
          </a:xfrm>
          <a:prstGeom prst="rect">
            <a:avLst/>
          </a:prstGeom>
          <a:noFill/>
        </p:spPr>
        <p:txBody>
          <a:bodyPr wrap="square" rtlCol="0">
            <a:spAutoFit/>
          </a:bodyPr>
          <a:lstStyle/>
          <a:p>
            <a:r>
              <a:rPr lang="en-US" sz="1200" b="1" dirty="0"/>
              <a:t>MMLU – </a:t>
            </a:r>
            <a:r>
              <a:rPr lang="en-US" sz="1200" b="1" i="1" dirty="0"/>
              <a:t>Measuring Massive Multitask Language Understanding</a:t>
            </a:r>
          </a:p>
          <a:p>
            <a:endParaRPr lang="en-US" sz="1200" b="1" dirty="0"/>
          </a:p>
          <a:p>
            <a:r>
              <a:rPr lang="en-US" sz="1200" dirty="0"/>
              <a:t>MMLU raises the bar significantly with: </a:t>
            </a:r>
            <a:r>
              <a:rPr lang="en-US" sz="1200" b="1" dirty="0"/>
              <a:t>57 subject domains</a:t>
            </a:r>
            <a:r>
              <a:rPr lang="en-US" sz="1200" dirty="0"/>
              <a:t>, ranging from STEM and humanities to professional fields like medicine, law, ethics, and philosophy. Over </a:t>
            </a:r>
            <a:r>
              <a:rPr lang="en-US" sz="1200" b="1" dirty="0"/>
              <a:t>15,900 multiple-choice questions</a:t>
            </a:r>
            <a:r>
              <a:rPr lang="en-US" sz="1200" dirty="0"/>
              <a:t> in total, drawn from undergraduate to professional levels; about </a:t>
            </a:r>
            <a:r>
              <a:rPr lang="en-US" sz="1200" b="1" dirty="0"/>
              <a:t>1,540 questions</a:t>
            </a:r>
            <a:r>
              <a:rPr lang="en-US" sz="1200" dirty="0"/>
              <a:t> are reserved for tuning model settings like temperature or learning rate. A focus on </a:t>
            </a:r>
            <a:r>
              <a:rPr lang="en-US" sz="1200" b="1" dirty="0"/>
              <a:t>zero‑ or few‑shot evaluation</a:t>
            </a:r>
            <a:r>
              <a:rPr lang="en-US" sz="1200" dirty="0"/>
              <a:t>, testing models’ generalization without extensive fine-tuning on task-specific data.</a:t>
            </a:r>
          </a:p>
        </p:txBody>
      </p:sp>
      <p:pic>
        <p:nvPicPr>
          <p:cNvPr id="4" name="Picture 3">
            <a:extLst>
              <a:ext uri="{FF2B5EF4-FFF2-40B4-BE49-F238E27FC236}">
                <a16:creationId xmlns:a16="http://schemas.microsoft.com/office/drawing/2014/main" id="{49290ECC-FDF9-FF20-4D9E-819B0A42FA39}"/>
              </a:ext>
            </a:extLst>
          </p:cNvPr>
          <p:cNvPicPr>
            <a:picLocks noChangeAspect="1"/>
          </p:cNvPicPr>
          <p:nvPr/>
        </p:nvPicPr>
        <p:blipFill>
          <a:blip r:embed="rId2"/>
          <a:stretch>
            <a:fillRect/>
          </a:stretch>
        </p:blipFill>
        <p:spPr>
          <a:xfrm>
            <a:off x="3995698" y="3841903"/>
            <a:ext cx="6120513" cy="1599891"/>
          </a:xfrm>
          <a:prstGeom prst="rect">
            <a:avLst/>
          </a:prstGeom>
        </p:spPr>
      </p:pic>
    </p:spTree>
    <p:extLst>
      <p:ext uri="{BB962C8B-B14F-4D97-AF65-F5344CB8AC3E}">
        <p14:creationId xmlns:p14="http://schemas.microsoft.com/office/powerpoint/2010/main" val="1425620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391FE10-1B42-7A98-4E51-6981E432370B}"/>
              </a:ext>
            </a:extLst>
          </p:cNvPr>
          <p:cNvSpPr>
            <a:spLocks noGrp="1"/>
          </p:cNvSpPr>
          <p:nvPr>
            <p:ph type="title" idx="4294967295"/>
          </p:nvPr>
        </p:nvSpPr>
        <p:spPr>
          <a:xfrm>
            <a:off x="808638" y="386930"/>
            <a:ext cx="9236700" cy="1188950"/>
          </a:xfrm>
          <a:prstGeom prst="rect">
            <a:avLst/>
          </a:prstGeom>
        </p:spPr>
        <p:txBody>
          <a:bodyPr vert="horz" lIns="91440" tIns="45720" rIns="91440" bIns="45720" rtlCol="0" anchor="b">
            <a:normAutofit/>
          </a:bodyPr>
          <a:lstStyle/>
          <a:p>
            <a:pPr>
              <a:lnSpc>
                <a:spcPct val="90000"/>
              </a:lnSpc>
              <a:spcBef>
                <a:spcPct val="0"/>
              </a:spcBef>
            </a:pPr>
            <a:r>
              <a:rPr lang="en-US" sz="3800" b="1" kern="1200" dirty="0">
                <a:solidFill>
                  <a:schemeClr val="tx1"/>
                </a:solidFill>
                <a:latin typeface="+mj-lt"/>
                <a:ea typeface="+mj-ea"/>
                <a:cs typeface="+mj-cs"/>
              </a:rPr>
              <a:t>AthenaBench CTI Test Subject Areas</a:t>
            </a:r>
          </a:p>
        </p:txBody>
      </p:sp>
      <p:sp>
        <p:nvSpPr>
          <p:cNvPr id="4" name="TextBox 3">
            <a:extLst>
              <a:ext uri="{FF2B5EF4-FFF2-40B4-BE49-F238E27FC236}">
                <a16:creationId xmlns:a16="http://schemas.microsoft.com/office/drawing/2014/main" id="{29823CC8-5AEF-CB06-10F6-F7F33C0C6F6D}"/>
              </a:ext>
            </a:extLst>
          </p:cNvPr>
          <p:cNvSpPr txBox="1"/>
          <p:nvPr/>
        </p:nvSpPr>
        <p:spPr>
          <a:xfrm>
            <a:off x="793660" y="2599509"/>
            <a:ext cx="10143668" cy="3435531"/>
          </a:xfrm>
          <a:prstGeom prst="rect">
            <a:avLst/>
          </a:prstGeom>
        </p:spPr>
        <p:txBody>
          <a:bodyPr vert="horz" lIns="91440" tIns="45720" rIns="91440" bIns="45720" rtlCol="0" anchor="ctr">
            <a:normAutofit lnSpcReduction="10000"/>
          </a:bodyPr>
          <a:lstStyle/>
          <a:p>
            <a:pPr marR="0" lvl="0" fontAlgn="base">
              <a:lnSpc>
                <a:spcPct val="90000"/>
              </a:lnSpc>
              <a:spcBef>
                <a:spcPct val="0"/>
              </a:spcBef>
              <a:spcAft>
                <a:spcPct val="0"/>
              </a:spcAft>
              <a:buClrTx/>
              <a:buSzTx/>
              <a:tabLst/>
            </a:pPr>
            <a:r>
              <a:rPr kumimoji="0" lang="en-US" altLang="en-US" sz="2400" b="0" i="0" u="none" strike="noStrike" kern="1200" cap="none" normalizeH="0" baseline="0" dirty="0">
                <a:ln>
                  <a:noFill/>
                </a:ln>
                <a:solidFill>
                  <a:schemeClr val="tx1"/>
                </a:solidFill>
                <a:effectLst/>
                <a:latin typeface="+mn-lt"/>
                <a:ea typeface="+mn-ea"/>
                <a:cs typeface="+mn-cs"/>
              </a:rPr>
              <a:t>The </a:t>
            </a:r>
            <a:r>
              <a:rPr kumimoji="0" lang="en-US" altLang="en-US" sz="2400" b="1" i="0" u="none" strike="noStrike" kern="1200" cap="none" normalizeH="0" baseline="0" dirty="0">
                <a:ln>
                  <a:noFill/>
                </a:ln>
                <a:solidFill>
                  <a:schemeClr val="tx1"/>
                </a:solidFill>
                <a:effectLst/>
                <a:latin typeface="+mn-lt"/>
                <a:ea typeface="+mn-ea"/>
                <a:cs typeface="+mn-cs"/>
              </a:rPr>
              <a:t>Athena Benchmark</a:t>
            </a:r>
            <a:r>
              <a:rPr kumimoji="0" lang="en-US" altLang="en-US" sz="2400" b="0" i="0" u="none" strike="noStrike" kern="1200" cap="none" normalizeH="0" baseline="0" dirty="0">
                <a:ln>
                  <a:noFill/>
                </a:ln>
                <a:solidFill>
                  <a:schemeClr val="tx1"/>
                </a:solidFill>
                <a:effectLst/>
                <a:latin typeface="+mn-lt"/>
                <a:ea typeface="+mn-ea"/>
                <a:cs typeface="+mn-cs"/>
              </a:rPr>
              <a:t> systematically assessed leading language models across six (6) key </a:t>
            </a:r>
            <a:r>
              <a:rPr kumimoji="0" lang="en-US" altLang="en-US" sz="2400" b="1" i="0" u="none" strike="noStrike" kern="1200" cap="none" normalizeH="0" baseline="0" dirty="0">
                <a:ln>
                  <a:noFill/>
                </a:ln>
                <a:solidFill>
                  <a:schemeClr val="tx1"/>
                </a:solidFill>
                <a:effectLst/>
                <a:latin typeface="+mn-lt"/>
                <a:ea typeface="+mn-ea"/>
                <a:cs typeface="+mn-cs"/>
              </a:rPr>
              <a:t>Cyber Threat Intelligence (CTI)</a:t>
            </a:r>
            <a:r>
              <a:rPr kumimoji="0" lang="en-US" altLang="en-US" sz="2400" b="0" i="0" u="none" strike="noStrike" kern="1200" cap="none" normalizeH="0" baseline="0" dirty="0">
                <a:ln>
                  <a:noFill/>
                </a:ln>
                <a:solidFill>
                  <a:schemeClr val="tx1"/>
                </a:solidFill>
                <a:effectLst/>
                <a:latin typeface="+mn-lt"/>
                <a:ea typeface="+mn-ea"/>
                <a:cs typeface="+mn-cs"/>
              </a:rPr>
              <a:t> and tasks: </a:t>
            </a:r>
          </a:p>
          <a:p>
            <a:pPr marL="0" marR="0" lvl="0" indent="-228600" fontAlgn="base">
              <a:lnSpc>
                <a:spcPct val="90000"/>
              </a:lnSpc>
              <a:spcBef>
                <a:spcPct val="0"/>
              </a:spcBef>
              <a:spcAft>
                <a:spcPct val="0"/>
              </a:spcAft>
              <a:buClrTx/>
              <a:buSzTx/>
              <a:buFont typeface="Arial" panose="020B0604020202020204" pitchFamily="34" charset="0"/>
              <a:buChar char="•"/>
              <a:tabLst/>
            </a:pPr>
            <a:endParaRPr lang="en-US" altLang="en-US" sz="2400" kern="1200" dirty="0">
              <a:solidFill>
                <a:schemeClr val="tx1"/>
              </a:solidFill>
              <a:latin typeface="+mn-lt"/>
              <a:ea typeface="+mn-ea"/>
              <a:cs typeface="+mn-cs"/>
            </a:endParaRPr>
          </a:p>
          <a:p>
            <a:pPr marL="514350" lvl="2" indent="-228600" fontAlgn="base">
              <a:lnSpc>
                <a:spcPct val="90000"/>
              </a:lnSpc>
              <a:spcBef>
                <a:spcPct val="0"/>
              </a:spcBef>
              <a:spcAft>
                <a:spcPts val="600"/>
              </a:spcAft>
              <a:buClrTx/>
              <a:buFont typeface="Arial" panose="020B0604020202020204" pitchFamily="34" charset="0"/>
              <a:buChar char="•"/>
            </a:pPr>
            <a:r>
              <a:rPr kumimoji="0" lang="en-US" altLang="en-US" sz="2400" b="1" i="0" u="none" strike="noStrike" kern="1200" cap="none" normalizeH="0" baseline="0" dirty="0">
                <a:ln>
                  <a:noFill/>
                </a:ln>
                <a:solidFill>
                  <a:schemeClr val="tx1"/>
                </a:solidFill>
                <a:effectLst/>
                <a:latin typeface="+mn-lt"/>
                <a:ea typeface="+mn-ea"/>
                <a:cs typeface="+mn-cs"/>
              </a:rPr>
              <a:t>Athena-ATE </a:t>
            </a:r>
            <a:r>
              <a:rPr kumimoji="0" lang="en-US" altLang="en-US" sz="2400" b="0" i="0" u="none" strike="noStrike" kern="1200" cap="none" normalizeH="0" baseline="0" dirty="0">
                <a:ln>
                  <a:noFill/>
                </a:ln>
                <a:solidFill>
                  <a:schemeClr val="tx1"/>
                </a:solidFill>
                <a:effectLst/>
                <a:latin typeface="+mn-lt"/>
                <a:ea typeface="+mn-ea"/>
                <a:cs typeface="+mn-cs"/>
              </a:rPr>
              <a:t>(Attack Technique Enumeration) - </a:t>
            </a:r>
            <a:r>
              <a:rPr lang="en-US" altLang="en-US" sz="2400" kern="1200" dirty="0">
                <a:solidFill>
                  <a:schemeClr val="tx1"/>
                </a:solidFill>
                <a:latin typeface="+mn-lt"/>
                <a:ea typeface="+mn-ea"/>
                <a:cs typeface="+mn-cs"/>
              </a:rPr>
              <a:t>Metric: Accuracy</a:t>
            </a:r>
            <a:endParaRPr kumimoji="0" lang="en-US" altLang="en-US" sz="2400" b="0" i="0" u="none" strike="noStrike" kern="1200" cap="none" normalizeH="0" baseline="0" dirty="0">
              <a:ln>
                <a:noFill/>
              </a:ln>
              <a:solidFill>
                <a:schemeClr val="tx1"/>
              </a:solidFill>
              <a:effectLst/>
              <a:latin typeface="+mn-lt"/>
              <a:ea typeface="+mn-ea"/>
              <a:cs typeface="+mn-cs"/>
            </a:endParaRPr>
          </a:p>
          <a:p>
            <a:pPr marL="514350" lvl="2" indent="-228600" fontAlgn="base">
              <a:lnSpc>
                <a:spcPct val="90000"/>
              </a:lnSpc>
              <a:spcBef>
                <a:spcPct val="0"/>
              </a:spcBef>
              <a:spcAft>
                <a:spcPts val="600"/>
              </a:spcAft>
              <a:buClrTx/>
              <a:buFont typeface="Arial" panose="020B0604020202020204" pitchFamily="34" charset="0"/>
              <a:buChar char="•"/>
            </a:pPr>
            <a:r>
              <a:rPr kumimoji="0" lang="en-US" altLang="en-US" sz="2400" b="1" i="0" u="none" strike="noStrike" kern="1200" cap="none" normalizeH="0" baseline="0" dirty="0">
                <a:ln>
                  <a:noFill/>
                </a:ln>
                <a:solidFill>
                  <a:schemeClr val="tx1"/>
                </a:solidFill>
                <a:effectLst/>
                <a:latin typeface="+mn-lt"/>
                <a:ea typeface="+mn-ea"/>
                <a:cs typeface="+mn-cs"/>
              </a:rPr>
              <a:t>Athena-RCM</a:t>
            </a:r>
            <a:r>
              <a:rPr kumimoji="0" lang="en-US" altLang="en-US" sz="2400" b="0" i="0" u="none" strike="noStrike" kern="1200" cap="none" normalizeH="0" baseline="0" dirty="0">
                <a:ln>
                  <a:noFill/>
                </a:ln>
                <a:solidFill>
                  <a:schemeClr val="tx1"/>
                </a:solidFill>
                <a:effectLst/>
                <a:latin typeface="+mn-lt"/>
                <a:ea typeface="+mn-ea"/>
                <a:cs typeface="+mn-cs"/>
              </a:rPr>
              <a:t> (Root Cause Mapping) – Metric: Accuracy</a:t>
            </a:r>
          </a:p>
          <a:p>
            <a:pPr marL="514350" lvl="2" indent="-228600" fontAlgn="base">
              <a:lnSpc>
                <a:spcPct val="90000"/>
              </a:lnSpc>
              <a:spcBef>
                <a:spcPct val="0"/>
              </a:spcBef>
              <a:spcAft>
                <a:spcPts val="600"/>
              </a:spcAft>
              <a:buClrTx/>
              <a:buFont typeface="Arial" panose="020B0604020202020204" pitchFamily="34" charset="0"/>
              <a:buChar char="•"/>
            </a:pPr>
            <a:r>
              <a:rPr kumimoji="0" lang="en-US" altLang="en-US" sz="2400" b="1" i="0" u="none" strike="noStrike" kern="1200" cap="none" normalizeH="0" baseline="0" dirty="0">
                <a:ln>
                  <a:noFill/>
                </a:ln>
                <a:solidFill>
                  <a:schemeClr val="tx1"/>
                </a:solidFill>
                <a:effectLst/>
                <a:latin typeface="+mn-lt"/>
                <a:ea typeface="+mn-ea"/>
                <a:cs typeface="+mn-cs"/>
              </a:rPr>
              <a:t>Athena-RMS</a:t>
            </a:r>
            <a:r>
              <a:rPr kumimoji="0" lang="en-US" altLang="en-US" sz="2400" b="0" i="0" u="none" strike="noStrike" kern="1200" cap="none" normalizeH="0" baseline="0" dirty="0">
                <a:ln>
                  <a:noFill/>
                </a:ln>
                <a:solidFill>
                  <a:schemeClr val="tx1"/>
                </a:solidFill>
                <a:effectLst/>
                <a:latin typeface="+mn-lt"/>
                <a:ea typeface="+mn-ea"/>
                <a:cs typeface="+mn-cs"/>
              </a:rPr>
              <a:t> (Risk Mitigation Strategy) – Metric: F1 Score</a:t>
            </a:r>
          </a:p>
          <a:p>
            <a:pPr marL="514350" lvl="2" indent="-228600" fontAlgn="base">
              <a:lnSpc>
                <a:spcPct val="90000"/>
              </a:lnSpc>
              <a:spcBef>
                <a:spcPct val="0"/>
              </a:spcBef>
              <a:spcAft>
                <a:spcPts val="600"/>
              </a:spcAft>
              <a:buClrTx/>
              <a:buFont typeface="Arial" panose="020B0604020202020204" pitchFamily="34" charset="0"/>
              <a:buChar char="•"/>
            </a:pPr>
            <a:r>
              <a:rPr kumimoji="0" lang="en-US" altLang="en-US" sz="2400" b="1" i="0" u="none" strike="noStrike" kern="1200" cap="none" normalizeH="0" baseline="0" dirty="0">
                <a:ln>
                  <a:noFill/>
                </a:ln>
                <a:solidFill>
                  <a:schemeClr val="tx1"/>
                </a:solidFill>
                <a:effectLst/>
                <a:latin typeface="+mn-lt"/>
                <a:ea typeface="+mn-ea"/>
                <a:cs typeface="+mn-cs"/>
              </a:rPr>
              <a:t>Athena-MCQ</a:t>
            </a:r>
            <a:r>
              <a:rPr kumimoji="0" lang="en-US" altLang="en-US" sz="2400" b="0" i="0" u="none" strike="noStrike" kern="1200" cap="none" normalizeH="0" baseline="0" dirty="0">
                <a:ln>
                  <a:noFill/>
                </a:ln>
                <a:solidFill>
                  <a:schemeClr val="tx1"/>
                </a:solidFill>
                <a:effectLst/>
                <a:latin typeface="+mn-lt"/>
                <a:ea typeface="+mn-ea"/>
                <a:cs typeface="+mn-cs"/>
              </a:rPr>
              <a:t> (Multiple Choice Question) – Metric: Accuracy</a:t>
            </a:r>
          </a:p>
          <a:p>
            <a:pPr marL="514350" lvl="2" indent="-228600" fontAlgn="base">
              <a:lnSpc>
                <a:spcPct val="90000"/>
              </a:lnSpc>
              <a:spcBef>
                <a:spcPct val="0"/>
              </a:spcBef>
              <a:spcAft>
                <a:spcPts val="600"/>
              </a:spcAft>
              <a:buClrTx/>
              <a:buFont typeface="Arial" panose="020B0604020202020204" pitchFamily="34" charset="0"/>
              <a:buChar char="•"/>
            </a:pPr>
            <a:r>
              <a:rPr kumimoji="0" lang="en-US" altLang="en-US" sz="2400" b="1" i="0" u="none" strike="noStrike" kern="1200" cap="none" normalizeH="0" baseline="0" dirty="0">
                <a:ln>
                  <a:noFill/>
                </a:ln>
                <a:solidFill>
                  <a:schemeClr val="tx1"/>
                </a:solidFill>
                <a:effectLst/>
                <a:latin typeface="+mn-lt"/>
                <a:ea typeface="+mn-ea"/>
                <a:cs typeface="+mn-cs"/>
              </a:rPr>
              <a:t>Athena-VSP</a:t>
            </a:r>
            <a:r>
              <a:rPr kumimoji="0" lang="en-US" altLang="en-US" sz="2400" b="0" i="0" u="none" strike="noStrike" kern="1200" cap="none" normalizeH="0" baseline="0" dirty="0">
                <a:ln>
                  <a:noFill/>
                </a:ln>
                <a:solidFill>
                  <a:schemeClr val="tx1"/>
                </a:solidFill>
                <a:effectLst/>
                <a:latin typeface="+mn-lt"/>
                <a:ea typeface="+mn-ea"/>
                <a:cs typeface="+mn-cs"/>
              </a:rPr>
              <a:t> (CVSS Vector Severity Prediction) – Metric: Average</a:t>
            </a:r>
          </a:p>
          <a:p>
            <a:pPr marL="514350" lvl="2" indent="-228600" fontAlgn="base">
              <a:lnSpc>
                <a:spcPct val="90000"/>
              </a:lnSpc>
              <a:spcBef>
                <a:spcPct val="0"/>
              </a:spcBef>
              <a:spcAft>
                <a:spcPts val="600"/>
              </a:spcAft>
              <a:buClrTx/>
              <a:buFont typeface="Arial" panose="020B0604020202020204" pitchFamily="34" charset="0"/>
              <a:buChar char="•"/>
            </a:pPr>
            <a:r>
              <a:rPr kumimoji="0" lang="en-US" altLang="en-US" sz="2400" b="1" i="0" u="none" strike="noStrike" kern="1200" cap="none" normalizeH="0" baseline="0" dirty="0">
                <a:ln>
                  <a:noFill/>
                </a:ln>
                <a:solidFill>
                  <a:schemeClr val="tx1"/>
                </a:solidFill>
                <a:effectLst/>
                <a:latin typeface="+mn-lt"/>
                <a:ea typeface="+mn-ea"/>
                <a:cs typeface="+mn-cs"/>
              </a:rPr>
              <a:t>Athena-TAA</a:t>
            </a:r>
            <a:r>
              <a:rPr kumimoji="0" lang="en-US" altLang="en-US" sz="2400" b="0" i="0" u="none" strike="noStrike" kern="1200" cap="none" normalizeH="0" baseline="0" dirty="0">
                <a:ln>
                  <a:noFill/>
                </a:ln>
                <a:solidFill>
                  <a:schemeClr val="tx1"/>
                </a:solidFill>
                <a:effectLst/>
                <a:latin typeface="+mn-lt"/>
                <a:ea typeface="+mn-ea"/>
                <a:cs typeface="+mn-cs"/>
              </a:rPr>
              <a:t> (Threat Actor Attribution) – Metric: Accuracy (threefold)</a:t>
            </a:r>
          </a:p>
        </p:txBody>
      </p:sp>
    </p:spTree>
    <p:extLst>
      <p:ext uri="{BB962C8B-B14F-4D97-AF65-F5344CB8AC3E}">
        <p14:creationId xmlns:p14="http://schemas.microsoft.com/office/powerpoint/2010/main" val="3693146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7B6535-A8C6-C259-321E-458647ACC111}"/>
              </a:ext>
            </a:extLst>
          </p:cNvPr>
          <p:cNvGraphicFramePr>
            <a:graphicFrameLocks noGrp="1"/>
          </p:cNvGraphicFramePr>
          <p:nvPr/>
        </p:nvGraphicFramePr>
        <p:xfrm>
          <a:off x="643467" y="813679"/>
          <a:ext cx="10905071" cy="5506734"/>
        </p:xfrm>
        <a:graphic>
          <a:graphicData uri="http://schemas.openxmlformats.org/drawingml/2006/table">
            <a:tbl>
              <a:tblPr/>
              <a:tblGrid>
                <a:gridCol w="1248731">
                  <a:extLst>
                    <a:ext uri="{9D8B030D-6E8A-4147-A177-3AD203B41FA5}">
                      <a16:colId xmlns:a16="http://schemas.microsoft.com/office/drawing/2014/main" val="1778408130"/>
                    </a:ext>
                  </a:extLst>
                </a:gridCol>
                <a:gridCol w="1526340">
                  <a:extLst>
                    <a:ext uri="{9D8B030D-6E8A-4147-A177-3AD203B41FA5}">
                      <a16:colId xmlns:a16="http://schemas.microsoft.com/office/drawing/2014/main" val="3325430683"/>
                    </a:ext>
                  </a:extLst>
                </a:gridCol>
                <a:gridCol w="1243141">
                  <a:extLst>
                    <a:ext uri="{9D8B030D-6E8A-4147-A177-3AD203B41FA5}">
                      <a16:colId xmlns:a16="http://schemas.microsoft.com/office/drawing/2014/main" val="3541659354"/>
                    </a:ext>
                  </a:extLst>
                </a:gridCol>
                <a:gridCol w="1438771">
                  <a:extLst>
                    <a:ext uri="{9D8B030D-6E8A-4147-A177-3AD203B41FA5}">
                      <a16:colId xmlns:a16="http://schemas.microsoft.com/office/drawing/2014/main" val="1194939910"/>
                    </a:ext>
                  </a:extLst>
                </a:gridCol>
                <a:gridCol w="1459266">
                  <a:extLst>
                    <a:ext uri="{9D8B030D-6E8A-4147-A177-3AD203B41FA5}">
                      <a16:colId xmlns:a16="http://schemas.microsoft.com/office/drawing/2014/main" val="2743672512"/>
                    </a:ext>
                  </a:extLst>
                </a:gridCol>
                <a:gridCol w="1809539">
                  <a:extLst>
                    <a:ext uri="{9D8B030D-6E8A-4147-A177-3AD203B41FA5}">
                      <a16:colId xmlns:a16="http://schemas.microsoft.com/office/drawing/2014/main" val="810060926"/>
                    </a:ext>
                  </a:extLst>
                </a:gridCol>
                <a:gridCol w="706554">
                  <a:extLst>
                    <a:ext uri="{9D8B030D-6E8A-4147-A177-3AD203B41FA5}">
                      <a16:colId xmlns:a16="http://schemas.microsoft.com/office/drawing/2014/main" val="3323348619"/>
                    </a:ext>
                  </a:extLst>
                </a:gridCol>
                <a:gridCol w="706554">
                  <a:extLst>
                    <a:ext uri="{9D8B030D-6E8A-4147-A177-3AD203B41FA5}">
                      <a16:colId xmlns:a16="http://schemas.microsoft.com/office/drawing/2014/main" val="3182644826"/>
                    </a:ext>
                  </a:extLst>
                </a:gridCol>
                <a:gridCol w="766175">
                  <a:extLst>
                    <a:ext uri="{9D8B030D-6E8A-4147-A177-3AD203B41FA5}">
                      <a16:colId xmlns:a16="http://schemas.microsoft.com/office/drawing/2014/main" val="820919920"/>
                    </a:ext>
                  </a:extLst>
                </a:gridCol>
              </a:tblGrid>
              <a:tr h="461296">
                <a:tc>
                  <a:txBody>
                    <a:bodyPr/>
                    <a:lstStyle/>
                    <a:p>
                      <a:pPr algn="ctr" rtl="0" fontAlgn="b">
                        <a:buNone/>
                      </a:pPr>
                      <a:r>
                        <a:rPr lang="en-US" sz="1300" b="1" i="0">
                          <a:effectLst/>
                        </a:rPr>
                        <a:t>Model</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300" b="1">
                          <a:effectLst/>
                        </a:rPr>
                        <a:t>Athena-ATE (Accuracy)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300" b="1">
                          <a:effectLst/>
                        </a:rPr>
                        <a:t>Athena-RCM (Accuracy)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300" b="1">
                          <a:effectLst/>
                        </a:rPr>
                        <a:t>Athena-RMS (F1-score)</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300" b="1">
                          <a:effectLst/>
                        </a:rPr>
                        <a:t>Athena-MCQ (Accuracy)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300" b="1">
                          <a:effectLst/>
                        </a:rPr>
                        <a:t>Athena-VSP (Average Score)</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gridSpan="3">
                  <a:txBody>
                    <a:bodyPr/>
                    <a:lstStyle/>
                    <a:p>
                      <a:pPr algn="ctr" rtl="0" fontAlgn="b">
                        <a:buNone/>
                      </a:pPr>
                      <a:r>
                        <a:rPr lang="en-US" sz="1300" b="1">
                          <a:effectLst/>
                        </a:rPr>
                        <a:t>Athena-TAA </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52294613"/>
                  </a:ext>
                </a:extLst>
              </a:tr>
              <a:tr h="389751">
                <a:tc>
                  <a:txBody>
                    <a:bodyPr/>
                    <a:lstStyle/>
                    <a:p>
                      <a:pPr rtl="0" fontAlgn="b">
                        <a:buNone/>
                      </a:pPr>
                      <a:endParaRPr lang="en-US" sz="1300" i="1">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i="1">
                          <a:effectLst/>
                        </a:rPr>
                        <a:t>ATE: Attack Technique Enumeration</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i="1">
                          <a:effectLst/>
                        </a:rPr>
                        <a:t>RCM: Root Cause Mapping</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i="1">
                          <a:effectLst/>
                        </a:rPr>
                        <a:t>RMS: Risk Mitigation Strategy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i="1">
                          <a:effectLst/>
                        </a:rPr>
                        <a:t>MCQ: Multiple Choice Questions</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i="1">
                          <a:effectLst/>
                        </a:rPr>
                        <a:t>VSP: CVSS Vector Severity Prediction</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gridSpan="3">
                  <a:txBody>
                    <a:bodyPr/>
                    <a:lstStyle/>
                    <a:p>
                      <a:pPr algn="ctr" rtl="0" fontAlgn="b">
                        <a:buNone/>
                      </a:pPr>
                      <a:r>
                        <a:rPr lang="en-US" sz="1100" b="0" i="1">
                          <a:effectLst/>
                        </a:rPr>
                        <a:t>TAA: Threat Actor Attribution</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83263832"/>
                  </a:ext>
                </a:extLst>
              </a:tr>
              <a:tr h="389751">
                <a:tc>
                  <a:txBody>
                    <a:bodyPr/>
                    <a:lstStyle/>
                    <a:p>
                      <a:pPr rtl="0" fontAlgn="b">
                        <a:buNone/>
                      </a:pPr>
                      <a:endParaRPr lang="en-US" sz="1300" i="1">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endParaRPr lang="en-US" sz="1300">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endParaRPr lang="en-US" sz="1300">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endParaRPr lang="en-US" sz="1300">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endParaRPr lang="en-US" sz="1300">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endParaRPr lang="en-US" sz="1300">
                        <a:effectLst/>
                      </a:endParaRP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a:effectLst/>
                        </a:rPr>
                        <a:t>Correct Accuracy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a:effectLst/>
                        </a:rPr>
                        <a:t>Plausible Accuracy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100" b="0">
                          <a:effectLst/>
                        </a:rPr>
                        <a:t>Combined Accuracy</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71421740"/>
                  </a:ext>
                </a:extLst>
              </a:tr>
              <a:tr h="246662">
                <a:tc>
                  <a:txBody>
                    <a:bodyPr/>
                    <a:lstStyle/>
                    <a:p>
                      <a:pPr algn="l" rtl="0" fontAlgn="b">
                        <a:buNone/>
                      </a:pPr>
                      <a:r>
                        <a:rPr lang="en-US" sz="1200" i="0">
                          <a:effectLst/>
                        </a:rPr>
                        <a:t>GPT-OSS-20B</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rtl="0" fontAlgn="b">
                        <a:buNone/>
                      </a:pPr>
                      <a:r>
                        <a:rPr lang="en-US" sz="1200">
                          <a:effectLst/>
                        </a:rPr>
                        <a:t>0.258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0.5895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0.6686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1.4122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0.065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9085070"/>
                  </a:ext>
                </a:extLst>
              </a:tr>
              <a:tr h="246662">
                <a:tc>
                  <a:txBody>
                    <a:bodyPr/>
                    <a:lstStyle/>
                    <a:p>
                      <a:pPr algn="l" rtl="0" fontAlgn="b">
                        <a:buNone/>
                      </a:pPr>
                      <a:r>
                        <a:rPr lang="en-US" sz="1200" i="0">
                          <a:effectLst/>
                        </a:rPr>
                        <a:t>GPT-4</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rtl="0" fontAlgn="b">
                        <a:buNone/>
                      </a:pPr>
                      <a:r>
                        <a:rPr lang="en-US" sz="1200">
                          <a:effectLst/>
                        </a:rPr>
                        <a:t>0.358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0.6305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0.1505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0.787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1.1762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0.31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0.87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88940257"/>
                  </a:ext>
                </a:extLst>
              </a:tr>
              <a:tr h="246662">
                <a:tc>
                  <a:txBody>
                    <a:bodyPr/>
                    <a:lstStyle/>
                    <a:p>
                      <a:pPr algn="l" rtl="0" fontAlgn="b">
                        <a:buNone/>
                      </a:pPr>
                      <a:r>
                        <a:rPr lang="en-US" sz="1200" i="0">
                          <a:effectLst/>
                        </a:rPr>
                        <a:t>GPT-4o</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0.516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0.713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0.2019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0.852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1.176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0.35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0.87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a:effectLst/>
                        </a:rPr>
                        <a:t>0.61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45384007"/>
                  </a:ext>
                </a:extLst>
              </a:tr>
              <a:tr h="246662">
                <a:tc>
                  <a:txBody>
                    <a:bodyPr/>
                    <a:lstStyle/>
                    <a:p>
                      <a:pPr algn="l" rtl="0" fontAlgn="b">
                        <a:buNone/>
                      </a:pPr>
                      <a:r>
                        <a:rPr lang="en-US" sz="1200" i="0">
                          <a:effectLst/>
                        </a:rPr>
                        <a:t>GPT-4-Turbo</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0.488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0.646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0.218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0.819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1.538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0.595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33031988"/>
                  </a:ext>
                </a:extLst>
              </a:tr>
              <a:tr h="246662">
                <a:tc>
                  <a:txBody>
                    <a:bodyPr/>
                    <a:lstStyle/>
                    <a:p>
                      <a:pPr algn="l" rtl="0" fontAlgn="b">
                        <a:buNone/>
                      </a:pPr>
                      <a:r>
                        <a:rPr lang="en-US" sz="1200" b="1" i="0">
                          <a:effectLst/>
                        </a:rPr>
                        <a:t>GPT-5</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0.76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0.716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0.3259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0.92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a:effectLst/>
                        </a:rPr>
                        <a:t>1.123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0.39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0.83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0.61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965014748"/>
                  </a:ext>
                </a:extLst>
              </a:tr>
              <a:tr h="246662">
                <a:tc>
                  <a:txBody>
                    <a:bodyPr/>
                    <a:lstStyle/>
                    <a:p>
                      <a:pPr algn="l" rtl="0" fontAlgn="b">
                        <a:buNone/>
                      </a:pPr>
                      <a:r>
                        <a:rPr lang="en-US" sz="1200" b="1" i="0">
                          <a:effectLst/>
                        </a:rPr>
                        <a:t>Gemini-2.5-pro</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0.762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0.712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0.2843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0.891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a:effectLst/>
                        </a:rPr>
                        <a:t>1.1218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0.31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0.81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1">
                          <a:effectLst/>
                        </a:rPr>
                        <a:t>0.56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36742850"/>
                  </a:ext>
                </a:extLst>
              </a:tr>
              <a:tr h="246662">
                <a:tc>
                  <a:txBody>
                    <a:bodyPr/>
                    <a:lstStyle/>
                    <a:p>
                      <a:pPr algn="l" rtl="0" fontAlgn="b">
                        <a:buNone/>
                      </a:pPr>
                      <a:r>
                        <a:rPr lang="en-US" sz="1200" i="1">
                          <a:effectLst/>
                        </a:rPr>
                        <a:t>Gemini-2.5-flash</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0.516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0.651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0.1344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0.792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1.66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i="1">
                          <a:effectLst/>
                        </a:rPr>
                        <a:t>0.3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i="1">
                          <a:effectLst/>
                        </a:rPr>
                        <a:t>0.86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i="1">
                          <a:effectLst/>
                        </a:rPr>
                        <a:t>0.58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74317771"/>
                  </a:ext>
                </a:extLst>
              </a:tr>
              <a:tr h="246662">
                <a:tc>
                  <a:txBody>
                    <a:bodyPr/>
                    <a:lstStyle/>
                    <a:p>
                      <a:pPr algn="l" rtl="0" fontAlgn="b">
                        <a:buNone/>
                      </a:pPr>
                      <a:r>
                        <a:rPr lang="en-US" sz="1200" i="1">
                          <a:effectLst/>
                        </a:rPr>
                        <a:t>Qwen3-4B</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0.056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0.4535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0.0481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i="1">
                          <a:effectLst/>
                        </a:rPr>
                        <a:t>0.698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1.5709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i="1">
                          <a:effectLst/>
                        </a:rPr>
                        <a:t>0.15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i="1">
                          <a:effectLst/>
                        </a:rPr>
                        <a:t>0.91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b="0" i="1">
                          <a:effectLst/>
                        </a:rPr>
                        <a:t>0.53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62657231"/>
                  </a:ext>
                </a:extLst>
              </a:tr>
              <a:tr h="246662">
                <a:tc>
                  <a:txBody>
                    <a:bodyPr/>
                    <a:lstStyle/>
                    <a:p>
                      <a:pPr algn="l" rtl="0" fontAlgn="b">
                        <a:buNone/>
                      </a:pPr>
                      <a:r>
                        <a:rPr lang="en-US" sz="1200" i="0">
                          <a:effectLst/>
                        </a:rPr>
                        <a:t>Qwen3-8b</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0.056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0.244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0.0193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0.256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1.9607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77219081"/>
                  </a:ext>
                </a:extLst>
              </a:tr>
              <a:tr h="246662">
                <a:tc>
                  <a:txBody>
                    <a:bodyPr/>
                    <a:lstStyle/>
                    <a:p>
                      <a:pPr algn="l" rtl="0" fontAlgn="b">
                        <a:buNone/>
                      </a:pPr>
                      <a:r>
                        <a:rPr lang="en-US" sz="1200" i="0">
                          <a:effectLst/>
                        </a:rPr>
                        <a:t>Qwen3-14B</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0.154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0.4355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0.03024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0.5449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1.2353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0.095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34509672"/>
                  </a:ext>
                </a:extLst>
              </a:tr>
              <a:tr h="246662">
                <a:tc>
                  <a:txBody>
                    <a:bodyPr/>
                    <a:lstStyle/>
                    <a:p>
                      <a:pPr algn="l" rtl="0" fontAlgn="b">
                        <a:buNone/>
                      </a:pPr>
                      <a:r>
                        <a:rPr lang="en-US" sz="1200" i="0">
                          <a:effectLst/>
                        </a:rPr>
                        <a:t>Llama 3.1-8B</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0.164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0.4277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0.03614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0.6749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2.008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0.83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0.535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71244425"/>
                  </a:ext>
                </a:extLst>
              </a:tr>
              <a:tr h="425524">
                <a:tc>
                  <a:txBody>
                    <a:bodyPr/>
                    <a:lstStyle/>
                    <a:p>
                      <a:pPr algn="l" rtl="0" fontAlgn="b">
                        <a:buNone/>
                      </a:pPr>
                      <a:r>
                        <a:rPr lang="en-US" sz="1200" i="0">
                          <a:effectLst/>
                        </a:rPr>
                        <a:t>Llama-Primus-Merged (8B)</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0.248</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0.451</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0.0017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0.1963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1.8575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0.07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95888686"/>
                  </a:ext>
                </a:extLst>
              </a:tr>
              <a:tr h="425524">
                <a:tc>
                  <a:txBody>
                    <a:bodyPr/>
                    <a:lstStyle/>
                    <a:p>
                      <a:pPr algn="l" rtl="0" fontAlgn="b">
                        <a:buNone/>
                      </a:pPr>
                      <a:r>
                        <a:rPr lang="en-US" sz="1200" i="0">
                          <a:effectLst/>
                        </a:rPr>
                        <a:t>Llama 3-70b-Instruct</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0.316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0.5665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0.11076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0.7893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2.7869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0.22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0.83</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US" sz="1200">
                          <a:effectLst/>
                        </a:rPr>
                        <a:t>0.525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40891706"/>
                  </a:ext>
                </a:extLst>
              </a:tr>
              <a:tr h="425524">
                <a:tc>
                  <a:txBody>
                    <a:bodyPr/>
                    <a:lstStyle/>
                    <a:p>
                      <a:pPr algn="l" rtl="0" fontAlgn="b">
                        <a:buNone/>
                      </a:pPr>
                      <a:r>
                        <a:rPr lang="en-US" sz="1200" i="0">
                          <a:effectLst/>
                        </a:rPr>
                        <a:t>Llama 3.3-70b-Instruct</a:t>
                      </a:r>
                    </a:p>
                  </a:txBody>
                  <a:tcPr marL="18655" marR="18655" marT="12436" marB="12436" anchor="b">
                    <a:lnL w="9525" cap="flat" cmpd="sng" algn="ctr">
                      <a:solidFill>
                        <a:srgbClr val="000000"/>
                      </a:solidFill>
                      <a:prstDash val="dash"/>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0.304</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0.1112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0.7597</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2.2992</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0.26</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0.89</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tc>
                  <a:txBody>
                    <a:bodyPr/>
                    <a:lstStyle/>
                    <a:p>
                      <a:pPr algn="ctr" rtl="0" fontAlgn="b">
                        <a:buNone/>
                      </a:pPr>
                      <a:r>
                        <a:rPr lang="en-US" sz="1200">
                          <a:effectLst/>
                        </a:rPr>
                        <a:t>0.575</a:t>
                      </a:r>
                    </a:p>
                  </a:txBody>
                  <a:tcPr marL="18655" marR="18655" marT="12436" marB="12436" anchor="b">
                    <a:lnL w="9525" cap="flat" cmpd="sng" algn="ctr">
                      <a:solidFill>
                        <a:srgbClr val="CCCCCC"/>
                      </a:solidFill>
                      <a:prstDash val="solid"/>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120880751"/>
                  </a:ext>
                </a:extLst>
              </a:tr>
            </a:tbl>
          </a:graphicData>
        </a:graphic>
      </p:graphicFrame>
    </p:spTree>
    <p:extLst>
      <p:ext uri="{BB962C8B-B14F-4D97-AF65-F5344CB8AC3E}">
        <p14:creationId xmlns:p14="http://schemas.microsoft.com/office/powerpoint/2010/main" val="2297681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28F93B-17ED-BD05-D492-85F1A4EFACFF}"/>
              </a:ext>
            </a:extLst>
          </p:cNvPr>
          <p:cNvSpPr>
            <a:spLocks noGrp="1"/>
          </p:cNvSpPr>
          <p:nvPr>
            <p:ph type="title" idx="4294967295"/>
          </p:nvPr>
        </p:nvSpPr>
        <p:spPr>
          <a:xfrm>
            <a:off x="1043631" y="809898"/>
            <a:ext cx="9942716" cy="1554480"/>
          </a:xfrm>
          <a:prstGeom prst="rect">
            <a:avLst/>
          </a:prstGeom>
        </p:spPr>
        <p:txBody>
          <a:bodyPr vert="horz" lIns="91440" tIns="45720" rIns="91440" bIns="45720" rtlCol="0" anchor="ctr">
            <a:normAutofit/>
          </a:bodyPr>
          <a:lstStyle/>
          <a:p>
            <a:pPr>
              <a:lnSpc>
                <a:spcPct val="90000"/>
              </a:lnSpc>
              <a:spcBef>
                <a:spcPct val="0"/>
              </a:spcBef>
            </a:pPr>
            <a:r>
              <a:rPr lang="en-US" sz="4800" b="1" kern="1200">
                <a:solidFill>
                  <a:schemeClr val="tx1"/>
                </a:solidFill>
                <a:latin typeface="+mj-lt"/>
                <a:ea typeface="+mj-ea"/>
                <a:cs typeface="+mj-cs"/>
              </a:rPr>
              <a:t>Model Comparisons: Proprietary</a:t>
            </a:r>
            <a:r>
              <a:rPr lang="en-US" sz="4800" b="1" kern="1200" baseline="0">
                <a:solidFill>
                  <a:schemeClr val="tx1"/>
                </a:solidFill>
                <a:latin typeface="+mj-lt"/>
                <a:ea typeface="+mj-ea"/>
                <a:cs typeface="+mj-cs"/>
              </a:rPr>
              <a:t> vs. Open-Source</a:t>
            </a:r>
            <a:endParaRPr lang="en-US" sz="4800" b="1" kern="1200">
              <a:solidFill>
                <a:schemeClr val="tx1"/>
              </a:solidFill>
              <a:latin typeface="+mj-lt"/>
              <a:ea typeface="+mj-ea"/>
              <a:cs typeface="+mj-cs"/>
            </a:endParaRPr>
          </a:p>
        </p:txBody>
      </p:sp>
      <p:sp>
        <p:nvSpPr>
          <p:cNvPr id="2" name="Rectangle 1">
            <a:extLst>
              <a:ext uri="{FF2B5EF4-FFF2-40B4-BE49-F238E27FC236}">
                <a16:creationId xmlns:a16="http://schemas.microsoft.com/office/drawing/2014/main" id="{D283651E-BA20-13AD-7183-373CF478F31F}"/>
              </a:ext>
            </a:extLst>
          </p:cNvPr>
          <p:cNvSpPr>
            <a:spLocks noChangeArrowheads="1"/>
          </p:cNvSpPr>
          <p:nvPr/>
        </p:nvSpPr>
        <p:spPr bwMode="auto">
          <a:xfrm>
            <a:off x="5671253" y="3056213"/>
            <a:ext cx="6043792" cy="31246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R="0" lvl="0" algn="ctr" fontAlgn="base">
              <a:lnSpc>
                <a:spcPct val="90000"/>
              </a:lnSpc>
              <a:spcBef>
                <a:spcPct val="0"/>
              </a:spcBef>
              <a:spcAft>
                <a:spcPct val="0"/>
              </a:spcAft>
              <a:buClrTx/>
              <a:buSzTx/>
              <a:tabLst/>
            </a:pPr>
            <a:r>
              <a:rPr kumimoji="0" lang="en-US" altLang="en-US" b="1" i="0" u="none" strike="noStrike" kern="1200" cap="none" normalizeH="0" baseline="0" dirty="0">
                <a:ln>
                  <a:noFill/>
                </a:ln>
                <a:solidFill>
                  <a:schemeClr val="tx1"/>
                </a:solidFill>
                <a:effectLst/>
                <a:latin typeface="+mn-lt"/>
                <a:ea typeface="+mn-ea"/>
                <a:cs typeface="+mn-cs"/>
              </a:rPr>
              <a:t>Hugging Face Models</a:t>
            </a:r>
          </a:p>
          <a:p>
            <a:pPr marR="0" lvl="0" algn="ctr" fontAlgn="base">
              <a:lnSpc>
                <a:spcPct val="90000"/>
              </a:lnSpc>
              <a:spcBef>
                <a:spcPct val="0"/>
              </a:spcBef>
              <a:spcAft>
                <a:spcPct val="0"/>
              </a:spcAft>
              <a:buClrTx/>
              <a:buSzTx/>
              <a:tabLst/>
            </a:pPr>
            <a:endParaRPr kumimoji="0" lang="en-US" altLang="en-US" sz="1200" b="0" i="0" u="none" strike="noStrike" kern="1200" cap="none" normalizeH="0" baseline="0" dirty="0">
              <a:ln>
                <a:noFill/>
              </a:ln>
              <a:solidFill>
                <a:schemeClr val="tx1"/>
              </a:solidFill>
              <a:effectLst/>
              <a:latin typeface="+mn-lt"/>
              <a:ea typeface="+mn-ea"/>
              <a:cs typeface="+mn-cs"/>
            </a:endParaRPr>
          </a:p>
          <a:p>
            <a:pPr marL="228600" marR="0" lvl="0" indent="-285750" fontAlgn="base">
              <a:lnSpc>
                <a:spcPct val="110000"/>
              </a:lnSpc>
              <a:spcBef>
                <a:spcPct val="0"/>
              </a:spcBef>
              <a:spcAft>
                <a:spcPts val="600"/>
              </a:spcAft>
              <a:buClrTx/>
              <a:buSzTx/>
              <a:buFont typeface="Wingdings" pitchFamily="2" charset="2"/>
              <a:buChar char="ü"/>
              <a:tabLst/>
            </a:pP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Llama-3.3-70B-Instruct</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continues to be the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benchmark open-weight baseline</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offering consistent performance on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Athena RCM</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and</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 MCQ </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tasks.</a:t>
            </a:r>
          </a:p>
          <a:p>
            <a:pPr marL="228600" marR="0" lvl="0" indent="-285750" fontAlgn="base">
              <a:lnSpc>
                <a:spcPct val="110000"/>
              </a:lnSpc>
              <a:spcBef>
                <a:spcPct val="0"/>
              </a:spcBef>
              <a:spcAft>
                <a:spcPts val="600"/>
              </a:spcAft>
              <a:buClrTx/>
              <a:buSzTx/>
              <a:buFont typeface="Wingdings" pitchFamily="2" charset="2"/>
              <a:buChar char="ü"/>
              <a:tabLst/>
            </a:pP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Qwen3-14B</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displayed competent reasoning ability with balanced</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 MCQ</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and attribution scores, outperforming smaller variants like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Qwen3-4B</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a:t>
            </a:r>
          </a:p>
          <a:p>
            <a:pPr marL="228600" marR="0" lvl="0" indent="-285750" fontAlgn="base">
              <a:lnSpc>
                <a:spcPct val="110000"/>
              </a:lnSpc>
              <a:spcBef>
                <a:spcPct val="0"/>
              </a:spcBef>
              <a:spcAft>
                <a:spcPts val="600"/>
              </a:spcAft>
              <a:buClrTx/>
              <a:buSzTx/>
              <a:buFont typeface="Wingdings" pitchFamily="2" charset="2"/>
              <a:buChar char="ü"/>
              <a:tabLst/>
            </a:pP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GPT-OSS-20B</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exhibited moderate generalization in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Athena</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RCM</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and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MCQ</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tasks, making it promising for controlled-compute environments.</a:t>
            </a:r>
          </a:p>
          <a:p>
            <a:pPr marL="228600" marR="0" lvl="0" indent="-285750" fontAlgn="base">
              <a:lnSpc>
                <a:spcPct val="110000"/>
              </a:lnSpc>
              <a:spcBef>
                <a:spcPct val="0"/>
              </a:spcBef>
              <a:spcAft>
                <a:spcPts val="600"/>
              </a:spcAft>
              <a:buClrTx/>
              <a:buSzTx/>
              <a:buFont typeface="Wingdings" pitchFamily="2" charset="2"/>
              <a:buChar char="ü"/>
              <a:tabLst/>
            </a:pP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Llama-Primus-Merged (8B)</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trailed the larger open models but remains viable for </a:t>
            </a: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lightweight fine-tuning</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and inference pipelines where cost and model footprint are primary considerations.</a:t>
            </a:r>
          </a:p>
          <a:p>
            <a:pPr marL="228600" marR="0" lvl="0" indent="-285750" fontAlgn="base">
              <a:lnSpc>
                <a:spcPct val="110000"/>
              </a:lnSpc>
              <a:spcBef>
                <a:spcPct val="0"/>
              </a:spcBef>
              <a:spcAft>
                <a:spcPts val="600"/>
              </a:spcAft>
              <a:buClrTx/>
              <a:buSzTx/>
              <a:buFont typeface="Wingdings" pitchFamily="2" charset="2"/>
              <a:buChar char="ü"/>
              <a:tabLst/>
            </a:pPr>
            <a:r>
              <a:rPr kumimoji="0" lang="en-US" altLang="en-US" sz="1200" b="1" i="0" u="none" strike="noStrike" kern="1200" cap="none" normalizeH="0" baseline="0" dirty="0">
                <a:ln>
                  <a:noFill/>
                </a:ln>
                <a:solidFill>
                  <a:schemeClr val="tx1"/>
                </a:solidFill>
                <a:effectLst/>
                <a:latin typeface="Aptos" panose="020B0004020202020204" pitchFamily="34" charset="0"/>
                <a:ea typeface="+mn-ea"/>
                <a:cs typeface="+mn-cs"/>
              </a:rPr>
              <a:t>Qwen3-4B</a:t>
            </a:r>
            <a:r>
              <a:rPr kumimoji="0" lang="en-US" altLang="en-US" sz="1200" b="0" i="0" u="none" strike="noStrike" kern="1200" cap="none" normalizeH="0" baseline="0" dirty="0">
                <a:ln>
                  <a:noFill/>
                </a:ln>
                <a:solidFill>
                  <a:schemeClr val="tx1"/>
                </a:solidFill>
                <a:effectLst/>
                <a:latin typeface="Aptos" panose="020B0004020202020204" pitchFamily="34" charset="0"/>
                <a:ea typeface="+mn-ea"/>
                <a:cs typeface="+mn-cs"/>
              </a:rPr>
              <a:t>, while limited in analytical reasoning, maintained reliable factual QA accuracy, making it suitable for simpler classification or knowledge-retrieval subtasks.</a:t>
            </a:r>
          </a:p>
          <a:p>
            <a:pPr marL="0" marR="0" lvl="0" indent="-228600" fontAlgn="base">
              <a:lnSpc>
                <a:spcPct val="90000"/>
              </a:lnSpc>
              <a:spcBef>
                <a:spcPct val="0"/>
              </a:spcBef>
              <a:spcAft>
                <a:spcPct val="0"/>
              </a:spcAft>
              <a:buClrTx/>
              <a:buSzTx/>
              <a:buFont typeface="Arial" panose="020B0604020202020204" pitchFamily="34" charset="0"/>
              <a:buChar char="•"/>
              <a:tabLst/>
            </a:pPr>
            <a:endParaRPr kumimoji="0" lang="en-US" altLang="en-US" sz="1200" b="0" i="0" u="none" strike="noStrike" kern="1200" cap="none" normalizeH="0" baseline="0" dirty="0">
              <a:ln>
                <a:noFill/>
              </a:ln>
              <a:solidFill>
                <a:schemeClr val="tx1"/>
              </a:solidFill>
              <a:effectLst/>
              <a:latin typeface="+mn-lt"/>
              <a:ea typeface="+mn-ea"/>
              <a:cs typeface="+mn-cs"/>
            </a:endParaRPr>
          </a:p>
        </p:txBody>
      </p:sp>
      <p:sp>
        <p:nvSpPr>
          <p:cNvPr id="3" name="Rectangle 2">
            <a:extLst>
              <a:ext uri="{FF2B5EF4-FFF2-40B4-BE49-F238E27FC236}">
                <a16:creationId xmlns:a16="http://schemas.microsoft.com/office/drawing/2014/main" id="{C64F583D-F48D-B375-F65F-01E3D7B68229}"/>
              </a:ext>
            </a:extLst>
          </p:cNvPr>
          <p:cNvSpPr>
            <a:spLocks noChangeArrowheads="1"/>
          </p:cNvSpPr>
          <p:nvPr/>
        </p:nvSpPr>
        <p:spPr bwMode="auto">
          <a:xfrm>
            <a:off x="421359" y="2902418"/>
            <a:ext cx="4828536" cy="2964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endParaRPr>
          </a:p>
          <a:p>
            <a:pPr marR="0" lvl="0" algn="ctr" defTabSz="914400" rtl="0" eaLnBrk="0" fontAlgn="base" latinLnBrk="0" hangingPunct="0">
              <a:spcBef>
                <a:spcPct val="0"/>
              </a:spcBef>
              <a:spcAft>
                <a:spcPct val="0"/>
              </a:spcAft>
              <a:buClrTx/>
              <a:buSzTx/>
              <a:tabLst/>
            </a:pPr>
            <a:r>
              <a:rPr kumimoji="0" lang="en-US" altLang="en-US" b="1" i="0" u="none" strike="noStrike" cap="none" normalizeH="0" baseline="0" dirty="0">
                <a:ln>
                  <a:noFill/>
                </a:ln>
                <a:solidFill>
                  <a:srgbClr val="000000"/>
                </a:solidFill>
                <a:effectLst/>
                <a:latin typeface="Aptos" panose="020B0004020202020204" pitchFamily="34" charset="0"/>
              </a:rPr>
              <a:t>Proprietary</a:t>
            </a:r>
            <a:r>
              <a:rPr kumimoji="0" lang="en-US" altLang="en-US" b="1" i="0" u="none" strike="noStrike" cap="none" normalizeH="0" dirty="0">
                <a:ln>
                  <a:noFill/>
                </a:ln>
                <a:solidFill>
                  <a:srgbClr val="000000"/>
                </a:solidFill>
                <a:effectLst/>
                <a:latin typeface="Aptos" panose="020B0004020202020204" pitchFamily="34" charset="0"/>
              </a:rPr>
              <a:t> Models (OpenAI GPT &amp; Google Gemini)</a:t>
            </a:r>
            <a:endParaRPr kumimoji="0" lang="en-US" altLang="en-US" b="1" i="0" u="none" strike="noStrike" cap="none" normalizeH="0" baseline="0" dirty="0">
              <a:ln>
                <a:noFill/>
              </a:ln>
              <a:solidFill>
                <a:srgbClr val="000000"/>
              </a:solidFill>
              <a:effectLst/>
              <a:latin typeface="Aptos" panose="020B0004020202020204" pitchFamily="34" charset="0"/>
            </a:endParaRPr>
          </a:p>
          <a:p>
            <a:pPr marR="0" lvl="0" algn="l" defTabSz="914400" rtl="0" eaLnBrk="0" fontAlgn="base" latinLnBrk="0" hangingPunct="0">
              <a:spcBef>
                <a:spcPct val="0"/>
              </a:spcBef>
              <a:spcAft>
                <a:spcPct val="0"/>
              </a:spcAft>
              <a:buClrTx/>
              <a:buSzTx/>
              <a:tabLst/>
            </a:pPr>
            <a:endParaRPr kumimoji="0" lang="en-US" altLang="en-US" sz="700" b="0" i="0" u="none" strike="noStrike" cap="none" normalizeH="0" baseline="0" dirty="0">
              <a:ln>
                <a:noFill/>
              </a:ln>
              <a:solidFill>
                <a:schemeClr val="tx1"/>
              </a:solidFill>
              <a:effectLst/>
            </a:endParaRPr>
          </a:p>
          <a:p>
            <a:pPr marL="171450" marR="0" lvl="0" indent="-171450" algn="l" defTabSz="914400" rtl="0" eaLnBrk="0" fontAlgn="base" latinLnBrk="0" hangingPunct="0">
              <a:spcBef>
                <a:spcPct val="0"/>
              </a:spcBef>
              <a:spcAft>
                <a:spcPts val="600"/>
              </a:spcAft>
              <a:buClrTx/>
              <a:buSzTx/>
              <a:buFont typeface="Wingdings" pitchFamily="2" charset="2"/>
              <a:buChar char="ü"/>
              <a:tabLst/>
            </a:pPr>
            <a:r>
              <a:rPr kumimoji="0" lang="en-US" altLang="en-US" sz="1200" b="1" i="0" u="none" strike="noStrike" cap="none" normalizeH="0" baseline="0" dirty="0">
                <a:ln>
                  <a:noFill/>
                </a:ln>
                <a:solidFill>
                  <a:srgbClr val="000000"/>
                </a:solidFill>
                <a:effectLst/>
                <a:latin typeface="Aptos" panose="020B0004020202020204" pitchFamily="34" charset="0"/>
              </a:rPr>
              <a:t>GPT-5</a:t>
            </a:r>
            <a:r>
              <a:rPr kumimoji="0" lang="en-US" altLang="en-US" sz="1200" b="0" i="0" u="none" strike="noStrike" cap="none" normalizeH="0" baseline="0" dirty="0">
                <a:ln>
                  <a:noFill/>
                </a:ln>
                <a:solidFill>
                  <a:srgbClr val="000000"/>
                </a:solidFill>
                <a:effectLst/>
                <a:latin typeface="Aptos" panose="020B0004020202020204" pitchFamily="34" charset="0"/>
              </a:rPr>
              <a:t> and </a:t>
            </a:r>
            <a:r>
              <a:rPr kumimoji="0" lang="en-US" altLang="en-US" sz="1200" b="1" i="0" u="none" strike="noStrike" cap="none" normalizeH="0" baseline="0" dirty="0">
                <a:ln>
                  <a:noFill/>
                </a:ln>
                <a:solidFill>
                  <a:srgbClr val="000000"/>
                </a:solidFill>
                <a:effectLst/>
                <a:latin typeface="Aptos" panose="020B0004020202020204" pitchFamily="34" charset="0"/>
              </a:rPr>
              <a:t>Gemini-2.5-Pro</a:t>
            </a:r>
            <a:r>
              <a:rPr kumimoji="0" lang="en-US" altLang="en-US" sz="1200" b="0" i="0" u="none" strike="noStrike" cap="none" normalizeH="0" baseline="0" dirty="0">
                <a:ln>
                  <a:noFill/>
                </a:ln>
                <a:solidFill>
                  <a:srgbClr val="000000"/>
                </a:solidFill>
                <a:effectLst/>
                <a:latin typeface="Aptos" panose="020B0004020202020204" pitchFamily="34" charset="0"/>
              </a:rPr>
              <a:t> consistently achieved the </a:t>
            </a:r>
            <a:r>
              <a:rPr kumimoji="0" lang="en-US" altLang="en-US" sz="1200" b="1" i="0" u="none" strike="noStrike" cap="none" normalizeH="0" baseline="0" dirty="0">
                <a:ln>
                  <a:noFill/>
                </a:ln>
                <a:solidFill>
                  <a:srgbClr val="000000"/>
                </a:solidFill>
                <a:effectLst/>
                <a:latin typeface="Aptos" panose="020B0004020202020204" pitchFamily="34" charset="0"/>
              </a:rPr>
              <a:t>highest aggregated performance</a:t>
            </a:r>
            <a:r>
              <a:rPr kumimoji="0" lang="en-US" altLang="en-US" sz="1200" b="0" i="0" u="none" strike="noStrike" cap="none" normalizeH="0" baseline="0" dirty="0">
                <a:ln>
                  <a:noFill/>
                </a:ln>
                <a:solidFill>
                  <a:srgbClr val="000000"/>
                </a:solidFill>
                <a:effectLst/>
                <a:latin typeface="Aptos" panose="020B0004020202020204" pitchFamily="34" charset="0"/>
              </a:rPr>
              <a:t> across all Athena tasks.</a:t>
            </a:r>
          </a:p>
          <a:p>
            <a:pPr marL="171450" marR="0" lvl="0" indent="-171450" algn="l" defTabSz="914400" rtl="0" eaLnBrk="0" fontAlgn="base" latinLnBrk="0" hangingPunct="0">
              <a:spcBef>
                <a:spcPct val="0"/>
              </a:spcBef>
              <a:spcAft>
                <a:spcPts val="600"/>
              </a:spcAft>
              <a:buClrTx/>
              <a:buSzTx/>
              <a:buFont typeface="Wingdings" pitchFamily="2" charset="2"/>
              <a:buChar char="ü"/>
              <a:tabLst/>
            </a:pPr>
            <a:r>
              <a:rPr kumimoji="0" lang="en-US" altLang="en-US" sz="1200" b="1" i="0" u="none" strike="noStrike" cap="none" normalizeH="0" baseline="0" dirty="0">
                <a:ln>
                  <a:noFill/>
                </a:ln>
                <a:solidFill>
                  <a:srgbClr val="000000"/>
                </a:solidFill>
                <a:effectLst/>
                <a:latin typeface="Aptos" panose="020B0004020202020204" pitchFamily="34" charset="0"/>
              </a:rPr>
              <a:t>GPT-5</a:t>
            </a:r>
            <a:r>
              <a:rPr kumimoji="0" lang="en-US" altLang="en-US" sz="1200" b="0" i="0" u="none" strike="noStrike" cap="none" normalizeH="0" baseline="0" dirty="0">
                <a:ln>
                  <a:noFill/>
                </a:ln>
                <a:solidFill>
                  <a:srgbClr val="000000"/>
                </a:solidFill>
                <a:effectLst/>
                <a:latin typeface="Aptos" panose="020B0004020202020204" pitchFamily="34" charset="0"/>
              </a:rPr>
              <a:t> demonstrated </a:t>
            </a:r>
            <a:r>
              <a:rPr kumimoji="0" lang="en-US" altLang="en-US" sz="1200" b="1" i="0" u="none" strike="noStrike" cap="none" normalizeH="0" baseline="0" dirty="0">
                <a:ln>
                  <a:noFill/>
                </a:ln>
                <a:solidFill>
                  <a:srgbClr val="000000"/>
                </a:solidFill>
                <a:effectLst/>
                <a:latin typeface="Aptos" panose="020B0004020202020204" pitchFamily="34" charset="0"/>
              </a:rPr>
              <a:t>outstanding precision</a:t>
            </a:r>
            <a:r>
              <a:rPr kumimoji="0" lang="en-US" altLang="en-US" sz="1200" b="0" i="0" u="none" strike="noStrike" cap="none" normalizeH="0" baseline="0" dirty="0">
                <a:ln>
                  <a:noFill/>
                </a:ln>
                <a:solidFill>
                  <a:srgbClr val="000000"/>
                </a:solidFill>
                <a:effectLst/>
                <a:latin typeface="Aptos" panose="020B0004020202020204" pitchFamily="34" charset="0"/>
              </a:rPr>
              <a:t> and contextual reasoning in multi-stage </a:t>
            </a:r>
            <a:r>
              <a:rPr kumimoji="0" lang="en-US" altLang="en-US" sz="1200" b="1" i="0" u="none" strike="noStrike" cap="none" normalizeH="0" baseline="0" dirty="0">
                <a:ln>
                  <a:noFill/>
                </a:ln>
                <a:solidFill>
                  <a:srgbClr val="000000"/>
                </a:solidFill>
                <a:effectLst/>
                <a:latin typeface="Aptos" panose="020B0004020202020204" pitchFamily="34" charset="0"/>
              </a:rPr>
              <a:t>CTI</a:t>
            </a:r>
            <a:r>
              <a:rPr kumimoji="0" lang="en-US" altLang="en-US" sz="1200" b="0" i="0" u="none" strike="noStrike" cap="none" normalizeH="0" baseline="0" dirty="0">
                <a:ln>
                  <a:noFill/>
                </a:ln>
                <a:solidFill>
                  <a:srgbClr val="000000"/>
                </a:solidFill>
                <a:effectLst/>
                <a:latin typeface="Aptos" panose="020B0004020202020204" pitchFamily="34" charset="0"/>
              </a:rPr>
              <a:t> analysis and threat mapping.</a:t>
            </a:r>
          </a:p>
          <a:p>
            <a:pPr marL="171450" marR="0" lvl="0" indent="-171450" algn="l" defTabSz="914400" rtl="0" eaLnBrk="0" fontAlgn="base" latinLnBrk="0" hangingPunct="0">
              <a:spcBef>
                <a:spcPct val="0"/>
              </a:spcBef>
              <a:spcAft>
                <a:spcPts val="600"/>
              </a:spcAft>
              <a:buClrTx/>
              <a:buSzTx/>
              <a:buFont typeface="Wingdings" pitchFamily="2" charset="2"/>
              <a:buChar char="ü"/>
              <a:tabLst/>
            </a:pPr>
            <a:r>
              <a:rPr kumimoji="0" lang="en-US" altLang="en-US" sz="1200" b="1" i="0" u="none" strike="noStrike" cap="none" normalizeH="0" baseline="0" dirty="0">
                <a:ln>
                  <a:noFill/>
                </a:ln>
                <a:solidFill>
                  <a:srgbClr val="000000"/>
                </a:solidFill>
                <a:effectLst/>
                <a:latin typeface="Aptos" panose="020B0004020202020204" pitchFamily="34" charset="0"/>
              </a:rPr>
              <a:t>Gemini-2.5-Pro</a:t>
            </a:r>
            <a:r>
              <a:rPr kumimoji="0" lang="en-US" altLang="en-US" sz="1200" b="0" i="0" u="none" strike="noStrike" cap="none" normalizeH="0" baseline="0" dirty="0">
                <a:ln>
                  <a:noFill/>
                </a:ln>
                <a:solidFill>
                  <a:srgbClr val="000000"/>
                </a:solidFill>
                <a:effectLst/>
                <a:latin typeface="Aptos" panose="020B0004020202020204" pitchFamily="34" charset="0"/>
              </a:rPr>
              <a:t> maintained </a:t>
            </a:r>
            <a:r>
              <a:rPr kumimoji="0" lang="en-US" altLang="en-US" sz="1200" b="1" i="0" u="none" strike="noStrike" cap="none" normalizeH="0" baseline="0" dirty="0">
                <a:ln>
                  <a:noFill/>
                </a:ln>
                <a:solidFill>
                  <a:srgbClr val="000000"/>
                </a:solidFill>
                <a:effectLst/>
                <a:latin typeface="Aptos" panose="020B0004020202020204" pitchFamily="34" charset="0"/>
              </a:rPr>
              <a:t>near-identical</a:t>
            </a:r>
            <a:r>
              <a:rPr kumimoji="0" lang="en-US" altLang="en-US" sz="1200" b="0" i="0" u="none" strike="noStrike" cap="none" normalizeH="0" baseline="0" dirty="0">
                <a:ln>
                  <a:noFill/>
                </a:ln>
                <a:solidFill>
                  <a:srgbClr val="000000"/>
                </a:solidFill>
                <a:effectLst/>
                <a:latin typeface="Aptos" panose="020B0004020202020204" pitchFamily="34" charset="0"/>
              </a:rPr>
              <a:t> </a:t>
            </a:r>
            <a:r>
              <a:rPr kumimoji="0" lang="en-US" altLang="en-US" sz="1200" b="1" i="0" u="none" strike="noStrike" cap="none" normalizeH="0" baseline="0" dirty="0">
                <a:ln>
                  <a:noFill/>
                </a:ln>
                <a:solidFill>
                  <a:srgbClr val="000000"/>
                </a:solidFill>
                <a:effectLst/>
                <a:latin typeface="Aptos" panose="020B0004020202020204" pitchFamily="34" charset="0"/>
              </a:rPr>
              <a:t>results</a:t>
            </a:r>
            <a:r>
              <a:rPr kumimoji="0" lang="en-US" altLang="en-US" sz="1200" b="0" i="0" u="none" strike="noStrike" cap="none" normalizeH="0" baseline="0" dirty="0">
                <a:ln>
                  <a:noFill/>
                </a:ln>
                <a:solidFill>
                  <a:srgbClr val="000000"/>
                </a:solidFill>
                <a:effectLst/>
                <a:latin typeface="Aptos" panose="020B0004020202020204" pitchFamily="34" charset="0"/>
              </a:rPr>
              <a:t> with remarkable task consistency, indicating strong stability and cross-domain generalization.</a:t>
            </a:r>
          </a:p>
          <a:p>
            <a:pPr marL="171450" marR="0" lvl="0" indent="-171450" algn="l" defTabSz="914400" rtl="0" eaLnBrk="0" fontAlgn="base" latinLnBrk="0" hangingPunct="0">
              <a:spcBef>
                <a:spcPct val="0"/>
              </a:spcBef>
              <a:spcAft>
                <a:spcPts val="600"/>
              </a:spcAft>
              <a:buClrTx/>
              <a:buSzTx/>
              <a:buFont typeface="Wingdings" pitchFamily="2" charset="2"/>
              <a:buChar char="ü"/>
              <a:tabLst/>
            </a:pPr>
            <a:r>
              <a:rPr kumimoji="0" lang="en-US" altLang="en-US" sz="1200" b="1" i="0" u="none" strike="noStrike" cap="none" normalizeH="0" baseline="0" dirty="0">
                <a:ln>
                  <a:noFill/>
                </a:ln>
                <a:solidFill>
                  <a:srgbClr val="000000"/>
                </a:solidFill>
                <a:effectLst/>
                <a:latin typeface="Aptos" panose="020B0004020202020204" pitchFamily="34" charset="0"/>
              </a:rPr>
              <a:t>GPT-4o</a:t>
            </a:r>
            <a:r>
              <a:rPr kumimoji="0" lang="en-US" altLang="en-US" sz="1200" b="0" i="0" u="none" strike="noStrike" cap="none" normalizeH="0" baseline="0" dirty="0">
                <a:ln>
                  <a:noFill/>
                </a:ln>
                <a:solidFill>
                  <a:srgbClr val="000000"/>
                </a:solidFill>
                <a:effectLst/>
                <a:latin typeface="Aptos" panose="020B0004020202020204" pitchFamily="34" charset="0"/>
              </a:rPr>
              <a:t> performed on par with the top models in reasoning-driven benchmarks such as </a:t>
            </a:r>
            <a:r>
              <a:rPr kumimoji="0" lang="en-US" altLang="en-US" sz="1200" b="1" i="0" u="none" strike="noStrike" cap="none" normalizeH="0" baseline="0" dirty="0">
                <a:ln>
                  <a:noFill/>
                </a:ln>
                <a:solidFill>
                  <a:srgbClr val="000000"/>
                </a:solidFill>
                <a:effectLst/>
                <a:latin typeface="Aptos" panose="020B0004020202020204" pitchFamily="34" charset="0"/>
              </a:rPr>
              <a:t>Athena</a:t>
            </a:r>
            <a:r>
              <a:rPr kumimoji="0" lang="en-US" altLang="en-US" sz="1200" b="0" i="0" u="none" strike="noStrike" cap="none" normalizeH="0" baseline="0" dirty="0">
                <a:ln>
                  <a:noFill/>
                </a:ln>
                <a:solidFill>
                  <a:srgbClr val="000000"/>
                </a:solidFill>
                <a:effectLst/>
                <a:latin typeface="Aptos" panose="020B0004020202020204" pitchFamily="34" charset="0"/>
              </a:rPr>
              <a:t> </a:t>
            </a:r>
            <a:r>
              <a:rPr kumimoji="0" lang="en-US" altLang="en-US" sz="1200" b="1" i="0" u="none" strike="noStrike" cap="none" normalizeH="0" baseline="0" dirty="0">
                <a:ln>
                  <a:noFill/>
                </a:ln>
                <a:solidFill>
                  <a:srgbClr val="000000"/>
                </a:solidFill>
                <a:effectLst/>
                <a:latin typeface="Aptos" panose="020B0004020202020204" pitchFamily="34" charset="0"/>
              </a:rPr>
              <a:t>RCM</a:t>
            </a:r>
            <a:r>
              <a:rPr kumimoji="0" lang="en-US" altLang="en-US" sz="1200" b="0" i="0" u="none" strike="noStrike" cap="none" normalizeH="0" baseline="0" dirty="0">
                <a:ln>
                  <a:noFill/>
                </a:ln>
                <a:solidFill>
                  <a:srgbClr val="000000"/>
                </a:solidFill>
                <a:effectLst/>
                <a:latin typeface="Aptos" panose="020B0004020202020204" pitchFamily="34" charset="0"/>
              </a:rPr>
              <a:t>, </a:t>
            </a:r>
            <a:r>
              <a:rPr kumimoji="0" lang="en-US" altLang="en-US" sz="1200" b="1" i="0" u="none" strike="noStrike" cap="none" normalizeH="0" baseline="0" dirty="0">
                <a:ln>
                  <a:noFill/>
                </a:ln>
                <a:solidFill>
                  <a:srgbClr val="000000"/>
                </a:solidFill>
                <a:effectLst/>
                <a:latin typeface="Aptos" panose="020B0004020202020204" pitchFamily="34" charset="0"/>
              </a:rPr>
              <a:t>MCQ</a:t>
            </a:r>
            <a:r>
              <a:rPr kumimoji="0" lang="en-US" altLang="en-US" sz="1200" b="0" i="0" u="none" strike="noStrike" cap="none" normalizeH="0" baseline="0" dirty="0">
                <a:ln>
                  <a:noFill/>
                </a:ln>
                <a:solidFill>
                  <a:srgbClr val="000000"/>
                </a:solidFill>
                <a:effectLst/>
                <a:latin typeface="Aptos" panose="020B0004020202020204" pitchFamily="34" charset="0"/>
              </a:rPr>
              <a:t>, and </a:t>
            </a:r>
            <a:r>
              <a:rPr kumimoji="0" lang="en-US" altLang="en-US" sz="1200" b="1" i="0" u="none" strike="noStrike" cap="none" normalizeH="0" baseline="0" dirty="0">
                <a:ln>
                  <a:noFill/>
                </a:ln>
                <a:solidFill>
                  <a:srgbClr val="000000"/>
                </a:solidFill>
                <a:effectLst/>
                <a:latin typeface="Aptos" panose="020B0004020202020204" pitchFamily="34" charset="0"/>
              </a:rPr>
              <a:t>TAA</a:t>
            </a:r>
            <a:r>
              <a:rPr kumimoji="0" lang="en-US" altLang="en-US" sz="1200" b="0" i="0" u="none" strike="noStrike" cap="none" normalizeH="0" baseline="0" dirty="0">
                <a:ln>
                  <a:noFill/>
                </a:ln>
                <a:solidFill>
                  <a:srgbClr val="000000"/>
                </a:solidFill>
                <a:effectLst/>
                <a:latin typeface="Aptos" panose="020B0004020202020204" pitchFamily="34" charset="0"/>
              </a:rPr>
              <a:t>, showing exceptional reliability and adaptability.</a:t>
            </a:r>
            <a:endParaRPr kumimoji="0" lang="en-US" altLang="en-US" sz="1200" b="0" i="0" u="none" strike="noStrike" cap="none" normalizeH="0" baseline="0" dirty="0">
              <a:ln>
                <a:noFill/>
              </a:ln>
              <a:solidFill>
                <a:srgbClr val="212121"/>
              </a:solidFill>
              <a:effectLst/>
              <a:latin typeface="Aptos" panose="020B0004020202020204" pitchFamily="34" charset="0"/>
            </a:endParaRPr>
          </a:p>
          <a:p>
            <a:pPr marL="0" marR="0" lvl="0" indent="0" algn="l"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224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AEECEC-B131-CAE4-708D-0922900947C5}"/>
              </a:ext>
            </a:extLst>
          </p:cNvPr>
          <p:cNvSpPr>
            <a:spLocks noGrp="1"/>
          </p:cNvSpPr>
          <p:nvPr>
            <p:ph type="title" idx="4294967295"/>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pPr>
            <a:r>
              <a:rPr lang="en-US" sz="3800" b="1" kern="1200">
                <a:solidFill>
                  <a:schemeClr val="tx1"/>
                </a:solidFill>
                <a:latin typeface="+mj-lt"/>
                <a:ea typeface="+mj-ea"/>
                <a:cs typeface="+mj-cs"/>
              </a:rPr>
              <a:t>ATE:</a:t>
            </a:r>
            <a:r>
              <a:rPr lang="en-US" sz="3800" b="1" kern="1200" baseline="0">
                <a:solidFill>
                  <a:schemeClr val="tx1"/>
                </a:solidFill>
                <a:latin typeface="+mj-lt"/>
                <a:ea typeface="+mj-ea"/>
                <a:cs typeface="+mj-cs"/>
              </a:rPr>
              <a:t> Attack Technique Enumeration</a:t>
            </a:r>
            <a:endParaRPr lang="en-US" sz="3800" b="1" kern="1200">
              <a:solidFill>
                <a:schemeClr val="tx1"/>
              </a:solidFill>
              <a:latin typeface="+mj-lt"/>
              <a:ea typeface="+mj-ea"/>
              <a:cs typeface="+mj-cs"/>
            </a:endParaRPr>
          </a:p>
        </p:txBody>
      </p:sp>
      <p:sp>
        <p:nvSpPr>
          <p:cNvPr id="3" name="Content Placeholder 6">
            <a:extLst>
              <a:ext uri="{FF2B5EF4-FFF2-40B4-BE49-F238E27FC236}">
                <a16:creationId xmlns:a16="http://schemas.microsoft.com/office/drawing/2014/main" id="{1703B6EB-E336-0BF7-1429-37C17927B9A7}"/>
              </a:ext>
            </a:extLst>
          </p:cNvPr>
          <p:cNvSpPr txBox="1">
            <a:spLocks/>
          </p:cNvSpPr>
          <p:nvPr/>
        </p:nvSpPr>
        <p:spPr>
          <a:xfrm>
            <a:off x="630936" y="2807208"/>
            <a:ext cx="3429000" cy="3410712"/>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200" b="1" kern="1200">
                <a:solidFill>
                  <a:schemeClr val="tx1"/>
                </a:solidFill>
                <a:latin typeface="+mn-lt"/>
                <a:ea typeface="+mn-ea"/>
                <a:cs typeface="+mn-cs"/>
              </a:rPr>
              <a:t>Evaluation Metric</a:t>
            </a:r>
            <a:r>
              <a:rPr lang="en-US" sz="2200" kern="1200">
                <a:solidFill>
                  <a:schemeClr val="tx1"/>
                </a:solidFill>
                <a:latin typeface="+mn-lt"/>
                <a:ea typeface="+mn-ea"/>
                <a:cs typeface="+mn-cs"/>
              </a:rPr>
              <a:t>: Accuracy of</a:t>
            </a:r>
          </a:p>
          <a:p>
            <a:pPr marL="457200" indent="-228600">
              <a:lnSpc>
                <a:spcPct val="90000"/>
              </a:lnSpc>
              <a:spcAft>
                <a:spcPts val="600"/>
              </a:spcAft>
              <a:buFont typeface="Arial" panose="020B0604020202020204" pitchFamily="34" charset="0"/>
              <a:buChar char="•"/>
            </a:pPr>
            <a:r>
              <a:rPr lang="en-US" sz="2200" kern="1200">
                <a:solidFill>
                  <a:schemeClr val="tx1"/>
                </a:solidFill>
                <a:latin typeface="+mn-lt"/>
                <a:ea typeface="+mn-ea"/>
                <a:cs typeface="+mn-cs"/>
              </a:rPr>
              <a:t>Identifying MITRE Attack Techniques</a:t>
            </a:r>
          </a:p>
          <a:p>
            <a:pPr marL="457200" indent="-228600">
              <a:lnSpc>
                <a:spcPct val="90000"/>
              </a:lnSpc>
              <a:spcAft>
                <a:spcPts val="600"/>
              </a:spcAft>
              <a:buFont typeface="Arial" panose="020B0604020202020204" pitchFamily="34" charset="0"/>
              <a:buChar char="•"/>
            </a:pPr>
            <a:r>
              <a:rPr lang="en-US" sz="2200" kern="1200">
                <a:solidFill>
                  <a:schemeClr val="tx1"/>
                </a:solidFill>
                <a:latin typeface="+mn-lt"/>
                <a:ea typeface="+mn-ea"/>
                <a:cs typeface="+mn-cs"/>
              </a:rPr>
              <a:t>GPT-5 and Gemini-2.5-pro lead are top performers</a:t>
            </a:r>
          </a:p>
        </p:txBody>
      </p:sp>
      <p:pic>
        <p:nvPicPr>
          <p:cNvPr id="4" name="Picture 3">
            <a:extLst>
              <a:ext uri="{FF2B5EF4-FFF2-40B4-BE49-F238E27FC236}">
                <a16:creationId xmlns:a16="http://schemas.microsoft.com/office/drawing/2014/main" id="{EF58B93A-1131-D900-6813-A9FC517A6786}"/>
              </a:ext>
            </a:extLst>
          </p:cNvPr>
          <p:cNvPicPr>
            <a:picLocks noChangeAspect="1"/>
          </p:cNvPicPr>
          <p:nvPr/>
        </p:nvPicPr>
        <p:blipFill>
          <a:blip r:embed="rId3">
            <a:extLst>
              <a:ext uri="{28A0092B-C50C-407E-A947-70E740481C1C}">
                <a14:useLocalDpi xmlns:a14="http://schemas.microsoft.com/office/drawing/2010/main" val="0"/>
              </a:ext>
            </a:extLst>
          </a:blip>
          <a:srcRect t="5710" b="1782"/>
          <a:stretch>
            <a:fillRect/>
          </a:stretch>
        </p:blipFill>
        <p:spPr>
          <a:xfrm>
            <a:off x="4654296" y="1544985"/>
            <a:ext cx="6903720" cy="3768030"/>
          </a:xfrm>
          <a:prstGeom prst="rect">
            <a:avLst/>
          </a:prstGeom>
        </p:spPr>
      </p:pic>
    </p:spTree>
    <p:extLst>
      <p:ext uri="{BB962C8B-B14F-4D97-AF65-F5344CB8AC3E}">
        <p14:creationId xmlns:p14="http://schemas.microsoft.com/office/powerpoint/2010/main" val="39998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C4026-EFC8-30B7-7BF7-060ED3606B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8E0425-FF47-9878-9774-1333D84A8C93}"/>
              </a:ext>
            </a:extLst>
          </p:cNvPr>
          <p:cNvSpPr>
            <a:spLocks noGrp="1"/>
          </p:cNvSpPr>
          <p:nvPr>
            <p:ph type="title" idx="4294967295"/>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pPr>
            <a:r>
              <a:rPr lang="en-US" sz="4600" b="1" kern="1200">
                <a:solidFill>
                  <a:schemeClr val="tx1"/>
                </a:solidFill>
                <a:latin typeface="+mj-lt"/>
                <a:ea typeface="+mj-ea"/>
                <a:cs typeface="+mj-cs"/>
              </a:rPr>
              <a:t>RCM: Root Cause Mapping</a:t>
            </a:r>
          </a:p>
        </p:txBody>
      </p:sp>
      <p:sp>
        <p:nvSpPr>
          <p:cNvPr id="3" name="Content Placeholder 6">
            <a:extLst>
              <a:ext uri="{FF2B5EF4-FFF2-40B4-BE49-F238E27FC236}">
                <a16:creationId xmlns:a16="http://schemas.microsoft.com/office/drawing/2014/main" id="{F4EB351B-C18D-41B4-B6A0-CFB39F98BE4C}"/>
              </a:ext>
            </a:extLst>
          </p:cNvPr>
          <p:cNvSpPr txBox="1">
            <a:spLocks/>
          </p:cNvSpPr>
          <p:nvPr/>
        </p:nvSpPr>
        <p:spPr>
          <a:xfrm>
            <a:off x="630936" y="2660904"/>
            <a:ext cx="4818888" cy="3547872"/>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200" b="1" kern="1200" dirty="0">
                <a:solidFill>
                  <a:schemeClr val="tx1"/>
                </a:solidFill>
                <a:latin typeface="+mn-lt"/>
                <a:ea typeface="+mn-ea"/>
                <a:cs typeface="+mn-cs"/>
              </a:rPr>
              <a:t>Evaluation Metric</a:t>
            </a:r>
            <a:r>
              <a:rPr lang="en-US" sz="2200" kern="1200" dirty="0">
                <a:solidFill>
                  <a:schemeClr val="tx1"/>
                </a:solidFill>
                <a:latin typeface="+mn-lt"/>
                <a:ea typeface="+mn-ea"/>
                <a:cs typeface="+mn-cs"/>
              </a:rPr>
              <a:t>: Accuracy.</a:t>
            </a: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200" kern="1200" dirty="0">
                <a:solidFill>
                  <a:schemeClr val="tx1"/>
                </a:solidFill>
                <a:latin typeface="+mn-lt"/>
                <a:ea typeface="+mn-ea"/>
                <a:cs typeface="+mn-cs"/>
              </a:rPr>
              <a:t>GPT-5, Gemini-2.5-pro, and GPT-4o lead excel in casual mapping.</a:t>
            </a: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p:txBody>
      </p:sp>
      <p:pic>
        <p:nvPicPr>
          <p:cNvPr id="2" name="Picture 1">
            <a:extLst>
              <a:ext uri="{FF2B5EF4-FFF2-40B4-BE49-F238E27FC236}">
                <a16:creationId xmlns:a16="http://schemas.microsoft.com/office/drawing/2014/main" id="{553068A0-3944-905E-5513-C6696D45AA32}"/>
              </a:ext>
            </a:extLst>
          </p:cNvPr>
          <p:cNvPicPr>
            <a:picLocks noChangeAspect="1"/>
          </p:cNvPicPr>
          <p:nvPr/>
        </p:nvPicPr>
        <p:blipFill>
          <a:blip r:embed="rId3">
            <a:extLst>
              <a:ext uri="{28A0092B-C50C-407E-A947-70E740481C1C}">
                <a14:useLocalDpi xmlns:a14="http://schemas.microsoft.com/office/drawing/2010/main" val="0"/>
              </a:ext>
            </a:extLst>
          </a:blip>
          <a:srcRect t="5745" b="1940"/>
          <a:stretch>
            <a:fillRect/>
          </a:stretch>
        </p:blipFill>
        <p:spPr>
          <a:xfrm>
            <a:off x="6099048" y="1942363"/>
            <a:ext cx="5458968" cy="2973274"/>
          </a:xfrm>
          <a:prstGeom prst="rect">
            <a:avLst/>
          </a:prstGeom>
        </p:spPr>
      </p:pic>
    </p:spTree>
    <p:extLst>
      <p:ext uri="{BB962C8B-B14F-4D97-AF65-F5344CB8AC3E}">
        <p14:creationId xmlns:p14="http://schemas.microsoft.com/office/powerpoint/2010/main" val="283084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86445-061D-5CA5-38F3-595369B9426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885B98-2C9C-AD7C-A5D1-20C174CBEF1A}"/>
              </a:ext>
            </a:extLst>
          </p:cNvPr>
          <p:cNvSpPr>
            <a:spLocks noGrp="1"/>
          </p:cNvSpPr>
          <p:nvPr>
            <p:ph type="title" idx="4294967295"/>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pPr>
            <a:r>
              <a:rPr lang="en-US" sz="3800" b="1" kern="1200">
                <a:solidFill>
                  <a:schemeClr val="tx1"/>
                </a:solidFill>
                <a:latin typeface="+mj-lt"/>
                <a:ea typeface="+mj-ea"/>
                <a:cs typeface="+mj-cs"/>
              </a:rPr>
              <a:t>RMS: Risk Mitigation Strategy</a:t>
            </a:r>
          </a:p>
        </p:txBody>
      </p:sp>
      <p:sp>
        <p:nvSpPr>
          <p:cNvPr id="3" name="Content Placeholder 6">
            <a:extLst>
              <a:ext uri="{FF2B5EF4-FFF2-40B4-BE49-F238E27FC236}">
                <a16:creationId xmlns:a16="http://schemas.microsoft.com/office/drawing/2014/main" id="{0B6ECABC-9820-1FA6-1EC3-CC1B90107194}"/>
              </a:ext>
            </a:extLst>
          </p:cNvPr>
          <p:cNvSpPr txBox="1">
            <a:spLocks/>
          </p:cNvSpPr>
          <p:nvPr/>
        </p:nvSpPr>
        <p:spPr>
          <a:xfrm>
            <a:off x="630936" y="2807208"/>
            <a:ext cx="3429000" cy="3410712"/>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200" b="1" kern="1200">
                <a:solidFill>
                  <a:schemeClr val="tx1"/>
                </a:solidFill>
                <a:latin typeface="+mn-lt"/>
                <a:ea typeface="+mn-ea"/>
                <a:cs typeface="+mn-cs"/>
              </a:rPr>
              <a:t>Evaluation Metric</a:t>
            </a:r>
            <a:r>
              <a:rPr lang="en-US" sz="2200" kern="1200">
                <a:solidFill>
                  <a:schemeClr val="tx1"/>
                </a:solidFill>
                <a:latin typeface="+mn-lt"/>
                <a:ea typeface="+mn-ea"/>
                <a:cs typeface="+mn-cs"/>
              </a:rPr>
              <a:t>: F1-score</a:t>
            </a:r>
          </a:p>
          <a:p>
            <a:pPr marL="457200" indent="-228600">
              <a:lnSpc>
                <a:spcPct val="90000"/>
              </a:lnSpc>
              <a:spcAft>
                <a:spcPts val="600"/>
              </a:spcAft>
              <a:buFont typeface="Arial" panose="020B0604020202020204" pitchFamily="34" charset="0"/>
              <a:buChar char="•"/>
            </a:pPr>
            <a:endParaRPr lang="en-US" sz="2200" kern="120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200" kern="1200">
                <a:solidFill>
                  <a:schemeClr val="tx1"/>
                </a:solidFill>
                <a:latin typeface="+mn-lt"/>
                <a:ea typeface="+mn-ea"/>
                <a:cs typeface="+mn-cs"/>
              </a:rPr>
              <a:t>GPT-5, Gemini-2.5-pro, and GPT-4-turbo are top performers.</a:t>
            </a:r>
          </a:p>
          <a:p>
            <a:pPr marL="457200" indent="-228600">
              <a:lnSpc>
                <a:spcPct val="90000"/>
              </a:lnSpc>
              <a:spcAft>
                <a:spcPts val="600"/>
              </a:spcAft>
              <a:buFont typeface="Arial" panose="020B0604020202020204" pitchFamily="34" charset="0"/>
              <a:buChar char="•"/>
            </a:pPr>
            <a:endParaRPr lang="en-US" sz="2200" kern="120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endParaRPr lang="en-US" sz="2200" kern="1200">
              <a:solidFill>
                <a:schemeClr val="tx1"/>
              </a:solidFill>
              <a:latin typeface="+mn-lt"/>
              <a:ea typeface="+mn-ea"/>
              <a:cs typeface="+mn-cs"/>
            </a:endParaRPr>
          </a:p>
        </p:txBody>
      </p:sp>
      <p:pic>
        <p:nvPicPr>
          <p:cNvPr id="4" name="Picture 3">
            <a:extLst>
              <a:ext uri="{FF2B5EF4-FFF2-40B4-BE49-F238E27FC236}">
                <a16:creationId xmlns:a16="http://schemas.microsoft.com/office/drawing/2014/main" id="{02A573AD-5F28-5AB4-FE9A-E48FFDA210D5}"/>
              </a:ext>
            </a:extLst>
          </p:cNvPr>
          <p:cNvPicPr>
            <a:picLocks noChangeAspect="1"/>
          </p:cNvPicPr>
          <p:nvPr/>
        </p:nvPicPr>
        <p:blipFill>
          <a:blip r:embed="rId3">
            <a:extLst>
              <a:ext uri="{28A0092B-C50C-407E-A947-70E740481C1C}">
                <a14:useLocalDpi xmlns:a14="http://schemas.microsoft.com/office/drawing/2010/main" val="0"/>
              </a:ext>
            </a:extLst>
          </a:blip>
          <a:srcRect t="6228" b="1528"/>
          <a:stretch>
            <a:fillRect/>
          </a:stretch>
        </p:blipFill>
        <p:spPr>
          <a:xfrm>
            <a:off x="4654296" y="1550361"/>
            <a:ext cx="6903720" cy="3757277"/>
          </a:xfrm>
          <a:prstGeom prst="rect">
            <a:avLst/>
          </a:prstGeom>
        </p:spPr>
      </p:pic>
    </p:spTree>
    <p:extLst>
      <p:ext uri="{BB962C8B-B14F-4D97-AF65-F5344CB8AC3E}">
        <p14:creationId xmlns:p14="http://schemas.microsoft.com/office/powerpoint/2010/main" val="131855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A7D2A-ABC4-F4BC-C45A-A8D1983FB7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ED2312E-FF98-8505-AD4A-EEAAF3D48F90}"/>
              </a:ext>
            </a:extLst>
          </p:cNvPr>
          <p:cNvSpPr>
            <a:spLocks noGrp="1"/>
          </p:cNvSpPr>
          <p:nvPr>
            <p:ph type="title" idx="4294967295"/>
          </p:nvPr>
        </p:nvSpPr>
        <p:spPr>
          <a:xfrm>
            <a:off x="630936" y="639520"/>
            <a:ext cx="3429000" cy="1719072"/>
          </a:xfrm>
          <a:prstGeom prst="rect">
            <a:avLst/>
          </a:prstGeom>
        </p:spPr>
        <p:txBody>
          <a:bodyPr vert="horz" lIns="91440" tIns="45720" rIns="91440" bIns="45720" rtlCol="0" anchor="b">
            <a:normAutofit fontScale="90000"/>
          </a:bodyPr>
          <a:lstStyle/>
          <a:p>
            <a:pPr>
              <a:lnSpc>
                <a:spcPct val="90000"/>
              </a:lnSpc>
              <a:spcBef>
                <a:spcPct val="0"/>
              </a:spcBef>
            </a:pPr>
            <a:r>
              <a:rPr lang="en-US" sz="3800" b="1" kern="1200">
                <a:solidFill>
                  <a:schemeClr val="tx1"/>
                </a:solidFill>
                <a:latin typeface="+mj-lt"/>
                <a:ea typeface="+mj-ea"/>
                <a:cs typeface="+mj-cs"/>
              </a:rPr>
              <a:t>MCQ: Multiple Choice Questions</a:t>
            </a:r>
          </a:p>
        </p:txBody>
      </p:sp>
      <p:sp>
        <p:nvSpPr>
          <p:cNvPr id="3" name="Content Placeholder 6">
            <a:extLst>
              <a:ext uri="{FF2B5EF4-FFF2-40B4-BE49-F238E27FC236}">
                <a16:creationId xmlns:a16="http://schemas.microsoft.com/office/drawing/2014/main" id="{06D2B2D4-B7BA-4CA2-3310-B7E0EFB0156C}"/>
              </a:ext>
            </a:extLst>
          </p:cNvPr>
          <p:cNvSpPr txBox="1">
            <a:spLocks/>
          </p:cNvSpPr>
          <p:nvPr/>
        </p:nvSpPr>
        <p:spPr>
          <a:xfrm>
            <a:off x="630936" y="2807208"/>
            <a:ext cx="3429000" cy="3410712"/>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200" b="1" kern="1200" dirty="0">
                <a:solidFill>
                  <a:schemeClr val="tx1"/>
                </a:solidFill>
                <a:latin typeface="+mn-lt"/>
                <a:ea typeface="+mn-ea"/>
                <a:cs typeface="+mn-cs"/>
              </a:rPr>
              <a:t>Evaluation Metric</a:t>
            </a:r>
            <a:r>
              <a:rPr lang="en-US" sz="2200" kern="1200" dirty="0">
                <a:solidFill>
                  <a:schemeClr val="tx1"/>
                </a:solidFill>
                <a:latin typeface="+mn-lt"/>
                <a:ea typeface="+mn-ea"/>
                <a:cs typeface="+mn-cs"/>
              </a:rPr>
              <a:t>: F1-score</a:t>
            </a: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200" kern="1200" dirty="0">
                <a:solidFill>
                  <a:schemeClr val="tx1"/>
                </a:solidFill>
                <a:latin typeface="+mn-lt"/>
                <a:ea typeface="+mn-ea"/>
                <a:cs typeface="+mn-cs"/>
              </a:rPr>
              <a:t>GPT-5 and Gemini-2.5-pro are top performers.</a:t>
            </a: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p:txBody>
      </p:sp>
      <p:pic>
        <p:nvPicPr>
          <p:cNvPr id="2" name="Picture 1">
            <a:extLst>
              <a:ext uri="{FF2B5EF4-FFF2-40B4-BE49-F238E27FC236}">
                <a16:creationId xmlns:a16="http://schemas.microsoft.com/office/drawing/2014/main" id="{90EA3F55-CD52-81CC-6F51-167FB945CD4F}"/>
              </a:ext>
            </a:extLst>
          </p:cNvPr>
          <p:cNvPicPr>
            <a:picLocks noChangeAspect="1"/>
          </p:cNvPicPr>
          <p:nvPr/>
        </p:nvPicPr>
        <p:blipFill>
          <a:blip r:embed="rId3">
            <a:extLst>
              <a:ext uri="{28A0092B-C50C-407E-A947-70E740481C1C}">
                <a14:useLocalDpi xmlns:a14="http://schemas.microsoft.com/office/drawing/2010/main" val="0"/>
              </a:ext>
            </a:extLst>
          </a:blip>
          <a:srcRect t="6229" b="1136"/>
          <a:stretch>
            <a:fillRect/>
          </a:stretch>
        </p:blipFill>
        <p:spPr>
          <a:xfrm>
            <a:off x="4654296" y="1550392"/>
            <a:ext cx="6903720" cy="3757215"/>
          </a:xfrm>
          <a:prstGeom prst="rect">
            <a:avLst/>
          </a:prstGeom>
        </p:spPr>
      </p:pic>
    </p:spTree>
    <p:extLst>
      <p:ext uri="{BB962C8B-B14F-4D97-AF65-F5344CB8AC3E}">
        <p14:creationId xmlns:p14="http://schemas.microsoft.com/office/powerpoint/2010/main" val="46227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3D521-228D-B864-8783-782FB5AA28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E2248F-9295-909F-39D0-DE28CD1894EE}"/>
              </a:ext>
            </a:extLst>
          </p:cNvPr>
          <p:cNvSpPr>
            <a:spLocks noGrp="1"/>
          </p:cNvSpPr>
          <p:nvPr>
            <p:ph type="title" idx="4294967295"/>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pPr>
            <a:r>
              <a:rPr lang="en-US" sz="3800" b="1" kern="1200">
                <a:solidFill>
                  <a:schemeClr val="tx1"/>
                </a:solidFill>
                <a:latin typeface="+mj-lt"/>
                <a:ea typeface="+mj-ea"/>
                <a:cs typeface="+mj-cs"/>
              </a:rPr>
              <a:t>VSP: CVSS Vector Severity Prediction</a:t>
            </a:r>
          </a:p>
        </p:txBody>
      </p:sp>
      <p:sp>
        <p:nvSpPr>
          <p:cNvPr id="3" name="Content Placeholder 6">
            <a:extLst>
              <a:ext uri="{FF2B5EF4-FFF2-40B4-BE49-F238E27FC236}">
                <a16:creationId xmlns:a16="http://schemas.microsoft.com/office/drawing/2014/main" id="{C2F2FD78-8392-798C-9CAD-2B381C4DAB2E}"/>
              </a:ext>
            </a:extLst>
          </p:cNvPr>
          <p:cNvSpPr txBox="1">
            <a:spLocks/>
          </p:cNvSpPr>
          <p:nvPr/>
        </p:nvSpPr>
        <p:spPr>
          <a:xfrm>
            <a:off x="630936" y="2660904"/>
            <a:ext cx="4818888" cy="3547872"/>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200" b="1" kern="1200" dirty="0">
                <a:solidFill>
                  <a:schemeClr val="tx1"/>
                </a:solidFill>
                <a:latin typeface="+mn-lt"/>
                <a:ea typeface="+mn-ea"/>
                <a:cs typeface="+mn-cs"/>
              </a:rPr>
              <a:t>Evaluation Metric: </a:t>
            </a:r>
            <a:r>
              <a:rPr lang="en-US" sz="2200" kern="1200" dirty="0">
                <a:solidFill>
                  <a:schemeClr val="tx1"/>
                </a:solidFill>
                <a:latin typeface="+mn-lt"/>
                <a:ea typeface="+mn-ea"/>
                <a:cs typeface="+mn-cs"/>
              </a:rPr>
              <a:t>Average Deviation from correct CVSS score</a:t>
            </a:r>
          </a:p>
          <a:p>
            <a:pPr marL="457200" indent="-228600">
              <a:lnSpc>
                <a:spcPct val="90000"/>
              </a:lnSpc>
              <a:spcAft>
                <a:spcPts val="600"/>
              </a:spcAft>
              <a:buFont typeface="Arial" panose="020B0604020202020204" pitchFamily="34" charset="0"/>
              <a:buChar char="•"/>
            </a:pPr>
            <a:endParaRPr lang="en-US" sz="2200" b="1"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200" kern="1200" dirty="0">
                <a:solidFill>
                  <a:schemeClr val="tx1"/>
                </a:solidFill>
                <a:latin typeface="+mn-lt"/>
                <a:ea typeface="+mn-ea"/>
                <a:cs typeface="+mn-cs"/>
              </a:rPr>
              <a:t>GPT-5, Gemini-2.5-pro achieve minimal error.</a:t>
            </a: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p:txBody>
      </p:sp>
      <p:pic>
        <p:nvPicPr>
          <p:cNvPr id="4" name="Picture 3">
            <a:extLst>
              <a:ext uri="{FF2B5EF4-FFF2-40B4-BE49-F238E27FC236}">
                <a16:creationId xmlns:a16="http://schemas.microsoft.com/office/drawing/2014/main" id="{F9D04489-D1A4-70EB-64F5-EAB20A6146C0}"/>
              </a:ext>
            </a:extLst>
          </p:cNvPr>
          <p:cNvPicPr>
            <a:picLocks noChangeAspect="1"/>
          </p:cNvPicPr>
          <p:nvPr/>
        </p:nvPicPr>
        <p:blipFill>
          <a:blip r:embed="rId3">
            <a:extLst>
              <a:ext uri="{28A0092B-C50C-407E-A947-70E740481C1C}">
                <a14:useLocalDpi xmlns:a14="http://schemas.microsoft.com/office/drawing/2010/main" val="0"/>
              </a:ext>
            </a:extLst>
          </a:blip>
          <a:srcRect t="6006" b="1303"/>
          <a:stretch>
            <a:fillRect/>
          </a:stretch>
        </p:blipFill>
        <p:spPr>
          <a:xfrm>
            <a:off x="6099048" y="1936307"/>
            <a:ext cx="5458968" cy="2985386"/>
          </a:xfrm>
          <a:prstGeom prst="rect">
            <a:avLst/>
          </a:prstGeom>
        </p:spPr>
      </p:pic>
    </p:spTree>
    <p:extLst>
      <p:ext uri="{BB962C8B-B14F-4D97-AF65-F5344CB8AC3E}">
        <p14:creationId xmlns:p14="http://schemas.microsoft.com/office/powerpoint/2010/main" val="333300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5E895-FA4F-954D-4FA7-E73F7E3616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3DAA13-8FA5-F31D-7494-0217E28E88D1}"/>
              </a:ext>
            </a:extLst>
          </p:cNvPr>
          <p:cNvSpPr>
            <a:spLocks noGrp="1"/>
          </p:cNvSpPr>
          <p:nvPr>
            <p:ph type="title" idx="4294967295"/>
          </p:nvPr>
        </p:nvSpPr>
        <p:spPr>
          <a:xfrm>
            <a:off x="630936" y="640823"/>
            <a:ext cx="3419856" cy="5583148"/>
          </a:xfrm>
          <a:prstGeom prst="rect">
            <a:avLst/>
          </a:prstGeom>
        </p:spPr>
        <p:txBody>
          <a:bodyPr vert="horz" lIns="91440" tIns="45720" rIns="91440" bIns="45720" rtlCol="0" anchor="ctr">
            <a:normAutofit/>
          </a:bodyPr>
          <a:lstStyle/>
          <a:p>
            <a:pPr>
              <a:lnSpc>
                <a:spcPct val="90000"/>
              </a:lnSpc>
              <a:spcBef>
                <a:spcPct val="0"/>
              </a:spcBef>
            </a:pPr>
            <a:r>
              <a:rPr lang="en-US" sz="4600" b="1" kern="1200">
                <a:solidFill>
                  <a:schemeClr val="tx1"/>
                </a:solidFill>
                <a:latin typeface="+mj-lt"/>
                <a:ea typeface="+mj-ea"/>
                <a:cs typeface="+mj-cs"/>
              </a:rPr>
              <a:t>TAA: Threat Actor Attribution</a:t>
            </a:r>
          </a:p>
        </p:txBody>
      </p:sp>
      <p:sp>
        <p:nvSpPr>
          <p:cNvPr id="3" name="Content Placeholder 6">
            <a:extLst>
              <a:ext uri="{FF2B5EF4-FFF2-40B4-BE49-F238E27FC236}">
                <a16:creationId xmlns:a16="http://schemas.microsoft.com/office/drawing/2014/main" id="{D211C269-6B37-0E82-F50E-77C21F29314E}"/>
              </a:ext>
            </a:extLst>
          </p:cNvPr>
          <p:cNvSpPr txBox="1">
            <a:spLocks/>
          </p:cNvSpPr>
          <p:nvPr/>
        </p:nvSpPr>
        <p:spPr>
          <a:xfrm>
            <a:off x="4654296" y="4798577"/>
            <a:ext cx="6894576" cy="1428487"/>
          </a:xfrm>
          <a:prstGeom prst="rect">
            <a:avLst/>
          </a:prstGeom>
        </p:spPr>
        <p:txBody>
          <a:bodyPr vert="horz" lIns="91440" tIns="45720" rIns="91440" bIns="45720" rtlCol="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000" b="1" kern="1200" dirty="0">
                <a:solidFill>
                  <a:schemeClr val="tx1"/>
                </a:solidFill>
              </a:rPr>
              <a:t>Evaluation Metric: </a:t>
            </a:r>
            <a:r>
              <a:rPr lang="en-US" sz="2000" kern="1200" dirty="0">
                <a:solidFill>
                  <a:schemeClr val="tx1"/>
                </a:solidFill>
              </a:rPr>
              <a:t>Accuracy</a:t>
            </a:r>
          </a:p>
          <a:p>
            <a:pPr marL="457200" indent="-228600">
              <a:lnSpc>
                <a:spcPct val="90000"/>
              </a:lnSpc>
              <a:spcAft>
                <a:spcPts val="600"/>
              </a:spcAft>
              <a:buFont typeface="Arial" panose="020B0604020202020204" pitchFamily="34" charset="0"/>
              <a:buChar char="•"/>
            </a:pPr>
            <a:endParaRPr lang="en-US" sz="2000" b="1" kern="1200" dirty="0">
              <a:solidFill>
                <a:schemeClr val="tx1"/>
              </a:solidFill>
            </a:endParaRPr>
          </a:p>
          <a:p>
            <a:pPr marL="457200" indent="-228600">
              <a:lnSpc>
                <a:spcPct val="90000"/>
              </a:lnSpc>
              <a:spcAft>
                <a:spcPts val="600"/>
              </a:spcAft>
              <a:buFont typeface="Arial" panose="020B0604020202020204" pitchFamily="34" charset="0"/>
              <a:buChar char="•"/>
            </a:pPr>
            <a:r>
              <a:rPr lang="en-US" sz="2000" kern="1200" dirty="0">
                <a:solidFill>
                  <a:schemeClr val="tx1"/>
                </a:solidFill>
              </a:rPr>
              <a:t>GPT-5, GPT-4o best overall scores</a:t>
            </a:r>
            <a:endParaRPr lang="en-US" sz="2000" b="1"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p:txBody>
      </p:sp>
      <p:graphicFrame>
        <p:nvGraphicFramePr>
          <p:cNvPr id="2" name="Table 1">
            <a:extLst>
              <a:ext uri="{FF2B5EF4-FFF2-40B4-BE49-F238E27FC236}">
                <a16:creationId xmlns:a16="http://schemas.microsoft.com/office/drawing/2014/main" id="{318E4189-C37C-9AE1-F944-514EBC615FBE}"/>
              </a:ext>
            </a:extLst>
          </p:cNvPr>
          <p:cNvGraphicFramePr>
            <a:graphicFrameLocks noGrp="1"/>
          </p:cNvGraphicFramePr>
          <p:nvPr/>
        </p:nvGraphicFramePr>
        <p:xfrm>
          <a:off x="4900568" y="1270508"/>
          <a:ext cx="6834848" cy="2748279"/>
        </p:xfrm>
        <a:graphic>
          <a:graphicData uri="http://schemas.openxmlformats.org/drawingml/2006/table">
            <a:tbl>
              <a:tblPr firstRow="1" bandRow="1">
                <a:tableStyleId>{5940675A-B579-460E-94D1-54222C63F5DA}</a:tableStyleId>
              </a:tblPr>
              <a:tblGrid>
                <a:gridCol w="2171701">
                  <a:extLst>
                    <a:ext uri="{9D8B030D-6E8A-4147-A177-3AD203B41FA5}">
                      <a16:colId xmlns:a16="http://schemas.microsoft.com/office/drawing/2014/main" val="1229783147"/>
                    </a:ext>
                  </a:extLst>
                </a:gridCol>
                <a:gridCol w="1245723">
                  <a:extLst>
                    <a:ext uri="{9D8B030D-6E8A-4147-A177-3AD203B41FA5}">
                      <a16:colId xmlns:a16="http://schemas.microsoft.com/office/drawing/2014/main" val="3357099484"/>
                    </a:ext>
                  </a:extLst>
                </a:gridCol>
                <a:gridCol w="1708712">
                  <a:extLst>
                    <a:ext uri="{9D8B030D-6E8A-4147-A177-3AD203B41FA5}">
                      <a16:colId xmlns:a16="http://schemas.microsoft.com/office/drawing/2014/main" val="468804415"/>
                    </a:ext>
                  </a:extLst>
                </a:gridCol>
                <a:gridCol w="1708712">
                  <a:extLst>
                    <a:ext uri="{9D8B030D-6E8A-4147-A177-3AD203B41FA5}">
                      <a16:colId xmlns:a16="http://schemas.microsoft.com/office/drawing/2014/main" val="4095233881"/>
                    </a:ext>
                  </a:extLst>
                </a:gridCol>
              </a:tblGrid>
              <a:tr h="582319">
                <a:tc>
                  <a:txBody>
                    <a:bodyPr/>
                    <a:lstStyle/>
                    <a:p>
                      <a:pPr algn="ctr">
                        <a:buNone/>
                      </a:pPr>
                      <a:r>
                        <a:rPr lang="en-US" sz="1600" b="1" dirty="0">
                          <a:latin typeface="+mn-lt"/>
                        </a:rPr>
                        <a:t>Model</a:t>
                      </a:r>
                    </a:p>
                  </a:txBody>
                  <a:tcPr anchor="ctr"/>
                </a:tc>
                <a:tc>
                  <a:txBody>
                    <a:bodyPr/>
                    <a:lstStyle/>
                    <a:p>
                      <a:pPr algn="ctr">
                        <a:buNone/>
                      </a:pPr>
                      <a:r>
                        <a:rPr lang="en-US" sz="1600" b="1" dirty="0">
                          <a:latin typeface="+mn-lt"/>
                        </a:rPr>
                        <a:t>Correct Accuracy</a:t>
                      </a:r>
                    </a:p>
                  </a:txBody>
                  <a:tcPr anchor="ctr"/>
                </a:tc>
                <a:tc>
                  <a:txBody>
                    <a:bodyPr/>
                    <a:lstStyle/>
                    <a:p>
                      <a:pPr algn="ctr">
                        <a:buNone/>
                      </a:pPr>
                      <a:r>
                        <a:rPr lang="en-US" sz="1600" b="1" dirty="0">
                          <a:latin typeface="+mn-lt"/>
                        </a:rPr>
                        <a:t>Plausible Accuracy</a:t>
                      </a:r>
                    </a:p>
                  </a:txBody>
                  <a:tcPr anchor="ctr"/>
                </a:tc>
                <a:tc>
                  <a:txBody>
                    <a:bodyPr/>
                    <a:lstStyle/>
                    <a:p>
                      <a:pPr algn="ctr">
                        <a:buNone/>
                      </a:pPr>
                      <a:r>
                        <a:rPr lang="en-US" sz="1600" b="1" dirty="0">
                          <a:latin typeface="+mn-lt"/>
                        </a:rPr>
                        <a:t>Combined Accuracy</a:t>
                      </a:r>
                    </a:p>
                  </a:txBody>
                  <a:tcPr anchor="ctr"/>
                </a:tc>
                <a:extLst>
                  <a:ext uri="{0D108BD9-81ED-4DB2-BD59-A6C34878D82A}">
                    <a16:rowId xmlns:a16="http://schemas.microsoft.com/office/drawing/2014/main" val="2082358567"/>
                  </a:ext>
                </a:extLst>
              </a:tr>
              <a:tr h="412636">
                <a:tc>
                  <a:txBody>
                    <a:bodyPr/>
                    <a:lstStyle/>
                    <a:p>
                      <a:pPr algn="ctr">
                        <a:buNone/>
                      </a:pPr>
                      <a:r>
                        <a:rPr lang="en-US" sz="1600" b="1" dirty="0">
                          <a:latin typeface="+mn-lt"/>
                        </a:rPr>
                        <a:t>GPT-5</a:t>
                      </a:r>
                    </a:p>
                  </a:txBody>
                  <a:tcPr anchor="ctr"/>
                </a:tc>
                <a:tc>
                  <a:txBody>
                    <a:bodyPr/>
                    <a:lstStyle/>
                    <a:p>
                      <a:pPr algn="ctr">
                        <a:buNone/>
                      </a:pPr>
                      <a:r>
                        <a:rPr lang="en-US" sz="1600" b="1" dirty="0">
                          <a:latin typeface="+mn-lt"/>
                        </a:rPr>
                        <a:t>0.39</a:t>
                      </a:r>
                    </a:p>
                  </a:txBody>
                  <a:tcPr anchor="ctr"/>
                </a:tc>
                <a:tc>
                  <a:txBody>
                    <a:bodyPr/>
                    <a:lstStyle/>
                    <a:p>
                      <a:pPr algn="ctr">
                        <a:buNone/>
                      </a:pPr>
                      <a:r>
                        <a:rPr lang="en-US" sz="1600" dirty="0">
                          <a:latin typeface="+mn-lt"/>
                        </a:rPr>
                        <a:t>0.83</a:t>
                      </a:r>
                    </a:p>
                  </a:txBody>
                  <a:tcPr anchor="ctr"/>
                </a:tc>
                <a:tc>
                  <a:txBody>
                    <a:bodyPr/>
                    <a:lstStyle/>
                    <a:p>
                      <a:pPr algn="ctr">
                        <a:buNone/>
                      </a:pPr>
                      <a:r>
                        <a:rPr lang="en-US" sz="1600" b="1">
                          <a:latin typeface="+mn-lt"/>
                        </a:rPr>
                        <a:t>0.61</a:t>
                      </a:r>
                      <a:endParaRPr lang="en-US" sz="1600">
                        <a:latin typeface="+mn-lt"/>
                      </a:endParaRPr>
                    </a:p>
                  </a:txBody>
                  <a:tcPr anchor="ctr"/>
                </a:tc>
                <a:extLst>
                  <a:ext uri="{0D108BD9-81ED-4DB2-BD59-A6C34878D82A}">
                    <a16:rowId xmlns:a16="http://schemas.microsoft.com/office/drawing/2014/main" val="1671792792"/>
                  </a:ext>
                </a:extLst>
              </a:tr>
              <a:tr h="503269">
                <a:tc>
                  <a:txBody>
                    <a:bodyPr/>
                    <a:lstStyle/>
                    <a:p>
                      <a:pPr algn="ctr">
                        <a:buNone/>
                      </a:pPr>
                      <a:r>
                        <a:rPr lang="en-US" sz="1600" b="1" dirty="0">
                          <a:latin typeface="+mn-lt"/>
                        </a:rPr>
                        <a:t>GPT-4o</a:t>
                      </a:r>
                    </a:p>
                  </a:txBody>
                  <a:tcPr anchor="ctr"/>
                </a:tc>
                <a:tc>
                  <a:txBody>
                    <a:bodyPr/>
                    <a:lstStyle/>
                    <a:p>
                      <a:pPr algn="ctr">
                        <a:buNone/>
                      </a:pPr>
                      <a:r>
                        <a:rPr lang="en-US" sz="1600" dirty="0">
                          <a:latin typeface="+mn-lt"/>
                        </a:rPr>
                        <a:t>0.35</a:t>
                      </a:r>
                    </a:p>
                  </a:txBody>
                  <a:tcPr anchor="ctr"/>
                </a:tc>
                <a:tc>
                  <a:txBody>
                    <a:bodyPr/>
                    <a:lstStyle/>
                    <a:p>
                      <a:pPr algn="ctr">
                        <a:buNone/>
                      </a:pPr>
                      <a:r>
                        <a:rPr lang="en-US" sz="1600" dirty="0">
                          <a:latin typeface="+mn-lt"/>
                        </a:rPr>
                        <a:t>0.87</a:t>
                      </a:r>
                    </a:p>
                  </a:txBody>
                  <a:tcPr anchor="ctr"/>
                </a:tc>
                <a:tc>
                  <a:txBody>
                    <a:bodyPr/>
                    <a:lstStyle/>
                    <a:p>
                      <a:pPr algn="ctr">
                        <a:buNone/>
                      </a:pPr>
                      <a:r>
                        <a:rPr lang="en-US" sz="1600" b="1">
                          <a:latin typeface="+mn-lt"/>
                        </a:rPr>
                        <a:t>0.61</a:t>
                      </a:r>
                      <a:endParaRPr lang="en-US" sz="1600">
                        <a:latin typeface="+mn-lt"/>
                      </a:endParaRPr>
                    </a:p>
                  </a:txBody>
                  <a:tcPr anchor="ctr"/>
                </a:tc>
                <a:extLst>
                  <a:ext uri="{0D108BD9-81ED-4DB2-BD59-A6C34878D82A}">
                    <a16:rowId xmlns:a16="http://schemas.microsoft.com/office/drawing/2014/main" val="3886828638"/>
                  </a:ext>
                </a:extLst>
              </a:tr>
              <a:tr h="470800">
                <a:tc>
                  <a:txBody>
                    <a:bodyPr/>
                    <a:lstStyle/>
                    <a:p>
                      <a:pPr algn="ctr">
                        <a:buNone/>
                      </a:pPr>
                      <a:r>
                        <a:rPr lang="en-US" sz="1600" b="1" dirty="0">
                          <a:latin typeface="+mn-lt"/>
                        </a:rPr>
                        <a:t>GPT-4-Turbo</a:t>
                      </a:r>
                    </a:p>
                  </a:txBody>
                  <a:tcPr anchor="ctr"/>
                </a:tc>
                <a:tc>
                  <a:txBody>
                    <a:bodyPr/>
                    <a:lstStyle/>
                    <a:p>
                      <a:pPr algn="ctr">
                        <a:buNone/>
                      </a:pPr>
                      <a:r>
                        <a:rPr lang="en-US" sz="1600" dirty="0">
                          <a:latin typeface="+mn-lt"/>
                        </a:rPr>
                        <a:t>0.29</a:t>
                      </a:r>
                    </a:p>
                  </a:txBody>
                  <a:tcPr anchor="ctr"/>
                </a:tc>
                <a:tc>
                  <a:txBody>
                    <a:bodyPr/>
                    <a:lstStyle/>
                    <a:p>
                      <a:pPr algn="ctr">
                        <a:buNone/>
                      </a:pPr>
                      <a:r>
                        <a:rPr lang="en-US" sz="1600" b="0" dirty="0">
                          <a:latin typeface="+mn-lt"/>
                        </a:rPr>
                        <a:t>0.90</a:t>
                      </a:r>
                    </a:p>
                  </a:txBody>
                  <a:tcPr anchor="ctr"/>
                </a:tc>
                <a:tc>
                  <a:txBody>
                    <a:bodyPr/>
                    <a:lstStyle/>
                    <a:p>
                      <a:pPr algn="ctr">
                        <a:buNone/>
                      </a:pPr>
                      <a:r>
                        <a:rPr lang="en-US" sz="1600" dirty="0">
                          <a:latin typeface="+mn-lt"/>
                        </a:rPr>
                        <a:t>0.595</a:t>
                      </a:r>
                    </a:p>
                  </a:txBody>
                  <a:tcPr anchor="ctr"/>
                </a:tc>
                <a:extLst>
                  <a:ext uri="{0D108BD9-81ED-4DB2-BD59-A6C34878D82A}">
                    <a16:rowId xmlns:a16="http://schemas.microsoft.com/office/drawing/2014/main" val="2012578782"/>
                  </a:ext>
                </a:extLst>
              </a:tr>
              <a:tr h="437107">
                <a:tc>
                  <a:txBody>
                    <a:bodyPr/>
                    <a:lstStyle/>
                    <a:p>
                      <a:pPr algn="ctr">
                        <a:buNone/>
                      </a:pPr>
                      <a:r>
                        <a:rPr lang="en-US" sz="1600" b="1" dirty="0">
                          <a:latin typeface="+mn-lt"/>
                        </a:rPr>
                        <a:t>Gemini-2.5-Pro</a:t>
                      </a:r>
                    </a:p>
                  </a:txBody>
                  <a:tcPr anchor="ctr"/>
                </a:tc>
                <a:tc>
                  <a:txBody>
                    <a:bodyPr/>
                    <a:lstStyle/>
                    <a:p>
                      <a:pPr algn="ctr">
                        <a:buNone/>
                      </a:pPr>
                      <a:r>
                        <a:rPr lang="en-US" sz="1600" dirty="0">
                          <a:latin typeface="+mn-lt"/>
                        </a:rPr>
                        <a:t>0.31</a:t>
                      </a:r>
                    </a:p>
                  </a:txBody>
                  <a:tcPr anchor="ctr"/>
                </a:tc>
                <a:tc>
                  <a:txBody>
                    <a:bodyPr/>
                    <a:lstStyle/>
                    <a:p>
                      <a:pPr algn="ctr">
                        <a:buNone/>
                      </a:pPr>
                      <a:r>
                        <a:rPr lang="en-US" sz="1600">
                          <a:latin typeface="+mn-lt"/>
                        </a:rPr>
                        <a:t>0.81</a:t>
                      </a:r>
                    </a:p>
                  </a:txBody>
                  <a:tcPr anchor="ctr"/>
                </a:tc>
                <a:tc>
                  <a:txBody>
                    <a:bodyPr/>
                    <a:lstStyle/>
                    <a:p>
                      <a:pPr algn="ctr">
                        <a:buNone/>
                      </a:pPr>
                      <a:r>
                        <a:rPr lang="en-US" sz="1600" dirty="0">
                          <a:latin typeface="+mn-lt"/>
                        </a:rPr>
                        <a:t>0.56</a:t>
                      </a:r>
                    </a:p>
                  </a:txBody>
                  <a:tcPr anchor="ctr"/>
                </a:tc>
                <a:extLst>
                  <a:ext uri="{0D108BD9-81ED-4DB2-BD59-A6C34878D82A}">
                    <a16:rowId xmlns:a16="http://schemas.microsoft.com/office/drawing/2014/main" val="2515650239"/>
                  </a:ext>
                </a:extLst>
              </a:tr>
              <a:tr h="342148">
                <a:tc>
                  <a:txBody>
                    <a:bodyPr/>
                    <a:lstStyle/>
                    <a:p>
                      <a:pPr algn="ctr">
                        <a:buNone/>
                      </a:pPr>
                      <a:r>
                        <a:rPr lang="en-US" sz="1600" b="1" dirty="0">
                          <a:latin typeface="+mn-lt"/>
                        </a:rPr>
                        <a:t>Qwen3-4B</a:t>
                      </a:r>
                    </a:p>
                  </a:txBody>
                  <a:tcPr anchor="ctr"/>
                </a:tc>
                <a:tc>
                  <a:txBody>
                    <a:bodyPr/>
                    <a:lstStyle/>
                    <a:p>
                      <a:pPr algn="ctr" fontAlgn="b">
                        <a:buNone/>
                      </a:pPr>
                      <a:r>
                        <a:rPr lang="en-US" sz="1600" b="0" i="0" u="none" strike="noStrike" dirty="0">
                          <a:solidFill>
                            <a:srgbClr val="000000"/>
                          </a:solidFill>
                          <a:effectLst/>
                          <a:latin typeface="+mn-lt"/>
                        </a:rPr>
                        <a:t>0.15</a:t>
                      </a:r>
                    </a:p>
                  </a:txBody>
                  <a:tcPr marL="6350" marR="6350" marT="6350" marB="0" anchor="b"/>
                </a:tc>
                <a:tc>
                  <a:txBody>
                    <a:bodyPr/>
                    <a:lstStyle/>
                    <a:p>
                      <a:pPr algn="ctr" fontAlgn="b">
                        <a:buNone/>
                      </a:pPr>
                      <a:r>
                        <a:rPr lang="en-US" sz="1600" b="1" i="0" u="none" strike="noStrike" dirty="0">
                          <a:solidFill>
                            <a:srgbClr val="000000"/>
                          </a:solidFill>
                          <a:effectLst/>
                          <a:latin typeface="+mn-lt"/>
                        </a:rPr>
                        <a:t>0.91</a:t>
                      </a:r>
                    </a:p>
                  </a:txBody>
                  <a:tcPr marL="6350" marR="6350" marT="6350" marB="0" anchor="b"/>
                </a:tc>
                <a:tc>
                  <a:txBody>
                    <a:bodyPr/>
                    <a:lstStyle/>
                    <a:p>
                      <a:pPr algn="ctr" fontAlgn="b">
                        <a:buNone/>
                      </a:pPr>
                      <a:r>
                        <a:rPr lang="en-US" sz="1600" b="0" i="0" u="none" strike="noStrike" dirty="0">
                          <a:solidFill>
                            <a:srgbClr val="000000"/>
                          </a:solidFill>
                          <a:effectLst/>
                          <a:latin typeface="+mn-lt"/>
                        </a:rPr>
                        <a:t>0.53</a:t>
                      </a:r>
                    </a:p>
                  </a:txBody>
                  <a:tcPr marL="6350" marR="6350" marT="6350" marB="0" anchor="b"/>
                </a:tc>
                <a:extLst>
                  <a:ext uri="{0D108BD9-81ED-4DB2-BD59-A6C34878D82A}">
                    <a16:rowId xmlns:a16="http://schemas.microsoft.com/office/drawing/2014/main" val="2529159301"/>
                  </a:ext>
                </a:extLst>
              </a:tr>
            </a:tbl>
          </a:graphicData>
        </a:graphic>
      </p:graphicFrame>
    </p:spTree>
    <p:extLst>
      <p:ext uri="{BB962C8B-B14F-4D97-AF65-F5344CB8AC3E}">
        <p14:creationId xmlns:p14="http://schemas.microsoft.com/office/powerpoint/2010/main" val="329042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A09F-10B5-F62B-01F5-00CAA1090EA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22D7AE-36D4-0408-A1B1-BD8C199F1D8D}"/>
              </a:ext>
            </a:extLst>
          </p:cNvPr>
          <p:cNvSpPr>
            <a:spLocks noGrp="1"/>
          </p:cNvSpPr>
          <p:nvPr>
            <p:ph type="title" idx="4294967295"/>
          </p:nvPr>
        </p:nvSpPr>
        <p:spPr>
          <a:xfrm>
            <a:off x="793662" y="386930"/>
            <a:ext cx="10066122" cy="1298448"/>
          </a:xfrm>
          <a:prstGeom prst="rect">
            <a:avLst/>
          </a:prstGeom>
        </p:spPr>
        <p:txBody>
          <a:bodyPr vert="horz" lIns="91440" tIns="45720" rIns="91440" bIns="45720" rtlCol="0" anchor="b">
            <a:normAutofit/>
          </a:bodyPr>
          <a:lstStyle/>
          <a:p>
            <a:pPr>
              <a:lnSpc>
                <a:spcPct val="90000"/>
              </a:lnSpc>
              <a:spcBef>
                <a:spcPct val="0"/>
              </a:spcBef>
            </a:pPr>
            <a:r>
              <a:rPr lang="en-US" sz="4400" b="1" kern="1200">
                <a:solidFill>
                  <a:schemeClr val="tx1"/>
                </a:solidFill>
                <a:latin typeface="+mj-lt"/>
                <a:ea typeface="+mj-ea"/>
                <a:cs typeface="+mj-cs"/>
              </a:rPr>
              <a:t>IOC (Indicator of Compromise) Prediction</a:t>
            </a:r>
          </a:p>
        </p:txBody>
      </p:sp>
      <p:sp>
        <p:nvSpPr>
          <p:cNvPr id="3" name="Content Placeholder 6">
            <a:extLst>
              <a:ext uri="{FF2B5EF4-FFF2-40B4-BE49-F238E27FC236}">
                <a16:creationId xmlns:a16="http://schemas.microsoft.com/office/drawing/2014/main" id="{1867D6E6-0057-4114-95F5-014AC358563F}"/>
              </a:ext>
            </a:extLst>
          </p:cNvPr>
          <p:cNvSpPr txBox="1">
            <a:spLocks/>
          </p:cNvSpPr>
          <p:nvPr/>
        </p:nvSpPr>
        <p:spPr>
          <a:xfrm>
            <a:off x="793661" y="2599509"/>
            <a:ext cx="4530898" cy="3639450"/>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Aft>
                <a:spcPts val="600"/>
              </a:spcAft>
              <a:buFont typeface="Arial" panose="020B0604020202020204" pitchFamily="34" charset="0"/>
              <a:buChar char="•"/>
            </a:pPr>
            <a:r>
              <a:rPr lang="en-US" sz="2000" b="1" kern="1200">
                <a:solidFill>
                  <a:schemeClr val="tx1"/>
                </a:solidFill>
                <a:latin typeface="+mn-lt"/>
                <a:ea typeface="+mn-ea"/>
                <a:cs typeface="+mn-cs"/>
              </a:rPr>
              <a:t>Evaluation Metric: </a:t>
            </a:r>
            <a:r>
              <a:rPr lang="en-US" sz="2000" kern="1200">
                <a:solidFill>
                  <a:schemeClr val="tx1"/>
                </a:solidFill>
                <a:latin typeface="+mn-lt"/>
                <a:ea typeface="+mn-ea"/>
                <a:cs typeface="+mn-cs"/>
              </a:rPr>
              <a:t>Accuracy</a:t>
            </a:r>
          </a:p>
          <a:p>
            <a:pPr marL="457200" indent="-228600">
              <a:lnSpc>
                <a:spcPct val="90000"/>
              </a:lnSpc>
              <a:spcAft>
                <a:spcPts val="600"/>
              </a:spcAft>
              <a:buFont typeface="Arial" panose="020B0604020202020204" pitchFamily="34" charset="0"/>
              <a:buChar char="•"/>
            </a:pPr>
            <a:endParaRPr lang="en-US" sz="2000" b="1" kern="120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000" kern="1200">
                <a:solidFill>
                  <a:schemeClr val="tx1"/>
                </a:solidFill>
                <a:latin typeface="+mn-lt"/>
                <a:ea typeface="+mn-ea"/>
                <a:cs typeface="+mn-cs"/>
              </a:rPr>
              <a:t>GPT-5 and Gemini-2.5-flash performed best in this category</a:t>
            </a:r>
          </a:p>
          <a:p>
            <a:pPr marL="457200" indent="-228600">
              <a:lnSpc>
                <a:spcPct val="90000"/>
              </a:lnSpc>
              <a:spcAft>
                <a:spcPts val="600"/>
              </a:spcAft>
              <a:buFont typeface="Arial" panose="020B0604020202020204" pitchFamily="34" charset="0"/>
              <a:buChar char="•"/>
            </a:pPr>
            <a:endParaRPr lang="en-US" sz="2000" kern="1200">
              <a:solidFill>
                <a:schemeClr val="tx1"/>
              </a:solidFill>
              <a:latin typeface="+mn-lt"/>
              <a:ea typeface="+mn-ea"/>
              <a:cs typeface="+mn-cs"/>
            </a:endParaRPr>
          </a:p>
        </p:txBody>
      </p:sp>
      <p:pic>
        <p:nvPicPr>
          <p:cNvPr id="2" name="Picture 1">
            <a:extLst>
              <a:ext uri="{FF2B5EF4-FFF2-40B4-BE49-F238E27FC236}">
                <a16:creationId xmlns:a16="http://schemas.microsoft.com/office/drawing/2014/main" id="{AB2A3EFA-4AF6-2496-F78A-28DA6AFF7012}"/>
              </a:ext>
            </a:extLst>
          </p:cNvPr>
          <p:cNvPicPr>
            <a:picLocks noChangeAspect="1"/>
          </p:cNvPicPr>
          <p:nvPr/>
        </p:nvPicPr>
        <p:blipFill>
          <a:blip r:embed="rId3">
            <a:extLst>
              <a:ext uri="{28A0092B-C50C-407E-A947-70E740481C1C}">
                <a14:useLocalDpi xmlns:a14="http://schemas.microsoft.com/office/drawing/2010/main" val="0"/>
              </a:ext>
            </a:extLst>
          </a:blip>
          <a:srcRect l="2008" r="2006" b="-2"/>
          <a:stretch>
            <a:fillRect/>
          </a:stretch>
        </p:blipFill>
        <p:spPr>
          <a:xfrm>
            <a:off x="5911532" y="2758478"/>
            <a:ext cx="5150277" cy="3165797"/>
          </a:xfrm>
          <a:prstGeom prst="rect">
            <a:avLst/>
          </a:prstGeom>
        </p:spPr>
      </p:pic>
    </p:spTree>
    <p:extLst>
      <p:ext uri="{BB962C8B-B14F-4D97-AF65-F5344CB8AC3E}">
        <p14:creationId xmlns:p14="http://schemas.microsoft.com/office/powerpoint/2010/main" val="3480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51290-F80C-0C3B-F4DA-185F26699A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AA95072-6A1D-1E19-B4D4-4213CA8ED432}"/>
              </a:ext>
            </a:extLst>
          </p:cNvPr>
          <p:cNvSpPr txBox="1">
            <a:spLocks/>
          </p:cNvSpPr>
          <p:nvPr/>
        </p:nvSpPr>
        <p:spPr>
          <a:xfrm>
            <a:off x="841248" y="548640"/>
            <a:ext cx="3600860" cy="5431536"/>
          </a:xfrm>
        </p:spPr>
        <p:txBody>
          <a:bodyPr vert="horz" lIns="91440" tIns="45720" rIns="91440" bIns="45720" rtlCol="0" anchor="ct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spcBef>
                <a:spcPct val="0"/>
              </a:spcBef>
              <a:spcAft>
                <a:spcPts val="600"/>
              </a:spcAft>
            </a:pPr>
            <a:r>
              <a:rPr lang="en-US" sz="5400" b="1" kern="1200">
                <a:solidFill>
                  <a:schemeClr val="tx1"/>
                </a:solidFill>
                <a:latin typeface="+mj-lt"/>
                <a:ea typeface="+mj-ea"/>
                <a:cs typeface="+mj-cs"/>
              </a:rPr>
              <a:t>Athena CTI-LND</a:t>
            </a:r>
          </a:p>
        </p:txBody>
      </p:sp>
      <p:sp>
        <p:nvSpPr>
          <p:cNvPr id="6" name="Content Placeholder 6">
            <a:extLst>
              <a:ext uri="{FF2B5EF4-FFF2-40B4-BE49-F238E27FC236}">
                <a16:creationId xmlns:a16="http://schemas.microsoft.com/office/drawing/2014/main" id="{40038719-3AB0-FFFB-E4A0-3899B4D65A8A}"/>
              </a:ext>
            </a:extLst>
          </p:cNvPr>
          <p:cNvSpPr txBox="1">
            <a:spLocks/>
          </p:cNvSpPr>
          <p:nvPr/>
        </p:nvSpPr>
        <p:spPr>
          <a:xfrm>
            <a:off x="5126418" y="552091"/>
            <a:ext cx="6224335" cy="5431536"/>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Latest 90 days CVEs fetched from </a:t>
            </a:r>
            <a:r>
              <a:rPr lang="en-US" sz="2200" b="1" kern="1200">
                <a:solidFill>
                  <a:schemeClr val="tx1"/>
                </a:solidFill>
                <a:latin typeface="+mn-lt"/>
                <a:ea typeface="+mn-ea"/>
                <a:cs typeface="+mn-cs"/>
              </a:rPr>
              <a:t>NVD NIST</a:t>
            </a:r>
            <a:r>
              <a:rPr lang="en-US" sz="2200" kern="1200">
                <a:solidFill>
                  <a:schemeClr val="tx1"/>
                </a:solidFill>
                <a:latin typeface="+mn-lt"/>
                <a:ea typeface="+mn-ea"/>
                <a:cs typeface="+mn-cs"/>
              </a:rPr>
              <a:t>.</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Random </a:t>
            </a:r>
            <a:r>
              <a:rPr lang="en-US" sz="2200" b="1" kern="1200">
                <a:solidFill>
                  <a:schemeClr val="tx1"/>
                </a:solidFill>
                <a:latin typeface="+mn-lt"/>
                <a:ea typeface="+mn-ea"/>
                <a:cs typeface="+mn-cs"/>
              </a:rPr>
              <a:t>10% CVEs</a:t>
            </a:r>
            <a:r>
              <a:rPr lang="en-US" sz="2200" kern="1200">
                <a:solidFill>
                  <a:schemeClr val="tx1"/>
                </a:solidFill>
                <a:latin typeface="+mn-lt"/>
                <a:ea typeface="+mn-ea"/>
                <a:cs typeface="+mn-cs"/>
              </a:rPr>
              <a:t> selected for evaluation.</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LLM </a:t>
            </a:r>
            <a:r>
              <a:rPr lang="en-US" sz="2200" b="1" kern="1200">
                <a:solidFill>
                  <a:schemeClr val="tx1"/>
                </a:solidFill>
                <a:latin typeface="+mn-lt"/>
                <a:ea typeface="+mn-ea"/>
                <a:cs typeface="+mn-cs"/>
              </a:rPr>
              <a:t>predicts</a:t>
            </a:r>
            <a:r>
              <a:rPr lang="en-US" sz="2200" kern="1200">
                <a:solidFill>
                  <a:schemeClr val="tx1"/>
                </a:solidFill>
                <a:latin typeface="+mn-lt"/>
                <a:ea typeface="+mn-ea"/>
                <a:cs typeface="+mn-cs"/>
              </a:rPr>
              <a:t> CVE-ID from description.</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LLMs are unable to predict CVE-IDs because of their </a:t>
            </a:r>
            <a:r>
              <a:rPr lang="en-US" sz="2200" b="1" kern="1200">
                <a:solidFill>
                  <a:schemeClr val="tx1"/>
                </a:solidFill>
                <a:latin typeface="+mn-lt"/>
                <a:ea typeface="+mn-ea"/>
                <a:cs typeface="+mn-cs"/>
              </a:rPr>
              <a:t>knowledge cutoff</a:t>
            </a:r>
            <a:r>
              <a:rPr lang="en-US" sz="2200" kern="1200">
                <a:solidFill>
                  <a:schemeClr val="tx1"/>
                </a:solidFill>
                <a:latin typeface="+mn-lt"/>
                <a:ea typeface="+mn-ea"/>
                <a:cs typeface="+mn-cs"/>
              </a:rPr>
              <a:t>.</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GPT-5 with </a:t>
            </a:r>
            <a:r>
              <a:rPr lang="en-US" sz="2200" b="1" kern="1200">
                <a:solidFill>
                  <a:schemeClr val="tx1"/>
                </a:solidFill>
                <a:latin typeface="+mn-lt"/>
                <a:ea typeface="+mn-ea"/>
                <a:cs typeface="+mn-cs"/>
              </a:rPr>
              <a:t>web search preview</a:t>
            </a:r>
            <a:r>
              <a:rPr lang="en-US" sz="2200" kern="1200">
                <a:solidFill>
                  <a:schemeClr val="tx1"/>
                </a:solidFill>
                <a:latin typeface="+mn-lt"/>
                <a:ea typeface="+mn-ea"/>
                <a:cs typeface="+mn-cs"/>
              </a:rPr>
              <a:t> enabled achieves 95% accuracy.</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Gemini-2.5-flash with </a:t>
            </a:r>
            <a:r>
              <a:rPr lang="en-US" sz="2200" b="1" kern="1200">
                <a:solidFill>
                  <a:schemeClr val="tx1"/>
                </a:solidFill>
                <a:latin typeface="+mn-lt"/>
                <a:ea typeface="+mn-ea"/>
                <a:cs typeface="+mn-cs"/>
              </a:rPr>
              <a:t>Google search</a:t>
            </a:r>
            <a:r>
              <a:rPr lang="en-US" sz="2200" kern="1200">
                <a:solidFill>
                  <a:schemeClr val="tx1"/>
                </a:solidFill>
                <a:latin typeface="+mn-lt"/>
                <a:ea typeface="+mn-ea"/>
                <a:cs typeface="+mn-cs"/>
              </a:rPr>
              <a:t> reaches 87% accuracy.</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Demonstrates web search integration as a </a:t>
            </a:r>
            <a:r>
              <a:rPr lang="en-US" sz="2200" b="1" kern="1200">
                <a:solidFill>
                  <a:schemeClr val="tx1"/>
                </a:solidFill>
                <a:latin typeface="+mn-lt"/>
                <a:ea typeface="+mn-ea"/>
                <a:cs typeface="+mn-cs"/>
              </a:rPr>
              <a:t>performance booster</a:t>
            </a:r>
            <a:r>
              <a:rPr lang="en-US" sz="2200" kern="1200">
                <a:solidFill>
                  <a:schemeClr val="tx1"/>
                </a:solidFill>
                <a:latin typeface="+mn-lt"/>
                <a:ea typeface="+mn-ea"/>
                <a:cs typeface="+mn-cs"/>
              </a:rPr>
              <a:t>.</a:t>
            </a:r>
          </a:p>
          <a:p>
            <a:pPr indent="-228600">
              <a:lnSpc>
                <a:spcPct val="90000"/>
              </a:lnSpc>
              <a:spcAft>
                <a:spcPts val="600"/>
              </a:spcAft>
              <a:buClr>
                <a:schemeClr val="tx1">
                  <a:lumMod val="95000"/>
                  <a:lumOff val="5000"/>
                </a:schemeClr>
              </a:buClr>
              <a:buFont typeface="Arial" panose="020B0604020202020204" pitchFamily="34" charset="0"/>
              <a:buChar char="•"/>
            </a:pPr>
            <a:r>
              <a:rPr lang="en-US" sz="2200" kern="1200">
                <a:solidFill>
                  <a:schemeClr val="tx1"/>
                </a:solidFill>
                <a:latin typeface="+mn-lt"/>
                <a:ea typeface="+mn-ea"/>
                <a:cs typeface="+mn-cs"/>
              </a:rPr>
              <a:t>Established </a:t>
            </a:r>
            <a:r>
              <a:rPr lang="en-US" sz="2200" b="1" kern="1200">
                <a:solidFill>
                  <a:schemeClr val="tx1"/>
                </a:solidFill>
                <a:latin typeface="+mn-lt"/>
                <a:ea typeface="+mn-ea"/>
                <a:cs typeface="+mn-cs"/>
              </a:rPr>
              <a:t>GPT-5</a:t>
            </a:r>
            <a:r>
              <a:rPr lang="en-US" sz="2200" kern="1200">
                <a:solidFill>
                  <a:schemeClr val="tx1"/>
                </a:solidFill>
                <a:latin typeface="+mn-lt"/>
                <a:ea typeface="+mn-ea"/>
                <a:cs typeface="+mn-cs"/>
              </a:rPr>
              <a:t> as the current top performer.</a:t>
            </a:r>
          </a:p>
        </p:txBody>
      </p:sp>
    </p:spTree>
    <p:extLst>
      <p:ext uri="{BB962C8B-B14F-4D97-AF65-F5344CB8AC3E}">
        <p14:creationId xmlns:p14="http://schemas.microsoft.com/office/powerpoint/2010/main" val="1250429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0DD-164B-1541-AA5A-F43FFA7E3369}"/>
              </a:ext>
            </a:extLst>
          </p:cNvPr>
          <p:cNvSpPr>
            <a:spLocks noGrp="1"/>
          </p:cNvSpPr>
          <p:nvPr>
            <p:ph type="title"/>
          </p:nvPr>
        </p:nvSpPr>
        <p:spPr/>
        <p:txBody>
          <a:bodyPr/>
          <a:lstStyle/>
          <a:p>
            <a:r>
              <a:rPr lang="en-US"/>
              <a:t>Summary Value Proposition</a:t>
            </a:r>
          </a:p>
        </p:txBody>
      </p:sp>
      <p:sp>
        <p:nvSpPr>
          <p:cNvPr id="3" name="Content Placeholder 2">
            <a:extLst>
              <a:ext uri="{FF2B5EF4-FFF2-40B4-BE49-F238E27FC236}">
                <a16:creationId xmlns:a16="http://schemas.microsoft.com/office/drawing/2014/main" id="{1BCE456C-FF3C-0609-F5D9-2839A2F5F396}"/>
              </a:ext>
            </a:extLst>
          </p:cNvPr>
          <p:cNvSpPr>
            <a:spLocks noGrp="1"/>
          </p:cNvSpPr>
          <p:nvPr>
            <p:ph idx="1"/>
          </p:nvPr>
        </p:nvSpPr>
        <p:spPr/>
        <p:txBody>
          <a:bodyPr>
            <a:normAutofit fontScale="92500" lnSpcReduction="10000"/>
          </a:bodyPr>
          <a:lstStyle/>
          <a:p>
            <a:pPr>
              <a:buFont typeface="System Font Regular"/>
              <a:buChar char="⍻"/>
            </a:pPr>
            <a:r>
              <a:rPr lang="en-US" sz="2800" dirty="0"/>
              <a:t>Industry Fragmentation yields opportunity with Integrated Approach</a:t>
            </a:r>
          </a:p>
          <a:p>
            <a:pPr>
              <a:buFont typeface="System Font Regular"/>
              <a:buChar char="⍻"/>
            </a:pPr>
            <a:r>
              <a:rPr lang="en-US" sz="2800" dirty="0"/>
              <a:t>Consolidated and normalized threat identification across the entire network infrastructure (Firewall, WAF, SIEM, NIDS, EDR)</a:t>
            </a:r>
          </a:p>
          <a:p>
            <a:pPr>
              <a:buFont typeface="System Font Regular"/>
              <a:buChar char="⍻"/>
            </a:pPr>
            <a:r>
              <a:rPr lang="en-US" sz="2800" dirty="0"/>
              <a:t>Build and train CTI-LLM using state of the art threat intelligence (Flashpoint’s Ignite)</a:t>
            </a:r>
          </a:p>
          <a:p>
            <a:pPr>
              <a:buFont typeface="System Font Regular"/>
              <a:buChar char="⍻"/>
            </a:pPr>
            <a:r>
              <a:rPr lang="en-US" sz="2800" dirty="0"/>
              <a:t>RAG based integration into CTI-LLM for automated contextualized responses</a:t>
            </a:r>
          </a:p>
          <a:p>
            <a:pPr>
              <a:buFont typeface="System Font Regular"/>
              <a:buChar char="⍻"/>
            </a:pPr>
            <a:r>
              <a:rPr lang="en-US" sz="2800" dirty="0"/>
              <a:t>Yield better outcomes both in terms of threat detection and response, a necessary condition for Cyber Defense in the age of AI </a:t>
            </a:r>
          </a:p>
        </p:txBody>
      </p:sp>
    </p:spTree>
    <p:extLst>
      <p:ext uri="{BB962C8B-B14F-4D97-AF65-F5344CB8AC3E}">
        <p14:creationId xmlns:p14="http://schemas.microsoft.com/office/powerpoint/2010/main" val="2570062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a:t>Best in Class, AI Enabled, security solutions for Enterprise application providers.</a:t>
            </a:r>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3"/>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5274</TotalTime>
  <Words>5034</Words>
  <Application>Microsoft Macintosh PowerPoint</Application>
  <PresentationFormat>Widescreen</PresentationFormat>
  <Paragraphs>611</Paragraphs>
  <Slides>42</Slides>
  <Notes>22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42</vt:i4>
      </vt:variant>
    </vt:vector>
  </HeadingPairs>
  <TitlesOfParts>
    <vt:vector size="59" baseType="lpstr">
      <vt:lpstr>Aptos</vt:lpstr>
      <vt:lpstr>Aptos Narrow</vt:lpstr>
      <vt:lpstr>Arial</vt:lpstr>
      <vt:lpstr>Arimo</vt:lpstr>
      <vt:lpstr>Calibri Light</vt:lpstr>
      <vt:lpstr>Century Gothic</vt:lpstr>
      <vt:lpstr>Inter</vt:lpstr>
      <vt:lpstr>Open Sans</vt:lpstr>
      <vt:lpstr>Optima</vt:lpstr>
      <vt:lpstr>Outfit Extra Bold</vt:lpstr>
      <vt:lpstr>Plus Jakarta Sans</vt:lpstr>
      <vt:lpstr>Segoe UI Black</vt:lpstr>
      <vt:lpstr>System Font Regular</vt:lpstr>
      <vt:lpstr>Unbounded Bold</vt:lpstr>
      <vt:lpstr>Wingdings</vt:lpstr>
      <vt:lpstr>Wingdings 3</vt:lpstr>
      <vt:lpstr>Ion Boardroom</vt:lpstr>
      <vt:lpstr>Athena-CTI-LLM Overview aka Glaukopis  Foundational Cyber Threat Intelligence Language Model for the next generation SOC</vt:lpstr>
      <vt:lpstr>PowerPoint Presentation</vt:lpstr>
      <vt:lpstr>Athena Security Group</vt:lpstr>
      <vt:lpstr>Athena Security Group</vt:lpstr>
      <vt:lpstr>PowerPoint Presentation</vt:lpstr>
      <vt:lpstr>PowerPoint Presentation</vt:lpstr>
      <vt:lpstr>PowerPoint Presentation</vt:lpstr>
      <vt:lpstr>PowerPoint Presentation</vt:lpstr>
      <vt:lpstr>AI Enablement</vt:lpstr>
      <vt:lpstr>Enterprise Grade Security</vt:lpstr>
      <vt:lpstr>PowerPoint Presentation</vt:lpstr>
      <vt:lpstr>PowerPoint Presentation</vt:lpstr>
      <vt:lpstr>Athena-CTI-LLM</vt:lpstr>
      <vt:lpstr>Foundational Use Cases for Cyber Security Language Models </vt:lpstr>
      <vt:lpstr>Cyber Security Language Models</vt:lpstr>
      <vt:lpstr>Evaluating the Performance of Cyber Security LLMs Benchmarks for Cyber Security Language Models</vt:lpstr>
      <vt:lpstr>Athena’s Cyber Threat Intelligence LLM Injecting AI directly into the Threat Response Pipeline</vt:lpstr>
      <vt:lpstr>Holistic LLM Design &amp; Integration Strategy</vt:lpstr>
      <vt:lpstr>Instruction Finetuning (IFT)</vt:lpstr>
      <vt:lpstr>Ariadne: Graph Model</vt:lpstr>
      <vt:lpstr>Flashpoint Ignite Data</vt:lpstr>
      <vt:lpstr>Athena-CTI-LLM IFT Design</vt:lpstr>
      <vt:lpstr>Athena-CTI-LLM Product Lifecycle</vt:lpstr>
      <vt:lpstr>PowerPoint Presentation</vt:lpstr>
      <vt:lpstr>CTIBench v1.0 [Working on Athena-CTI-Bench: Q4 ‘25 delivery]</vt:lpstr>
      <vt:lpstr>Will include Capabilities around measurement of trailing last 90 days of CTI data…</vt:lpstr>
      <vt:lpstr>CyberMetric:  Additional CTI Benchmarking</vt:lpstr>
      <vt:lpstr>Natural Language Understanding Benchmarks Avoiding hallucinations (where is the bottom threshold on model size…) </vt:lpstr>
      <vt:lpstr>NLU Benchmarks (CONT): MMLU</vt:lpstr>
      <vt:lpstr>AthenaBench CTI Test Subject Areas</vt:lpstr>
      <vt:lpstr>PowerPoint Presentation</vt:lpstr>
      <vt:lpstr>Model Comparisons: Proprietary vs. Open-Source</vt:lpstr>
      <vt:lpstr>ATE: Attack Technique Enumeration</vt:lpstr>
      <vt:lpstr>RCM: Root Cause Mapping</vt:lpstr>
      <vt:lpstr>RMS: Risk Mitigation Strategy</vt:lpstr>
      <vt:lpstr>MCQ: Multiple Choice Questions</vt:lpstr>
      <vt:lpstr>VSP: CVSS Vector Severity Prediction</vt:lpstr>
      <vt:lpstr>TAA: Threat Actor Attribution</vt:lpstr>
      <vt:lpstr>IOC (Indicator of Compromise) Prediction</vt:lpstr>
      <vt:lpstr>PowerPoint Presentation</vt:lpstr>
      <vt:lpstr>Summary Value Proposition</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2</cp:revision>
  <dcterms:created xsi:type="dcterms:W3CDTF">2025-02-21T13:12:15Z</dcterms:created>
  <dcterms:modified xsi:type="dcterms:W3CDTF">2025-10-29T12:11:34Z</dcterms:modified>
</cp:coreProperties>
</file>