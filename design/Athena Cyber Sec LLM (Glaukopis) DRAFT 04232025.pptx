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0"/>
  </p:notesMasterIdLst>
  <p:handoutMasterIdLst>
    <p:handoutMasterId r:id="rId31"/>
  </p:handoutMasterIdLst>
  <p:sldIdLst>
    <p:sldId id="256" r:id="rId2"/>
    <p:sldId id="276" r:id="rId3"/>
    <p:sldId id="509" r:id="rId4"/>
    <p:sldId id="305" r:id="rId5"/>
    <p:sldId id="310" r:id="rId6"/>
    <p:sldId id="308" r:id="rId7"/>
    <p:sldId id="507" r:id="rId8"/>
    <p:sldId id="265" r:id="rId9"/>
    <p:sldId id="511" r:id="rId10"/>
    <p:sldId id="273" r:id="rId11"/>
    <p:sldId id="318" r:id="rId12"/>
    <p:sldId id="316" r:id="rId13"/>
    <p:sldId id="502" r:id="rId14"/>
    <p:sldId id="292" r:id="rId15"/>
    <p:sldId id="503" r:id="rId16"/>
    <p:sldId id="309" r:id="rId17"/>
    <p:sldId id="311" r:id="rId18"/>
    <p:sldId id="510" r:id="rId19"/>
    <p:sldId id="321" r:id="rId20"/>
    <p:sldId id="317" r:id="rId21"/>
    <p:sldId id="320" r:id="rId22"/>
    <p:sldId id="504" r:id="rId23"/>
    <p:sldId id="505" r:id="rId24"/>
    <p:sldId id="506" r:id="rId25"/>
    <p:sldId id="508" r:id="rId26"/>
    <p:sldId id="297" r:id="rId27"/>
    <p:sldId id="288" r:id="rId28"/>
    <p:sldId id="30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08"/>
    <p:restoredTop sz="86444"/>
  </p:normalViewPr>
  <p:slideViewPr>
    <p:cSldViewPr snapToGrid="0">
      <p:cViewPr>
        <p:scale>
          <a:sx n="130" d="100"/>
          <a:sy n="130" d="100"/>
        </p:scale>
        <p:origin x="1544" y="7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0"/>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a:bodyPr>
          <a:lstStyle/>
          <a:p>
            <a:r>
              <a:rPr lang="en-US" sz="4400" dirty="0">
                <a:solidFill>
                  <a:srgbClr val="FFFFFF"/>
                </a:solidFill>
                <a:latin typeface="+mn-lt"/>
              </a:rPr>
              <a:t>Athena Cyber LLM</a:t>
            </a:r>
            <a:br>
              <a:rPr lang="en-US" sz="4400" i="1" dirty="0">
                <a:solidFill>
                  <a:srgbClr val="FFFFFF"/>
                </a:solidFill>
                <a:latin typeface="+mn-lt"/>
              </a:rPr>
            </a:br>
            <a:r>
              <a:rPr lang="en-US" sz="2400" i="1" dirty="0">
                <a:solidFill>
                  <a:srgbClr val="FFFFFF"/>
                </a:solidFill>
                <a:latin typeface="+mn-lt"/>
              </a:rPr>
              <a:t>Codename: Glaukopis</a:t>
            </a:r>
            <a:br>
              <a:rPr lang="en-US" sz="4400" i="1" dirty="0">
                <a:solidFill>
                  <a:srgbClr val="FFFFFF"/>
                </a:solidFill>
              </a:rPr>
            </a:br>
            <a:br>
              <a:rPr lang="en-US" sz="4400" i="1" dirty="0">
                <a:solidFill>
                  <a:srgbClr val="FFFFFF"/>
                </a:solidFill>
              </a:rPr>
            </a:br>
            <a:r>
              <a:rPr lang="en-US" sz="3100" i="1" dirty="0">
                <a:solidFill>
                  <a:srgbClr val="FFFFFF"/>
                </a:solidFill>
              </a:rPr>
              <a:t>Adapting Cyber Defense to the Advance of AI</a:t>
            </a:r>
            <a:endParaRPr lang="en-US" sz="6700"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12">
            <a:extLst>
              <a:ext uri="{FF2B5EF4-FFF2-40B4-BE49-F238E27FC236}">
                <a16:creationId xmlns:a16="http://schemas.microsoft.com/office/drawing/2014/main" id="{F6DA7D65-0F4C-4E07-8EE3-0BDF46A1C7F5}"/>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4767759" y="4396250"/>
            <a:ext cx="1302121" cy="17575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3043251-E387-4FFB-B4C2-C16E01FAB4D2}"/>
              </a:ext>
            </a:extLst>
          </p:cNvPr>
          <p:cNvCxnSpPr>
            <a:cxnSpLocks/>
          </p:cNvCxnSpPr>
          <p:nvPr/>
        </p:nvCxnSpPr>
        <p:spPr>
          <a:xfrm flipH="1" flipV="1">
            <a:off x="4158115" y="5109910"/>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166027" y="1203159"/>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4740793" y="2307689"/>
            <a:ext cx="1328242" cy="6452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3E0B17C-907F-4417-8878-84E6F8708232}"/>
              </a:ext>
            </a:extLst>
          </p:cNvPr>
          <p:cNvCxnSpPr>
            <a:cxnSpLocks/>
          </p:cNvCxnSpPr>
          <p:nvPr/>
        </p:nvCxnSpPr>
        <p:spPr>
          <a:xfrm flipV="1">
            <a:off x="5007276" y="3415420"/>
            <a:ext cx="1260317" cy="12274"/>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DC6F539-FB9B-4A07-B8C4-4EE1AD62329A}"/>
              </a:ext>
            </a:extLst>
          </p:cNvPr>
          <p:cNvSpPr/>
          <p:nvPr/>
        </p:nvSpPr>
        <p:spPr>
          <a:xfrm>
            <a:off x="5616629" y="770154"/>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E5291BEF-C843-469D-B463-CCD2D2AA7D42}"/>
              </a:ext>
            </a:extLst>
          </p:cNvPr>
          <p:cNvSpPr/>
          <p:nvPr/>
        </p:nvSpPr>
        <p:spPr>
          <a:xfrm>
            <a:off x="6120685" y="1887754"/>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307692" y="3001680"/>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6FA9FD22-5097-4FCA-90B6-4A02F243D994}"/>
              </a:ext>
            </a:extLst>
          </p:cNvPr>
          <p:cNvSpPr/>
          <p:nvPr/>
        </p:nvSpPr>
        <p:spPr>
          <a:xfrm>
            <a:off x="6120685" y="4122954"/>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BA2A557F-9D31-41E7-ABC0-792F160F65B7}"/>
              </a:ext>
            </a:extLst>
          </p:cNvPr>
          <p:cNvSpPr/>
          <p:nvPr/>
        </p:nvSpPr>
        <p:spPr>
          <a:xfrm>
            <a:off x="5616629" y="5240554"/>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59D89C9F-6658-4144-88AA-47B7BBD3A0CC}"/>
              </a:ext>
            </a:extLst>
          </p:cNvPr>
          <p:cNvSpPr/>
          <p:nvPr/>
        </p:nvSpPr>
        <p:spPr>
          <a:xfrm>
            <a:off x="5245484" y="53232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6"/>
                </a:solidFill>
              </a:rPr>
              <a:t>05</a:t>
            </a:r>
          </a:p>
        </p:txBody>
      </p:sp>
      <p:sp>
        <p:nvSpPr>
          <p:cNvPr id="51" name="Oval 50">
            <a:extLst>
              <a:ext uri="{FF2B5EF4-FFF2-40B4-BE49-F238E27FC236}">
                <a16:creationId xmlns:a16="http://schemas.microsoft.com/office/drawing/2014/main" id="{195EFC69-61B4-4807-8A33-42C11A5E9B87}"/>
              </a:ext>
            </a:extLst>
          </p:cNvPr>
          <p:cNvSpPr/>
          <p:nvPr/>
        </p:nvSpPr>
        <p:spPr>
          <a:xfrm>
            <a:off x="5245484" y="8528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2" name="Oval 51">
            <a:extLst>
              <a:ext uri="{FF2B5EF4-FFF2-40B4-BE49-F238E27FC236}">
                <a16:creationId xmlns:a16="http://schemas.microsoft.com/office/drawing/2014/main" id="{448D429D-E052-4EAA-8E9E-43E43D48062A}"/>
              </a:ext>
            </a:extLst>
          </p:cNvPr>
          <p:cNvSpPr/>
          <p:nvPr/>
        </p:nvSpPr>
        <p:spPr>
          <a:xfrm>
            <a:off x="5728084" y="19704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3" name="Oval 52">
            <a:extLst>
              <a:ext uri="{FF2B5EF4-FFF2-40B4-BE49-F238E27FC236}">
                <a16:creationId xmlns:a16="http://schemas.microsoft.com/office/drawing/2014/main" id="{D17FC635-A43A-46F6-9B85-B3DA52CA7010}"/>
              </a:ext>
            </a:extLst>
          </p:cNvPr>
          <p:cNvSpPr/>
          <p:nvPr/>
        </p:nvSpPr>
        <p:spPr>
          <a:xfrm>
            <a:off x="5728084" y="42056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4" name="Oval 53">
            <a:extLst>
              <a:ext uri="{FF2B5EF4-FFF2-40B4-BE49-F238E27FC236}">
                <a16:creationId xmlns:a16="http://schemas.microsoft.com/office/drawing/2014/main" id="{E3276214-0485-49E9-959A-71040A595F50}"/>
              </a:ext>
            </a:extLst>
          </p:cNvPr>
          <p:cNvSpPr/>
          <p:nvPr/>
        </p:nvSpPr>
        <p:spPr>
          <a:xfrm>
            <a:off x="5917485" y="308437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6" name="Rectangle 55">
            <a:extLst>
              <a:ext uri="{FF2B5EF4-FFF2-40B4-BE49-F238E27FC236}">
                <a16:creationId xmlns:a16="http://schemas.microsoft.com/office/drawing/2014/main" id="{ACD098C0-1942-4629-ACF1-E55D6E583B78}"/>
              </a:ext>
            </a:extLst>
          </p:cNvPr>
          <p:cNvSpPr/>
          <p:nvPr/>
        </p:nvSpPr>
        <p:spPr>
          <a:xfrm>
            <a:off x="6258437" y="10817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57" name="Rectangle 56">
            <a:extLst>
              <a:ext uri="{FF2B5EF4-FFF2-40B4-BE49-F238E27FC236}">
                <a16:creationId xmlns:a16="http://schemas.microsoft.com/office/drawing/2014/main" id="{09038F7B-50D1-4B96-BF22-F385324C47C6}"/>
              </a:ext>
            </a:extLst>
          </p:cNvPr>
          <p:cNvSpPr/>
          <p:nvPr/>
        </p:nvSpPr>
        <p:spPr>
          <a:xfrm>
            <a:off x="6258437" y="55521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 &amp; Glaukopis</a:t>
            </a:r>
          </a:p>
        </p:txBody>
      </p:sp>
      <p:sp>
        <p:nvSpPr>
          <p:cNvPr id="58" name="Rectangle 57">
            <a:extLst>
              <a:ext uri="{FF2B5EF4-FFF2-40B4-BE49-F238E27FC236}">
                <a16:creationId xmlns:a16="http://schemas.microsoft.com/office/drawing/2014/main" id="{98CB7327-E8E0-483E-A1CF-8B6250262002}"/>
              </a:ext>
            </a:extLst>
          </p:cNvPr>
          <p:cNvSpPr/>
          <p:nvPr/>
        </p:nvSpPr>
        <p:spPr>
          <a:xfrm>
            <a:off x="6776269" y="21993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59" name="Rectangle 58">
            <a:extLst>
              <a:ext uri="{FF2B5EF4-FFF2-40B4-BE49-F238E27FC236}">
                <a16:creationId xmlns:a16="http://schemas.microsoft.com/office/drawing/2014/main" id="{795C9383-3BEB-458E-A6E6-DB8FE4FF36F9}"/>
              </a:ext>
            </a:extLst>
          </p:cNvPr>
          <p:cNvSpPr/>
          <p:nvPr/>
        </p:nvSpPr>
        <p:spPr>
          <a:xfrm>
            <a:off x="6976547" y="331327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Product Development Lifecycle</a:t>
            </a:r>
          </a:p>
        </p:txBody>
      </p:sp>
      <p:sp>
        <p:nvSpPr>
          <p:cNvPr id="60" name="Rectangle 59">
            <a:extLst>
              <a:ext uri="{FF2B5EF4-FFF2-40B4-BE49-F238E27FC236}">
                <a16:creationId xmlns:a16="http://schemas.microsoft.com/office/drawing/2014/main" id="{13EFB635-3803-4E96-97FB-E31E434D64B0}"/>
              </a:ext>
            </a:extLst>
          </p:cNvPr>
          <p:cNvSpPr/>
          <p:nvPr/>
        </p:nvSpPr>
        <p:spPr>
          <a:xfrm>
            <a:off x="6766437" y="44345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Flashpoint Ignite Integration</a:t>
            </a:r>
          </a:p>
        </p:txBody>
      </p: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A44F72E9-1B9A-47B3-85FD-79870A5693E7}"/>
              </a:ext>
            </a:extLst>
          </p:cNvPr>
          <p:cNvSpPr/>
          <p:nvPr/>
        </p:nvSpPr>
        <p:spPr>
          <a:xfrm>
            <a:off x="4695092" y="4319217"/>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069288" y="5018677"/>
            <a:ext cx="175885" cy="175885"/>
          </a:xfrm>
          <a:prstGeom prst="ellipse">
            <a:avLst/>
          </a:prstGeom>
          <a:solidFill>
            <a:schemeClr val="accent6"/>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095129" y="1663441"/>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663176" y="2300682"/>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5">
            <a:extLst>
              <a:ext uri="{FF2B5EF4-FFF2-40B4-BE49-F238E27FC236}">
                <a16:creationId xmlns:a16="http://schemas.microsoft.com/office/drawing/2014/main" id="{64510D95-31EE-44E1-83A0-F578711F9FFE}"/>
              </a:ext>
            </a:extLst>
          </p:cNvPr>
          <p:cNvSpPr>
            <a:spLocks/>
          </p:cNvSpPr>
          <p:nvPr/>
        </p:nvSpPr>
        <p:spPr bwMode="auto">
          <a:xfrm>
            <a:off x="2947458" y="2272968"/>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D07D3B83-545B-473A-9A1F-85D211BCEA1B}"/>
              </a:ext>
            </a:extLst>
          </p:cNvPr>
          <p:cNvSpPr>
            <a:spLocks/>
          </p:cNvSpPr>
          <p:nvPr/>
        </p:nvSpPr>
        <p:spPr bwMode="auto">
          <a:xfrm>
            <a:off x="2947458" y="3142572"/>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0CFF83FC-07C8-4FC5-BC84-5BA1C94ED3A1}"/>
              </a:ext>
            </a:extLst>
          </p:cNvPr>
          <p:cNvSpPr>
            <a:spLocks/>
          </p:cNvSpPr>
          <p:nvPr/>
        </p:nvSpPr>
        <p:spPr bwMode="auto">
          <a:xfrm>
            <a:off x="2947457" y="2628254"/>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5" name="Freeform 10">
            <a:extLst>
              <a:ext uri="{FF2B5EF4-FFF2-40B4-BE49-F238E27FC236}">
                <a16:creationId xmlns:a16="http://schemas.microsoft.com/office/drawing/2014/main" id="{EC129D0F-AE48-4F75-990A-AF431B3988A7}"/>
              </a:ext>
            </a:extLst>
          </p:cNvPr>
          <p:cNvSpPr>
            <a:spLocks/>
          </p:cNvSpPr>
          <p:nvPr/>
        </p:nvSpPr>
        <p:spPr bwMode="auto">
          <a:xfrm>
            <a:off x="2947457" y="3425110"/>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6" name="Freeform 11">
            <a:extLst>
              <a:ext uri="{FF2B5EF4-FFF2-40B4-BE49-F238E27FC236}">
                <a16:creationId xmlns:a16="http://schemas.microsoft.com/office/drawing/2014/main" id="{4F6846FD-7798-4F83-8034-FE4854BF6A9A}"/>
              </a:ext>
            </a:extLst>
          </p:cNvPr>
          <p:cNvSpPr>
            <a:spLocks/>
          </p:cNvSpPr>
          <p:nvPr/>
        </p:nvSpPr>
        <p:spPr bwMode="auto">
          <a:xfrm>
            <a:off x="2947457" y="3425111"/>
            <a:ext cx="994802" cy="1155527"/>
          </a:xfrm>
          <a:custGeom>
            <a:avLst/>
            <a:gdLst>
              <a:gd name="T0" fmla="*/ 163 w 296"/>
              <a:gd name="T1" fmla="*/ 344 h 344"/>
              <a:gd name="T2" fmla="*/ 296 w 296"/>
              <a:gd name="T3" fmla="*/ 239 h 344"/>
              <a:gd name="T4" fmla="*/ 0 w 296"/>
              <a:gd name="T5" fmla="*/ 0 h 344"/>
              <a:gd name="T6" fmla="*/ 163 w 296"/>
              <a:gd name="T7" fmla="*/ 344 h 344"/>
            </a:gdLst>
            <a:ahLst/>
            <a:cxnLst>
              <a:cxn ang="0">
                <a:pos x="T0" y="T1"/>
              </a:cxn>
              <a:cxn ang="0">
                <a:pos x="T2" y="T3"/>
              </a:cxn>
              <a:cxn ang="0">
                <a:pos x="T4" y="T5"/>
              </a:cxn>
              <a:cxn ang="0">
                <a:pos x="T6" y="T7"/>
              </a:cxn>
            </a:cxnLst>
            <a:rect l="0" t="0" r="r" b="b"/>
            <a:pathLst>
              <a:path w="296" h="344">
                <a:moveTo>
                  <a:pt x="163" y="344"/>
                </a:moveTo>
                <a:cubicBezTo>
                  <a:pt x="215" y="320"/>
                  <a:pt x="261" y="283"/>
                  <a:pt x="296" y="239"/>
                </a:cubicBezTo>
                <a:cubicBezTo>
                  <a:pt x="0" y="0"/>
                  <a:pt x="0" y="0"/>
                  <a:pt x="0" y="0"/>
                </a:cubicBezTo>
                <a:lnTo>
                  <a:pt x="163" y="344"/>
                </a:ln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9" name="Oval 12">
            <a:extLst>
              <a:ext uri="{FF2B5EF4-FFF2-40B4-BE49-F238E27FC236}">
                <a16:creationId xmlns:a16="http://schemas.microsoft.com/office/drawing/2014/main" id="{0CBF14EC-EB0E-47BB-895A-567949A6621E}"/>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Building Cyber Security LLMs</a:t>
            </a:r>
          </a:p>
        </p:txBody>
      </p:sp>
      <p:sp>
        <p:nvSpPr>
          <p:cNvPr id="20" name="Oval 19">
            <a:extLst>
              <a:ext uri="{FF2B5EF4-FFF2-40B4-BE49-F238E27FC236}">
                <a16:creationId xmlns:a16="http://schemas.microsoft.com/office/drawing/2014/main" id="{C043F1EC-3BED-4E15-9E37-C6DCEB07805C}"/>
              </a:ext>
            </a:extLst>
          </p:cNvPr>
          <p:cNvSpPr/>
          <p:nvPr/>
        </p:nvSpPr>
        <p:spPr>
          <a:xfrm>
            <a:off x="4925094" y="3348719"/>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864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dirty="0"/>
              <a:t>Cyber LLMs</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dirty="0"/>
              <a:t>Current State, Build &amp; optimization Strategies</a:t>
            </a:r>
          </a:p>
        </p:txBody>
      </p:sp>
    </p:spTree>
    <p:extLst>
      <p:ext uri="{BB962C8B-B14F-4D97-AF65-F5344CB8AC3E}">
        <p14:creationId xmlns:p14="http://schemas.microsoft.com/office/powerpoint/2010/main" val="603633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dirty="0"/>
              <a:t>CyBERT (2021)</a:t>
            </a:r>
            <a:br>
              <a:rPr lang="en-US" dirty="0"/>
            </a:br>
            <a:r>
              <a:rPr lang="en-US" sz="2000" dirty="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dirty="0">
                <a:solidFill>
                  <a:srgbClr val="333333"/>
                </a:solidFill>
                <a:effectLst/>
                <a:latin typeface="HelveticaNeue Regular"/>
              </a:rPr>
              <a:t>P. Ranade, A. Piplai, A. Joshi and T. Finin, "CyBERT: Contextualized Embeddings for the Cybersecurity Domain," </a:t>
            </a:r>
            <a:r>
              <a:rPr lang="en-US" sz="1050" b="0" i="1" dirty="0">
                <a:solidFill>
                  <a:srgbClr val="333333"/>
                </a:solidFill>
                <a:effectLst/>
                <a:latin typeface="HelveticaNeue Regular"/>
              </a:rPr>
              <a:t>2021 IEEE International Conference on Big Data (Big Data)</a:t>
            </a:r>
            <a:r>
              <a:rPr lang="en-US" sz="1050" b="0" i="0" dirty="0">
                <a:solidFill>
                  <a:srgbClr val="333333"/>
                </a:solidFill>
                <a:effectLst/>
                <a:latin typeface="HelveticaNeue Regular"/>
              </a:rPr>
              <a:t>, Orlando, FL, USA, 2021, pp. 3334-3342, </a:t>
            </a:r>
            <a:r>
              <a:rPr lang="en-US" sz="1050" b="0" i="0" dirty="0" err="1">
                <a:solidFill>
                  <a:srgbClr val="333333"/>
                </a:solidFill>
                <a:effectLst/>
                <a:latin typeface="HelveticaNeue Regular"/>
              </a:rPr>
              <a:t>doi</a:t>
            </a:r>
            <a:r>
              <a:rPr lang="en-US" sz="1050" b="0" i="0" dirty="0">
                <a:solidFill>
                  <a:srgbClr val="333333"/>
                </a:solidFill>
                <a:effectLst/>
                <a:latin typeface="HelveticaNeue Regular"/>
              </a:rPr>
              <a:t>: 10.1109/BigData52589.2021.9671824.</a:t>
            </a:r>
            <a:endParaRPr lang="en-US" sz="1050" dirty="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dirty="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dirty="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dirty="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dirty="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dirty="0"/>
          </a:p>
        </p:txBody>
      </p:sp>
    </p:spTree>
    <p:extLst>
      <p:ext uri="{BB962C8B-B14F-4D97-AF65-F5344CB8AC3E}">
        <p14:creationId xmlns:p14="http://schemas.microsoft.com/office/powerpoint/2010/main" val="50741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dirty="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dirty="0">
              <a:solidFill>
                <a:srgbClr val="FFFFFF"/>
              </a:solidFill>
            </a:endParaRPr>
          </a:p>
          <a:p>
            <a:pPr marL="0" indent="0">
              <a:lnSpc>
                <a:spcPct val="90000"/>
              </a:lnSpc>
              <a:buNone/>
            </a:pPr>
            <a:r>
              <a:rPr lang="en-GB" sz="1300" dirty="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dirty="0"/>
              <a:t>Finetuning LLMs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dirty="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dirty="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dirty="0">
                <a:cs typeface="Arial"/>
              </a:rPr>
              <a:t>LoRA and QLoRA for Coefficient Selection</a:t>
            </a:r>
            <a:endParaRPr lang="en-US" sz="5400" dirty="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dirty="0"/>
              <a:t>LoRA (Low-Rank Adoption):</a:t>
            </a:r>
            <a:endParaRPr lang="en-US" sz="1050" dirty="0"/>
          </a:p>
          <a:p>
            <a:pPr lvl="1">
              <a:spcBef>
                <a:spcPts val="600"/>
              </a:spcBef>
            </a:pPr>
            <a:r>
              <a:rPr lang="en-US" sz="1000" dirty="0"/>
              <a:t>It is a technique exploits the fact that some weights have more significant impacts than others. In LoRA, the large weight matrix is divided into two smaller matrices by factorization.</a:t>
            </a:r>
          </a:p>
          <a:p>
            <a:pPr lvl="1">
              <a:spcBef>
                <a:spcPts val="600"/>
              </a:spcBef>
            </a:pPr>
            <a:r>
              <a:rPr lang="en-US" sz="1000" dirty="0"/>
              <a:t>We reduce the number of coefficients that need adjustment, making the fine-tuning process more efficient.</a:t>
            </a:r>
          </a:p>
          <a:p>
            <a:pPr lvl="1">
              <a:spcBef>
                <a:spcPct val="0"/>
              </a:spcBef>
            </a:pPr>
            <a:endParaRPr lang="en-US" sz="1000" dirty="0"/>
          </a:p>
          <a:p>
            <a:pPr lvl="0"/>
            <a:r>
              <a:rPr lang="en-US" sz="1050" b="1" dirty="0"/>
              <a:t>QLoRA (Quantization + Low-Rank Adoption):</a:t>
            </a:r>
            <a:endParaRPr lang="en-US" sz="1050" dirty="0"/>
          </a:p>
          <a:p>
            <a:pPr lvl="1">
              <a:spcBef>
                <a:spcPts val="600"/>
              </a:spcBef>
            </a:pPr>
            <a:r>
              <a:rPr lang="en-US" sz="1000" dirty="0"/>
              <a:t>Quantization involves converting high-precision floating-point coefficients into lower-precision representations, such as 4-bit integers. </a:t>
            </a:r>
          </a:p>
          <a:p>
            <a:pPr lvl="1">
              <a:spcBef>
                <a:spcPts val="600"/>
              </a:spcBef>
            </a:pPr>
            <a:r>
              <a:rPr lang="en-US" sz="1000" dirty="0"/>
              <a:t>Quantization offers a solution by reducing the precision of these coefficients. </a:t>
            </a:r>
          </a:p>
          <a:p>
            <a:pPr lvl="1">
              <a:spcBef>
                <a:spcPts val="600"/>
              </a:spcBef>
            </a:pPr>
            <a:r>
              <a:rPr lang="en-US" sz="1000" dirty="0"/>
              <a:t>For instance, a 32-bit floating-point number can be represented as a 4-bit integer within a specific range. This conversion significantly shrinks the memory footprint.</a:t>
            </a:r>
          </a:p>
          <a:p>
            <a:endParaRPr lang="en-US" dirty="0"/>
          </a:p>
        </p:txBody>
      </p:sp>
    </p:spTree>
    <p:extLst>
      <p:ext uri="{BB962C8B-B14F-4D97-AF65-F5344CB8AC3E}">
        <p14:creationId xmlns:p14="http://schemas.microsoft.com/office/powerpoint/2010/main" val="220459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dirty="0"/>
              <a:t>Instruction Tuning</a:t>
            </a:r>
            <a:br>
              <a:rPr lang="en-US" dirty="0"/>
            </a:br>
            <a:r>
              <a:rPr lang="en-US" sz="2000" dirty="0"/>
              <a:t>Finetuned Language Net (FLAN)</a:t>
            </a:r>
            <a:endParaRPr lang="en-US" dirty="0"/>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dirty="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dirty="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dirty="0">
              <a:latin typeface="Aptos" panose="020B0004020202020204" pitchFamily="34" charset="0"/>
            </a:endParaRPr>
          </a:p>
          <a:p>
            <a:pPr>
              <a:buFont typeface="System Font Regular"/>
              <a:buChar char="−"/>
            </a:pPr>
            <a:r>
              <a:rPr lang="en-US" sz="1600" dirty="0">
                <a:solidFill>
                  <a:srgbClr val="363737"/>
                </a:solidFill>
                <a:effectLst/>
                <a:latin typeface="Aptos" panose="020B0004020202020204" pitchFamily="34" charset="0"/>
              </a:rPr>
              <a:t>Methods differ based on how the instruction tuning data is constructed.</a:t>
            </a:r>
            <a:endParaRPr lang="en-US" sz="1600" dirty="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endParaRPr lang="en-US" sz="1050" i="1" dirty="0">
              <a:solidFill>
                <a:srgbClr val="000000"/>
              </a:solidFill>
              <a:effectLst/>
              <a:latin typeface="Lucida Grande" panose="020B0600040502020204" pitchFamily="34" charset="0"/>
            </a:endParaRPr>
          </a:p>
        </p:txBody>
      </p:sp>
    </p:spTree>
    <p:extLst>
      <p:ext uri="{BB962C8B-B14F-4D97-AF65-F5344CB8AC3E}">
        <p14:creationId xmlns:p14="http://schemas.microsoft.com/office/powerpoint/2010/main" val="183770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dirty="0"/>
              <a:t>Prompt</a:t>
            </a:r>
            <a:r>
              <a:rPr sz="4000" spc="-180" dirty="0"/>
              <a:t> </a:t>
            </a:r>
            <a:r>
              <a:rPr sz="4000" spc="-265" dirty="0"/>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dirty="0"/>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dirty="0"/>
              <a:t>Methodology: Build, Evaluate, Test, Deploy, Iterate</a:t>
            </a:r>
          </a:p>
        </p:txBody>
      </p:sp>
    </p:spTree>
    <p:extLst>
      <p:ext uri="{BB962C8B-B14F-4D97-AF65-F5344CB8AC3E}">
        <p14:creationId xmlns:p14="http://schemas.microsoft.com/office/powerpoint/2010/main" val="258420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793048" y="758480"/>
            <a:ext cx="9495183" cy="5341039"/>
          </a:xfrm>
          <a:prstGeom prst="rect">
            <a:avLst/>
          </a:prstGeom>
        </p:spPr>
      </p:pic>
    </p:spTree>
    <p:extLst>
      <p:ext uri="{BB962C8B-B14F-4D97-AF65-F5344CB8AC3E}">
        <p14:creationId xmlns:p14="http://schemas.microsoft.com/office/powerpoint/2010/main" val="260952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a:xfrm>
            <a:off x="1435244" y="1292267"/>
            <a:ext cx="8825658" cy="586380"/>
          </a:xfrm>
        </p:spPr>
        <p:txBody>
          <a:bodyPr vert="horz" lIns="91440" tIns="45720" rIns="91440" bIns="45720" rtlCol="0" anchor="b">
            <a:normAutofit/>
          </a:bodyPr>
          <a:lstStyle/>
          <a:p>
            <a:pPr>
              <a:lnSpc>
                <a:spcPct val="90000"/>
              </a:lnSpc>
            </a:pPr>
            <a:r>
              <a:rPr lang="en-US" b="0" i="0" kern="1200" dirty="0">
                <a:solidFill>
                  <a:srgbClr val="EBEBEB"/>
                </a:solidFill>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435244" y="2322876"/>
            <a:ext cx="9345468" cy="3691461"/>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05655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dirty="0"/>
              <a:t>Finetuning strategy to be aligned with optimal compute requirements</a:t>
            </a:r>
          </a:p>
        </p:txBody>
      </p:sp>
    </p:spTree>
    <p:extLst>
      <p:ext uri="{BB962C8B-B14F-4D97-AF65-F5344CB8AC3E}">
        <p14:creationId xmlns:p14="http://schemas.microsoft.com/office/powerpoint/2010/main" val="56779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dirty="0"/>
              <a:t>Flashpoint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dirty="0"/>
              <a:t>Integrating Flashpoint Ignite data into a Stand- Alone Cyber Security Trained LLM</a:t>
            </a:r>
          </a:p>
        </p:txBody>
      </p:sp>
    </p:spTree>
    <p:extLst>
      <p:ext uri="{BB962C8B-B14F-4D97-AF65-F5344CB8AC3E}">
        <p14:creationId xmlns:p14="http://schemas.microsoft.com/office/powerpoint/2010/main" val="56275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dirty="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dirty="0">
                <a:solidFill>
                  <a:schemeClr val="tx1"/>
                </a:solidFill>
              </a:rPr>
              <a:t>Actionable Threat Intelligence</a:t>
            </a:r>
          </a:p>
          <a:p>
            <a:pPr marL="0" lvl="1">
              <a:lnSpc>
                <a:spcPct val="120000"/>
              </a:lnSpc>
              <a:spcBef>
                <a:spcPts val="0"/>
              </a:spcBef>
              <a:buFont typeface="System Font Regular"/>
              <a:buChar char="−"/>
            </a:pPr>
            <a:r>
              <a:rPr lang="en-US" sz="1000" dirty="0">
                <a:solidFill>
                  <a:schemeClr val="tx1"/>
                </a:solidFill>
              </a:rPr>
              <a:t>Real-time alerts on emerging cyber threats</a:t>
            </a:r>
          </a:p>
          <a:p>
            <a:pPr marL="0" lvl="1">
              <a:lnSpc>
                <a:spcPct val="120000"/>
              </a:lnSpc>
              <a:spcBef>
                <a:spcPts val="0"/>
              </a:spcBef>
              <a:buFont typeface="System Font Regular"/>
              <a:buChar char="−"/>
            </a:pPr>
            <a:r>
              <a:rPr lang="en-US" sz="1000" dirty="0">
                <a:solidFill>
                  <a:schemeClr val="tx1"/>
                </a:solidFill>
              </a:rPr>
              <a:t>Indicators of Compromise (IOCs) and threat actor intelligence</a:t>
            </a:r>
          </a:p>
          <a:p>
            <a:pPr marL="0" lvl="1">
              <a:lnSpc>
                <a:spcPct val="120000"/>
              </a:lnSpc>
              <a:spcBef>
                <a:spcPts val="0"/>
              </a:spcBef>
              <a:buFont typeface="System Font Regular"/>
              <a:buChar char="−"/>
            </a:pPr>
            <a:r>
              <a:rPr lang="en-US" sz="1000" dirty="0">
                <a:solidFill>
                  <a:schemeClr val="tx1"/>
                </a:solidFill>
              </a:rPr>
              <a:t>Curated insights into darknet and deep web activities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Risk Management and Vulnerability Assessment</a:t>
            </a:r>
          </a:p>
          <a:p>
            <a:pPr marL="0" lvl="1">
              <a:lnSpc>
                <a:spcPct val="120000"/>
              </a:lnSpc>
              <a:spcBef>
                <a:spcPts val="0"/>
              </a:spcBef>
              <a:buFont typeface="System Font Regular"/>
              <a:buChar char="−"/>
            </a:pPr>
            <a:r>
              <a:rPr lang="en-US" sz="1000" dirty="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dirty="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Cybercrime Monitoring</a:t>
            </a:r>
          </a:p>
          <a:p>
            <a:pPr marL="0" lvl="1">
              <a:lnSpc>
                <a:spcPct val="120000"/>
              </a:lnSpc>
              <a:spcBef>
                <a:spcPts val="0"/>
              </a:spcBef>
              <a:buFont typeface="System Font Regular"/>
              <a:buChar char="−"/>
            </a:pPr>
            <a:r>
              <a:rPr lang="en-US" sz="1000" dirty="0">
                <a:solidFill>
                  <a:schemeClr val="tx1"/>
                </a:solidFill>
              </a:rPr>
              <a:t>Monitoring dark web forums, marketplaces, and illicit communities</a:t>
            </a:r>
          </a:p>
          <a:p>
            <a:pPr marL="0" lvl="1">
              <a:lnSpc>
                <a:spcPct val="120000"/>
              </a:lnSpc>
              <a:spcBef>
                <a:spcPts val="0"/>
              </a:spcBef>
              <a:buFont typeface="System Font Regular"/>
              <a:buChar char="−"/>
            </a:pPr>
            <a:r>
              <a:rPr lang="en-US" sz="1000" dirty="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Integrations and API</a:t>
            </a:r>
          </a:p>
          <a:p>
            <a:pPr marL="0" lvl="1">
              <a:lnSpc>
                <a:spcPct val="120000"/>
              </a:lnSpc>
              <a:spcBef>
                <a:spcPts val="0"/>
              </a:spcBef>
              <a:buFont typeface="System Font Regular"/>
              <a:buChar char="−"/>
            </a:pPr>
            <a:r>
              <a:rPr lang="en-US" sz="1000" dirty="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dirty="0">
                <a:solidFill>
                  <a:schemeClr val="tx1"/>
                </a:solidFill>
              </a:rPr>
              <a:t>Rich API for threat feeds and automation workflows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Malware &amp; Threat Actor Profiling</a:t>
            </a:r>
          </a:p>
          <a:p>
            <a:pPr marL="0" lvl="1">
              <a:lnSpc>
                <a:spcPct val="120000"/>
              </a:lnSpc>
              <a:spcBef>
                <a:spcPts val="0"/>
              </a:spcBef>
              <a:buFont typeface="System Font Regular"/>
              <a:buChar char="−"/>
            </a:pPr>
            <a:r>
              <a:rPr lang="en-US" sz="1000" dirty="0">
                <a:solidFill>
                  <a:schemeClr val="tx1"/>
                </a:solidFill>
              </a:rPr>
              <a:t>Detailed threat actor reports, attribution, and behavior analysis</a:t>
            </a:r>
          </a:p>
          <a:p>
            <a:pPr marL="0" lvl="1">
              <a:lnSpc>
                <a:spcPct val="120000"/>
              </a:lnSpc>
              <a:spcBef>
                <a:spcPts val="0"/>
              </a:spcBef>
              <a:buFont typeface="System Font Regular"/>
              <a:buChar char="−"/>
            </a:pPr>
            <a:r>
              <a:rPr lang="en-US" sz="1000" dirty="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dirty="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dirty="0"/>
              <a:t>Real-Time Threat Intelligence Analysis &amp; Summarization</a:t>
            </a:r>
          </a:p>
          <a:p>
            <a:pPr marL="171450" indent="-171450">
              <a:buFont typeface="System Font Regular"/>
              <a:buChar char="−"/>
            </a:pPr>
            <a:r>
              <a:rPr lang="en-US" sz="900" dirty="0"/>
              <a:t>Automatically generate concise summaries of new threats and intelligence reports.</a:t>
            </a:r>
          </a:p>
          <a:p>
            <a:pPr marL="171450" indent="-171450">
              <a:buFont typeface="System Font Regular"/>
              <a:buChar char="−"/>
            </a:pPr>
            <a:r>
              <a:rPr lang="en-US" sz="900" dirty="0"/>
              <a:t>Reduces analyst time spent reviewing large threat intel documents.</a:t>
            </a:r>
            <a:endParaRPr lang="en-US" sz="1100" dirty="0"/>
          </a:p>
          <a:p>
            <a:pPr>
              <a:buNone/>
            </a:pPr>
            <a:endParaRPr lang="en-US" sz="1100" dirty="0"/>
          </a:p>
          <a:p>
            <a:pPr>
              <a:buNone/>
            </a:pPr>
            <a:r>
              <a:rPr lang="en-US" sz="1100" dirty="0"/>
              <a:t>Automated Incident Triage &amp; Root Cause Analysis</a:t>
            </a:r>
          </a:p>
          <a:p>
            <a:pPr marL="171450" indent="-171450">
              <a:buFont typeface="System Font Regular"/>
              <a:buChar char="−"/>
            </a:pPr>
            <a:r>
              <a:rPr lang="en-US" sz="900" dirty="0"/>
              <a:t>Objective: Leverage the LLM to swiftly analyze incidents by correlating alerts with known vulnerabilities, threat actors, and recent intelligence.</a:t>
            </a:r>
          </a:p>
          <a:p>
            <a:pPr marL="171450" indent="-171450">
              <a:buFont typeface="System Font Regular"/>
              <a:buChar char="−"/>
            </a:pPr>
            <a:r>
              <a:rPr lang="en-US" sz="900" dirty="0"/>
              <a:t>Benefit: Accelerates response time and provides immediate contextual understanding.</a:t>
            </a:r>
          </a:p>
          <a:p>
            <a:pPr>
              <a:buNone/>
            </a:pPr>
            <a:endParaRPr lang="en-US" sz="1100" dirty="0"/>
          </a:p>
          <a:p>
            <a:pPr>
              <a:buNone/>
            </a:pPr>
            <a:r>
              <a:rPr lang="en-US" sz="1100" dirty="0"/>
              <a:t>Proactive Vulnerability &amp; Exploit Prioritization</a:t>
            </a:r>
          </a:p>
          <a:p>
            <a:pPr marL="171450" indent="-171450">
              <a:buFont typeface="System Font Regular"/>
              <a:buChar char="−"/>
            </a:pPr>
            <a:r>
              <a:rPr lang="en-US" sz="900" dirty="0"/>
              <a:t>Objective: Analyze CVEs, exploit availability, and real-world threat activity to prioritize patches and responses.</a:t>
            </a:r>
          </a:p>
          <a:p>
            <a:pPr marL="171450" indent="-171450">
              <a:buFont typeface="System Font Regular"/>
              <a:buChar char="−"/>
            </a:pPr>
            <a:r>
              <a:rPr lang="en-US" sz="900" dirty="0"/>
              <a:t>Benefit: Improves security posture by aligning efforts with real-world risk.</a:t>
            </a:r>
          </a:p>
          <a:p>
            <a:pPr>
              <a:buNone/>
            </a:pPr>
            <a:endParaRPr lang="en-US" sz="900" dirty="0"/>
          </a:p>
          <a:p>
            <a:pPr>
              <a:buNone/>
            </a:pPr>
            <a:r>
              <a:rPr lang="en-US" sz="1100" dirty="0"/>
              <a:t>Threat Actor Attribution &amp; Behavioral Analysis</a:t>
            </a:r>
          </a:p>
          <a:p>
            <a:pPr marL="171450" indent="-171450">
              <a:buFont typeface="System Font Regular"/>
              <a:buChar char="−"/>
            </a:pPr>
            <a:r>
              <a:rPr lang="en-US" sz="900" dirty="0"/>
              <a:t>Objective: Generate threat actor profiles from detailed data, recognizing patterns, tools, and tactics.</a:t>
            </a:r>
          </a:p>
          <a:p>
            <a:pPr marL="171450" indent="-171450">
              <a:buFont typeface="System Font Regular"/>
              <a:buChar char="−"/>
            </a:pPr>
            <a:r>
              <a:rPr lang="en-US" sz="900" dirty="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dirty="0"/>
              <a:t>Expected Benefits</a:t>
            </a:r>
          </a:p>
          <a:p>
            <a:pPr marL="171450" indent="-171450">
              <a:spcBef>
                <a:spcPts val="600"/>
              </a:spcBef>
              <a:buFont typeface="Wingdings" pitchFamily="2" charset="2"/>
              <a:buChar char="ü"/>
            </a:pPr>
            <a:r>
              <a:rPr lang="en-US" sz="1100" i="1" dirty="0"/>
              <a:t>Accelerate security operations by significantly reducing the time-to-analysis for threat intelligence.</a:t>
            </a:r>
          </a:p>
          <a:p>
            <a:pPr marL="171450" indent="-171450">
              <a:spcBef>
                <a:spcPts val="600"/>
              </a:spcBef>
              <a:buFont typeface="Wingdings" pitchFamily="2" charset="2"/>
              <a:buChar char="ü"/>
            </a:pPr>
            <a:r>
              <a:rPr lang="en-US" sz="1100" i="1" dirty="0"/>
              <a:t>Enhance analytical accuracy through real-time integration with evolving threat data.</a:t>
            </a:r>
          </a:p>
          <a:p>
            <a:pPr marL="171450" indent="-171450">
              <a:spcBef>
                <a:spcPts val="600"/>
              </a:spcBef>
              <a:buFont typeface="Wingdings" pitchFamily="2" charset="2"/>
              <a:buChar char="ü"/>
            </a:pPr>
            <a:r>
              <a:rPr lang="en-US" sz="1100" i="1" dirty="0"/>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dirty="0"/>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dirty="0"/>
              <a:t>Given </a:t>
            </a:r>
            <a:r>
              <a:rPr lang="en-US" sz="1400" i="1" dirty="0" err="1"/>
              <a:t>Ignite’s</a:t>
            </a:r>
            <a:r>
              <a:rPr lang="en-US" sz="1400" i="1" dirty="0"/>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dirty="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dirty="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dirty="0"/>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dirty="0">
                <a:solidFill>
                  <a:schemeClr val="tx1"/>
                </a:solidFill>
              </a:rPr>
              <a:t>Compute Requirements (roughly)</a:t>
            </a:r>
          </a:p>
          <a:p>
            <a:pPr marL="0" indent="0">
              <a:buNone/>
            </a:pPr>
            <a:endParaRPr lang="en-US" sz="1400" dirty="0">
              <a:solidFill>
                <a:schemeClr val="tx1"/>
              </a:solidFill>
            </a:endParaRPr>
          </a:p>
          <a:p>
            <a:pPr marL="0" indent="0">
              <a:buNone/>
            </a:pPr>
            <a:r>
              <a:rPr lang="en-US" sz="1200" dirty="0">
                <a:solidFill>
                  <a:schemeClr val="tx1"/>
                </a:solidFill>
              </a:rPr>
              <a:t>Continual Pretraining (MLM):</a:t>
            </a:r>
          </a:p>
          <a:p>
            <a:pPr>
              <a:buFont typeface="System Font Regular"/>
              <a:buChar char="-"/>
            </a:pPr>
            <a:r>
              <a:rPr lang="en-US" sz="1100" dirty="0">
                <a:solidFill>
                  <a:schemeClr val="tx1"/>
                </a:solidFill>
              </a:rPr>
              <a:t>Moderate-to-large GPU resources (e.g., 8x NVIDIA A100 GPUs).</a:t>
            </a:r>
          </a:p>
          <a:p>
            <a:pPr>
              <a:buFont typeface="System Font Regular"/>
              <a:buChar char="-"/>
            </a:pPr>
            <a:r>
              <a:rPr lang="en-US" sz="1100" dirty="0">
                <a:solidFill>
                  <a:schemeClr val="tx1"/>
                </a:solidFill>
              </a:rPr>
              <a:t>Expected training duration: ~10–40 hours depending on corpus size (50M–200M tokens).</a:t>
            </a:r>
          </a:p>
          <a:p>
            <a:pPr>
              <a:buFont typeface="System Font Regular"/>
              <a:buChar char="-"/>
            </a:pPr>
            <a:endParaRPr lang="en-US" sz="1200" u="sng" dirty="0">
              <a:solidFill>
                <a:schemeClr val="tx1"/>
              </a:solidFill>
            </a:endParaRPr>
          </a:p>
          <a:p>
            <a:pPr marL="0" indent="0">
              <a:buNone/>
            </a:pPr>
            <a:r>
              <a:rPr lang="en-US" sz="1200" dirty="0">
                <a:solidFill>
                  <a:schemeClr val="tx1"/>
                </a:solidFill>
              </a:rPr>
              <a:t>Instruction Tuning:</a:t>
            </a:r>
          </a:p>
          <a:p>
            <a:pPr>
              <a:buFont typeface="System Font Regular"/>
              <a:buChar char="-"/>
            </a:pPr>
            <a:r>
              <a:rPr lang="en-US" sz="1100" dirty="0">
                <a:solidFill>
                  <a:schemeClr val="tx1"/>
                </a:solidFill>
              </a:rPr>
              <a:t>4–12 hours on 8x NVIDIA A100 GPUs for datasets of 20K–100K instruction tuples.</a:t>
            </a:r>
          </a:p>
          <a:p>
            <a:pPr marL="0" indent="0">
              <a:buNone/>
            </a:pPr>
            <a:endParaRPr lang="en-US" sz="1100" u="sng" dirty="0">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678424" y="1059025"/>
            <a:ext cx="5302189" cy="4739950"/>
          </a:xfrm>
        </p:spPr>
        <p:txBody>
          <a:bodyPr vert="horz" lIns="91440" tIns="45720" rIns="91440" bIns="45720" rtlCol="0" anchor="ctr">
            <a:normAutofit/>
          </a:bodyPr>
          <a:lstStyle/>
          <a:p>
            <a:pPr marL="0" indent="0">
              <a:lnSpc>
                <a:spcPct val="90000"/>
              </a:lnSpc>
              <a:buNone/>
            </a:pPr>
            <a:r>
              <a:rPr lang="en-US" sz="13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300" u="none" strike="noStrike" dirty="0">
                <a:solidFill>
                  <a:schemeClr val="tx1"/>
                </a:solidFill>
                <a:effectLst/>
              </a:rPr>
              <a:t>Athena Software Group brings together some of the best minds in computer science, cyber defense and SaaS to design solutions </a:t>
            </a:r>
            <a:r>
              <a:rPr lang="en-US" sz="1300" dirty="0">
                <a:solidFill>
                  <a:schemeClr val="tx1"/>
                </a:solidFill>
              </a:rPr>
              <a:t>specifically </a:t>
            </a:r>
            <a:r>
              <a:rPr lang="en-US" sz="1300" u="none" strike="noStrike" dirty="0">
                <a:solidFill>
                  <a:schemeClr val="tx1"/>
                </a:solidFill>
                <a:effectLst/>
              </a:rPr>
              <a:t>for application service providers. </a:t>
            </a:r>
          </a:p>
          <a:p>
            <a:pPr marL="0" indent="0">
              <a:lnSpc>
                <a:spcPct val="90000"/>
              </a:lnSpc>
              <a:buNone/>
            </a:pPr>
            <a:r>
              <a:rPr lang="en-US" sz="13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300" u="none" strike="noStrike" dirty="0">
                <a:solidFill>
                  <a:schemeClr val="tx1"/>
                </a:solidFill>
                <a:effectLst/>
              </a:rPr>
              <a:t>We intend to set a new bar in Cyber </a:t>
            </a:r>
            <a:r>
              <a:rPr lang="en-US" sz="13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3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1920248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2576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12768</TotalTime>
  <Words>3339</Words>
  <Application>Microsoft Macintosh PowerPoint</Application>
  <PresentationFormat>Widescreen</PresentationFormat>
  <Paragraphs>324</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Aptos Narrow</vt:lpstr>
      <vt:lpstr>Arial</vt:lpstr>
      <vt:lpstr>Century Gothic</vt:lpstr>
      <vt:lpstr>HelveticaNeue Regular</vt:lpstr>
      <vt:lpstr>Lucida Grande</vt:lpstr>
      <vt:lpstr>Open Sans</vt:lpstr>
      <vt:lpstr>Segoe UI Black</vt:lpstr>
      <vt:lpstr>System Font Regular</vt:lpstr>
      <vt:lpstr>Wingdings</vt:lpstr>
      <vt:lpstr>Wingdings 3</vt:lpstr>
      <vt:lpstr>Ion Boardroom</vt:lpstr>
      <vt:lpstr>Athena Cyber LLM Codename: Glaukopis  Adapting Cyber Defense to the Advance of AI</vt:lpstr>
      <vt:lpstr>PowerPoint Presentation</vt:lpstr>
      <vt:lpstr>Cyber LLMs</vt:lpstr>
      <vt:lpstr>Foundational Use Cases for Cyber Security Language Models </vt:lpstr>
      <vt:lpstr>Cyber Security Language Models</vt:lpstr>
      <vt:lpstr>Evaluating the Performance of Cyber Security LLMs Benchmarks for Cyber Security Language Models</vt:lpstr>
      <vt:lpstr>CyBERT (2021) Contextualized Embeddings for the Cybersecurity Domain</vt:lpstr>
      <vt:lpstr>Pretraining vs Finetuning</vt:lpstr>
      <vt:lpstr>Finetuning LLMs</vt:lpstr>
      <vt:lpstr>PEFT: Parameter Efficient Fine Tuning</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LLM Product Lifecycle</vt:lpstr>
      <vt:lpstr>PowerPoint Presentation</vt:lpstr>
      <vt:lpstr>Project Lifecycle</vt:lpstr>
      <vt:lpstr>PowerPoint Presentation</vt:lpstr>
      <vt:lpstr>Flashpoint Integration</vt:lpstr>
      <vt:lpstr>Cyber Security Use Cases leveraging Flashpoint Ignite</vt:lpstr>
      <vt:lpstr>Finetuning And Integration Strategy</vt:lpstr>
      <vt:lpstr>LLM Model&amp; Context Integration &amp; Compute Requirements</vt:lpstr>
      <vt:lpstr>Athena Software Group</vt:lpstr>
      <vt:lpstr>Athena Software Group Inc.</vt:lpstr>
      <vt:lpstr>Glaukopis (γλαυκῶπις) the “grey eyed 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79</cp:revision>
  <dcterms:created xsi:type="dcterms:W3CDTF">2025-02-21T13:12:15Z</dcterms:created>
  <dcterms:modified xsi:type="dcterms:W3CDTF">2025-04-22T20:48:25Z</dcterms:modified>
</cp:coreProperties>
</file>