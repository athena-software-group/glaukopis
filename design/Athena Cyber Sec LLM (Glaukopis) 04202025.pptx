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10"/>
  </p:notesMasterIdLst>
  <p:handoutMasterIdLst>
    <p:handoutMasterId r:id="rId11"/>
  </p:handoutMasterIdLst>
  <p:sldIdLst>
    <p:sldId id="256" r:id="rId2"/>
    <p:sldId id="281" r:id="rId3"/>
    <p:sldId id="288" r:id="rId4"/>
    <p:sldId id="305" r:id="rId5"/>
    <p:sldId id="300" r:id="rId6"/>
    <p:sldId id="304" r:id="rId7"/>
    <p:sldId id="297" r:id="rId8"/>
    <p:sldId id="30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95"/>
    <p:restoredTop sz="86422"/>
  </p:normalViewPr>
  <p:slideViewPr>
    <p:cSldViewPr snapToGrid="0">
      <p:cViewPr>
        <p:scale>
          <a:sx n="120" d="100"/>
          <a:sy n="120" d="100"/>
        </p:scale>
        <p:origin x="568" y="9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4/18/25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dirty="0"/>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dirty="0"/>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dirty="0"/>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dirty="0"/>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dirty="0"/>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dirty="0"/>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dirty="0"/>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dirty="0"/>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dirty="0"/>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dirty="0"/>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dirty="0"/>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dirty="0"/>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dirty="0"/>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dirty="0"/>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dirty="0"/>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dirty="0"/>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dirty="0"/>
              <a:t>Click to edit Master title style</a:t>
            </a:r>
          </a:p>
        </p:txBody>
      </p:sp>
      <p:sp>
        <p:nvSpPr>
          <p:cNvPr id="4" name="Footer Placeholder 3"/>
          <p:cNvSpPr>
            <a:spLocks noGrp="1"/>
          </p:cNvSpPr>
          <p:nvPr>
            <p:ph type="ftr" sz="quarter" idx="11"/>
          </p:nvPr>
        </p:nvSpPr>
        <p:spPr>
          <a:xfrm>
            <a:off x="609600" y="6208887"/>
            <a:ext cx="3037490" cy="365125"/>
          </a:xfrm>
        </p:spPr>
        <p:txBody>
          <a:bodyPr/>
          <a:lstStyle>
            <a:lvl1pPr algn="l">
              <a:defRPr sz="1400">
                <a:latin typeface="Open Sans"/>
              </a:defRPr>
            </a:lvl1pPr>
          </a:lstStyle>
          <a:p>
            <a:r>
              <a:rPr lang="en-US" dirty="0"/>
              <a:t>athenasoftwaregrp.ai</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dirty="0"/>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54954" y="2099733"/>
            <a:ext cx="8827245" cy="2677648"/>
          </a:xfrm>
        </p:spPr>
        <p:txBody>
          <a:bodyPr>
            <a:normAutofit/>
          </a:bodyPr>
          <a:lstStyle/>
          <a:p>
            <a:r>
              <a:rPr lang="en-US" i="1" dirty="0">
                <a:solidFill>
                  <a:srgbClr val="FFFFFF"/>
                </a:solidFill>
              </a:rPr>
              <a:t>LLMs and Cyber Security</a:t>
            </a:r>
            <a:br>
              <a:rPr lang="en-US" i="1" dirty="0">
                <a:solidFill>
                  <a:srgbClr val="FFFFFF"/>
                </a:solidFill>
              </a:rPr>
            </a:br>
            <a:r>
              <a:rPr lang="en-US" sz="2400" i="1" dirty="0">
                <a:solidFill>
                  <a:srgbClr val="FFFFFF"/>
                </a:solidFill>
              </a:rPr>
              <a:t>Adapting Cyber Defense to the Advance of AI</a:t>
            </a:r>
            <a:endParaRPr lang="en-US" i="1" dirty="0">
              <a:solidFill>
                <a:srgbClr val="FFFFFF"/>
              </a:solidFill>
            </a:endParaRP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1154954" y="5248540"/>
            <a:ext cx="4939353" cy="652530"/>
          </a:xfrm>
        </p:spPr>
        <p:txBody>
          <a:bodyPr>
            <a:noAutofit/>
          </a:bodyPr>
          <a:lstStyle/>
          <a:p>
            <a:pPr algn="r"/>
            <a:r>
              <a:rPr lang="en-US" sz="900" i="1" dirty="0">
                <a:solidFill>
                  <a:srgbClr val="FFFFFF"/>
                </a:solidFill>
              </a:rPr>
              <a:t>By Peter J Worth Jr</a:t>
            </a:r>
          </a:p>
          <a:p>
            <a:pPr algn="r"/>
            <a:r>
              <a:rPr lang="en-US" sz="900" i="1" dirty="0">
                <a:solidFill>
                  <a:srgbClr val="FFFFFF"/>
                </a:solidFill>
              </a:rPr>
              <a:t>President &amp; CEO, Athena Software Group</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0DFFE-C716-4CB4-3208-782BF398E2C1}"/>
              </a:ext>
            </a:extLst>
          </p:cNvPr>
          <p:cNvPicPr>
            <a:picLocks noChangeAspect="1"/>
          </p:cNvPicPr>
          <p:nvPr/>
        </p:nvPicPr>
        <p:blipFill>
          <a:blip r:embed="rId2"/>
          <a:stretch>
            <a:fillRect/>
          </a:stretch>
        </p:blipFill>
        <p:spPr>
          <a:xfrm>
            <a:off x="111670" y="44467"/>
            <a:ext cx="3271143" cy="1150402"/>
          </a:xfrm>
          <a:prstGeom prst="rect">
            <a:avLst/>
          </a:prstGeom>
        </p:spPr>
      </p:pic>
      <p:sp>
        <p:nvSpPr>
          <p:cNvPr id="2" name="Oval 12">
            <a:extLst>
              <a:ext uri="{FF2B5EF4-FFF2-40B4-BE49-F238E27FC236}">
                <a16:creationId xmlns:a16="http://schemas.microsoft.com/office/drawing/2014/main" id="{7655BD9F-B36B-4F0C-9F56-0C8056B0D244}"/>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Freeform 5">
            <a:extLst>
              <a:ext uri="{FF2B5EF4-FFF2-40B4-BE49-F238E27FC236}">
                <a16:creationId xmlns:a16="http://schemas.microsoft.com/office/drawing/2014/main" id="{D9BD4A1E-6E49-47EB-88D9-732C03332CC4}"/>
              </a:ext>
            </a:extLst>
          </p:cNvPr>
          <p:cNvSpPr>
            <a:spLocks/>
          </p:cNvSpPr>
          <p:nvPr/>
        </p:nvSpPr>
        <p:spPr bwMode="auto">
          <a:xfrm rot="2261061">
            <a:off x="3194443" y="2701345"/>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4" name="Freeform 6">
            <a:extLst>
              <a:ext uri="{FF2B5EF4-FFF2-40B4-BE49-F238E27FC236}">
                <a16:creationId xmlns:a16="http://schemas.microsoft.com/office/drawing/2014/main" id="{C712740F-CBAC-4743-B203-D004D23395FB}"/>
              </a:ext>
            </a:extLst>
          </p:cNvPr>
          <p:cNvSpPr>
            <a:spLocks/>
          </p:cNvSpPr>
          <p:nvPr/>
        </p:nvSpPr>
        <p:spPr bwMode="auto">
          <a:xfrm rot="2261061">
            <a:off x="2811452" y="3534360"/>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5" name="Freeform 7">
            <a:extLst>
              <a:ext uri="{FF2B5EF4-FFF2-40B4-BE49-F238E27FC236}">
                <a16:creationId xmlns:a16="http://schemas.microsoft.com/office/drawing/2014/main" id="{E095438A-5B82-4532-A41C-EA0F13EEEDEF}"/>
              </a:ext>
            </a:extLst>
          </p:cNvPr>
          <p:cNvSpPr>
            <a:spLocks/>
          </p:cNvSpPr>
          <p:nvPr/>
        </p:nvSpPr>
        <p:spPr bwMode="auto">
          <a:xfrm rot="2261061">
            <a:off x="3280331" y="2449657"/>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6" name="Freeform 8">
            <a:extLst>
              <a:ext uri="{FF2B5EF4-FFF2-40B4-BE49-F238E27FC236}">
                <a16:creationId xmlns:a16="http://schemas.microsoft.com/office/drawing/2014/main" id="{4081E9E4-75E2-44F7-B61E-73B749A357EB}"/>
              </a:ext>
            </a:extLst>
          </p:cNvPr>
          <p:cNvSpPr>
            <a:spLocks/>
          </p:cNvSpPr>
          <p:nvPr/>
        </p:nvSpPr>
        <p:spPr bwMode="auto">
          <a:xfrm rot="2261061">
            <a:off x="3060259" y="3094556"/>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F184C038-5A3D-49E8-8595-8BF7B41BAD8D}"/>
              </a:ext>
            </a:extLst>
          </p:cNvPr>
          <p:cNvSpPr>
            <a:spLocks/>
          </p:cNvSpPr>
          <p:nvPr/>
        </p:nvSpPr>
        <p:spPr bwMode="auto">
          <a:xfrm rot="2261061">
            <a:off x="2571063" y="3724474"/>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43" name="Freeform 7">
            <a:extLst>
              <a:ext uri="{FF2B5EF4-FFF2-40B4-BE49-F238E27FC236}">
                <a16:creationId xmlns:a16="http://schemas.microsoft.com/office/drawing/2014/main" id="{FB37BA1B-93DF-428F-AB76-37145143F7B4}"/>
              </a:ext>
            </a:extLst>
          </p:cNvPr>
          <p:cNvSpPr>
            <a:spLocks/>
          </p:cNvSpPr>
          <p:nvPr/>
        </p:nvSpPr>
        <p:spPr bwMode="auto">
          <a:xfrm rot="2261061" flipH="1">
            <a:off x="2842959" y="2113434"/>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cxnSp>
        <p:nvCxnSpPr>
          <p:cNvPr id="129" name="Straight Connector 128">
            <a:extLst>
              <a:ext uri="{FF2B5EF4-FFF2-40B4-BE49-F238E27FC236}">
                <a16:creationId xmlns:a16="http://schemas.microsoft.com/office/drawing/2014/main" id="{84605042-82B0-42B8-B4EC-23B0E26D09E7}"/>
              </a:ext>
            </a:extLst>
          </p:cNvPr>
          <p:cNvCxnSpPr>
            <a:cxnSpLocks/>
          </p:cNvCxnSpPr>
          <p:nvPr/>
        </p:nvCxnSpPr>
        <p:spPr>
          <a:xfrm flipV="1">
            <a:off x="3713864" y="1034728"/>
            <a:ext cx="765600" cy="42003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2FF61DF-7940-41F0-95AE-635092261ECE}"/>
              </a:ext>
            </a:extLst>
          </p:cNvPr>
          <p:cNvCxnSpPr>
            <a:cxnSpLocks/>
          </p:cNvCxnSpPr>
          <p:nvPr/>
        </p:nvCxnSpPr>
        <p:spPr>
          <a:xfrm flipH="1" flipV="1">
            <a:off x="4951116" y="3934618"/>
            <a:ext cx="818792" cy="4903"/>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8342B87-5447-4E36-8316-556570096E54}"/>
              </a:ext>
            </a:extLst>
          </p:cNvPr>
          <p:cNvCxnSpPr>
            <a:cxnSpLocks/>
          </p:cNvCxnSpPr>
          <p:nvPr/>
        </p:nvCxnSpPr>
        <p:spPr>
          <a:xfrm flipV="1">
            <a:off x="4509465" y="1949381"/>
            <a:ext cx="787605" cy="11819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B549150-63D2-40DC-8DE2-F3EA303D5929}"/>
              </a:ext>
            </a:extLst>
          </p:cNvPr>
          <p:cNvCxnSpPr>
            <a:cxnSpLocks/>
          </p:cNvCxnSpPr>
          <p:nvPr/>
        </p:nvCxnSpPr>
        <p:spPr>
          <a:xfrm flipV="1">
            <a:off x="4956018" y="2936867"/>
            <a:ext cx="804084" cy="5148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CB16BC8-4B77-4A9C-909E-2ABC367A12D5}"/>
              </a:ext>
            </a:extLst>
          </p:cNvPr>
          <p:cNvCxnSpPr>
            <a:cxnSpLocks/>
          </p:cNvCxnSpPr>
          <p:nvPr/>
        </p:nvCxnSpPr>
        <p:spPr>
          <a:xfrm>
            <a:off x="4518827" y="4762826"/>
            <a:ext cx="760787" cy="1254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36A4A06-6FE1-47B6-B9A8-A537BE880531}"/>
              </a:ext>
            </a:extLst>
          </p:cNvPr>
          <p:cNvCxnSpPr>
            <a:cxnSpLocks/>
          </p:cNvCxnSpPr>
          <p:nvPr/>
        </p:nvCxnSpPr>
        <p:spPr>
          <a:xfrm>
            <a:off x="3707520" y="5381389"/>
            <a:ext cx="794350" cy="40084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E6694893-FADB-4772-A629-12F924D02B89}"/>
              </a:ext>
            </a:extLst>
          </p:cNvPr>
          <p:cNvSpPr/>
          <p:nvPr/>
        </p:nvSpPr>
        <p:spPr>
          <a:xfrm>
            <a:off x="4441949" y="1995876"/>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B8776F7B-C4BF-4922-9A1A-0DA071E42B76}"/>
              </a:ext>
            </a:extLst>
          </p:cNvPr>
          <p:cNvSpPr/>
          <p:nvPr/>
        </p:nvSpPr>
        <p:spPr>
          <a:xfrm>
            <a:off x="4878376" y="2912535"/>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98D58A9-2446-4E46-B138-733C736F4DAA}"/>
              </a:ext>
            </a:extLst>
          </p:cNvPr>
          <p:cNvSpPr/>
          <p:nvPr/>
        </p:nvSpPr>
        <p:spPr>
          <a:xfrm>
            <a:off x="4878376" y="3859351"/>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A8275473-0AD5-45D3-8F04-91E6E7367348}"/>
              </a:ext>
            </a:extLst>
          </p:cNvPr>
          <p:cNvSpPr/>
          <p:nvPr/>
        </p:nvSpPr>
        <p:spPr>
          <a:xfrm>
            <a:off x="5616629" y="1489228"/>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C6F9BE63-7DC9-4D8F-A65E-6E5F01FDEE5D}"/>
              </a:ext>
            </a:extLst>
          </p:cNvPr>
          <p:cNvSpPr/>
          <p:nvPr/>
        </p:nvSpPr>
        <p:spPr>
          <a:xfrm>
            <a:off x="5245484" y="15719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81" name="Rectangle 80">
            <a:extLst>
              <a:ext uri="{FF2B5EF4-FFF2-40B4-BE49-F238E27FC236}">
                <a16:creationId xmlns:a16="http://schemas.microsoft.com/office/drawing/2014/main" id="{CC1884A0-B60E-41E3-A429-6A19DA69FB51}"/>
              </a:ext>
            </a:extLst>
          </p:cNvPr>
          <p:cNvSpPr/>
          <p:nvPr/>
        </p:nvSpPr>
        <p:spPr>
          <a:xfrm>
            <a:off x="6258437" y="18008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Market Opportunity</a:t>
            </a:r>
          </a:p>
        </p:txBody>
      </p:sp>
      <p:sp>
        <p:nvSpPr>
          <p:cNvPr id="66" name="Rectangle: Rounded Corners 65">
            <a:extLst>
              <a:ext uri="{FF2B5EF4-FFF2-40B4-BE49-F238E27FC236}">
                <a16:creationId xmlns:a16="http://schemas.microsoft.com/office/drawing/2014/main" id="{D783ED81-DA3A-4051-BA58-100A2C62427C}"/>
              </a:ext>
            </a:extLst>
          </p:cNvPr>
          <p:cNvSpPr/>
          <p:nvPr/>
        </p:nvSpPr>
        <p:spPr>
          <a:xfrm>
            <a:off x="6120685" y="2499978"/>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718954B-DF3D-422F-B68B-5EF30C982594}"/>
              </a:ext>
            </a:extLst>
          </p:cNvPr>
          <p:cNvSpPr/>
          <p:nvPr/>
        </p:nvSpPr>
        <p:spPr>
          <a:xfrm>
            <a:off x="5728084" y="25826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68" name="Rectangle 67">
            <a:extLst>
              <a:ext uri="{FF2B5EF4-FFF2-40B4-BE49-F238E27FC236}">
                <a16:creationId xmlns:a16="http://schemas.microsoft.com/office/drawing/2014/main" id="{17653028-981F-444D-995E-282124D87E96}"/>
              </a:ext>
            </a:extLst>
          </p:cNvPr>
          <p:cNvSpPr/>
          <p:nvPr/>
        </p:nvSpPr>
        <p:spPr>
          <a:xfrm>
            <a:off x="6766437" y="28115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Who we are and what we do</a:t>
            </a:r>
          </a:p>
        </p:txBody>
      </p:sp>
      <p:sp>
        <p:nvSpPr>
          <p:cNvPr id="82" name="Rectangle: Rounded Corners 81">
            <a:extLst>
              <a:ext uri="{FF2B5EF4-FFF2-40B4-BE49-F238E27FC236}">
                <a16:creationId xmlns:a16="http://schemas.microsoft.com/office/drawing/2014/main" id="{55061DC2-6177-4AF2-B8D7-0C8A62DA27F0}"/>
              </a:ext>
            </a:extLst>
          </p:cNvPr>
          <p:cNvSpPr/>
          <p:nvPr/>
        </p:nvSpPr>
        <p:spPr>
          <a:xfrm>
            <a:off x="5616629" y="4521478"/>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C1AC8196-0264-4A2A-85C7-BB7D511208BF}"/>
              </a:ext>
            </a:extLst>
          </p:cNvPr>
          <p:cNvSpPr/>
          <p:nvPr/>
        </p:nvSpPr>
        <p:spPr>
          <a:xfrm>
            <a:off x="5245484" y="4604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05</a:t>
            </a:r>
          </a:p>
        </p:txBody>
      </p:sp>
      <p:sp>
        <p:nvSpPr>
          <p:cNvPr id="84" name="Rectangle 83">
            <a:extLst>
              <a:ext uri="{FF2B5EF4-FFF2-40B4-BE49-F238E27FC236}">
                <a16:creationId xmlns:a16="http://schemas.microsoft.com/office/drawing/2014/main" id="{750A0077-20AA-410E-A8F3-11DFE80EE8E2}"/>
              </a:ext>
            </a:extLst>
          </p:cNvPr>
          <p:cNvSpPr/>
          <p:nvPr/>
        </p:nvSpPr>
        <p:spPr>
          <a:xfrm>
            <a:off x="6258437" y="4833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Leadership Team</a:t>
            </a:r>
          </a:p>
        </p:txBody>
      </p:sp>
      <p:sp>
        <p:nvSpPr>
          <p:cNvPr id="69" name="Rectangle: Rounded Corners 68">
            <a:extLst>
              <a:ext uri="{FF2B5EF4-FFF2-40B4-BE49-F238E27FC236}">
                <a16:creationId xmlns:a16="http://schemas.microsoft.com/office/drawing/2014/main" id="{EFC2BB35-1826-496F-8822-3AA9ACFC6444}"/>
              </a:ext>
            </a:extLst>
          </p:cNvPr>
          <p:cNvSpPr/>
          <p:nvPr/>
        </p:nvSpPr>
        <p:spPr>
          <a:xfrm>
            <a:off x="6118291" y="3510728"/>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510DBCB6-18CE-4E19-97F9-A009EE99D3BE}"/>
              </a:ext>
            </a:extLst>
          </p:cNvPr>
          <p:cNvSpPr/>
          <p:nvPr/>
        </p:nvSpPr>
        <p:spPr>
          <a:xfrm>
            <a:off x="5728084" y="35934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72" name="Rectangle 71">
            <a:extLst>
              <a:ext uri="{FF2B5EF4-FFF2-40B4-BE49-F238E27FC236}">
                <a16:creationId xmlns:a16="http://schemas.microsoft.com/office/drawing/2014/main" id="{BCF47C04-A4AA-4FCE-B920-DC082893104D}"/>
              </a:ext>
            </a:extLst>
          </p:cNvPr>
          <p:cNvSpPr/>
          <p:nvPr/>
        </p:nvSpPr>
        <p:spPr>
          <a:xfrm>
            <a:off x="6787146" y="38223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Products &amp; Services</a:t>
            </a:r>
          </a:p>
        </p:txBody>
      </p:sp>
      <p:sp>
        <p:nvSpPr>
          <p:cNvPr id="102" name="Oval 101">
            <a:extLst>
              <a:ext uri="{FF2B5EF4-FFF2-40B4-BE49-F238E27FC236}">
                <a16:creationId xmlns:a16="http://schemas.microsoft.com/office/drawing/2014/main" id="{D14BEA8A-8B9C-4589-8558-51BCD94F2F71}"/>
              </a:ext>
            </a:extLst>
          </p:cNvPr>
          <p:cNvSpPr/>
          <p:nvPr/>
        </p:nvSpPr>
        <p:spPr>
          <a:xfrm>
            <a:off x="3626332" y="1399106"/>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7CD62A60-BC6A-48AA-BE79-FD4F3D51882F}"/>
              </a:ext>
            </a:extLst>
          </p:cNvPr>
          <p:cNvSpPr/>
          <p:nvPr/>
        </p:nvSpPr>
        <p:spPr>
          <a:xfrm>
            <a:off x="3621850" y="5297321"/>
            <a:ext cx="150046" cy="150046"/>
          </a:xfrm>
          <a:prstGeom prst="ellipse">
            <a:avLst/>
          </a:prstGeom>
          <a:solidFill>
            <a:schemeClr val="accent1">
              <a:lumMod val="75000"/>
            </a:schemeClr>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Rectangle: Rounded Corners 105">
            <a:extLst>
              <a:ext uri="{FF2B5EF4-FFF2-40B4-BE49-F238E27FC236}">
                <a16:creationId xmlns:a16="http://schemas.microsoft.com/office/drawing/2014/main" id="{137C3552-BD4B-4981-A137-7E046C8EFB5C}"/>
              </a:ext>
            </a:extLst>
          </p:cNvPr>
          <p:cNvSpPr/>
          <p:nvPr/>
        </p:nvSpPr>
        <p:spPr>
          <a:xfrm>
            <a:off x="4777643" y="478478"/>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C9224741-E84A-4B1D-9E88-3030E148EF9A}"/>
              </a:ext>
            </a:extLst>
          </p:cNvPr>
          <p:cNvSpPr/>
          <p:nvPr/>
        </p:nvSpPr>
        <p:spPr>
          <a:xfrm>
            <a:off x="4406498" y="561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112" name="Rectangle 111">
            <a:extLst>
              <a:ext uri="{FF2B5EF4-FFF2-40B4-BE49-F238E27FC236}">
                <a16:creationId xmlns:a16="http://schemas.microsoft.com/office/drawing/2014/main" id="{47141795-FDA6-41DE-ACC9-EE0799026F7A}"/>
              </a:ext>
            </a:extLst>
          </p:cNvPr>
          <p:cNvSpPr/>
          <p:nvPr/>
        </p:nvSpPr>
        <p:spPr>
          <a:xfrm>
            <a:off x="5419451" y="790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Mission Statement</a:t>
            </a:r>
          </a:p>
        </p:txBody>
      </p:sp>
      <p:sp>
        <p:nvSpPr>
          <p:cNvPr id="115" name="Rectangle: Rounded Corners 114">
            <a:extLst>
              <a:ext uri="{FF2B5EF4-FFF2-40B4-BE49-F238E27FC236}">
                <a16:creationId xmlns:a16="http://schemas.microsoft.com/office/drawing/2014/main" id="{46739440-8D8D-4B2C-A77F-6669E6B0C777}"/>
              </a:ext>
            </a:extLst>
          </p:cNvPr>
          <p:cNvSpPr/>
          <p:nvPr/>
        </p:nvSpPr>
        <p:spPr>
          <a:xfrm>
            <a:off x="4777643" y="5532230"/>
            <a:ext cx="4645018" cy="847295"/>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4C64F813-2C29-4816-B7D8-C70E19301B91}"/>
              </a:ext>
            </a:extLst>
          </p:cNvPr>
          <p:cNvSpPr/>
          <p:nvPr/>
        </p:nvSpPr>
        <p:spPr>
          <a:xfrm>
            <a:off x="4406498" y="561492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lumMod val="75000"/>
                  </a:schemeClr>
                </a:solidFill>
              </a:rPr>
              <a:t>06</a:t>
            </a:r>
          </a:p>
        </p:txBody>
      </p:sp>
      <p:sp>
        <p:nvSpPr>
          <p:cNvPr id="127" name="Rectangle 126">
            <a:extLst>
              <a:ext uri="{FF2B5EF4-FFF2-40B4-BE49-F238E27FC236}">
                <a16:creationId xmlns:a16="http://schemas.microsoft.com/office/drawing/2014/main" id="{D003E9EE-EB5D-4D2B-8B08-24B04CA6B3D2}"/>
              </a:ext>
            </a:extLst>
          </p:cNvPr>
          <p:cNvSpPr/>
          <p:nvPr/>
        </p:nvSpPr>
        <p:spPr>
          <a:xfrm>
            <a:off x="5419451" y="5843826"/>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Financial Model</a:t>
            </a:r>
          </a:p>
        </p:txBody>
      </p:sp>
      <p:sp>
        <p:nvSpPr>
          <p:cNvPr id="130" name="Oval 129">
            <a:extLst>
              <a:ext uri="{FF2B5EF4-FFF2-40B4-BE49-F238E27FC236}">
                <a16:creationId xmlns:a16="http://schemas.microsoft.com/office/drawing/2014/main" id="{1AC223FA-CFF8-4492-B789-F3A297D04866}"/>
              </a:ext>
            </a:extLst>
          </p:cNvPr>
          <p:cNvSpPr/>
          <p:nvPr/>
        </p:nvSpPr>
        <p:spPr>
          <a:xfrm>
            <a:off x="4441949" y="4689199"/>
            <a:ext cx="150046" cy="150046"/>
          </a:xfrm>
          <a:prstGeom prst="ellipse">
            <a:avLst/>
          </a:prstGeom>
          <a:solidFill>
            <a:schemeClr val="accent6"/>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12">
            <a:extLst>
              <a:ext uri="{FF2B5EF4-FFF2-40B4-BE49-F238E27FC236}">
                <a16:creationId xmlns:a16="http://schemas.microsoft.com/office/drawing/2014/main" id="{F77421BA-406B-4452-83AE-424049E3B4BC}"/>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ASG Overview</a:t>
            </a:r>
          </a:p>
        </p:txBody>
      </p:sp>
    </p:spTree>
    <p:extLst>
      <p:ext uri="{BB962C8B-B14F-4D97-AF65-F5344CB8AC3E}">
        <p14:creationId xmlns:p14="http://schemas.microsoft.com/office/powerpoint/2010/main" val="837395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1" name="Group 20">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2" name="Rectangle 21">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DA5C94A2-B12D-0FC3-CDF7-B7315B5904AB}"/>
              </a:ext>
            </a:extLst>
          </p:cNvPr>
          <p:cNvSpPr>
            <a:spLocks noGrp="1"/>
          </p:cNvSpPr>
          <p:nvPr>
            <p:ph type="title"/>
          </p:nvPr>
        </p:nvSpPr>
        <p:spPr>
          <a:xfrm>
            <a:off x="1000372" y="1209957"/>
            <a:ext cx="3034580" cy="4438087"/>
          </a:xfrm>
        </p:spPr>
        <p:txBody>
          <a:bodyPr anchor="ctr">
            <a:normAutofit/>
          </a:bodyPr>
          <a:lstStyle/>
          <a:p>
            <a:pPr algn="r"/>
            <a:r>
              <a:rPr lang="en-US" sz="3200"/>
              <a:t>Athena Software Group Inc.</a:t>
            </a:r>
          </a:p>
        </p:txBody>
      </p:sp>
      <p:cxnSp>
        <p:nvCxnSpPr>
          <p:cNvPr id="24" name="Straight Connector 23">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8F26F023-E979-BF7F-8669-50610F99DF69}"/>
              </a:ext>
            </a:extLst>
          </p:cNvPr>
          <p:cNvSpPr>
            <a:spLocks noGrp="1"/>
          </p:cNvSpPr>
          <p:nvPr>
            <p:ph idx="1"/>
          </p:nvPr>
        </p:nvSpPr>
        <p:spPr>
          <a:xfrm>
            <a:off x="4678424" y="1059025"/>
            <a:ext cx="5302189" cy="4739950"/>
          </a:xfrm>
        </p:spPr>
        <p:txBody>
          <a:bodyPr anchor="ctr">
            <a:normAutofit/>
          </a:bodyPr>
          <a:lstStyle/>
          <a:p>
            <a:pPr marL="0" indent="0">
              <a:lnSpc>
                <a:spcPct val="90000"/>
              </a:lnSpc>
              <a:buNone/>
            </a:pPr>
            <a:r>
              <a:rPr lang="en-US" sz="1500" b="0" i="1" u="none" strike="noStrike">
                <a:solidFill>
                  <a:schemeClr val="tx1"/>
                </a:solidFill>
                <a:effectLst/>
                <a:latin typeface="-apple-system-font"/>
              </a:rPr>
              <a:t>A company founded under the principles of integrating Cyber Security best practices, high end custom enterprise software and artificial intelligence (LLMs). </a:t>
            </a:r>
          </a:p>
          <a:p>
            <a:pPr marL="0" indent="0">
              <a:lnSpc>
                <a:spcPct val="90000"/>
              </a:lnSpc>
              <a:buNone/>
            </a:pPr>
            <a:r>
              <a:rPr lang="en-US" sz="1500" b="0" i="1" u="none" strike="noStrike">
                <a:solidFill>
                  <a:schemeClr val="tx1"/>
                </a:solidFill>
                <a:effectLst/>
                <a:latin typeface="-apple-system-font"/>
              </a:rPr>
              <a:t>Athena Software Group brings together some of the best minds in computer science, cyber defense and SaaS to design solutions </a:t>
            </a:r>
            <a:r>
              <a:rPr lang="en-US" sz="1500" i="1">
                <a:solidFill>
                  <a:schemeClr val="tx1"/>
                </a:solidFill>
                <a:latin typeface="-apple-system-font"/>
              </a:rPr>
              <a:t>specifically </a:t>
            </a:r>
            <a:r>
              <a:rPr lang="en-US" sz="1500" b="0" i="1" u="none" strike="noStrike">
                <a:solidFill>
                  <a:schemeClr val="tx1"/>
                </a:solidFill>
                <a:effectLst/>
                <a:latin typeface="-apple-system-font"/>
              </a:rPr>
              <a:t>for application service providers. </a:t>
            </a:r>
          </a:p>
          <a:p>
            <a:pPr marL="0" indent="0">
              <a:lnSpc>
                <a:spcPct val="90000"/>
              </a:lnSpc>
              <a:buNone/>
            </a:pPr>
            <a:r>
              <a:rPr lang="en-US" sz="1500" b="0" i="1" u="none" strike="noStrike">
                <a:solidFill>
                  <a:schemeClr val="tx1"/>
                </a:solidFill>
                <a:effectLst/>
                <a:latin typeface="-apple-system-fon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500" b="0" i="1" u="none" strike="noStrike">
                <a:solidFill>
                  <a:schemeClr val="tx1"/>
                </a:solidFill>
                <a:effectLst/>
                <a:latin typeface="-apple-system-font"/>
              </a:rPr>
              <a:t>We intend to set a new bar in Cyber </a:t>
            </a:r>
            <a:r>
              <a:rPr lang="en-US" sz="1500" i="1">
                <a:solidFill>
                  <a:schemeClr val="tx1"/>
                </a:solidFill>
                <a:latin typeface="-apple-system-font"/>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500" b="0" i="1" u="none" strike="noStrike">
                <a:solidFill>
                  <a:schemeClr val="tx1"/>
                </a:solidFill>
                <a:effectLst/>
                <a:latin typeface="-apple-system-fon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112279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800" dirty="0">
                <a:solidFill>
                  <a:schemeClr val="tx1"/>
                </a:solidFill>
              </a:rPr>
              <a:t>LLM Foundational Use Cases for Cyber Security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6096000" y="873029"/>
            <a:ext cx="5413375" cy="4479925"/>
          </a:xfrm>
        </p:spPr>
        <p:txBody>
          <a:bodyPr>
            <a:noAutofit/>
          </a:bodyPr>
          <a:lstStyle/>
          <a:p>
            <a:pPr>
              <a:spcBef>
                <a:spcPts val="600"/>
              </a:spcBef>
              <a:buNone/>
            </a:pPr>
            <a:r>
              <a:rPr lang="en-US" sz="900" b="1" dirty="0"/>
              <a:t>6. Intelligent Threat Intelligence</a:t>
            </a:r>
          </a:p>
          <a:p>
            <a:pPr marL="0" indent="0">
              <a:spcBef>
                <a:spcPts val="600"/>
              </a:spcBef>
              <a:buNone/>
            </a:pPr>
            <a:r>
              <a:rPr lang="en-US" sz="900" dirty="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dirty="0"/>
          </a:p>
          <a:p>
            <a:pPr>
              <a:spcBef>
                <a:spcPts val="600"/>
              </a:spcBef>
              <a:buNone/>
            </a:pPr>
            <a:r>
              <a:rPr lang="en-US" sz="900" b="1" dirty="0"/>
              <a:t>7. Cybersecurity Assistant (Chatbot/Virtual Analyst)</a:t>
            </a:r>
          </a:p>
          <a:p>
            <a:pPr marL="0" indent="0">
              <a:spcBef>
                <a:spcPts val="600"/>
              </a:spcBef>
              <a:buNone/>
            </a:pPr>
            <a:r>
              <a:rPr lang="en-US" sz="900" dirty="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dirty="0"/>
          </a:p>
          <a:p>
            <a:pPr>
              <a:spcBef>
                <a:spcPts val="600"/>
              </a:spcBef>
              <a:buNone/>
            </a:pPr>
            <a:r>
              <a:rPr lang="en-US" sz="900" b="1" dirty="0"/>
              <a:t>8. Code and Software Security Analysis</a:t>
            </a:r>
          </a:p>
          <a:p>
            <a:pPr marL="0" indent="0">
              <a:spcBef>
                <a:spcPts val="600"/>
              </a:spcBef>
              <a:buNone/>
            </a:pPr>
            <a:r>
              <a:rPr lang="en-US" sz="900" dirty="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dirty="0"/>
          </a:p>
          <a:p>
            <a:pPr>
              <a:spcBef>
                <a:spcPts val="600"/>
              </a:spcBef>
              <a:buNone/>
            </a:pPr>
            <a:r>
              <a:rPr lang="en-US" sz="900" b="1" dirty="0"/>
              <a:t>9. Enhanced SIEM and Log Analysis</a:t>
            </a:r>
          </a:p>
          <a:p>
            <a:pPr marL="0" indent="0">
              <a:spcBef>
                <a:spcPts val="600"/>
              </a:spcBef>
              <a:buNone/>
            </a:pPr>
            <a:r>
              <a:rPr lang="en-US" sz="900" dirty="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dirty="0"/>
          </a:p>
          <a:p>
            <a:pPr>
              <a:spcBef>
                <a:spcPts val="600"/>
              </a:spcBef>
              <a:buNone/>
            </a:pPr>
            <a:r>
              <a:rPr lang="en-US" sz="900" b="1" dirty="0"/>
              <a:t>10. Retrieval-Augmented Generation (RAG) for Security</a:t>
            </a:r>
          </a:p>
          <a:p>
            <a:pPr marL="0" indent="0">
              <a:spcBef>
                <a:spcPts val="600"/>
              </a:spcBef>
              <a:buNone/>
            </a:pPr>
            <a:r>
              <a:rPr lang="en-US" sz="900" dirty="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486400" cy="5271739"/>
          </a:xfrm>
        </p:spPr>
        <p:txBody>
          <a:bodyPr>
            <a:noAutofit/>
          </a:bodyPr>
          <a:lstStyle/>
          <a:p>
            <a:pPr>
              <a:spcBef>
                <a:spcPts val="600"/>
              </a:spcBef>
              <a:buNone/>
            </a:pPr>
            <a:r>
              <a:rPr lang="en-US" sz="900" b="1" dirty="0"/>
              <a:t>1. Threat Detection and Anomaly Identification</a:t>
            </a:r>
          </a:p>
          <a:p>
            <a:pPr marL="0" indent="0">
              <a:spcBef>
                <a:spcPts val="600"/>
              </a:spcBef>
              <a:buNone/>
            </a:pPr>
            <a:r>
              <a:rPr lang="en-US" sz="900" dirty="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dirty="0"/>
          </a:p>
          <a:p>
            <a:pPr>
              <a:spcBef>
                <a:spcPts val="600"/>
              </a:spcBef>
              <a:buNone/>
            </a:pPr>
            <a:r>
              <a:rPr lang="en-US" sz="900" b="1" dirty="0"/>
              <a:t>2. Security Incident Response Automation</a:t>
            </a:r>
          </a:p>
          <a:p>
            <a:pPr marL="0" indent="0">
              <a:spcBef>
                <a:spcPts val="600"/>
              </a:spcBef>
              <a:buNone/>
            </a:pPr>
            <a:r>
              <a:rPr lang="en-US" sz="900" dirty="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dirty="0"/>
          </a:p>
          <a:p>
            <a:pPr>
              <a:spcBef>
                <a:spcPts val="600"/>
              </a:spcBef>
              <a:buNone/>
            </a:pPr>
            <a:r>
              <a:rPr lang="en-US" sz="900" b="1" dirty="0"/>
              <a:t>3. Vulnerability Assessment and Management</a:t>
            </a:r>
          </a:p>
          <a:p>
            <a:pPr marL="0" indent="0">
              <a:spcBef>
                <a:spcPts val="600"/>
              </a:spcBef>
              <a:buNone/>
            </a:pPr>
            <a:r>
              <a:rPr lang="en-US" sz="900" dirty="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dirty="0"/>
          </a:p>
          <a:p>
            <a:pPr>
              <a:spcBef>
                <a:spcPts val="600"/>
              </a:spcBef>
              <a:buNone/>
            </a:pPr>
            <a:r>
              <a:rPr lang="en-US" sz="900" b="1" dirty="0"/>
              <a:t>4. Phishing and Social Engineering Detection</a:t>
            </a:r>
          </a:p>
          <a:p>
            <a:pPr marL="0" indent="0">
              <a:spcBef>
                <a:spcPts val="600"/>
              </a:spcBef>
              <a:buNone/>
            </a:pPr>
            <a:r>
              <a:rPr lang="en-US" sz="900" dirty="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dirty="0"/>
          </a:p>
          <a:p>
            <a:pPr>
              <a:spcBef>
                <a:spcPts val="600"/>
              </a:spcBef>
              <a:buNone/>
            </a:pPr>
            <a:r>
              <a:rPr lang="en-US" sz="900" b="1" dirty="0"/>
              <a:t>5. Cybersecurity Documentation and Compliance Automation</a:t>
            </a:r>
          </a:p>
          <a:p>
            <a:pPr marL="0" indent="0">
              <a:spcBef>
                <a:spcPts val="600"/>
              </a:spcBef>
              <a:buNone/>
            </a:pPr>
            <a:r>
              <a:rPr lang="en-US" sz="900" dirty="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dirty="0"/>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36262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01DC0-D082-912F-3F54-3BC6ABB3C44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89F8FAB-F64B-EB62-E009-DC0DC24F5CAD}"/>
              </a:ext>
            </a:extLst>
          </p:cNvPr>
          <p:cNvSpPr>
            <a:spLocks noGrp="1"/>
          </p:cNvSpPr>
          <p:nvPr>
            <p:ph type="title"/>
          </p:nvPr>
        </p:nvSpPr>
        <p:spPr>
          <a:xfrm>
            <a:off x="423335" y="240450"/>
            <a:ext cx="11047176" cy="673948"/>
          </a:xfrm>
        </p:spPr>
        <p:txBody>
          <a:bodyPr vert="horz" lIns="91440" tIns="45720" rIns="91440" bIns="45720" rtlCol="0" anchor="ctr">
            <a:normAutofit fontScale="90000"/>
          </a:bodyPr>
          <a:lstStyle/>
          <a:p>
            <a:pPr>
              <a:lnSpc>
                <a:spcPct val="150000"/>
              </a:lnSpc>
              <a:spcAft>
                <a:spcPts val="600"/>
              </a:spcAft>
            </a:pPr>
            <a:r>
              <a:rPr lang="en-US" sz="3300" dirty="0">
                <a:solidFill>
                  <a:schemeClr val="tx2"/>
                </a:solidFill>
              </a:rPr>
              <a:t>CyberPal.AI (IBM)</a:t>
            </a:r>
          </a:p>
        </p:txBody>
      </p:sp>
      <p:sp>
        <p:nvSpPr>
          <p:cNvPr id="5" name="Text Placeholder 5">
            <a:extLst>
              <a:ext uri="{FF2B5EF4-FFF2-40B4-BE49-F238E27FC236}">
                <a16:creationId xmlns:a16="http://schemas.microsoft.com/office/drawing/2014/main" id="{EF02A928-8089-277B-F5E0-9CAFFA540CF0}"/>
              </a:ext>
            </a:extLst>
          </p:cNvPr>
          <p:cNvSpPr txBox="1">
            <a:spLocks/>
          </p:cNvSpPr>
          <p:nvPr/>
        </p:nvSpPr>
        <p:spPr>
          <a:xfrm>
            <a:off x="423335" y="1359568"/>
            <a:ext cx="6579044" cy="532016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nSpc>
                <a:spcPct val="90000"/>
              </a:lnSpc>
              <a:buFont typeface="System Font Regular"/>
              <a:buChar char="⎼"/>
            </a:pPr>
            <a:r>
              <a:rPr lang="en-US" sz="1200" i="1" dirty="0"/>
              <a:t>SecKnowledge is a domain-knowledge-driven cyber-security instruction dataset, meticulously designed using years of accumulated expert knowledge in the domain through a multi-phase generation process</a:t>
            </a:r>
          </a:p>
          <a:p>
            <a:pPr>
              <a:lnSpc>
                <a:spcPct val="90000"/>
              </a:lnSpc>
              <a:buFont typeface="System Font Regular"/>
              <a:buChar char="⎼"/>
            </a:pPr>
            <a:r>
              <a:rPr lang="en-US" sz="1200" i="1" dirty="0"/>
              <a:t>Base Model: Open-source LLMs (specific base model not specified).​</a:t>
            </a:r>
          </a:p>
          <a:p>
            <a:pPr>
              <a:lnSpc>
                <a:spcPct val="90000"/>
              </a:lnSpc>
              <a:buFont typeface="System Font Regular"/>
              <a:buChar char="⎼"/>
            </a:pPr>
            <a:r>
              <a:rPr lang="en-US" sz="1200" i="1" dirty="0"/>
              <a:t>Training Methodology: </a:t>
            </a:r>
          </a:p>
          <a:p>
            <a:pPr lvl="1">
              <a:lnSpc>
                <a:spcPct val="90000"/>
              </a:lnSpc>
              <a:buFont typeface="System Font Regular"/>
              <a:buChar char="⎼"/>
            </a:pPr>
            <a:r>
              <a:rPr lang="en-US" sz="1100" i="1" dirty="0"/>
              <a:t>Instruction Tuning: Utilizes SecKnowledge dataset, created through a two-step process involving expert-defined schemas and hybrid synthetic content generation.​</a:t>
            </a:r>
          </a:p>
          <a:p>
            <a:pPr lvl="1">
              <a:lnSpc>
                <a:spcPct val="90000"/>
              </a:lnSpc>
              <a:buFont typeface="System Font Regular"/>
              <a:buChar char="⎼"/>
            </a:pPr>
            <a:r>
              <a:rPr lang="en-US" sz="1100" i="1" dirty="0"/>
              <a:t>SecKnowledge: A domain-specific instruction dataset encompassing various cybersecurity topics.</a:t>
            </a:r>
          </a:p>
          <a:p>
            <a:pPr lvl="1">
              <a:lnSpc>
                <a:spcPct val="90000"/>
              </a:lnSpc>
              <a:buFont typeface="System Font Regular"/>
              <a:buChar char="⎼"/>
            </a:pPr>
            <a:r>
              <a:rPr lang="en-US" sz="1100" i="1" dirty="0"/>
              <a:t>SecKnowledge-Eval: An evaluation suite designed to assess LLMs on complex cybersecurity tasks.​</a:t>
            </a:r>
            <a:endParaRPr lang="en-US" sz="1200" i="1" dirty="0"/>
          </a:p>
          <a:p>
            <a:pPr>
              <a:lnSpc>
                <a:spcPct val="90000"/>
              </a:lnSpc>
              <a:buFont typeface="System Font Regular"/>
              <a:buChar char="⎼"/>
            </a:pPr>
            <a:r>
              <a:rPr lang="en-US" sz="1200" i="1" dirty="0"/>
              <a:t>Benchmark Performance:</a:t>
            </a:r>
          </a:p>
          <a:p>
            <a:pPr lvl="1">
              <a:lnSpc>
                <a:spcPct val="90000"/>
              </a:lnSpc>
              <a:buFont typeface="System Font Regular"/>
              <a:buChar char="⎼"/>
            </a:pPr>
            <a:r>
              <a:rPr lang="en-US" sz="1100" i="1" dirty="0"/>
              <a:t>Training-Aligned Tasks: Up to 24% improvement over baseline models.</a:t>
            </a:r>
          </a:p>
          <a:p>
            <a:pPr lvl="1">
              <a:lnSpc>
                <a:spcPct val="90000"/>
              </a:lnSpc>
              <a:buFont typeface="System Font Regular"/>
              <a:buChar char="⎼"/>
            </a:pPr>
            <a:r>
              <a:rPr lang="en-US" sz="1100" i="1" dirty="0"/>
              <a:t>Public Cybersecurity Benchmarks: Up to 10% improvement.</a:t>
            </a:r>
          </a:p>
          <a:p>
            <a:pPr lvl="1">
              <a:lnSpc>
                <a:spcPct val="90000"/>
              </a:lnSpc>
              <a:buFont typeface="System Font Regular"/>
              <a:buChar char="⎼"/>
            </a:pPr>
            <a:r>
              <a:rPr lang="en-US" sz="1100" i="1" dirty="0"/>
              <a:t>Specific Task Improvements:</a:t>
            </a:r>
          </a:p>
          <a:p>
            <a:pPr lvl="2">
              <a:lnSpc>
                <a:spcPct val="90000"/>
              </a:lnSpc>
              <a:buFont typeface="System Font Regular"/>
              <a:buChar char="⎼"/>
            </a:pPr>
            <a:r>
              <a:rPr lang="en-US" sz="1100" i="1" dirty="0"/>
              <a:t>CTI Detection and Mitigation: Up to 26% improvement.</a:t>
            </a:r>
          </a:p>
          <a:p>
            <a:pPr lvl="2">
              <a:lnSpc>
                <a:spcPct val="90000"/>
              </a:lnSpc>
              <a:buFont typeface="System Font Regular"/>
              <a:buChar char="⎼"/>
            </a:pPr>
            <a:r>
              <a:rPr lang="en-US" sz="1100" i="1" dirty="0"/>
              <a:t>SIEM Rule TTP Mapping: Up to 17% improvement.</a:t>
            </a:r>
          </a:p>
          <a:p>
            <a:pPr lvl="2">
              <a:lnSpc>
                <a:spcPct val="90000"/>
              </a:lnSpc>
              <a:buFont typeface="System Font Regular"/>
              <a:buChar char="⎼"/>
            </a:pPr>
            <a:r>
              <a:rPr lang="en-US" sz="1100" i="1" dirty="0"/>
              <a:t>CWE Summarization: Up to 35% improvement.</a:t>
            </a:r>
          </a:p>
          <a:p>
            <a:pPr lvl="2">
              <a:lnSpc>
                <a:spcPct val="90000"/>
              </a:lnSpc>
              <a:buFont typeface="System Font Regular"/>
              <a:buChar char="⎼"/>
            </a:pPr>
            <a:r>
              <a:rPr lang="en-US" sz="1100" i="1" dirty="0"/>
              <a:t>CWE Technical Impact Mapping: Up to 11% improvement.</a:t>
            </a:r>
            <a:endParaRPr lang="en-US" i="1" dirty="0"/>
          </a:p>
        </p:txBody>
      </p:sp>
      <p:sp>
        <p:nvSpPr>
          <p:cNvPr id="14"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6" name="TextBox 5">
            <a:extLst>
              <a:ext uri="{FF2B5EF4-FFF2-40B4-BE49-F238E27FC236}">
                <a16:creationId xmlns:a16="http://schemas.microsoft.com/office/drawing/2014/main" id="{AC1B298E-BE90-7016-2C09-D1F3B9A9D9AC}"/>
              </a:ext>
            </a:extLst>
          </p:cNvPr>
          <p:cNvSpPr txBox="1"/>
          <p:nvPr/>
        </p:nvSpPr>
        <p:spPr>
          <a:xfrm>
            <a:off x="168229" y="6509828"/>
            <a:ext cx="8444829" cy="215444"/>
          </a:xfrm>
          <a:prstGeom prst="rect">
            <a:avLst/>
          </a:prstGeom>
          <a:noFill/>
        </p:spPr>
        <p:txBody>
          <a:bodyPr wrap="square" rtlCol="0">
            <a:spAutoFit/>
          </a:bodyPr>
          <a:lstStyle/>
          <a:p>
            <a:r>
              <a:rPr lang="en-US" sz="800" b="0" i="0" dirty="0">
                <a:solidFill>
                  <a:srgbClr val="2E414F"/>
                </a:solidFill>
                <a:effectLst/>
                <a:latin typeface="Roboto" panose="02000000000000000000" pitchFamily="2" charset="0"/>
              </a:rPr>
              <a:t>Levi, Matan et al. “CyberPal.AI: Empowering LLMs with Expert-Driven Cybersecurity Instructions.” </a:t>
            </a:r>
            <a:r>
              <a:rPr lang="en-US" sz="800" b="0" i="1" dirty="0">
                <a:solidFill>
                  <a:srgbClr val="2E414F"/>
                </a:solidFill>
                <a:effectLst/>
                <a:latin typeface="Roboto" panose="02000000000000000000" pitchFamily="2" charset="0"/>
              </a:rPr>
              <a:t>ArXiv</a:t>
            </a:r>
            <a:r>
              <a:rPr lang="en-US" sz="800" b="0" i="0" dirty="0">
                <a:solidFill>
                  <a:srgbClr val="2E414F"/>
                </a:solidFill>
                <a:effectLst/>
                <a:latin typeface="Roboto" panose="02000000000000000000" pitchFamily="2" charset="0"/>
              </a:rPr>
              <a:t> abs/2408.09304 (Aug. 2024): https://</a:t>
            </a:r>
            <a:r>
              <a:rPr lang="en-US" sz="800" b="0" i="0" dirty="0" err="1">
                <a:solidFill>
                  <a:srgbClr val="2E414F"/>
                </a:solidFill>
                <a:effectLst/>
                <a:latin typeface="Roboto" panose="02000000000000000000" pitchFamily="2" charset="0"/>
              </a:rPr>
              <a:t>doi.org</a:t>
            </a:r>
            <a:r>
              <a:rPr lang="en-US" sz="800" b="0" i="0" dirty="0">
                <a:solidFill>
                  <a:srgbClr val="2E414F"/>
                </a:solidFill>
                <a:effectLst/>
                <a:latin typeface="Roboto" panose="02000000000000000000" pitchFamily="2" charset="0"/>
              </a:rPr>
              <a:t>/10.48550/arXiv.2408.09304</a:t>
            </a:r>
            <a:endParaRPr lang="en-US" sz="800" dirty="0"/>
          </a:p>
        </p:txBody>
      </p:sp>
      <p:pic>
        <p:nvPicPr>
          <p:cNvPr id="8" name="Picture 7">
            <a:extLst>
              <a:ext uri="{FF2B5EF4-FFF2-40B4-BE49-F238E27FC236}">
                <a16:creationId xmlns:a16="http://schemas.microsoft.com/office/drawing/2014/main" id="{7A000BDC-28F0-C023-35D0-0A2177AF9BBF}"/>
              </a:ext>
            </a:extLst>
          </p:cNvPr>
          <p:cNvPicPr>
            <a:picLocks noChangeAspect="1"/>
          </p:cNvPicPr>
          <p:nvPr/>
        </p:nvPicPr>
        <p:blipFill>
          <a:blip r:embed="rId2"/>
          <a:stretch>
            <a:fillRect/>
          </a:stretch>
        </p:blipFill>
        <p:spPr>
          <a:xfrm>
            <a:off x="6264031" y="3302304"/>
            <a:ext cx="5927969" cy="2494783"/>
          </a:xfrm>
          <a:prstGeom prst="rect">
            <a:avLst/>
          </a:prstGeom>
        </p:spPr>
      </p:pic>
    </p:spTree>
    <p:extLst>
      <p:ext uri="{BB962C8B-B14F-4D97-AF65-F5344CB8AC3E}">
        <p14:creationId xmlns:p14="http://schemas.microsoft.com/office/powerpoint/2010/main" val="4235732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2"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1AF486E7-C0A7-0DFE-69C7-97CAC99F747D}"/>
              </a:ext>
            </a:extLst>
          </p:cNvPr>
          <p:cNvSpPr>
            <a:spLocks noGrp="1"/>
          </p:cNvSpPr>
          <p:nvPr>
            <p:ph type="title"/>
          </p:nvPr>
        </p:nvSpPr>
        <p:spPr>
          <a:xfrm>
            <a:off x="1000372" y="1209957"/>
            <a:ext cx="3034580" cy="4438087"/>
          </a:xfrm>
        </p:spPr>
        <p:txBody>
          <a:bodyPr anchor="ctr">
            <a:normAutofit/>
          </a:bodyPr>
          <a:lstStyle/>
          <a:p>
            <a:pPr algn="r"/>
            <a:r>
              <a:rPr lang="en-US" sz="3200" dirty="0">
                <a:solidFill>
                  <a:schemeClr val="tx1"/>
                </a:solidFill>
              </a:rPr>
              <a:t>Survey Research Literature in Cyber Security</a:t>
            </a:r>
          </a:p>
        </p:txBody>
      </p:sp>
      <p:cxnSp>
        <p:nvCxnSpPr>
          <p:cNvPr id="16" name="Straight Connector 15">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7330A60-904F-A8BB-3692-2324A79CEE29}"/>
              </a:ext>
            </a:extLst>
          </p:cNvPr>
          <p:cNvPicPr>
            <a:picLocks noChangeAspect="1"/>
          </p:cNvPicPr>
          <p:nvPr/>
        </p:nvPicPr>
        <p:blipFill>
          <a:blip r:embed="rId2"/>
          <a:stretch>
            <a:fillRect/>
          </a:stretch>
        </p:blipFill>
        <p:spPr>
          <a:xfrm>
            <a:off x="5035324" y="573446"/>
            <a:ext cx="5039212" cy="5711107"/>
          </a:xfrm>
          <a:prstGeom prst="rect">
            <a:avLst/>
          </a:prstGeom>
        </p:spPr>
      </p:pic>
    </p:spTree>
    <p:extLst>
      <p:ext uri="{BB962C8B-B14F-4D97-AF65-F5344CB8AC3E}">
        <p14:creationId xmlns:p14="http://schemas.microsoft.com/office/powerpoint/2010/main" val="1579777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2"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3" name="Rectangle 22">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dirty="0"/>
              <a:t>Best in Class, AI Enabled, security solutions for Enterprise application providers.</a:t>
            </a:r>
            <a:endParaRPr lang="en-US" i="1"/>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2"/>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89341262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1154954" y="565484"/>
            <a:ext cx="8761413" cy="1115148"/>
          </a:xfrm>
        </p:spPr>
        <p:txBody>
          <a:bodyPr/>
          <a:lstStyle/>
          <a:p>
            <a:r>
              <a:rPr lang="en-US" i="1" dirty="0"/>
              <a:t>Glaukopis (</a:t>
            </a:r>
            <a:r>
              <a:rPr lang="el-GR" i="1" dirty="0"/>
              <a:t>γλαυκῶπις</a:t>
            </a:r>
            <a:r>
              <a:rPr lang="en-US" i="1" dirty="0"/>
              <a:t>)</a:t>
            </a:r>
            <a:br>
              <a:rPr lang="en-US" dirty="0"/>
            </a:br>
            <a:r>
              <a:rPr lang="en-US" sz="2800" i="1" dirty="0"/>
              <a:t>the “grey eyed one”</a:t>
            </a:r>
            <a:endParaRPr lang="en-US" i="1" dirty="0"/>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426242" y="1959942"/>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954" y="1959942"/>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41717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10750</TotalTime>
  <Words>1025</Words>
  <Application>Microsoft Macintosh PowerPoint</Application>
  <PresentationFormat>Widescreen</PresentationFormat>
  <Paragraphs>72</Paragraphs>
  <Slides>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-apple-system-font</vt:lpstr>
      <vt:lpstr>Aptos</vt:lpstr>
      <vt:lpstr>Arial</vt:lpstr>
      <vt:lpstr>Century Gothic</vt:lpstr>
      <vt:lpstr>Open Sans</vt:lpstr>
      <vt:lpstr>Roboto</vt:lpstr>
      <vt:lpstr>Segoe UI Black</vt:lpstr>
      <vt:lpstr>System Font Regular</vt:lpstr>
      <vt:lpstr>Wingdings 3</vt:lpstr>
      <vt:lpstr>Ion Boardroom</vt:lpstr>
      <vt:lpstr>LLMs and Cyber Security Adapting Cyber Defense to the Advance of AI</vt:lpstr>
      <vt:lpstr>PowerPoint Presentation</vt:lpstr>
      <vt:lpstr>Athena Software Group Inc.</vt:lpstr>
      <vt:lpstr>LLM Foundational Use Cases for Cyber Security </vt:lpstr>
      <vt:lpstr>CyberPal.AI (IBM)</vt:lpstr>
      <vt:lpstr>Survey Research Literature in Cyber Security</vt:lpstr>
      <vt:lpstr>Athena Software Group</vt:lpstr>
      <vt:lpstr>Glaukopis (γλαυκῶπις) the “grey eyed 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44</cp:revision>
  <dcterms:created xsi:type="dcterms:W3CDTF">2025-02-21T13:12:15Z</dcterms:created>
  <dcterms:modified xsi:type="dcterms:W3CDTF">2025-04-21T11:10:19Z</dcterms:modified>
</cp:coreProperties>
</file>