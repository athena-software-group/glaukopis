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3" r:id="rId1"/>
  </p:sldMasterIdLst>
  <p:notesMasterIdLst>
    <p:notesMasterId r:id="rId16"/>
  </p:notesMasterIdLst>
  <p:handoutMasterIdLst>
    <p:handoutMasterId r:id="rId17"/>
  </p:handoutMasterIdLst>
  <p:sldIdLst>
    <p:sldId id="256" r:id="rId2"/>
    <p:sldId id="281" r:id="rId3"/>
    <p:sldId id="284" r:id="rId4"/>
    <p:sldId id="286" r:id="rId5"/>
    <p:sldId id="300" r:id="rId6"/>
    <p:sldId id="299" r:id="rId7"/>
    <p:sldId id="257" r:id="rId8"/>
    <p:sldId id="288" r:id="rId9"/>
    <p:sldId id="287" r:id="rId10"/>
    <p:sldId id="278" r:id="rId11"/>
    <p:sldId id="291" r:id="rId12"/>
    <p:sldId id="302" r:id="rId13"/>
    <p:sldId id="298" r:id="rId14"/>
    <p:sldId id="29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8"/>
    <p:restoredTop sz="86395"/>
  </p:normalViewPr>
  <p:slideViewPr>
    <p:cSldViewPr snapToGrid="0">
      <p:cViewPr varScale="1">
        <p:scale>
          <a:sx n="110" d="100"/>
          <a:sy n="110" d="100"/>
        </p:scale>
        <p:origin x="1240" y="16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3120"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9B8922-610B-F048-989C-55C0402BC2D5}" type="doc">
      <dgm:prSet loTypeId="urn:microsoft.com/office/officeart/2005/8/layout/radial6" loCatId="" qsTypeId="urn:microsoft.com/office/officeart/2005/8/quickstyle/simple1" qsCatId="simple" csTypeId="urn:microsoft.com/office/officeart/2005/8/colors/accent1_2" csCatId="accent1" phldr="1"/>
      <dgm:spPr/>
      <dgm:t>
        <a:bodyPr/>
        <a:lstStyle/>
        <a:p>
          <a:endParaRPr lang="en-US"/>
        </a:p>
      </dgm:t>
    </dgm:pt>
    <dgm:pt modelId="{63054ED6-7B7D-D845-A2CD-94DE7B8ADD61}">
      <dgm:prSet phldrT="[Text]" custT="1"/>
      <dgm:spPr/>
      <dgm:t>
        <a:bodyPr/>
        <a:lstStyle/>
        <a:p>
          <a:r>
            <a:rPr lang="en-US" sz="1600" i="1" dirty="0"/>
            <a:t>ASG</a:t>
          </a:r>
        </a:p>
      </dgm:t>
    </dgm:pt>
    <dgm:pt modelId="{D082683D-5FBA-064A-8DB5-9B40AD55A5D3}" type="parTrans" cxnId="{C53AC2E8-2E33-FA4F-9D3F-A9075587FC40}">
      <dgm:prSet/>
      <dgm:spPr/>
      <dgm:t>
        <a:bodyPr/>
        <a:lstStyle/>
        <a:p>
          <a:endParaRPr lang="en-US"/>
        </a:p>
      </dgm:t>
    </dgm:pt>
    <dgm:pt modelId="{01092873-CCB0-1849-8FDF-BD77539B77ED}" type="sibTrans" cxnId="{C53AC2E8-2E33-FA4F-9D3F-A9075587FC40}">
      <dgm:prSet/>
      <dgm:spPr/>
      <dgm:t>
        <a:bodyPr/>
        <a:lstStyle/>
        <a:p>
          <a:endParaRPr lang="en-US"/>
        </a:p>
      </dgm:t>
    </dgm:pt>
    <dgm:pt modelId="{5C3C0AAB-D848-984E-8463-B7AA80176EB9}">
      <dgm:prSet phldrT="[Text]"/>
      <dgm:spPr/>
      <dgm:t>
        <a:bodyPr/>
        <a:lstStyle/>
        <a:p>
          <a:r>
            <a:rPr lang="en-US" dirty="0"/>
            <a:t>Network Intrusion Detection &amp; Response (NIDR)</a:t>
          </a:r>
        </a:p>
      </dgm:t>
    </dgm:pt>
    <dgm:pt modelId="{CAF9EF96-0EAA-9F41-AF8D-AD3E7F5E2EFA}" type="parTrans" cxnId="{DD64E695-FAA2-D647-B2CF-3247A3DBE401}">
      <dgm:prSet/>
      <dgm:spPr/>
      <dgm:t>
        <a:bodyPr/>
        <a:lstStyle/>
        <a:p>
          <a:endParaRPr lang="en-US"/>
        </a:p>
      </dgm:t>
    </dgm:pt>
    <dgm:pt modelId="{B99D788A-EDB0-8E40-8919-89D59F8EFE77}" type="sibTrans" cxnId="{DD64E695-FAA2-D647-B2CF-3247A3DBE401}">
      <dgm:prSet/>
      <dgm:spPr/>
      <dgm:t>
        <a:bodyPr/>
        <a:lstStyle/>
        <a:p>
          <a:endParaRPr lang="en-US"/>
        </a:p>
      </dgm:t>
    </dgm:pt>
    <dgm:pt modelId="{85678D3A-6E33-1945-A16C-78AAA80A57B0}">
      <dgm:prSet phldrT="[Text]"/>
      <dgm:spPr/>
      <dgm:t>
        <a:bodyPr/>
        <a:lstStyle/>
        <a:p>
          <a:r>
            <a:rPr lang="en-US" dirty="0"/>
            <a:t>WAF &amp; Firewall</a:t>
          </a:r>
        </a:p>
      </dgm:t>
    </dgm:pt>
    <dgm:pt modelId="{75EA9606-6527-4D43-94CA-8F716DA2B24C}" type="parTrans" cxnId="{EC1AEC85-938A-D64F-8EA2-5DF48D618A90}">
      <dgm:prSet/>
      <dgm:spPr/>
      <dgm:t>
        <a:bodyPr/>
        <a:lstStyle/>
        <a:p>
          <a:endParaRPr lang="en-US"/>
        </a:p>
      </dgm:t>
    </dgm:pt>
    <dgm:pt modelId="{9849A36A-3DEE-A84A-9370-E4C06079E668}" type="sibTrans" cxnId="{EC1AEC85-938A-D64F-8EA2-5DF48D618A90}">
      <dgm:prSet/>
      <dgm:spPr/>
      <dgm:t>
        <a:bodyPr/>
        <a:lstStyle/>
        <a:p>
          <a:endParaRPr lang="en-US"/>
        </a:p>
      </dgm:t>
    </dgm:pt>
    <dgm:pt modelId="{69D8DD34-AA80-FA4E-91BF-8EB0B2E96282}">
      <dgm:prSet phldrT="[Text]"/>
      <dgm:spPr/>
      <dgm:t>
        <a:bodyPr/>
        <a:lstStyle/>
        <a:p>
          <a:r>
            <a:rPr lang="en-US" dirty="0"/>
            <a:t>System Incident Monitoring &amp; Remediation (SIEM)</a:t>
          </a:r>
        </a:p>
      </dgm:t>
    </dgm:pt>
    <dgm:pt modelId="{AD72444D-E63E-B644-980D-8C2B6AC4DECF}" type="parTrans" cxnId="{FFA0E7CE-38AF-A140-AC77-D969D98A9244}">
      <dgm:prSet/>
      <dgm:spPr/>
      <dgm:t>
        <a:bodyPr/>
        <a:lstStyle/>
        <a:p>
          <a:endParaRPr lang="en-US"/>
        </a:p>
      </dgm:t>
    </dgm:pt>
    <dgm:pt modelId="{69CE5C23-1B28-CB49-9968-845FDCAF34A5}" type="sibTrans" cxnId="{FFA0E7CE-38AF-A140-AC77-D969D98A9244}">
      <dgm:prSet/>
      <dgm:spPr/>
      <dgm:t>
        <a:bodyPr/>
        <a:lstStyle/>
        <a:p>
          <a:endParaRPr lang="en-US"/>
        </a:p>
      </dgm:t>
    </dgm:pt>
    <dgm:pt modelId="{EB8B9EC0-641C-374F-A513-D3561B5BA9B8}">
      <dgm:prSet phldrT="[Text]"/>
      <dgm:spPr/>
      <dgm:t>
        <a:bodyPr/>
        <a:lstStyle/>
        <a:p>
          <a:r>
            <a:rPr lang="en-US" dirty="0"/>
            <a:t>Vulnerability Management &amp; Response</a:t>
          </a:r>
        </a:p>
      </dgm:t>
    </dgm:pt>
    <dgm:pt modelId="{716DDED5-9D3E-AC4B-A39A-2F29F754D032}" type="parTrans" cxnId="{BF0AE7D4-6DE2-0C44-B647-BB7064964FDA}">
      <dgm:prSet/>
      <dgm:spPr/>
      <dgm:t>
        <a:bodyPr/>
        <a:lstStyle/>
        <a:p>
          <a:endParaRPr lang="en-US"/>
        </a:p>
      </dgm:t>
    </dgm:pt>
    <dgm:pt modelId="{8273CB2B-48D8-984A-8D29-65A5AA9281CF}" type="sibTrans" cxnId="{BF0AE7D4-6DE2-0C44-B647-BB7064964FDA}">
      <dgm:prSet/>
      <dgm:spPr/>
      <dgm:t>
        <a:bodyPr/>
        <a:lstStyle/>
        <a:p>
          <a:endParaRPr lang="en-US"/>
        </a:p>
      </dgm:t>
    </dgm:pt>
    <dgm:pt modelId="{49CFABDD-9004-E44E-8170-E38D49FE6ACC}">
      <dgm:prSet phldrT="[Text]"/>
      <dgm:spPr/>
      <dgm:t>
        <a:bodyPr/>
        <a:lstStyle/>
        <a:p>
          <a:r>
            <a:rPr lang="en-US" dirty="0"/>
            <a:t>Application Performance Monitoring</a:t>
          </a:r>
        </a:p>
      </dgm:t>
    </dgm:pt>
    <dgm:pt modelId="{9571098F-A940-9645-A602-8BB370AE0580}" type="parTrans" cxnId="{8C87D48B-B8A1-5049-B837-CC1753E5ED02}">
      <dgm:prSet/>
      <dgm:spPr/>
      <dgm:t>
        <a:bodyPr/>
        <a:lstStyle/>
        <a:p>
          <a:endParaRPr lang="en-US"/>
        </a:p>
      </dgm:t>
    </dgm:pt>
    <dgm:pt modelId="{4C0633FD-C0EA-A14D-8F9D-3C44594E22D5}" type="sibTrans" cxnId="{8C87D48B-B8A1-5049-B837-CC1753E5ED02}">
      <dgm:prSet/>
      <dgm:spPr/>
      <dgm:t>
        <a:bodyPr/>
        <a:lstStyle/>
        <a:p>
          <a:endParaRPr lang="en-US"/>
        </a:p>
      </dgm:t>
    </dgm:pt>
    <dgm:pt modelId="{91C5442B-D002-C549-B0CB-805CED332234}">
      <dgm:prSet phldrT="[Text]"/>
      <dgm:spPr/>
      <dgm:t>
        <a:bodyPr/>
        <a:lstStyle/>
        <a:p>
          <a:r>
            <a:rPr lang="en-US" dirty="0"/>
            <a:t>Dashboard &amp; Analytics</a:t>
          </a:r>
        </a:p>
      </dgm:t>
    </dgm:pt>
    <dgm:pt modelId="{083C8E6E-3B43-0E44-9722-81847ADCA8A9}" type="parTrans" cxnId="{62C3F1F7-E77C-4048-AD30-C2F73A8B3900}">
      <dgm:prSet/>
      <dgm:spPr/>
      <dgm:t>
        <a:bodyPr/>
        <a:lstStyle/>
        <a:p>
          <a:endParaRPr lang="en-US"/>
        </a:p>
      </dgm:t>
    </dgm:pt>
    <dgm:pt modelId="{90F52EC7-764A-5D4F-90FF-706F29D7E6DF}" type="sibTrans" cxnId="{62C3F1F7-E77C-4048-AD30-C2F73A8B3900}">
      <dgm:prSet/>
      <dgm:spPr/>
      <dgm:t>
        <a:bodyPr/>
        <a:lstStyle/>
        <a:p>
          <a:endParaRPr lang="en-US"/>
        </a:p>
      </dgm:t>
    </dgm:pt>
    <dgm:pt modelId="{E8B22E9B-A331-0645-A9D2-3B464F71B227}">
      <dgm:prSet phldrT="[Text]"/>
      <dgm:spPr/>
      <dgm:t>
        <a:bodyPr/>
        <a:lstStyle/>
        <a:p>
          <a:r>
            <a:rPr lang="en-US" dirty="0"/>
            <a:t>Global Threat Intelligence</a:t>
          </a:r>
        </a:p>
      </dgm:t>
    </dgm:pt>
    <dgm:pt modelId="{AB89EF52-9133-824D-ACDA-4100D80ED2B3}" type="parTrans" cxnId="{D497BFA5-B507-7C4E-BE3E-9737D8CBB075}">
      <dgm:prSet/>
      <dgm:spPr/>
      <dgm:t>
        <a:bodyPr/>
        <a:lstStyle/>
        <a:p>
          <a:endParaRPr lang="en-US"/>
        </a:p>
      </dgm:t>
    </dgm:pt>
    <dgm:pt modelId="{8FD74B15-292D-FB48-9B98-33374F82B017}" type="sibTrans" cxnId="{D497BFA5-B507-7C4E-BE3E-9737D8CBB075}">
      <dgm:prSet/>
      <dgm:spPr/>
      <dgm:t>
        <a:bodyPr/>
        <a:lstStyle/>
        <a:p>
          <a:endParaRPr lang="en-US"/>
        </a:p>
      </dgm:t>
    </dgm:pt>
    <dgm:pt modelId="{0741395A-F96A-B74E-8110-77474AA023EC}">
      <dgm:prSet phldrT="[Text]"/>
      <dgm:spPr/>
      <dgm:t>
        <a:bodyPr/>
        <a:lstStyle/>
        <a:p>
          <a:r>
            <a:rPr lang="en-US" dirty="0"/>
            <a:t>Security Language Model</a:t>
          </a:r>
        </a:p>
      </dgm:t>
    </dgm:pt>
    <dgm:pt modelId="{0361CBD2-C2D0-4548-B1B1-2BD9B26F743E}" type="parTrans" cxnId="{5FC9FA18-F39C-0E4E-A3DA-E0124D307E7F}">
      <dgm:prSet/>
      <dgm:spPr/>
      <dgm:t>
        <a:bodyPr/>
        <a:lstStyle/>
        <a:p>
          <a:endParaRPr lang="en-US"/>
        </a:p>
      </dgm:t>
    </dgm:pt>
    <dgm:pt modelId="{7C2DE87C-9D7A-CB42-B0FA-198BEFA699EF}" type="sibTrans" cxnId="{5FC9FA18-F39C-0E4E-A3DA-E0124D307E7F}">
      <dgm:prSet/>
      <dgm:spPr/>
      <dgm:t>
        <a:bodyPr/>
        <a:lstStyle/>
        <a:p>
          <a:endParaRPr lang="en-US"/>
        </a:p>
      </dgm:t>
    </dgm:pt>
    <dgm:pt modelId="{E5A3A4B3-BC32-7540-A7E3-DB6CB81A6FE5}">
      <dgm:prSet phldrT="[Text]"/>
      <dgm:spPr/>
      <dgm:t>
        <a:bodyPr/>
        <a:lstStyle/>
        <a:p>
          <a:r>
            <a:rPr lang="en-US" dirty="0"/>
            <a:t>Legal &amp; Compliance</a:t>
          </a:r>
        </a:p>
      </dgm:t>
    </dgm:pt>
    <dgm:pt modelId="{1992EFE7-ECAD-0041-A95C-B4911831AD57}" type="parTrans" cxnId="{58A5061F-1856-3E44-A373-67400D8446CA}">
      <dgm:prSet/>
      <dgm:spPr/>
      <dgm:t>
        <a:bodyPr/>
        <a:lstStyle/>
        <a:p>
          <a:endParaRPr lang="en-US"/>
        </a:p>
      </dgm:t>
    </dgm:pt>
    <dgm:pt modelId="{B33A8AC3-4045-0446-9C42-D074BC68D963}" type="sibTrans" cxnId="{58A5061F-1856-3E44-A373-67400D8446CA}">
      <dgm:prSet/>
      <dgm:spPr/>
      <dgm:t>
        <a:bodyPr/>
        <a:lstStyle/>
        <a:p>
          <a:endParaRPr lang="en-US"/>
        </a:p>
      </dgm:t>
    </dgm:pt>
    <dgm:pt modelId="{E0CA1FE4-A673-EA43-9BEF-709C3BF2E808}" type="pres">
      <dgm:prSet presAssocID="{579B8922-610B-F048-989C-55C0402BC2D5}" presName="Name0" presStyleCnt="0">
        <dgm:presLayoutVars>
          <dgm:chMax val="1"/>
          <dgm:dir/>
          <dgm:animLvl val="ctr"/>
          <dgm:resizeHandles val="exact"/>
        </dgm:presLayoutVars>
      </dgm:prSet>
      <dgm:spPr/>
    </dgm:pt>
    <dgm:pt modelId="{D8A36A94-7CB2-464C-87E1-49E82DC7041A}" type="pres">
      <dgm:prSet presAssocID="{63054ED6-7B7D-D845-A2CD-94DE7B8ADD61}" presName="centerShape" presStyleLbl="node0" presStyleIdx="0" presStyleCnt="1"/>
      <dgm:spPr/>
    </dgm:pt>
    <dgm:pt modelId="{04EF393B-F1FF-504B-9392-3BEAD7FB128E}" type="pres">
      <dgm:prSet presAssocID="{5C3C0AAB-D848-984E-8463-B7AA80176EB9}" presName="node" presStyleLbl="node1" presStyleIdx="0" presStyleCnt="9">
        <dgm:presLayoutVars>
          <dgm:bulletEnabled val="1"/>
        </dgm:presLayoutVars>
      </dgm:prSet>
      <dgm:spPr/>
    </dgm:pt>
    <dgm:pt modelId="{1D3897EB-5A6C-9246-BB0F-DF1779F57BBF}" type="pres">
      <dgm:prSet presAssocID="{5C3C0AAB-D848-984E-8463-B7AA80176EB9}" presName="dummy" presStyleCnt="0"/>
      <dgm:spPr/>
    </dgm:pt>
    <dgm:pt modelId="{18A825CD-EFBC-2243-A565-B252AFF54072}" type="pres">
      <dgm:prSet presAssocID="{B99D788A-EDB0-8E40-8919-89D59F8EFE77}" presName="sibTrans" presStyleLbl="sibTrans2D1" presStyleIdx="0" presStyleCnt="9"/>
      <dgm:spPr/>
    </dgm:pt>
    <dgm:pt modelId="{A50745CE-74E4-6F43-BB1C-DFCB8AF3FAA7}" type="pres">
      <dgm:prSet presAssocID="{85678D3A-6E33-1945-A16C-78AAA80A57B0}" presName="node" presStyleLbl="node1" presStyleIdx="1" presStyleCnt="9">
        <dgm:presLayoutVars>
          <dgm:bulletEnabled val="1"/>
        </dgm:presLayoutVars>
      </dgm:prSet>
      <dgm:spPr/>
    </dgm:pt>
    <dgm:pt modelId="{8230FE8F-F555-944F-B90C-5B6966CFFBC2}" type="pres">
      <dgm:prSet presAssocID="{85678D3A-6E33-1945-A16C-78AAA80A57B0}" presName="dummy" presStyleCnt="0"/>
      <dgm:spPr/>
    </dgm:pt>
    <dgm:pt modelId="{2B26FF6D-9606-7142-B700-9D3459D70F5D}" type="pres">
      <dgm:prSet presAssocID="{9849A36A-3DEE-A84A-9370-E4C06079E668}" presName="sibTrans" presStyleLbl="sibTrans2D1" presStyleIdx="1" presStyleCnt="9"/>
      <dgm:spPr/>
    </dgm:pt>
    <dgm:pt modelId="{9A76D26C-287F-0642-B75B-0BF48BDE5F48}" type="pres">
      <dgm:prSet presAssocID="{69D8DD34-AA80-FA4E-91BF-8EB0B2E96282}" presName="node" presStyleLbl="node1" presStyleIdx="2" presStyleCnt="9">
        <dgm:presLayoutVars>
          <dgm:bulletEnabled val="1"/>
        </dgm:presLayoutVars>
      </dgm:prSet>
      <dgm:spPr/>
    </dgm:pt>
    <dgm:pt modelId="{5AD4BD2C-065A-3E47-A700-FCD8FF43478B}" type="pres">
      <dgm:prSet presAssocID="{69D8DD34-AA80-FA4E-91BF-8EB0B2E96282}" presName="dummy" presStyleCnt="0"/>
      <dgm:spPr/>
    </dgm:pt>
    <dgm:pt modelId="{0ABB8FD0-1D63-954E-A9C5-B27628538DC4}" type="pres">
      <dgm:prSet presAssocID="{69CE5C23-1B28-CB49-9968-845FDCAF34A5}" presName="sibTrans" presStyleLbl="sibTrans2D1" presStyleIdx="2" presStyleCnt="9"/>
      <dgm:spPr/>
    </dgm:pt>
    <dgm:pt modelId="{A488B6C9-17F0-2E48-B965-D2A615BB36F6}" type="pres">
      <dgm:prSet presAssocID="{EB8B9EC0-641C-374F-A513-D3561B5BA9B8}" presName="node" presStyleLbl="node1" presStyleIdx="3" presStyleCnt="9">
        <dgm:presLayoutVars>
          <dgm:bulletEnabled val="1"/>
        </dgm:presLayoutVars>
      </dgm:prSet>
      <dgm:spPr/>
    </dgm:pt>
    <dgm:pt modelId="{A4E3174A-4A88-8A4F-90DE-54B1377164A6}" type="pres">
      <dgm:prSet presAssocID="{EB8B9EC0-641C-374F-A513-D3561B5BA9B8}" presName="dummy" presStyleCnt="0"/>
      <dgm:spPr/>
    </dgm:pt>
    <dgm:pt modelId="{F7FE8A45-8D81-5948-B114-4AB4BE5A6D12}" type="pres">
      <dgm:prSet presAssocID="{8273CB2B-48D8-984A-8D29-65A5AA9281CF}" presName="sibTrans" presStyleLbl="sibTrans2D1" presStyleIdx="3" presStyleCnt="9"/>
      <dgm:spPr/>
    </dgm:pt>
    <dgm:pt modelId="{D7993C44-60DF-3E44-88F8-2C0C514EFE0D}" type="pres">
      <dgm:prSet presAssocID="{49CFABDD-9004-E44E-8170-E38D49FE6ACC}" presName="node" presStyleLbl="node1" presStyleIdx="4" presStyleCnt="9">
        <dgm:presLayoutVars>
          <dgm:bulletEnabled val="1"/>
        </dgm:presLayoutVars>
      </dgm:prSet>
      <dgm:spPr/>
    </dgm:pt>
    <dgm:pt modelId="{AE3410E8-7A53-534A-8972-0DF3DFEE0C67}" type="pres">
      <dgm:prSet presAssocID="{49CFABDD-9004-E44E-8170-E38D49FE6ACC}" presName="dummy" presStyleCnt="0"/>
      <dgm:spPr/>
    </dgm:pt>
    <dgm:pt modelId="{D103856B-7558-4245-BD59-9E55A1C16F75}" type="pres">
      <dgm:prSet presAssocID="{4C0633FD-C0EA-A14D-8F9D-3C44594E22D5}" presName="sibTrans" presStyleLbl="sibTrans2D1" presStyleIdx="4" presStyleCnt="9"/>
      <dgm:spPr/>
    </dgm:pt>
    <dgm:pt modelId="{018542D2-18B5-F644-9D98-4C9B43898500}" type="pres">
      <dgm:prSet presAssocID="{E8B22E9B-A331-0645-A9D2-3B464F71B227}" presName="node" presStyleLbl="node1" presStyleIdx="5" presStyleCnt="9">
        <dgm:presLayoutVars>
          <dgm:bulletEnabled val="1"/>
        </dgm:presLayoutVars>
      </dgm:prSet>
      <dgm:spPr/>
    </dgm:pt>
    <dgm:pt modelId="{E73777E6-838B-9444-95D6-39DAF7C9F8F1}" type="pres">
      <dgm:prSet presAssocID="{E8B22E9B-A331-0645-A9D2-3B464F71B227}" presName="dummy" presStyleCnt="0"/>
      <dgm:spPr/>
    </dgm:pt>
    <dgm:pt modelId="{BEB75290-8E10-0A46-9780-CA5E9DD16A6F}" type="pres">
      <dgm:prSet presAssocID="{8FD74B15-292D-FB48-9B98-33374F82B017}" presName="sibTrans" presStyleLbl="sibTrans2D1" presStyleIdx="5" presStyleCnt="9"/>
      <dgm:spPr/>
    </dgm:pt>
    <dgm:pt modelId="{5970F1F5-6623-2E4F-8918-2E3F61AB5B64}" type="pres">
      <dgm:prSet presAssocID="{E5A3A4B3-BC32-7540-A7E3-DB6CB81A6FE5}" presName="node" presStyleLbl="node1" presStyleIdx="6" presStyleCnt="9">
        <dgm:presLayoutVars>
          <dgm:bulletEnabled val="1"/>
        </dgm:presLayoutVars>
      </dgm:prSet>
      <dgm:spPr/>
    </dgm:pt>
    <dgm:pt modelId="{D854CE4A-DD4B-CB43-96FF-D300B052D27D}" type="pres">
      <dgm:prSet presAssocID="{E5A3A4B3-BC32-7540-A7E3-DB6CB81A6FE5}" presName="dummy" presStyleCnt="0"/>
      <dgm:spPr/>
    </dgm:pt>
    <dgm:pt modelId="{3F8A4722-9339-0B43-9B18-585410C13FF9}" type="pres">
      <dgm:prSet presAssocID="{B33A8AC3-4045-0446-9C42-D074BC68D963}" presName="sibTrans" presStyleLbl="sibTrans2D1" presStyleIdx="6" presStyleCnt="9"/>
      <dgm:spPr/>
    </dgm:pt>
    <dgm:pt modelId="{3A01ADC3-B481-C145-8B1C-8383048A6926}" type="pres">
      <dgm:prSet presAssocID="{91C5442B-D002-C549-B0CB-805CED332234}" presName="node" presStyleLbl="node1" presStyleIdx="7" presStyleCnt="9">
        <dgm:presLayoutVars>
          <dgm:bulletEnabled val="1"/>
        </dgm:presLayoutVars>
      </dgm:prSet>
      <dgm:spPr/>
    </dgm:pt>
    <dgm:pt modelId="{B6081DA4-667F-6948-A063-1B8FC4CCC510}" type="pres">
      <dgm:prSet presAssocID="{91C5442B-D002-C549-B0CB-805CED332234}" presName="dummy" presStyleCnt="0"/>
      <dgm:spPr/>
    </dgm:pt>
    <dgm:pt modelId="{9ED953C9-7FBC-6146-BC08-35138F4B76B8}" type="pres">
      <dgm:prSet presAssocID="{90F52EC7-764A-5D4F-90FF-706F29D7E6DF}" presName="sibTrans" presStyleLbl="sibTrans2D1" presStyleIdx="7" presStyleCnt="9"/>
      <dgm:spPr/>
    </dgm:pt>
    <dgm:pt modelId="{0B1F1FE8-8903-7E4C-B00A-52723BAA92FF}" type="pres">
      <dgm:prSet presAssocID="{0741395A-F96A-B74E-8110-77474AA023EC}" presName="node" presStyleLbl="node1" presStyleIdx="8" presStyleCnt="9">
        <dgm:presLayoutVars>
          <dgm:bulletEnabled val="1"/>
        </dgm:presLayoutVars>
      </dgm:prSet>
      <dgm:spPr/>
    </dgm:pt>
    <dgm:pt modelId="{44A1AD2B-ED7F-5E42-BABB-E9EB8DDEA73A}" type="pres">
      <dgm:prSet presAssocID="{0741395A-F96A-B74E-8110-77474AA023EC}" presName="dummy" presStyleCnt="0"/>
      <dgm:spPr/>
    </dgm:pt>
    <dgm:pt modelId="{AF669067-E62B-2B4B-9036-239F7310E933}" type="pres">
      <dgm:prSet presAssocID="{7C2DE87C-9D7A-CB42-B0FA-198BEFA699EF}" presName="sibTrans" presStyleLbl="sibTrans2D1" presStyleIdx="8" presStyleCnt="9"/>
      <dgm:spPr/>
    </dgm:pt>
  </dgm:ptLst>
  <dgm:cxnLst>
    <dgm:cxn modelId="{DE5AE213-18B7-F141-AB8F-BAC81058FE87}" type="presOf" srcId="{4C0633FD-C0EA-A14D-8F9D-3C44594E22D5}" destId="{D103856B-7558-4245-BD59-9E55A1C16F75}" srcOrd="0" destOrd="0" presId="urn:microsoft.com/office/officeart/2005/8/layout/radial6"/>
    <dgm:cxn modelId="{5179FD17-DB52-9A4A-8D8D-F8A820044D91}" type="presOf" srcId="{7C2DE87C-9D7A-CB42-B0FA-198BEFA699EF}" destId="{AF669067-E62B-2B4B-9036-239F7310E933}" srcOrd="0" destOrd="0" presId="urn:microsoft.com/office/officeart/2005/8/layout/radial6"/>
    <dgm:cxn modelId="{5FC9FA18-F39C-0E4E-A3DA-E0124D307E7F}" srcId="{63054ED6-7B7D-D845-A2CD-94DE7B8ADD61}" destId="{0741395A-F96A-B74E-8110-77474AA023EC}" srcOrd="8" destOrd="0" parTransId="{0361CBD2-C2D0-4548-B1B1-2BD9B26F743E}" sibTransId="{7C2DE87C-9D7A-CB42-B0FA-198BEFA699EF}"/>
    <dgm:cxn modelId="{97160E1C-F3F1-F24B-B907-3799AB945B1B}" type="presOf" srcId="{91C5442B-D002-C549-B0CB-805CED332234}" destId="{3A01ADC3-B481-C145-8B1C-8383048A6926}" srcOrd="0" destOrd="0" presId="urn:microsoft.com/office/officeart/2005/8/layout/radial6"/>
    <dgm:cxn modelId="{23321F1E-5064-0542-9AE7-2C4FADCCA85E}" type="presOf" srcId="{579B8922-610B-F048-989C-55C0402BC2D5}" destId="{E0CA1FE4-A673-EA43-9BEF-709C3BF2E808}" srcOrd="0" destOrd="0" presId="urn:microsoft.com/office/officeart/2005/8/layout/radial6"/>
    <dgm:cxn modelId="{58A5061F-1856-3E44-A373-67400D8446CA}" srcId="{63054ED6-7B7D-D845-A2CD-94DE7B8ADD61}" destId="{E5A3A4B3-BC32-7540-A7E3-DB6CB81A6FE5}" srcOrd="6" destOrd="0" parTransId="{1992EFE7-ECAD-0041-A95C-B4911831AD57}" sibTransId="{B33A8AC3-4045-0446-9C42-D074BC68D963}"/>
    <dgm:cxn modelId="{3FA9DC31-127E-D44C-BDB8-CB95BEF1C50F}" type="presOf" srcId="{B33A8AC3-4045-0446-9C42-D074BC68D963}" destId="{3F8A4722-9339-0B43-9B18-585410C13FF9}" srcOrd="0" destOrd="0" presId="urn:microsoft.com/office/officeart/2005/8/layout/radial6"/>
    <dgm:cxn modelId="{99864B38-CED9-1449-9C68-656F34CA487C}" type="presOf" srcId="{0741395A-F96A-B74E-8110-77474AA023EC}" destId="{0B1F1FE8-8903-7E4C-B00A-52723BAA92FF}" srcOrd="0" destOrd="0" presId="urn:microsoft.com/office/officeart/2005/8/layout/radial6"/>
    <dgm:cxn modelId="{218E2E3B-1499-0A48-9B5B-0BF7504BB195}" type="presOf" srcId="{69D8DD34-AA80-FA4E-91BF-8EB0B2E96282}" destId="{9A76D26C-287F-0642-B75B-0BF48BDE5F48}" srcOrd="0" destOrd="0" presId="urn:microsoft.com/office/officeart/2005/8/layout/radial6"/>
    <dgm:cxn modelId="{06BF1143-80C8-EC46-A3B8-B6689361468C}" type="presOf" srcId="{B99D788A-EDB0-8E40-8919-89D59F8EFE77}" destId="{18A825CD-EFBC-2243-A565-B252AFF54072}" srcOrd="0" destOrd="0" presId="urn:microsoft.com/office/officeart/2005/8/layout/radial6"/>
    <dgm:cxn modelId="{EC1AEC85-938A-D64F-8EA2-5DF48D618A90}" srcId="{63054ED6-7B7D-D845-A2CD-94DE7B8ADD61}" destId="{85678D3A-6E33-1945-A16C-78AAA80A57B0}" srcOrd="1" destOrd="0" parTransId="{75EA9606-6527-4D43-94CA-8F716DA2B24C}" sibTransId="{9849A36A-3DEE-A84A-9370-E4C06079E668}"/>
    <dgm:cxn modelId="{8C87D48B-B8A1-5049-B837-CC1753E5ED02}" srcId="{63054ED6-7B7D-D845-A2CD-94DE7B8ADD61}" destId="{49CFABDD-9004-E44E-8170-E38D49FE6ACC}" srcOrd="4" destOrd="0" parTransId="{9571098F-A940-9645-A602-8BB370AE0580}" sibTransId="{4C0633FD-C0EA-A14D-8F9D-3C44594E22D5}"/>
    <dgm:cxn modelId="{7ADBD892-05BD-8F4A-9AC4-4FD447A822BB}" type="presOf" srcId="{85678D3A-6E33-1945-A16C-78AAA80A57B0}" destId="{A50745CE-74E4-6F43-BB1C-DFCB8AF3FAA7}" srcOrd="0" destOrd="0" presId="urn:microsoft.com/office/officeart/2005/8/layout/radial6"/>
    <dgm:cxn modelId="{DD64E695-FAA2-D647-B2CF-3247A3DBE401}" srcId="{63054ED6-7B7D-D845-A2CD-94DE7B8ADD61}" destId="{5C3C0AAB-D848-984E-8463-B7AA80176EB9}" srcOrd="0" destOrd="0" parTransId="{CAF9EF96-0EAA-9F41-AF8D-AD3E7F5E2EFA}" sibTransId="{B99D788A-EDB0-8E40-8919-89D59F8EFE77}"/>
    <dgm:cxn modelId="{29AFAD99-DBD3-B54D-9108-6827240DD9AD}" type="presOf" srcId="{E8B22E9B-A331-0645-A9D2-3B464F71B227}" destId="{018542D2-18B5-F644-9D98-4C9B43898500}" srcOrd="0" destOrd="0" presId="urn:microsoft.com/office/officeart/2005/8/layout/radial6"/>
    <dgm:cxn modelId="{F28A349B-5781-BD4D-8B03-7BE6A5347E6E}" type="presOf" srcId="{8FD74B15-292D-FB48-9B98-33374F82B017}" destId="{BEB75290-8E10-0A46-9780-CA5E9DD16A6F}" srcOrd="0" destOrd="0" presId="urn:microsoft.com/office/officeart/2005/8/layout/radial6"/>
    <dgm:cxn modelId="{A175F3A0-A954-7544-BAEF-11505C2EDD27}" type="presOf" srcId="{EB8B9EC0-641C-374F-A513-D3561B5BA9B8}" destId="{A488B6C9-17F0-2E48-B965-D2A615BB36F6}" srcOrd="0" destOrd="0" presId="urn:microsoft.com/office/officeart/2005/8/layout/radial6"/>
    <dgm:cxn modelId="{B00A8BA3-E48B-0C49-9C6A-A61BE3E39AEA}" type="presOf" srcId="{69CE5C23-1B28-CB49-9968-845FDCAF34A5}" destId="{0ABB8FD0-1D63-954E-A9C5-B27628538DC4}" srcOrd="0" destOrd="0" presId="urn:microsoft.com/office/officeart/2005/8/layout/radial6"/>
    <dgm:cxn modelId="{D497BFA5-B507-7C4E-BE3E-9737D8CBB075}" srcId="{63054ED6-7B7D-D845-A2CD-94DE7B8ADD61}" destId="{E8B22E9B-A331-0645-A9D2-3B464F71B227}" srcOrd="5" destOrd="0" parTransId="{AB89EF52-9133-824D-ACDA-4100D80ED2B3}" sibTransId="{8FD74B15-292D-FB48-9B98-33374F82B017}"/>
    <dgm:cxn modelId="{CD5F56A6-9688-4A47-99E1-F087ABADC6CA}" type="presOf" srcId="{63054ED6-7B7D-D845-A2CD-94DE7B8ADD61}" destId="{D8A36A94-7CB2-464C-87E1-49E82DC7041A}" srcOrd="0" destOrd="0" presId="urn:microsoft.com/office/officeart/2005/8/layout/radial6"/>
    <dgm:cxn modelId="{28E75EA9-D82C-7E4A-B29E-2FDA405BB4D1}" type="presOf" srcId="{90F52EC7-764A-5D4F-90FF-706F29D7E6DF}" destId="{9ED953C9-7FBC-6146-BC08-35138F4B76B8}" srcOrd="0" destOrd="0" presId="urn:microsoft.com/office/officeart/2005/8/layout/radial6"/>
    <dgm:cxn modelId="{FFA0E7CE-38AF-A140-AC77-D969D98A9244}" srcId="{63054ED6-7B7D-D845-A2CD-94DE7B8ADD61}" destId="{69D8DD34-AA80-FA4E-91BF-8EB0B2E96282}" srcOrd="2" destOrd="0" parTransId="{AD72444D-E63E-B644-980D-8C2B6AC4DECF}" sibTransId="{69CE5C23-1B28-CB49-9968-845FDCAF34A5}"/>
    <dgm:cxn modelId="{372991CF-45FE-8249-9EC4-98B273D5872D}" type="presOf" srcId="{E5A3A4B3-BC32-7540-A7E3-DB6CB81A6FE5}" destId="{5970F1F5-6623-2E4F-8918-2E3F61AB5B64}" srcOrd="0" destOrd="0" presId="urn:microsoft.com/office/officeart/2005/8/layout/radial6"/>
    <dgm:cxn modelId="{E2F25DD0-BDF5-D749-9D7A-2516D32C7D10}" type="presOf" srcId="{49CFABDD-9004-E44E-8170-E38D49FE6ACC}" destId="{D7993C44-60DF-3E44-88F8-2C0C514EFE0D}" srcOrd="0" destOrd="0" presId="urn:microsoft.com/office/officeart/2005/8/layout/radial6"/>
    <dgm:cxn modelId="{BF0AE7D4-6DE2-0C44-B647-BB7064964FDA}" srcId="{63054ED6-7B7D-D845-A2CD-94DE7B8ADD61}" destId="{EB8B9EC0-641C-374F-A513-D3561B5BA9B8}" srcOrd="3" destOrd="0" parTransId="{716DDED5-9D3E-AC4B-A39A-2F29F754D032}" sibTransId="{8273CB2B-48D8-984A-8D29-65A5AA9281CF}"/>
    <dgm:cxn modelId="{41977DD8-4ECE-BC4F-8349-76083DC12EF4}" type="presOf" srcId="{5C3C0AAB-D848-984E-8463-B7AA80176EB9}" destId="{04EF393B-F1FF-504B-9392-3BEAD7FB128E}" srcOrd="0" destOrd="0" presId="urn:microsoft.com/office/officeart/2005/8/layout/radial6"/>
    <dgm:cxn modelId="{C53AC2E8-2E33-FA4F-9D3F-A9075587FC40}" srcId="{579B8922-610B-F048-989C-55C0402BC2D5}" destId="{63054ED6-7B7D-D845-A2CD-94DE7B8ADD61}" srcOrd="0" destOrd="0" parTransId="{D082683D-5FBA-064A-8DB5-9B40AD55A5D3}" sibTransId="{01092873-CCB0-1849-8FDF-BD77539B77ED}"/>
    <dgm:cxn modelId="{3BB599F2-9C89-6B47-BB86-457B852BEB09}" type="presOf" srcId="{8273CB2B-48D8-984A-8D29-65A5AA9281CF}" destId="{F7FE8A45-8D81-5948-B114-4AB4BE5A6D12}" srcOrd="0" destOrd="0" presId="urn:microsoft.com/office/officeart/2005/8/layout/radial6"/>
    <dgm:cxn modelId="{62C3F1F7-E77C-4048-AD30-C2F73A8B3900}" srcId="{63054ED6-7B7D-D845-A2CD-94DE7B8ADD61}" destId="{91C5442B-D002-C549-B0CB-805CED332234}" srcOrd="7" destOrd="0" parTransId="{083C8E6E-3B43-0E44-9722-81847ADCA8A9}" sibTransId="{90F52EC7-764A-5D4F-90FF-706F29D7E6DF}"/>
    <dgm:cxn modelId="{397D84FB-9E31-544C-8FD7-6227596FA59E}" type="presOf" srcId="{9849A36A-3DEE-A84A-9370-E4C06079E668}" destId="{2B26FF6D-9606-7142-B700-9D3459D70F5D}" srcOrd="0" destOrd="0" presId="urn:microsoft.com/office/officeart/2005/8/layout/radial6"/>
    <dgm:cxn modelId="{5F82989C-DDF0-CD46-B21C-85A75B92B1F4}" type="presParOf" srcId="{E0CA1FE4-A673-EA43-9BEF-709C3BF2E808}" destId="{D8A36A94-7CB2-464C-87E1-49E82DC7041A}" srcOrd="0" destOrd="0" presId="urn:microsoft.com/office/officeart/2005/8/layout/radial6"/>
    <dgm:cxn modelId="{F0CAA1FC-C850-4642-8BC9-4CD7B489C5D9}" type="presParOf" srcId="{E0CA1FE4-A673-EA43-9BEF-709C3BF2E808}" destId="{04EF393B-F1FF-504B-9392-3BEAD7FB128E}" srcOrd="1" destOrd="0" presId="urn:microsoft.com/office/officeart/2005/8/layout/radial6"/>
    <dgm:cxn modelId="{DD9DE642-E765-884F-8672-18C34FDEEDBC}" type="presParOf" srcId="{E0CA1FE4-A673-EA43-9BEF-709C3BF2E808}" destId="{1D3897EB-5A6C-9246-BB0F-DF1779F57BBF}" srcOrd="2" destOrd="0" presId="urn:microsoft.com/office/officeart/2005/8/layout/radial6"/>
    <dgm:cxn modelId="{BF1C77E2-FA29-4A44-B9E2-BCA200CBF580}" type="presParOf" srcId="{E0CA1FE4-A673-EA43-9BEF-709C3BF2E808}" destId="{18A825CD-EFBC-2243-A565-B252AFF54072}" srcOrd="3" destOrd="0" presId="urn:microsoft.com/office/officeart/2005/8/layout/radial6"/>
    <dgm:cxn modelId="{8319F7CE-C8D5-1945-81DF-C81D60F903A1}" type="presParOf" srcId="{E0CA1FE4-A673-EA43-9BEF-709C3BF2E808}" destId="{A50745CE-74E4-6F43-BB1C-DFCB8AF3FAA7}" srcOrd="4" destOrd="0" presId="urn:microsoft.com/office/officeart/2005/8/layout/radial6"/>
    <dgm:cxn modelId="{336B6D40-E82D-5E47-94F3-300A70EF3611}" type="presParOf" srcId="{E0CA1FE4-A673-EA43-9BEF-709C3BF2E808}" destId="{8230FE8F-F555-944F-B90C-5B6966CFFBC2}" srcOrd="5" destOrd="0" presId="urn:microsoft.com/office/officeart/2005/8/layout/radial6"/>
    <dgm:cxn modelId="{ADF46B83-8896-4D49-AE52-22EBC0B01954}" type="presParOf" srcId="{E0CA1FE4-A673-EA43-9BEF-709C3BF2E808}" destId="{2B26FF6D-9606-7142-B700-9D3459D70F5D}" srcOrd="6" destOrd="0" presId="urn:microsoft.com/office/officeart/2005/8/layout/radial6"/>
    <dgm:cxn modelId="{28F9C684-03DE-F740-845E-FFD13887686E}" type="presParOf" srcId="{E0CA1FE4-A673-EA43-9BEF-709C3BF2E808}" destId="{9A76D26C-287F-0642-B75B-0BF48BDE5F48}" srcOrd="7" destOrd="0" presId="urn:microsoft.com/office/officeart/2005/8/layout/radial6"/>
    <dgm:cxn modelId="{38C2B674-EC55-DD44-AD1E-DDFD5E2F0F18}" type="presParOf" srcId="{E0CA1FE4-A673-EA43-9BEF-709C3BF2E808}" destId="{5AD4BD2C-065A-3E47-A700-FCD8FF43478B}" srcOrd="8" destOrd="0" presId="urn:microsoft.com/office/officeart/2005/8/layout/radial6"/>
    <dgm:cxn modelId="{A734FA3C-F786-0047-A2AF-32263442A5D1}" type="presParOf" srcId="{E0CA1FE4-A673-EA43-9BEF-709C3BF2E808}" destId="{0ABB8FD0-1D63-954E-A9C5-B27628538DC4}" srcOrd="9" destOrd="0" presId="urn:microsoft.com/office/officeart/2005/8/layout/radial6"/>
    <dgm:cxn modelId="{E6B3C6E9-A81A-E34C-BE40-A8BFF4C20640}" type="presParOf" srcId="{E0CA1FE4-A673-EA43-9BEF-709C3BF2E808}" destId="{A488B6C9-17F0-2E48-B965-D2A615BB36F6}" srcOrd="10" destOrd="0" presId="urn:microsoft.com/office/officeart/2005/8/layout/radial6"/>
    <dgm:cxn modelId="{42D1671E-060F-544A-9206-F210C3C9540A}" type="presParOf" srcId="{E0CA1FE4-A673-EA43-9BEF-709C3BF2E808}" destId="{A4E3174A-4A88-8A4F-90DE-54B1377164A6}" srcOrd="11" destOrd="0" presId="urn:microsoft.com/office/officeart/2005/8/layout/radial6"/>
    <dgm:cxn modelId="{F2987DEE-30CA-5F40-A451-EE2044C86666}" type="presParOf" srcId="{E0CA1FE4-A673-EA43-9BEF-709C3BF2E808}" destId="{F7FE8A45-8D81-5948-B114-4AB4BE5A6D12}" srcOrd="12" destOrd="0" presId="urn:microsoft.com/office/officeart/2005/8/layout/radial6"/>
    <dgm:cxn modelId="{20E9EEAE-350B-8C48-9688-E7EB44F82AED}" type="presParOf" srcId="{E0CA1FE4-A673-EA43-9BEF-709C3BF2E808}" destId="{D7993C44-60DF-3E44-88F8-2C0C514EFE0D}" srcOrd="13" destOrd="0" presId="urn:microsoft.com/office/officeart/2005/8/layout/radial6"/>
    <dgm:cxn modelId="{00D9D1F8-F999-8744-B87B-BFCB6DE53A4F}" type="presParOf" srcId="{E0CA1FE4-A673-EA43-9BEF-709C3BF2E808}" destId="{AE3410E8-7A53-534A-8972-0DF3DFEE0C67}" srcOrd="14" destOrd="0" presId="urn:microsoft.com/office/officeart/2005/8/layout/radial6"/>
    <dgm:cxn modelId="{91A59BC0-2536-2142-9D2C-BB5EEF7EB0D1}" type="presParOf" srcId="{E0CA1FE4-A673-EA43-9BEF-709C3BF2E808}" destId="{D103856B-7558-4245-BD59-9E55A1C16F75}" srcOrd="15" destOrd="0" presId="urn:microsoft.com/office/officeart/2005/8/layout/radial6"/>
    <dgm:cxn modelId="{2E7FB017-ECDA-F949-AF37-8052DCA8295E}" type="presParOf" srcId="{E0CA1FE4-A673-EA43-9BEF-709C3BF2E808}" destId="{018542D2-18B5-F644-9D98-4C9B43898500}" srcOrd="16" destOrd="0" presId="urn:microsoft.com/office/officeart/2005/8/layout/radial6"/>
    <dgm:cxn modelId="{458A4BD1-B265-D946-8466-30498CB0A70C}" type="presParOf" srcId="{E0CA1FE4-A673-EA43-9BEF-709C3BF2E808}" destId="{E73777E6-838B-9444-95D6-39DAF7C9F8F1}" srcOrd="17" destOrd="0" presId="urn:microsoft.com/office/officeart/2005/8/layout/radial6"/>
    <dgm:cxn modelId="{18066530-4E33-714C-A44B-F1C5A2F908A5}" type="presParOf" srcId="{E0CA1FE4-A673-EA43-9BEF-709C3BF2E808}" destId="{BEB75290-8E10-0A46-9780-CA5E9DD16A6F}" srcOrd="18" destOrd="0" presId="urn:microsoft.com/office/officeart/2005/8/layout/radial6"/>
    <dgm:cxn modelId="{F10AE91D-989D-254B-BDFE-F849129314F0}" type="presParOf" srcId="{E0CA1FE4-A673-EA43-9BEF-709C3BF2E808}" destId="{5970F1F5-6623-2E4F-8918-2E3F61AB5B64}" srcOrd="19" destOrd="0" presId="urn:microsoft.com/office/officeart/2005/8/layout/radial6"/>
    <dgm:cxn modelId="{9DC8E5EB-2C51-B343-91BA-6B0D13939D49}" type="presParOf" srcId="{E0CA1FE4-A673-EA43-9BEF-709C3BF2E808}" destId="{D854CE4A-DD4B-CB43-96FF-D300B052D27D}" srcOrd="20" destOrd="0" presId="urn:microsoft.com/office/officeart/2005/8/layout/radial6"/>
    <dgm:cxn modelId="{4E3D5674-3C4A-3449-8668-D3B251DD20D5}" type="presParOf" srcId="{E0CA1FE4-A673-EA43-9BEF-709C3BF2E808}" destId="{3F8A4722-9339-0B43-9B18-585410C13FF9}" srcOrd="21" destOrd="0" presId="urn:microsoft.com/office/officeart/2005/8/layout/radial6"/>
    <dgm:cxn modelId="{48A5F305-D023-6443-988E-899C85290C88}" type="presParOf" srcId="{E0CA1FE4-A673-EA43-9BEF-709C3BF2E808}" destId="{3A01ADC3-B481-C145-8B1C-8383048A6926}" srcOrd="22" destOrd="0" presId="urn:microsoft.com/office/officeart/2005/8/layout/radial6"/>
    <dgm:cxn modelId="{D7D70552-44B5-3748-A62C-992C49D0031C}" type="presParOf" srcId="{E0CA1FE4-A673-EA43-9BEF-709C3BF2E808}" destId="{B6081DA4-667F-6948-A063-1B8FC4CCC510}" srcOrd="23" destOrd="0" presId="urn:microsoft.com/office/officeart/2005/8/layout/radial6"/>
    <dgm:cxn modelId="{AAC6467D-0A7F-D446-BFD4-F7427A49CA0A}" type="presParOf" srcId="{E0CA1FE4-A673-EA43-9BEF-709C3BF2E808}" destId="{9ED953C9-7FBC-6146-BC08-35138F4B76B8}" srcOrd="24" destOrd="0" presId="urn:microsoft.com/office/officeart/2005/8/layout/radial6"/>
    <dgm:cxn modelId="{DF8F11CD-2ECA-9F43-860D-BF7C2B8BD91D}" type="presParOf" srcId="{E0CA1FE4-A673-EA43-9BEF-709C3BF2E808}" destId="{0B1F1FE8-8903-7E4C-B00A-52723BAA92FF}" srcOrd="25" destOrd="0" presId="urn:microsoft.com/office/officeart/2005/8/layout/radial6"/>
    <dgm:cxn modelId="{EA8E0268-7A8D-2844-AA2B-2F06F1C56339}" type="presParOf" srcId="{E0CA1FE4-A673-EA43-9BEF-709C3BF2E808}" destId="{44A1AD2B-ED7F-5E42-BABB-E9EB8DDEA73A}" srcOrd="26" destOrd="0" presId="urn:microsoft.com/office/officeart/2005/8/layout/radial6"/>
    <dgm:cxn modelId="{7DD8DAA2-9C0F-E04F-BFFC-A2A531FBC954}" type="presParOf" srcId="{E0CA1FE4-A673-EA43-9BEF-709C3BF2E808}" destId="{AF669067-E62B-2B4B-9036-239F7310E933}" srcOrd="27" destOrd="0" presId="urn:microsoft.com/office/officeart/2005/8/layout/radial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669067-E62B-2B4B-9036-239F7310E933}">
      <dsp:nvSpPr>
        <dsp:cNvPr id="0" name=""/>
        <dsp:cNvSpPr/>
      </dsp:nvSpPr>
      <dsp:spPr>
        <a:xfrm>
          <a:off x="1744721" y="458918"/>
          <a:ext cx="4638557" cy="4638557"/>
        </a:xfrm>
        <a:prstGeom prst="blockArc">
          <a:avLst>
            <a:gd name="adj1" fmla="val 13800000"/>
            <a:gd name="adj2" fmla="val 16200000"/>
            <a:gd name="adj3" fmla="val 306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ED953C9-7FBC-6146-BC08-35138F4B76B8}">
      <dsp:nvSpPr>
        <dsp:cNvPr id="0" name=""/>
        <dsp:cNvSpPr/>
      </dsp:nvSpPr>
      <dsp:spPr>
        <a:xfrm>
          <a:off x="1744721" y="458918"/>
          <a:ext cx="4638557" cy="4638557"/>
        </a:xfrm>
        <a:prstGeom prst="blockArc">
          <a:avLst>
            <a:gd name="adj1" fmla="val 11400000"/>
            <a:gd name="adj2" fmla="val 13800000"/>
            <a:gd name="adj3" fmla="val 306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F8A4722-9339-0B43-9B18-585410C13FF9}">
      <dsp:nvSpPr>
        <dsp:cNvPr id="0" name=""/>
        <dsp:cNvSpPr/>
      </dsp:nvSpPr>
      <dsp:spPr>
        <a:xfrm>
          <a:off x="1744721" y="458918"/>
          <a:ext cx="4638557" cy="4638557"/>
        </a:xfrm>
        <a:prstGeom prst="blockArc">
          <a:avLst>
            <a:gd name="adj1" fmla="val 9000000"/>
            <a:gd name="adj2" fmla="val 11400000"/>
            <a:gd name="adj3" fmla="val 306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EB75290-8E10-0A46-9780-CA5E9DD16A6F}">
      <dsp:nvSpPr>
        <dsp:cNvPr id="0" name=""/>
        <dsp:cNvSpPr/>
      </dsp:nvSpPr>
      <dsp:spPr>
        <a:xfrm>
          <a:off x="1744721" y="458918"/>
          <a:ext cx="4638557" cy="4638557"/>
        </a:xfrm>
        <a:prstGeom prst="blockArc">
          <a:avLst>
            <a:gd name="adj1" fmla="val 6600000"/>
            <a:gd name="adj2" fmla="val 9000000"/>
            <a:gd name="adj3" fmla="val 306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103856B-7558-4245-BD59-9E55A1C16F75}">
      <dsp:nvSpPr>
        <dsp:cNvPr id="0" name=""/>
        <dsp:cNvSpPr/>
      </dsp:nvSpPr>
      <dsp:spPr>
        <a:xfrm>
          <a:off x="1744721" y="458918"/>
          <a:ext cx="4638557" cy="4638557"/>
        </a:xfrm>
        <a:prstGeom prst="blockArc">
          <a:avLst>
            <a:gd name="adj1" fmla="val 4200000"/>
            <a:gd name="adj2" fmla="val 6600000"/>
            <a:gd name="adj3" fmla="val 306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7FE8A45-8D81-5948-B114-4AB4BE5A6D12}">
      <dsp:nvSpPr>
        <dsp:cNvPr id="0" name=""/>
        <dsp:cNvSpPr/>
      </dsp:nvSpPr>
      <dsp:spPr>
        <a:xfrm>
          <a:off x="1744721" y="458918"/>
          <a:ext cx="4638557" cy="4638557"/>
        </a:xfrm>
        <a:prstGeom prst="blockArc">
          <a:avLst>
            <a:gd name="adj1" fmla="val 1800000"/>
            <a:gd name="adj2" fmla="val 4200000"/>
            <a:gd name="adj3" fmla="val 306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ABB8FD0-1D63-954E-A9C5-B27628538DC4}">
      <dsp:nvSpPr>
        <dsp:cNvPr id="0" name=""/>
        <dsp:cNvSpPr/>
      </dsp:nvSpPr>
      <dsp:spPr>
        <a:xfrm>
          <a:off x="1744721" y="458918"/>
          <a:ext cx="4638557" cy="4638557"/>
        </a:xfrm>
        <a:prstGeom prst="blockArc">
          <a:avLst>
            <a:gd name="adj1" fmla="val 21000000"/>
            <a:gd name="adj2" fmla="val 1800000"/>
            <a:gd name="adj3" fmla="val 306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B26FF6D-9606-7142-B700-9D3459D70F5D}">
      <dsp:nvSpPr>
        <dsp:cNvPr id="0" name=""/>
        <dsp:cNvSpPr/>
      </dsp:nvSpPr>
      <dsp:spPr>
        <a:xfrm>
          <a:off x="1744721" y="458918"/>
          <a:ext cx="4638557" cy="4638557"/>
        </a:xfrm>
        <a:prstGeom prst="blockArc">
          <a:avLst>
            <a:gd name="adj1" fmla="val 18600000"/>
            <a:gd name="adj2" fmla="val 21000000"/>
            <a:gd name="adj3" fmla="val 306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8A825CD-EFBC-2243-A565-B252AFF54072}">
      <dsp:nvSpPr>
        <dsp:cNvPr id="0" name=""/>
        <dsp:cNvSpPr/>
      </dsp:nvSpPr>
      <dsp:spPr>
        <a:xfrm>
          <a:off x="1744721" y="458918"/>
          <a:ext cx="4638557" cy="4638557"/>
        </a:xfrm>
        <a:prstGeom prst="blockArc">
          <a:avLst>
            <a:gd name="adj1" fmla="val 16200000"/>
            <a:gd name="adj2" fmla="val 18600000"/>
            <a:gd name="adj3" fmla="val 306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8A36A94-7CB2-464C-87E1-49E82DC7041A}">
      <dsp:nvSpPr>
        <dsp:cNvPr id="0" name=""/>
        <dsp:cNvSpPr/>
      </dsp:nvSpPr>
      <dsp:spPr>
        <a:xfrm>
          <a:off x="3359546" y="2073744"/>
          <a:ext cx="1408906" cy="1408906"/>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i="1" kern="1200" dirty="0"/>
            <a:t>ASG</a:t>
          </a:r>
        </a:p>
      </dsp:txBody>
      <dsp:txXfrm>
        <a:off x="3565876" y="2280074"/>
        <a:ext cx="996246" cy="996246"/>
      </dsp:txXfrm>
    </dsp:sp>
    <dsp:sp modelId="{04EF393B-F1FF-504B-9392-3BEAD7FB128E}">
      <dsp:nvSpPr>
        <dsp:cNvPr id="0" name=""/>
        <dsp:cNvSpPr/>
      </dsp:nvSpPr>
      <dsp:spPr>
        <a:xfrm>
          <a:off x="3570882" y="1305"/>
          <a:ext cx="986234" cy="986234"/>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r>
            <a:rPr lang="en-US" sz="700" kern="1200" dirty="0"/>
            <a:t>Network Intrusion Detection &amp; Response (NIDR)</a:t>
          </a:r>
        </a:p>
      </dsp:txBody>
      <dsp:txXfrm>
        <a:off x="3715313" y="145736"/>
        <a:ext cx="697372" cy="697372"/>
      </dsp:txXfrm>
    </dsp:sp>
    <dsp:sp modelId="{A50745CE-74E4-6F43-BB1C-DFCB8AF3FAA7}">
      <dsp:nvSpPr>
        <dsp:cNvPr id="0" name=""/>
        <dsp:cNvSpPr/>
      </dsp:nvSpPr>
      <dsp:spPr>
        <a:xfrm>
          <a:off x="5038864" y="535607"/>
          <a:ext cx="986234" cy="986234"/>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r>
            <a:rPr lang="en-US" sz="700" kern="1200" dirty="0"/>
            <a:t>WAF &amp; Firewall</a:t>
          </a:r>
        </a:p>
      </dsp:txBody>
      <dsp:txXfrm>
        <a:off x="5183295" y="680038"/>
        <a:ext cx="697372" cy="697372"/>
      </dsp:txXfrm>
    </dsp:sp>
    <dsp:sp modelId="{9A76D26C-287F-0642-B75B-0BF48BDE5F48}">
      <dsp:nvSpPr>
        <dsp:cNvPr id="0" name=""/>
        <dsp:cNvSpPr/>
      </dsp:nvSpPr>
      <dsp:spPr>
        <a:xfrm>
          <a:off x="5819961" y="1888507"/>
          <a:ext cx="986234" cy="986234"/>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r>
            <a:rPr lang="en-US" sz="700" kern="1200" dirty="0"/>
            <a:t>System Incident Monitoring &amp; Remediation (SIEM)</a:t>
          </a:r>
        </a:p>
      </dsp:txBody>
      <dsp:txXfrm>
        <a:off x="5964392" y="2032938"/>
        <a:ext cx="697372" cy="697372"/>
      </dsp:txXfrm>
    </dsp:sp>
    <dsp:sp modelId="{A488B6C9-17F0-2E48-B965-D2A615BB36F6}">
      <dsp:nvSpPr>
        <dsp:cNvPr id="0" name=""/>
        <dsp:cNvSpPr/>
      </dsp:nvSpPr>
      <dsp:spPr>
        <a:xfrm>
          <a:off x="5548689" y="3426967"/>
          <a:ext cx="986234" cy="986234"/>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r>
            <a:rPr lang="en-US" sz="700" kern="1200" dirty="0"/>
            <a:t>Vulnerability Management &amp; Response</a:t>
          </a:r>
        </a:p>
      </dsp:txBody>
      <dsp:txXfrm>
        <a:off x="5693120" y="3571398"/>
        <a:ext cx="697372" cy="697372"/>
      </dsp:txXfrm>
    </dsp:sp>
    <dsp:sp modelId="{D7993C44-60DF-3E44-88F8-2C0C514EFE0D}">
      <dsp:nvSpPr>
        <dsp:cNvPr id="0" name=""/>
        <dsp:cNvSpPr/>
      </dsp:nvSpPr>
      <dsp:spPr>
        <a:xfrm>
          <a:off x="4351979" y="4431126"/>
          <a:ext cx="986234" cy="986234"/>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r>
            <a:rPr lang="en-US" sz="700" kern="1200" dirty="0"/>
            <a:t>Application Performance Monitoring</a:t>
          </a:r>
        </a:p>
      </dsp:txBody>
      <dsp:txXfrm>
        <a:off x="4496410" y="4575557"/>
        <a:ext cx="697372" cy="697372"/>
      </dsp:txXfrm>
    </dsp:sp>
    <dsp:sp modelId="{018542D2-18B5-F644-9D98-4C9B43898500}">
      <dsp:nvSpPr>
        <dsp:cNvPr id="0" name=""/>
        <dsp:cNvSpPr/>
      </dsp:nvSpPr>
      <dsp:spPr>
        <a:xfrm>
          <a:off x="2789785" y="4431126"/>
          <a:ext cx="986234" cy="986234"/>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r>
            <a:rPr lang="en-US" sz="700" kern="1200" dirty="0"/>
            <a:t>Global Threat Intelligence</a:t>
          </a:r>
        </a:p>
      </dsp:txBody>
      <dsp:txXfrm>
        <a:off x="2934216" y="4575557"/>
        <a:ext cx="697372" cy="697372"/>
      </dsp:txXfrm>
    </dsp:sp>
    <dsp:sp modelId="{5970F1F5-6623-2E4F-8918-2E3F61AB5B64}">
      <dsp:nvSpPr>
        <dsp:cNvPr id="0" name=""/>
        <dsp:cNvSpPr/>
      </dsp:nvSpPr>
      <dsp:spPr>
        <a:xfrm>
          <a:off x="1593076" y="3426967"/>
          <a:ext cx="986234" cy="986234"/>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r>
            <a:rPr lang="en-US" sz="700" kern="1200" dirty="0"/>
            <a:t>Legal &amp; Compliance</a:t>
          </a:r>
        </a:p>
      </dsp:txBody>
      <dsp:txXfrm>
        <a:off x="1737507" y="3571398"/>
        <a:ext cx="697372" cy="697372"/>
      </dsp:txXfrm>
    </dsp:sp>
    <dsp:sp modelId="{3A01ADC3-B481-C145-8B1C-8383048A6926}">
      <dsp:nvSpPr>
        <dsp:cNvPr id="0" name=""/>
        <dsp:cNvSpPr/>
      </dsp:nvSpPr>
      <dsp:spPr>
        <a:xfrm>
          <a:off x="1321803" y="1888507"/>
          <a:ext cx="986234" cy="986234"/>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r>
            <a:rPr lang="en-US" sz="700" kern="1200" dirty="0"/>
            <a:t>Dashboard &amp; Analytics</a:t>
          </a:r>
        </a:p>
      </dsp:txBody>
      <dsp:txXfrm>
        <a:off x="1466234" y="2032938"/>
        <a:ext cx="697372" cy="697372"/>
      </dsp:txXfrm>
    </dsp:sp>
    <dsp:sp modelId="{0B1F1FE8-8903-7E4C-B00A-52723BAA92FF}">
      <dsp:nvSpPr>
        <dsp:cNvPr id="0" name=""/>
        <dsp:cNvSpPr/>
      </dsp:nvSpPr>
      <dsp:spPr>
        <a:xfrm>
          <a:off x="2102900" y="535607"/>
          <a:ext cx="986234" cy="986234"/>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r>
            <a:rPr lang="en-US" sz="700" kern="1200" dirty="0"/>
            <a:t>Security Language Model</a:t>
          </a:r>
        </a:p>
      </dsp:txBody>
      <dsp:txXfrm>
        <a:off x="2247331" y="680038"/>
        <a:ext cx="697372" cy="697372"/>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E03BD63-559D-3A65-C2E2-3094AF2A0E2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4C289E-5B77-7C7F-C72B-0A38A48D009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0B60C55-DA89-A743-AEC4-D5CDB8585989}" type="datetimeFigureOut">
              <a:rPr lang="en-US" smtClean="0"/>
              <a:t>4/18/25</a:t>
            </a:fld>
            <a:endParaRPr lang="en-US"/>
          </a:p>
        </p:txBody>
      </p:sp>
      <p:sp>
        <p:nvSpPr>
          <p:cNvPr id="4" name="Footer Placeholder 3">
            <a:extLst>
              <a:ext uri="{FF2B5EF4-FFF2-40B4-BE49-F238E27FC236}">
                <a16:creationId xmlns:a16="http://schemas.microsoft.com/office/drawing/2014/main" id="{FB6BFC54-C61F-FE63-C261-7099469BB19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C750CD4-05D6-B8E6-8E90-0C212549E79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07E640-CE89-B54B-9586-B6FC8349755D}" type="slidenum">
              <a:rPr lang="en-US" smtClean="0"/>
              <a:t>‹#›</a:t>
            </a:fld>
            <a:endParaRPr lang="en-US"/>
          </a:p>
        </p:txBody>
      </p:sp>
    </p:spTree>
    <p:extLst>
      <p:ext uri="{BB962C8B-B14F-4D97-AF65-F5344CB8AC3E}">
        <p14:creationId xmlns:p14="http://schemas.microsoft.com/office/powerpoint/2010/main" val="37574412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7691A4-062C-1345-8352-2ABD21CF9B05}" type="datetimeFigureOut">
              <a:rPr lang="en-US" smtClean="0"/>
              <a:t>4/18/25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881564-0C77-C641-92EE-90D8B4FBB46A}" type="slidenum">
              <a:rPr lang="en-US" smtClean="0"/>
              <a:t>‹#›</a:t>
            </a:fld>
            <a:endParaRPr lang="en-US"/>
          </a:p>
        </p:txBody>
      </p:sp>
    </p:spTree>
    <p:extLst>
      <p:ext uri="{BB962C8B-B14F-4D97-AF65-F5344CB8AC3E}">
        <p14:creationId xmlns:p14="http://schemas.microsoft.com/office/powerpoint/2010/main" val="3437905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5881564-0C77-C641-92EE-90D8B4FBB46A}" type="slidenum">
              <a:rPr lang="en-US" smtClean="0"/>
              <a:t>9</a:t>
            </a:fld>
            <a:endParaRPr lang="en-US"/>
          </a:p>
        </p:txBody>
      </p:sp>
    </p:spTree>
    <p:extLst>
      <p:ext uri="{BB962C8B-B14F-4D97-AF65-F5344CB8AC3E}">
        <p14:creationId xmlns:p14="http://schemas.microsoft.com/office/powerpoint/2010/main" val="7702521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10</a:t>
            </a:fld>
            <a:endParaRPr lang="en-US"/>
          </a:p>
        </p:txBody>
      </p:sp>
    </p:spTree>
    <p:extLst>
      <p:ext uri="{BB962C8B-B14F-4D97-AF65-F5344CB8AC3E}">
        <p14:creationId xmlns:p14="http://schemas.microsoft.com/office/powerpoint/2010/main" val="35506946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https://pixabay.com/en/entrepreneur-startup-start-up-man-593377/</a:t>
            </a:r>
          </a:p>
        </p:txBody>
      </p:sp>
      <p:sp>
        <p:nvSpPr>
          <p:cNvPr id="4" name="Slide Number Placeholder 3"/>
          <p:cNvSpPr>
            <a:spLocks noGrp="1"/>
          </p:cNvSpPr>
          <p:nvPr>
            <p:ph type="sldNum" sz="quarter" idx="5"/>
          </p:nvPr>
        </p:nvSpPr>
        <p:spPr/>
        <p:txBody>
          <a:bodyPr/>
          <a:lstStyle/>
          <a:p>
            <a:fld id="{CA2D21D1-52E2-420B-B491-CFF6D7BB79FB}" type="slidenum">
              <a:rPr lang="en-US" smtClean="0"/>
              <a:pPr/>
              <a:t>11</a:t>
            </a:fld>
            <a:endParaRPr lang="en-US"/>
          </a:p>
        </p:txBody>
      </p:sp>
    </p:spTree>
    <p:extLst>
      <p:ext uri="{BB962C8B-B14F-4D97-AF65-F5344CB8AC3E}">
        <p14:creationId xmlns:p14="http://schemas.microsoft.com/office/powerpoint/2010/main" val="19962585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lang="en-IN" dirty="0"/>
              <a:t>Source File;-</a:t>
            </a:r>
          </a:p>
          <a:p>
            <a:r>
              <a:rPr lang="en-IN" dirty="0"/>
              <a:t>https://unsplash.com/photos/PK_t0Lrh7MM</a:t>
            </a:r>
          </a:p>
          <a:p>
            <a:r>
              <a:rPr lang="en-IN" dirty="0"/>
              <a:t>https://unsplash.com/photos/DItYlc26zVI</a:t>
            </a:r>
          </a:p>
          <a:p>
            <a:r>
              <a:rPr lang="en-IN" dirty="0"/>
              <a:t>https://unsplash.com/photos/y9L5-wmifaY</a:t>
            </a:r>
          </a:p>
          <a:p>
            <a:r>
              <a:rPr lang="en-IN" dirty="0"/>
              <a:t>https://unsplash.com/photos/MQ9U2GFnnDc</a:t>
            </a:r>
          </a:p>
        </p:txBody>
      </p:sp>
      <p:sp>
        <p:nvSpPr>
          <p:cNvPr id="4" name="Slide Number Placeholder 3"/>
          <p:cNvSpPr>
            <a:spLocks noGrp="1"/>
          </p:cNvSpPr>
          <p:nvPr>
            <p:ph type="sldNum" sz="quarter" idx="5"/>
          </p:nvPr>
        </p:nvSpPr>
        <p:spPr/>
        <p:txBody>
          <a:bodyPr/>
          <a:lstStyle/>
          <a:p>
            <a:fld id="{CA2D21D1-52E2-420B-B491-CFF6D7BB79FB}" type="slidenum">
              <a:rPr lang="en-US" smtClean="0"/>
              <a:pPr/>
              <a:t>12</a:t>
            </a:fld>
            <a:endParaRPr lang="en-US"/>
          </a:p>
        </p:txBody>
      </p:sp>
    </p:spTree>
    <p:extLst>
      <p:ext uri="{BB962C8B-B14F-4D97-AF65-F5344CB8AC3E}">
        <p14:creationId xmlns:p14="http://schemas.microsoft.com/office/powerpoint/2010/main" val="34187395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Footer Placeholder 4">
            <a:extLst>
              <a:ext uri="{FF2B5EF4-FFF2-40B4-BE49-F238E27FC236}">
                <a16:creationId xmlns:a16="http://schemas.microsoft.com/office/drawing/2014/main" id="{6DFBC61A-8090-8168-6EF9-E0CF502CAD3B}"/>
              </a:ext>
            </a:extLst>
          </p:cNvPr>
          <p:cNvSpPr txBox="1">
            <a:spLocks/>
          </p:cNvSpPr>
          <p:nvPr userDrawn="1"/>
        </p:nvSpPr>
        <p:spPr>
          <a:xfrm rot="16200000">
            <a:off x="9909463" y="3000157"/>
            <a:ext cx="4219278"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i="1" dirty="0"/>
              <a:t>© 2025 Athena Software Group. Confidential &amp; Proprietary. Do not distribute.</a:t>
            </a:r>
          </a:p>
        </p:txBody>
      </p:sp>
    </p:spTree>
    <p:extLst>
      <p:ext uri="{BB962C8B-B14F-4D97-AF65-F5344CB8AC3E}">
        <p14:creationId xmlns:p14="http://schemas.microsoft.com/office/powerpoint/2010/main" val="18943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209009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5" name="Footer Placeholder 4"/>
          <p:cNvSpPr>
            <a:spLocks noGrp="1"/>
          </p:cNvSpPr>
          <p:nvPr>
            <p:ph type="ftr" sz="quarter" idx="11"/>
          </p:nvPr>
        </p:nvSpPr>
        <p:spPr/>
        <p:txBody>
          <a:bodyPr/>
          <a:lstStyle/>
          <a:p>
            <a:r>
              <a:rPr lang="en-US"/>
              <a:t>© 2025 Athena Software Group. Confidential &amp; Proprietary. Do not distribute.</a:t>
            </a:r>
            <a:endParaRPr lang="en-US" dirty="0"/>
          </a:p>
        </p:txBody>
      </p:sp>
      <p:sp>
        <p:nvSpPr>
          <p:cNvPr id="7" name="Footer Placeholder 4">
            <a:extLst>
              <a:ext uri="{FF2B5EF4-FFF2-40B4-BE49-F238E27FC236}">
                <a16:creationId xmlns:a16="http://schemas.microsoft.com/office/drawing/2014/main" id="{49D9D5FB-CA2B-2D18-2B72-547EB4A5DC3D}"/>
              </a:ext>
            </a:extLst>
          </p:cNvPr>
          <p:cNvSpPr txBox="1">
            <a:spLocks/>
          </p:cNvSpPr>
          <p:nvPr userDrawn="1"/>
        </p:nvSpPr>
        <p:spPr>
          <a:xfrm rot="16200000">
            <a:off x="10066385" y="2882004"/>
            <a:ext cx="3982972"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i="1" dirty="0"/>
              <a:t>© 2025 Athena Software Group. Confidential &amp; Proprietary. Do not distribute.</a:t>
            </a:r>
          </a:p>
        </p:txBody>
      </p:sp>
    </p:spTree>
    <p:extLst>
      <p:ext uri="{BB962C8B-B14F-4D97-AF65-F5344CB8AC3E}">
        <p14:creationId xmlns:p14="http://schemas.microsoft.com/office/powerpoint/2010/main" val="3209623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62027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8" name="Footer Placeholder 7"/>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56407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4" name="Footer Placeholder 3"/>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597469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ooter Placeholder 4">
            <a:extLst>
              <a:ext uri="{FF2B5EF4-FFF2-40B4-BE49-F238E27FC236}">
                <a16:creationId xmlns:a16="http://schemas.microsoft.com/office/drawing/2014/main" id="{1C26F73B-B6F2-FB00-404E-311A788B1854}"/>
              </a:ext>
            </a:extLst>
          </p:cNvPr>
          <p:cNvSpPr txBox="1">
            <a:spLocks/>
          </p:cNvSpPr>
          <p:nvPr userDrawn="1"/>
        </p:nvSpPr>
        <p:spPr>
          <a:xfrm rot="16200000">
            <a:off x="9956981" y="3032223"/>
            <a:ext cx="4124242"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i="1" dirty="0"/>
              <a:t>© 2025 Athena Software Group. Confidential &amp; Proprietary. Do not distribute.</a:t>
            </a:r>
          </a:p>
        </p:txBody>
      </p:sp>
    </p:spTree>
    <p:extLst>
      <p:ext uri="{BB962C8B-B14F-4D97-AF65-F5344CB8AC3E}">
        <p14:creationId xmlns:p14="http://schemas.microsoft.com/office/powerpoint/2010/main" val="3226582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10" name="Footer Placeholder 4">
            <a:extLst>
              <a:ext uri="{FF2B5EF4-FFF2-40B4-BE49-F238E27FC236}">
                <a16:creationId xmlns:a16="http://schemas.microsoft.com/office/drawing/2014/main" id="{B17411E9-B4DB-4663-AF2A-AFC3CE7427E3}"/>
              </a:ext>
            </a:extLst>
          </p:cNvPr>
          <p:cNvSpPr txBox="1">
            <a:spLocks/>
          </p:cNvSpPr>
          <p:nvPr userDrawn="1"/>
        </p:nvSpPr>
        <p:spPr>
          <a:xfrm rot="16200000">
            <a:off x="9880107" y="3236888"/>
            <a:ext cx="4228772"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i="1" dirty="0"/>
              <a:t>© 2025 Athena Software Group. Confidential &amp; Proprietary. Do not distribute.</a:t>
            </a:r>
          </a:p>
        </p:txBody>
      </p:sp>
    </p:spTree>
    <p:extLst>
      <p:ext uri="{BB962C8B-B14F-4D97-AF65-F5344CB8AC3E}">
        <p14:creationId xmlns:p14="http://schemas.microsoft.com/office/powerpoint/2010/main" val="93232077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Footer Placeholder 4">
            <a:extLst>
              <a:ext uri="{FF2B5EF4-FFF2-40B4-BE49-F238E27FC236}">
                <a16:creationId xmlns:a16="http://schemas.microsoft.com/office/drawing/2014/main" id="{5B3ECF7A-537F-4FB8-9C02-07AD5BF4EC79}"/>
              </a:ext>
            </a:extLst>
          </p:cNvPr>
          <p:cNvSpPr txBox="1">
            <a:spLocks/>
          </p:cNvSpPr>
          <p:nvPr userDrawn="1"/>
        </p:nvSpPr>
        <p:spPr>
          <a:xfrm rot="16200000">
            <a:off x="9840128" y="3256102"/>
            <a:ext cx="4338362"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i="1" dirty="0"/>
              <a:t>© 2025 Athena Software Group. Confidential &amp; Proprietary. Do not distribute.</a:t>
            </a:r>
          </a:p>
        </p:txBody>
      </p:sp>
    </p:spTree>
    <p:extLst>
      <p:ext uri="{BB962C8B-B14F-4D97-AF65-F5344CB8AC3E}">
        <p14:creationId xmlns:p14="http://schemas.microsoft.com/office/powerpoint/2010/main" val="3995883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135788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3" name="Footer Placeholder 4">
            <a:extLst>
              <a:ext uri="{FF2B5EF4-FFF2-40B4-BE49-F238E27FC236}">
                <a16:creationId xmlns:a16="http://schemas.microsoft.com/office/drawing/2014/main" id="{F13FF7D5-9B46-53AC-2744-779E3A0BDD6A}"/>
              </a:ext>
            </a:extLst>
          </p:cNvPr>
          <p:cNvSpPr txBox="1">
            <a:spLocks/>
          </p:cNvSpPr>
          <p:nvPr userDrawn="1"/>
        </p:nvSpPr>
        <p:spPr>
          <a:xfrm rot="16200000">
            <a:off x="9803953" y="3256102"/>
            <a:ext cx="4476132"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i="1" dirty="0"/>
              <a:t>© 2025 Athena Software Group. Confidential &amp; Proprietary. Do not distribute.</a:t>
            </a:r>
          </a:p>
        </p:txBody>
      </p:sp>
    </p:spTree>
    <p:extLst>
      <p:ext uri="{BB962C8B-B14F-4D97-AF65-F5344CB8AC3E}">
        <p14:creationId xmlns:p14="http://schemas.microsoft.com/office/powerpoint/2010/main" val="36710325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ooter Placeholder 4">
            <a:extLst>
              <a:ext uri="{FF2B5EF4-FFF2-40B4-BE49-F238E27FC236}">
                <a16:creationId xmlns:a16="http://schemas.microsoft.com/office/drawing/2014/main" id="{5664145B-19FD-AD77-4870-A755C975D17D}"/>
              </a:ext>
            </a:extLst>
          </p:cNvPr>
          <p:cNvSpPr txBox="1">
            <a:spLocks/>
          </p:cNvSpPr>
          <p:nvPr userDrawn="1"/>
        </p:nvSpPr>
        <p:spPr>
          <a:xfrm rot="16200000">
            <a:off x="10020469" y="3733748"/>
            <a:ext cx="4002360"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i="1" dirty="0"/>
              <a:t>© 2025 Athena Software Group. Confidential &amp; Proprietary. Do not distribute.</a:t>
            </a:r>
          </a:p>
        </p:txBody>
      </p:sp>
    </p:spTree>
    <p:extLst>
      <p:ext uri="{BB962C8B-B14F-4D97-AF65-F5344CB8AC3E}">
        <p14:creationId xmlns:p14="http://schemas.microsoft.com/office/powerpoint/2010/main" val="2989769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2182"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ooter Placeholder 4">
            <a:extLst>
              <a:ext uri="{FF2B5EF4-FFF2-40B4-BE49-F238E27FC236}">
                <a16:creationId xmlns:a16="http://schemas.microsoft.com/office/drawing/2014/main" id="{7C033ECB-BE15-8E71-E72D-C0C1597B1866}"/>
              </a:ext>
            </a:extLst>
          </p:cNvPr>
          <p:cNvSpPr txBox="1">
            <a:spLocks/>
          </p:cNvSpPr>
          <p:nvPr userDrawn="1"/>
        </p:nvSpPr>
        <p:spPr>
          <a:xfrm rot="16200000">
            <a:off x="9653605" y="2928235"/>
            <a:ext cx="4846078"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i="1" dirty="0"/>
              <a:t>© 2025 Athena Software Group. Confidential &amp; Proprietary. Do not distribute.</a:t>
            </a:r>
          </a:p>
        </p:txBody>
      </p:sp>
    </p:spTree>
    <p:extLst>
      <p:ext uri="{BB962C8B-B14F-4D97-AF65-F5344CB8AC3E}">
        <p14:creationId xmlns:p14="http://schemas.microsoft.com/office/powerpoint/2010/main" val="409876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8" name="Footer Placeholder 7"/>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5104105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Tree>
    <p:extLst>
      <p:ext uri="{BB962C8B-B14F-4D97-AF65-F5344CB8AC3E}">
        <p14:creationId xmlns:p14="http://schemas.microsoft.com/office/powerpoint/2010/main" val="20221143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a:prstGeom prst="rect">
            <a:avLst/>
          </a:prstGeom>
        </p:spPr>
        <p:txBody>
          <a:bodyPr/>
          <a:lstStyle/>
          <a:p>
            <a:fld id="{B61BEF0D-F0BB-DE4B-95CE-6DB70DBA9567}" type="datetimeFigureOut">
              <a:rPr lang="en-US" smtClean="0"/>
              <a:pPr/>
              <a:t>4/18/25</a:t>
            </a:fld>
            <a:endParaRPr lang="en-US" dirty="0"/>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9542044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a:prstGeom prst="rect">
            <a:avLst/>
          </a:prstGeom>
        </p:spPr>
        <p:txBody>
          <a:bodyPr/>
          <a:lstStyle/>
          <a:p>
            <a:fld id="{B61BEF0D-F0BB-DE4B-95CE-6DB70DBA9567}" type="datetimeFigureOut">
              <a:rPr lang="en-US" smtClean="0"/>
              <a:pPr/>
              <a:t>4/18/25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ooter Placeholder 4">
            <a:extLst>
              <a:ext uri="{FF2B5EF4-FFF2-40B4-BE49-F238E27FC236}">
                <a16:creationId xmlns:a16="http://schemas.microsoft.com/office/drawing/2014/main" id="{6F1740BF-5AE9-E944-D85C-62E2CE23F1FE}"/>
              </a:ext>
            </a:extLst>
          </p:cNvPr>
          <p:cNvSpPr txBox="1">
            <a:spLocks/>
          </p:cNvSpPr>
          <p:nvPr userDrawn="1"/>
        </p:nvSpPr>
        <p:spPr>
          <a:xfrm rot="16200000">
            <a:off x="10035981" y="3078004"/>
            <a:ext cx="4013795"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i="1" dirty="0"/>
              <a:t>© 2025 Athena Software Group. Confidential &amp; Proprietary. Do not distribute.</a:t>
            </a:r>
          </a:p>
        </p:txBody>
      </p:sp>
    </p:spTree>
    <p:extLst>
      <p:ext uri="{BB962C8B-B14F-4D97-AF65-F5344CB8AC3E}">
        <p14:creationId xmlns:p14="http://schemas.microsoft.com/office/powerpoint/2010/main" val="6610962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tle">
    <p:bg>
      <p:bgPr>
        <a:solidFill>
          <a:schemeClr val="accent1"/>
        </a:solidFill>
        <a:effectLst/>
      </p:bgPr>
    </p:bg>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5DC5AFFD-702C-4F7D-99C3-3B3D928D2DB5}"/>
              </a:ext>
            </a:extLst>
          </p:cNvPr>
          <p:cNvSpPr>
            <a:spLocks noGrp="1"/>
          </p:cNvSpPr>
          <p:nvPr>
            <p:ph type="body" sz="quarter" idx="13"/>
          </p:nvPr>
        </p:nvSpPr>
        <p:spPr>
          <a:xfrm>
            <a:off x="609600" y="458989"/>
            <a:ext cx="10972801" cy="720725"/>
          </a:xfrm>
        </p:spPr>
        <p:txBody>
          <a:bodyPr anchor="ctr">
            <a:noAutofit/>
          </a:bodyPr>
          <a:lstStyle>
            <a:lvl1pPr marL="0" indent="0" algn="ctr">
              <a:buFontTx/>
              <a:buNone/>
              <a:defRPr sz="4400" b="1">
                <a:solidFill>
                  <a:schemeClr val="bg1"/>
                </a:solidFill>
                <a:latin typeface="+mn-lt"/>
              </a:defRPr>
            </a:lvl1pPr>
          </a:lstStyle>
          <a:p>
            <a:pPr lvl="0"/>
            <a:r>
              <a:rPr lang="en-US" dirty="0"/>
              <a:t>Click to edit Master</a:t>
            </a:r>
            <a:endParaRPr lang="en-IN" dirty="0"/>
          </a:p>
        </p:txBody>
      </p:sp>
      <p:sp>
        <p:nvSpPr>
          <p:cNvPr id="7" name="Footer Placeholder 2">
            <a:extLst>
              <a:ext uri="{FF2B5EF4-FFF2-40B4-BE49-F238E27FC236}">
                <a16:creationId xmlns:a16="http://schemas.microsoft.com/office/drawing/2014/main" id="{2F9C8504-09F4-46CC-956E-71B7530C3325}"/>
              </a:ext>
            </a:extLst>
          </p:cNvPr>
          <p:cNvSpPr>
            <a:spLocks noGrp="1"/>
          </p:cNvSpPr>
          <p:nvPr>
            <p:ph type="ftr" sz="quarter" idx="11"/>
          </p:nvPr>
        </p:nvSpPr>
        <p:spPr>
          <a:xfrm>
            <a:off x="609600" y="6356352"/>
            <a:ext cx="3860800" cy="365125"/>
          </a:xfrm>
        </p:spPr>
        <p:txBody>
          <a:bodyPr/>
          <a:lstStyle>
            <a:lvl1pPr algn="l">
              <a:defRPr>
                <a:solidFill>
                  <a:schemeClr val="accent3"/>
                </a:solidFill>
              </a:defRPr>
            </a:lvl1pPr>
          </a:lstStyle>
          <a:p>
            <a:endParaRPr lang="en-US" dirty="0"/>
          </a:p>
        </p:txBody>
      </p:sp>
    </p:spTree>
    <p:extLst>
      <p:ext uri="{BB962C8B-B14F-4D97-AF65-F5344CB8AC3E}">
        <p14:creationId xmlns:p14="http://schemas.microsoft.com/office/powerpoint/2010/main" val="26542720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Our Team">
    <p:bg>
      <p:bgPr>
        <a:solidFill>
          <a:schemeClr val="accent1"/>
        </a:solidFill>
        <a:effectLst/>
      </p:bgPr>
    </p:bg>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5DC5AFFD-702C-4F7D-99C3-3B3D928D2DB5}"/>
              </a:ext>
            </a:extLst>
          </p:cNvPr>
          <p:cNvSpPr>
            <a:spLocks noGrp="1"/>
          </p:cNvSpPr>
          <p:nvPr>
            <p:ph type="body" sz="quarter" idx="13"/>
          </p:nvPr>
        </p:nvSpPr>
        <p:spPr>
          <a:xfrm>
            <a:off x="609600" y="458989"/>
            <a:ext cx="10972801" cy="720725"/>
          </a:xfrm>
        </p:spPr>
        <p:txBody>
          <a:bodyPr anchor="ctr">
            <a:noAutofit/>
          </a:bodyPr>
          <a:lstStyle>
            <a:lvl1pPr marL="0" indent="0" algn="ctr">
              <a:buFontTx/>
              <a:buNone/>
              <a:defRPr sz="4400" b="1">
                <a:solidFill>
                  <a:schemeClr val="bg1"/>
                </a:solidFill>
                <a:latin typeface="+mn-lt"/>
              </a:defRPr>
            </a:lvl1pPr>
          </a:lstStyle>
          <a:p>
            <a:pPr lvl="0"/>
            <a:r>
              <a:rPr lang="en-US" dirty="0"/>
              <a:t>Click to edit Master</a:t>
            </a:r>
            <a:endParaRPr lang="en-IN" dirty="0"/>
          </a:p>
        </p:txBody>
      </p:sp>
      <p:sp>
        <p:nvSpPr>
          <p:cNvPr id="7" name="Footer Placeholder 2">
            <a:extLst>
              <a:ext uri="{FF2B5EF4-FFF2-40B4-BE49-F238E27FC236}">
                <a16:creationId xmlns:a16="http://schemas.microsoft.com/office/drawing/2014/main" id="{2F9C8504-09F4-46CC-956E-71B7530C3325}"/>
              </a:ext>
            </a:extLst>
          </p:cNvPr>
          <p:cNvSpPr>
            <a:spLocks noGrp="1"/>
          </p:cNvSpPr>
          <p:nvPr>
            <p:ph type="ftr" sz="quarter" idx="11"/>
          </p:nvPr>
        </p:nvSpPr>
        <p:spPr>
          <a:xfrm>
            <a:off x="609600" y="6356352"/>
            <a:ext cx="3860800" cy="365125"/>
          </a:xfrm>
        </p:spPr>
        <p:txBody>
          <a:bodyPr/>
          <a:lstStyle>
            <a:lvl1pPr algn="l">
              <a:defRPr>
                <a:solidFill>
                  <a:schemeClr val="accent3"/>
                </a:solidFill>
              </a:defRPr>
            </a:lvl1pPr>
          </a:lstStyle>
          <a:p>
            <a:endParaRPr lang="en-US" dirty="0"/>
          </a:p>
        </p:txBody>
      </p:sp>
      <p:sp>
        <p:nvSpPr>
          <p:cNvPr id="10" name="Picture Placeholder 9">
            <a:extLst>
              <a:ext uri="{FF2B5EF4-FFF2-40B4-BE49-F238E27FC236}">
                <a16:creationId xmlns:a16="http://schemas.microsoft.com/office/drawing/2014/main" id="{26179DA2-75D4-4EAE-828A-A94D984B76F2}"/>
              </a:ext>
            </a:extLst>
          </p:cNvPr>
          <p:cNvSpPr>
            <a:spLocks noGrp="1"/>
          </p:cNvSpPr>
          <p:nvPr>
            <p:ph type="pic" sz="quarter" idx="14"/>
          </p:nvPr>
        </p:nvSpPr>
        <p:spPr>
          <a:xfrm>
            <a:off x="1188959" y="2240294"/>
            <a:ext cx="1405096" cy="1404730"/>
          </a:xfrm>
          <a:custGeom>
            <a:avLst/>
            <a:gdLst>
              <a:gd name="connsiteX0" fmla="*/ 702365 w 1404730"/>
              <a:gd name="connsiteY0" fmla="*/ 0 h 1404730"/>
              <a:gd name="connsiteX1" fmla="*/ 1404730 w 1404730"/>
              <a:gd name="connsiteY1" fmla="*/ 702365 h 1404730"/>
              <a:gd name="connsiteX2" fmla="*/ 702365 w 1404730"/>
              <a:gd name="connsiteY2" fmla="*/ 1404730 h 1404730"/>
              <a:gd name="connsiteX3" fmla="*/ 0 w 1404730"/>
              <a:gd name="connsiteY3" fmla="*/ 702365 h 1404730"/>
              <a:gd name="connsiteX4" fmla="*/ 702365 w 1404730"/>
              <a:gd name="connsiteY4" fmla="*/ 0 h 1404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730" h="1404730">
                <a:moveTo>
                  <a:pt x="702365" y="0"/>
                </a:moveTo>
                <a:cubicBezTo>
                  <a:pt x="1090270" y="0"/>
                  <a:pt x="1404730" y="314460"/>
                  <a:pt x="1404730" y="702365"/>
                </a:cubicBezTo>
                <a:cubicBezTo>
                  <a:pt x="1404730" y="1090270"/>
                  <a:pt x="1090270" y="1404730"/>
                  <a:pt x="702365" y="1404730"/>
                </a:cubicBezTo>
                <a:cubicBezTo>
                  <a:pt x="314460" y="1404730"/>
                  <a:pt x="0" y="1090270"/>
                  <a:pt x="0" y="702365"/>
                </a:cubicBezTo>
                <a:cubicBezTo>
                  <a:pt x="0" y="314460"/>
                  <a:pt x="314460" y="0"/>
                  <a:pt x="702365" y="0"/>
                </a:cubicBezTo>
                <a:close/>
              </a:path>
            </a:pathLst>
          </a:custGeom>
        </p:spPr>
        <p:txBody>
          <a:bodyPr wrap="square" anchor="ctr">
            <a:noAutofit/>
          </a:bodyPr>
          <a:lstStyle>
            <a:lvl1pPr marL="0" indent="0" algn="ctr">
              <a:buFontTx/>
              <a:buNone/>
              <a:defRPr sz="2000">
                <a:solidFill>
                  <a:schemeClr val="bg1"/>
                </a:solidFill>
              </a:defRPr>
            </a:lvl1pPr>
          </a:lstStyle>
          <a:p>
            <a:endParaRPr lang="en-IN" dirty="0"/>
          </a:p>
        </p:txBody>
      </p:sp>
      <p:sp>
        <p:nvSpPr>
          <p:cNvPr id="11" name="Picture Placeholder 10">
            <a:extLst>
              <a:ext uri="{FF2B5EF4-FFF2-40B4-BE49-F238E27FC236}">
                <a16:creationId xmlns:a16="http://schemas.microsoft.com/office/drawing/2014/main" id="{5B9B0602-B0F9-4584-9FEA-58345030FDA7}"/>
              </a:ext>
            </a:extLst>
          </p:cNvPr>
          <p:cNvSpPr>
            <a:spLocks noGrp="1"/>
          </p:cNvSpPr>
          <p:nvPr>
            <p:ph type="pic" sz="quarter" idx="15"/>
          </p:nvPr>
        </p:nvSpPr>
        <p:spPr>
          <a:xfrm>
            <a:off x="3991954" y="2240294"/>
            <a:ext cx="1405096" cy="1404730"/>
          </a:xfrm>
          <a:custGeom>
            <a:avLst/>
            <a:gdLst>
              <a:gd name="connsiteX0" fmla="*/ 702365 w 1404730"/>
              <a:gd name="connsiteY0" fmla="*/ 0 h 1404730"/>
              <a:gd name="connsiteX1" fmla="*/ 1404730 w 1404730"/>
              <a:gd name="connsiteY1" fmla="*/ 702365 h 1404730"/>
              <a:gd name="connsiteX2" fmla="*/ 702365 w 1404730"/>
              <a:gd name="connsiteY2" fmla="*/ 1404730 h 1404730"/>
              <a:gd name="connsiteX3" fmla="*/ 0 w 1404730"/>
              <a:gd name="connsiteY3" fmla="*/ 702365 h 1404730"/>
              <a:gd name="connsiteX4" fmla="*/ 702365 w 1404730"/>
              <a:gd name="connsiteY4" fmla="*/ 0 h 1404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730" h="1404730">
                <a:moveTo>
                  <a:pt x="702365" y="0"/>
                </a:moveTo>
                <a:cubicBezTo>
                  <a:pt x="1090270" y="0"/>
                  <a:pt x="1404730" y="314460"/>
                  <a:pt x="1404730" y="702365"/>
                </a:cubicBezTo>
                <a:cubicBezTo>
                  <a:pt x="1404730" y="1090270"/>
                  <a:pt x="1090270" y="1404730"/>
                  <a:pt x="702365" y="1404730"/>
                </a:cubicBezTo>
                <a:cubicBezTo>
                  <a:pt x="314460" y="1404730"/>
                  <a:pt x="0" y="1090270"/>
                  <a:pt x="0" y="702365"/>
                </a:cubicBezTo>
                <a:cubicBezTo>
                  <a:pt x="0" y="314460"/>
                  <a:pt x="314460" y="0"/>
                  <a:pt x="702365" y="0"/>
                </a:cubicBezTo>
                <a:close/>
              </a:path>
            </a:pathLst>
          </a:custGeom>
        </p:spPr>
        <p:txBody>
          <a:bodyPr wrap="square" anchor="ctr">
            <a:noAutofit/>
          </a:bodyPr>
          <a:lstStyle>
            <a:lvl1pPr marL="0" indent="0" algn="ctr">
              <a:buFontTx/>
              <a:buNone/>
              <a:defRPr sz="2000">
                <a:solidFill>
                  <a:schemeClr val="bg1"/>
                </a:solidFill>
              </a:defRPr>
            </a:lvl1pPr>
          </a:lstStyle>
          <a:p>
            <a:endParaRPr lang="en-IN" dirty="0"/>
          </a:p>
        </p:txBody>
      </p:sp>
      <p:sp>
        <p:nvSpPr>
          <p:cNvPr id="12" name="Picture Placeholder 11">
            <a:extLst>
              <a:ext uri="{FF2B5EF4-FFF2-40B4-BE49-F238E27FC236}">
                <a16:creationId xmlns:a16="http://schemas.microsoft.com/office/drawing/2014/main" id="{F1F24C72-861E-4018-BF13-5A0336A32283}"/>
              </a:ext>
            </a:extLst>
          </p:cNvPr>
          <p:cNvSpPr>
            <a:spLocks noGrp="1"/>
          </p:cNvSpPr>
          <p:nvPr>
            <p:ph type="pic" sz="quarter" idx="16"/>
          </p:nvPr>
        </p:nvSpPr>
        <p:spPr>
          <a:xfrm>
            <a:off x="6794949" y="2240294"/>
            <a:ext cx="1405096" cy="1404730"/>
          </a:xfrm>
          <a:custGeom>
            <a:avLst/>
            <a:gdLst>
              <a:gd name="connsiteX0" fmla="*/ 702365 w 1404730"/>
              <a:gd name="connsiteY0" fmla="*/ 0 h 1404730"/>
              <a:gd name="connsiteX1" fmla="*/ 1404730 w 1404730"/>
              <a:gd name="connsiteY1" fmla="*/ 702365 h 1404730"/>
              <a:gd name="connsiteX2" fmla="*/ 702365 w 1404730"/>
              <a:gd name="connsiteY2" fmla="*/ 1404730 h 1404730"/>
              <a:gd name="connsiteX3" fmla="*/ 0 w 1404730"/>
              <a:gd name="connsiteY3" fmla="*/ 702365 h 1404730"/>
              <a:gd name="connsiteX4" fmla="*/ 702365 w 1404730"/>
              <a:gd name="connsiteY4" fmla="*/ 0 h 1404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730" h="1404730">
                <a:moveTo>
                  <a:pt x="702365" y="0"/>
                </a:moveTo>
                <a:cubicBezTo>
                  <a:pt x="1090270" y="0"/>
                  <a:pt x="1404730" y="314460"/>
                  <a:pt x="1404730" y="702365"/>
                </a:cubicBezTo>
                <a:cubicBezTo>
                  <a:pt x="1404730" y="1090270"/>
                  <a:pt x="1090270" y="1404730"/>
                  <a:pt x="702365" y="1404730"/>
                </a:cubicBezTo>
                <a:cubicBezTo>
                  <a:pt x="314460" y="1404730"/>
                  <a:pt x="0" y="1090270"/>
                  <a:pt x="0" y="702365"/>
                </a:cubicBezTo>
                <a:cubicBezTo>
                  <a:pt x="0" y="314460"/>
                  <a:pt x="314460" y="0"/>
                  <a:pt x="702365" y="0"/>
                </a:cubicBezTo>
                <a:close/>
              </a:path>
            </a:pathLst>
          </a:custGeom>
        </p:spPr>
        <p:txBody>
          <a:bodyPr wrap="square" anchor="ctr">
            <a:noAutofit/>
          </a:bodyPr>
          <a:lstStyle>
            <a:lvl1pPr marL="0" indent="0" algn="ctr">
              <a:buFontTx/>
              <a:buNone/>
              <a:defRPr sz="2000">
                <a:solidFill>
                  <a:schemeClr val="bg1"/>
                </a:solidFill>
              </a:defRPr>
            </a:lvl1pPr>
          </a:lstStyle>
          <a:p>
            <a:endParaRPr lang="en-IN" dirty="0"/>
          </a:p>
        </p:txBody>
      </p:sp>
      <p:sp>
        <p:nvSpPr>
          <p:cNvPr id="13" name="Picture Placeholder 12">
            <a:extLst>
              <a:ext uri="{FF2B5EF4-FFF2-40B4-BE49-F238E27FC236}">
                <a16:creationId xmlns:a16="http://schemas.microsoft.com/office/drawing/2014/main" id="{AB8FE476-427E-4C7E-ADD7-110986029DB4}"/>
              </a:ext>
            </a:extLst>
          </p:cNvPr>
          <p:cNvSpPr>
            <a:spLocks noGrp="1"/>
          </p:cNvSpPr>
          <p:nvPr>
            <p:ph type="pic" sz="quarter" idx="17"/>
          </p:nvPr>
        </p:nvSpPr>
        <p:spPr>
          <a:xfrm>
            <a:off x="9597945" y="2240294"/>
            <a:ext cx="1405096" cy="1404730"/>
          </a:xfrm>
          <a:custGeom>
            <a:avLst/>
            <a:gdLst>
              <a:gd name="connsiteX0" fmla="*/ 702365 w 1404730"/>
              <a:gd name="connsiteY0" fmla="*/ 0 h 1404730"/>
              <a:gd name="connsiteX1" fmla="*/ 1404730 w 1404730"/>
              <a:gd name="connsiteY1" fmla="*/ 702365 h 1404730"/>
              <a:gd name="connsiteX2" fmla="*/ 702365 w 1404730"/>
              <a:gd name="connsiteY2" fmla="*/ 1404730 h 1404730"/>
              <a:gd name="connsiteX3" fmla="*/ 0 w 1404730"/>
              <a:gd name="connsiteY3" fmla="*/ 702365 h 1404730"/>
              <a:gd name="connsiteX4" fmla="*/ 702365 w 1404730"/>
              <a:gd name="connsiteY4" fmla="*/ 0 h 1404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730" h="1404730">
                <a:moveTo>
                  <a:pt x="702365" y="0"/>
                </a:moveTo>
                <a:cubicBezTo>
                  <a:pt x="1090270" y="0"/>
                  <a:pt x="1404730" y="314460"/>
                  <a:pt x="1404730" y="702365"/>
                </a:cubicBezTo>
                <a:cubicBezTo>
                  <a:pt x="1404730" y="1090270"/>
                  <a:pt x="1090270" y="1404730"/>
                  <a:pt x="702365" y="1404730"/>
                </a:cubicBezTo>
                <a:cubicBezTo>
                  <a:pt x="314460" y="1404730"/>
                  <a:pt x="0" y="1090270"/>
                  <a:pt x="0" y="702365"/>
                </a:cubicBezTo>
                <a:cubicBezTo>
                  <a:pt x="0" y="314460"/>
                  <a:pt x="314460" y="0"/>
                  <a:pt x="702365" y="0"/>
                </a:cubicBezTo>
                <a:close/>
              </a:path>
            </a:pathLst>
          </a:custGeom>
        </p:spPr>
        <p:txBody>
          <a:bodyPr wrap="square" anchor="ctr">
            <a:noAutofit/>
          </a:bodyPr>
          <a:lstStyle>
            <a:lvl1pPr marL="0" indent="0" algn="ctr">
              <a:buFontTx/>
              <a:buNone/>
              <a:defRPr sz="2000">
                <a:solidFill>
                  <a:schemeClr val="bg1"/>
                </a:solidFill>
              </a:defRPr>
            </a:lvl1pPr>
          </a:lstStyle>
          <a:p>
            <a:endParaRPr lang="en-IN" dirty="0"/>
          </a:p>
        </p:txBody>
      </p:sp>
    </p:spTree>
    <p:extLst>
      <p:ext uri="{BB962C8B-B14F-4D97-AF65-F5344CB8AC3E}">
        <p14:creationId xmlns:p14="http://schemas.microsoft.com/office/powerpoint/2010/main" val="19185996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Servic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9219973" y="6356352"/>
            <a:ext cx="2365444" cy="365125"/>
          </a:xfrm>
        </p:spPr>
        <p:txBody>
          <a:bodyPr/>
          <a:lstStyle>
            <a:lvl1pPr algn="r">
              <a:defRPr>
                <a:solidFill>
                  <a:schemeClr val="tx1">
                    <a:lumMod val="50000"/>
                    <a:lumOff val="50000"/>
                  </a:schemeClr>
                </a:solidFill>
              </a:defRPr>
            </a:lvl1pPr>
          </a:lstStyle>
          <a:p>
            <a:endParaRPr lang="en-US" dirty="0"/>
          </a:p>
        </p:txBody>
      </p:sp>
      <p:sp>
        <p:nvSpPr>
          <p:cNvPr id="5" name="Slide Number Placeholder 4"/>
          <p:cNvSpPr>
            <a:spLocks noGrp="1"/>
          </p:cNvSpPr>
          <p:nvPr>
            <p:ph type="sldNum" sz="quarter" idx="12"/>
          </p:nvPr>
        </p:nvSpPr>
        <p:spPr>
          <a:xfrm>
            <a:off x="339609" y="6356352"/>
            <a:ext cx="786545" cy="365125"/>
          </a:xfrm>
          <a:prstGeom prst="rect">
            <a:avLst/>
          </a:prstGeom>
        </p:spPr>
        <p:txBody>
          <a:bodyPr/>
          <a:lstStyle>
            <a:lvl1pPr algn="l">
              <a:defRPr sz="3200" b="1">
                <a:solidFill>
                  <a:schemeClr val="tx2"/>
                </a:solidFill>
                <a:latin typeface="Segoe UI Black" panose="020B0A02040204020203" pitchFamily="34" charset="0"/>
                <a:ea typeface="Segoe UI Black" panose="020B0A02040204020203" pitchFamily="34" charset="0"/>
              </a:defRPr>
            </a:lvl1pPr>
          </a:lstStyle>
          <a:p>
            <a:fld id="{96E69268-9C8B-4EBF-A9EE-DC5DC2D48DC3}" type="slidenum">
              <a:rPr lang="en-US" smtClean="0"/>
              <a:pPr/>
              <a:t>‹#›</a:t>
            </a:fld>
            <a:endParaRPr lang="en-US"/>
          </a:p>
        </p:txBody>
      </p:sp>
      <p:sp>
        <p:nvSpPr>
          <p:cNvPr id="8" name="Freeform: Shape 7">
            <a:extLst>
              <a:ext uri="{FF2B5EF4-FFF2-40B4-BE49-F238E27FC236}">
                <a16:creationId xmlns:a16="http://schemas.microsoft.com/office/drawing/2014/main" id="{8BEA795B-86DE-7FDD-829C-72225EB12DE5}"/>
              </a:ext>
            </a:extLst>
          </p:cNvPr>
          <p:cNvSpPr/>
          <p:nvPr/>
        </p:nvSpPr>
        <p:spPr>
          <a:xfrm>
            <a:off x="339609" y="306153"/>
            <a:ext cx="1259209" cy="1258881"/>
          </a:xfrm>
          <a:custGeom>
            <a:avLst/>
            <a:gdLst>
              <a:gd name="connsiteX0" fmla="*/ 0 w 2866967"/>
              <a:gd name="connsiteY0" fmla="*/ 0 h 2866967"/>
              <a:gd name="connsiteX1" fmla="*/ 2866967 w 2866967"/>
              <a:gd name="connsiteY1" fmla="*/ 0 h 2866967"/>
              <a:gd name="connsiteX2" fmla="*/ 2866967 w 2866967"/>
              <a:gd name="connsiteY2" fmla="*/ 1175489 h 2866967"/>
              <a:gd name="connsiteX3" fmla="*/ 742122 w 2866967"/>
              <a:gd name="connsiteY3" fmla="*/ 1175489 h 2866967"/>
              <a:gd name="connsiteX4" fmla="*/ 742122 w 2866967"/>
              <a:gd name="connsiteY4" fmla="*/ 2866967 h 2866967"/>
              <a:gd name="connsiteX5" fmla="*/ 0 w 2866967"/>
              <a:gd name="connsiteY5" fmla="*/ 2866967 h 2866967"/>
              <a:gd name="connsiteX6" fmla="*/ 0 w 2866967"/>
              <a:gd name="connsiteY6" fmla="*/ 0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6" fmla="*/ 833562 w 2866967"/>
              <a:gd name="connsiteY6" fmla="*/ 1266929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0" fmla="*/ 742122 w 2866967"/>
              <a:gd name="connsiteY0" fmla="*/ 2866967 h 2866967"/>
              <a:gd name="connsiteX1" fmla="*/ 0 w 2866967"/>
              <a:gd name="connsiteY1" fmla="*/ 2866967 h 2866967"/>
              <a:gd name="connsiteX2" fmla="*/ 0 w 2866967"/>
              <a:gd name="connsiteY2" fmla="*/ 0 h 2866967"/>
              <a:gd name="connsiteX3" fmla="*/ 2866967 w 2866967"/>
              <a:gd name="connsiteY3" fmla="*/ 0 h 2866967"/>
              <a:gd name="connsiteX4" fmla="*/ 2866967 w 2866967"/>
              <a:gd name="connsiteY4" fmla="*/ 1175489 h 2866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6967" h="2866967">
                <a:moveTo>
                  <a:pt x="742122" y="2866967"/>
                </a:moveTo>
                <a:lnTo>
                  <a:pt x="0" y="2866967"/>
                </a:lnTo>
                <a:lnTo>
                  <a:pt x="0" y="0"/>
                </a:lnTo>
                <a:lnTo>
                  <a:pt x="2866967" y="0"/>
                </a:lnTo>
                <a:lnTo>
                  <a:pt x="2866967" y="1175489"/>
                </a:lnTo>
              </a:path>
            </a:pathLst>
          </a:custGeom>
          <a:noFill/>
          <a:ln w="50800">
            <a:solidFill>
              <a:schemeClr val="accent1"/>
            </a:solidFill>
            <a:miter lim="800000"/>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9" name="Title 1">
            <a:extLst>
              <a:ext uri="{FF2B5EF4-FFF2-40B4-BE49-F238E27FC236}">
                <a16:creationId xmlns:a16="http://schemas.microsoft.com/office/drawing/2014/main" id="{6E8A15B2-F404-5D92-2136-F7B935BA6D8C}"/>
              </a:ext>
            </a:extLst>
          </p:cNvPr>
          <p:cNvSpPr>
            <a:spLocks noGrp="1"/>
          </p:cNvSpPr>
          <p:nvPr>
            <p:ph type="title" hasCustomPrompt="1"/>
          </p:nvPr>
        </p:nvSpPr>
        <p:spPr>
          <a:xfrm>
            <a:off x="676037" y="791474"/>
            <a:ext cx="4195508" cy="711081"/>
          </a:xfrm>
        </p:spPr>
        <p:txBody>
          <a:bodyPr>
            <a:noAutofit/>
          </a:bodyPr>
          <a:lstStyle>
            <a:lvl1pPr>
              <a:defRPr sz="4000" b="1">
                <a:solidFill>
                  <a:schemeClr val="tx2"/>
                </a:solidFill>
                <a:latin typeface="Segoe UI Black" panose="020B0A02040204020203" pitchFamily="34" charset="0"/>
                <a:ea typeface="Segoe UI Black" panose="020B0A02040204020203" pitchFamily="34" charset="0"/>
              </a:defRPr>
            </a:lvl1pPr>
          </a:lstStyle>
          <a:p>
            <a:r>
              <a:rPr lang="en-US" dirty="0"/>
              <a:t>CLICK TO EDIT</a:t>
            </a:r>
          </a:p>
        </p:txBody>
      </p:sp>
      <p:cxnSp>
        <p:nvCxnSpPr>
          <p:cNvPr id="16" name="Straight Connector 15">
            <a:extLst>
              <a:ext uri="{FF2B5EF4-FFF2-40B4-BE49-F238E27FC236}">
                <a16:creationId xmlns:a16="http://schemas.microsoft.com/office/drawing/2014/main" id="{814364D7-4C11-26C8-59DC-C326E807CD28}"/>
              </a:ext>
            </a:extLst>
          </p:cNvPr>
          <p:cNvCxnSpPr>
            <a:cxnSpLocks/>
          </p:cNvCxnSpPr>
          <p:nvPr userDrawn="1"/>
        </p:nvCxnSpPr>
        <p:spPr>
          <a:xfrm>
            <a:off x="1082848" y="6538913"/>
            <a:ext cx="813712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Picture Placeholder 6">
            <a:extLst>
              <a:ext uri="{FF2B5EF4-FFF2-40B4-BE49-F238E27FC236}">
                <a16:creationId xmlns:a16="http://schemas.microsoft.com/office/drawing/2014/main" id="{7C58743F-E9A9-C70F-8F6C-F1974B02D3BF}"/>
              </a:ext>
            </a:extLst>
          </p:cNvPr>
          <p:cNvSpPr>
            <a:spLocks noGrp="1"/>
          </p:cNvSpPr>
          <p:nvPr>
            <p:ph type="pic" sz="quarter" idx="13"/>
          </p:nvPr>
        </p:nvSpPr>
        <p:spPr>
          <a:xfrm>
            <a:off x="3349572" y="4071450"/>
            <a:ext cx="2422109" cy="2786550"/>
          </a:xfrm>
          <a:custGeom>
            <a:avLst/>
            <a:gdLst>
              <a:gd name="connsiteX0" fmla="*/ 0 w 2421478"/>
              <a:gd name="connsiteY0" fmla="*/ 0 h 2786550"/>
              <a:gd name="connsiteX1" fmla="*/ 2421478 w 2421478"/>
              <a:gd name="connsiteY1" fmla="*/ 0 h 2786550"/>
              <a:gd name="connsiteX2" fmla="*/ 2421478 w 2421478"/>
              <a:gd name="connsiteY2" fmla="*/ 2786550 h 2786550"/>
              <a:gd name="connsiteX3" fmla="*/ 0 w 2421478"/>
              <a:gd name="connsiteY3" fmla="*/ 2786550 h 2786550"/>
            </a:gdLst>
            <a:ahLst/>
            <a:cxnLst>
              <a:cxn ang="0">
                <a:pos x="connsiteX0" y="connsiteY0"/>
              </a:cxn>
              <a:cxn ang="0">
                <a:pos x="connsiteX1" y="connsiteY1"/>
              </a:cxn>
              <a:cxn ang="0">
                <a:pos x="connsiteX2" y="connsiteY2"/>
              </a:cxn>
              <a:cxn ang="0">
                <a:pos x="connsiteX3" y="connsiteY3"/>
              </a:cxn>
            </a:cxnLst>
            <a:rect l="l" t="t" r="r" b="b"/>
            <a:pathLst>
              <a:path w="2421478" h="2786550">
                <a:moveTo>
                  <a:pt x="0" y="0"/>
                </a:moveTo>
                <a:lnTo>
                  <a:pt x="2421478" y="0"/>
                </a:lnTo>
                <a:lnTo>
                  <a:pt x="2421478" y="2786550"/>
                </a:lnTo>
                <a:lnTo>
                  <a:pt x="0" y="2786550"/>
                </a:lnTo>
                <a:close/>
              </a:path>
            </a:pathLst>
          </a:custGeom>
        </p:spPr>
        <p:txBody>
          <a:bodyPr wrap="square" anchor="ctr">
            <a:noAutofit/>
          </a:bodyPr>
          <a:lstStyle>
            <a:lvl1pPr marL="0" indent="0" algn="ctr">
              <a:buFontTx/>
              <a:buNone/>
              <a:defRPr sz="2400"/>
            </a:lvl1pPr>
          </a:lstStyle>
          <a:p>
            <a:endParaRPr lang="en-US"/>
          </a:p>
        </p:txBody>
      </p:sp>
    </p:spTree>
    <p:extLst>
      <p:ext uri="{BB962C8B-B14F-4D97-AF65-F5344CB8AC3E}">
        <p14:creationId xmlns:p14="http://schemas.microsoft.com/office/powerpoint/2010/main" val="22487286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Departments And Teams">
    <p:spTree>
      <p:nvGrpSpPr>
        <p:cNvPr id="1" name=""/>
        <p:cNvGrpSpPr/>
        <p:nvPr/>
      </p:nvGrpSpPr>
      <p:grpSpPr>
        <a:xfrm>
          <a:off x="0" y="0"/>
          <a:ext cx="0" cy="0"/>
          <a:chOff x="0" y="0"/>
          <a:chExt cx="0" cy="0"/>
        </a:xfrm>
      </p:grpSpPr>
      <p:sp>
        <p:nvSpPr>
          <p:cNvPr id="2" name="Title 1"/>
          <p:cNvSpPr>
            <a:spLocks noGrp="1"/>
          </p:cNvSpPr>
          <p:nvPr>
            <p:ph type="title"/>
          </p:nvPr>
        </p:nvSpPr>
        <p:spPr>
          <a:xfrm>
            <a:off x="609600" y="235728"/>
            <a:ext cx="10972801" cy="711081"/>
          </a:xfrm>
        </p:spPr>
        <p:txBody>
          <a:bodyPr>
            <a:noAutofit/>
          </a:bodyPr>
          <a:lstStyle>
            <a:lvl1pPr>
              <a:defRPr sz="3200"/>
            </a:lvl1pPr>
          </a:lstStyle>
          <a:p>
            <a:r>
              <a:rPr lang="en-US" dirty="0"/>
              <a:t>Click to edit Master title style</a:t>
            </a:r>
          </a:p>
        </p:txBody>
      </p:sp>
      <p:sp>
        <p:nvSpPr>
          <p:cNvPr id="4" name="Footer Placeholder 3"/>
          <p:cNvSpPr>
            <a:spLocks noGrp="1"/>
          </p:cNvSpPr>
          <p:nvPr>
            <p:ph type="ftr" sz="quarter" idx="11"/>
          </p:nvPr>
        </p:nvSpPr>
        <p:spPr>
          <a:xfrm>
            <a:off x="609600" y="6208887"/>
            <a:ext cx="3037490" cy="365125"/>
          </a:xfrm>
        </p:spPr>
        <p:txBody>
          <a:bodyPr/>
          <a:lstStyle>
            <a:lvl1pPr algn="l">
              <a:defRPr sz="1400">
                <a:latin typeface="Open Sans"/>
              </a:defRPr>
            </a:lvl1pPr>
          </a:lstStyle>
          <a:p>
            <a:r>
              <a:rPr lang="en-US" dirty="0"/>
              <a:t>Companyname.com</a:t>
            </a:r>
          </a:p>
        </p:txBody>
      </p:sp>
      <p:cxnSp>
        <p:nvCxnSpPr>
          <p:cNvPr id="7" name="Straight Connector 6">
            <a:extLst>
              <a:ext uri="{FF2B5EF4-FFF2-40B4-BE49-F238E27FC236}">
                <a16:creationId xmlns:a16="http://schemas.microsoft.com/office/drawing/2014/main" id="{F9A6E2B6-6789-47DF-A542-D3F307E792A0}"/>
              </a:ext>
            </a:extLst>
          </p:cNvPr>
          <p:cNvCxnSpPr>
            <a:cxnSpLocks/>
          </p:cNvCxnSpPr>
          <p:nvPr userDrawn="1"/>
        </p:nvCxnSpPr>
        <p:spPr>
          <a:xfrm flipH="1">
            <a:off x="2782769" y="6391488"/>
            <a:ext cx="8243703"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3BC1952-E550-45B7-BB6B-1FB5F22535EE}"/>
              </a:ext>
            </a:extLst>
          </p:cNvPr>
          <p:cNvCxnSpPr>
            <a:cxnSpLocks/>
          </p:cNvCxnSpPr>
          <p:nvPr userDrawn="1"/>
        </p:nvCxnSpPr>
        <p:spPr>
          <a:xfrm>
            <a:off x="755507" y="1007522"/>
            <a:ext cx="1440535"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3221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userDrawn="1"/>
        </p:nvGrpSpPr>
        <p:grpSpPr>
          <a:xfrm>
            <a:off x="270811" y="0"/>
            <a:ext cx="12192000" cy="6858000"/>
            <a:chOff x="0" y="0"/>
            <a:chExt cx="12192000" cy="6858000"/>
          </a:xfrm>
        </p:grpSpPr>
        <p:sp>
          <p:nvSpPr>
            <p:cNvPr id="7" name="Rectangle 6"/>
            <p:cNvSpPr/>
            <p:nvPr/>
          </p:nvSpPr>
          <p:spPr>
            <a:xfrm>
              <a:off x="0" y="0"/>
              <a:ext cx="12192000" cy="6858000"/>
            </a:xfrm>
            <a:prstGeom prst="rect">
              <a:avLst/>
            </a:prstGeom>
            <a:blipFill>
              <a:blip r:embed="rId2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10" name="Footer Placeholder 4">
            <a:extLst>
              <a:ext uri="{FF2B5EF4-FFF2-40B4-BE49-F238E27FC236}">
                <a16:creationId xmlns:a16="http://schemas.microsoft.com/office/drawing/2014/main" id="{19C13D6A-A08A-DE54-94B2-23085A7AAC05}"/>
              </a:ext>
            </a:extLst>
          </p:cNvPr>
          <p:cNvSpPr txBox="1">
            <a:spLocks/>
          </p:cNvSpPr>
          <p:nvPr userDrawn="1"/>
        </p:nvSpPr>
        <p:spPr>
          <a:xfrm rot="16200000">
            <a:off x="10306025" y="3591356"/>
            <a:ext cx="3795698"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i="1" dirty="0"/>
              <a:t>© 2025 Athena Software Group. Confidential &amp; Proprietary. Do not distribute.</a:t>
            </a:r>
          </a:p>
        </p:txBody>
      </p:sp>
      <p:sp>
        <p:nvSpPr>
          <p:cNvPr id="9" name="Slide Number Placeholder 4">
            <a:extLst>
              <a:ext uri="{FF2B5EF4-FFF2-40B4-BE49-F238E27FC236}">
                <a16:creationId xmlns:a16="http://schemas.microsoft.com/office/drawing/2014/main" id="{3D3DB650-F079-6BD3-52E4-637F33258678}"/>
              </a:ext>
            </a:extLst>
          </p:cNvPr>
          <p:cNvSpPr>
            <a:spLocks noGrp="1"/>
          </p:cNvSpPr>
          <p:nvPr>
            <p:ph type="sldNum" sz="quarter" idx="4"/>
          </p:nvPr>
        </p:nvSpPr>
        <p:spPr>
          <a:xfrm>
            <a:off x="11921189" y="6318094"/>
            <a:ext cx="445212" cy="452288"/>
          </a:xfrm>
          <a:prstGeom prst="diamond">
            <a:avLst/>
          </a:prstGeom>
          <a:solidFill>
            <a:schemeClr val="accent4"/>
          </a:solidFill>
        </p:spPr>
        <p:txBody>
          <a:bodyPr lIns="0" tIns="0" rIns="0" bIns="0"/>
          <a:lstStyle>
            <a:lvl1pPr algn="ctr">
              <a:defRPr sz="900">
                <a:solidFill>
                  <a:schemeClr val="bg1"/>
                </a:solidFill>
                <a:latin typeface="Open Sans"/>
              </a:defRPr>
            </a:lvl1pPr>
          </a:lstStyle>
          <a:p>
            <a:fld id="{96E69268-9C8B-4EBF-A9EE-DC5DC2D48DC3}" type="slidenum">
              <a:rPr lang="en-US" smtClean="0"/>
              <a:pPr/>
              <a:t>‹#›</a:t>
            </a:fld>
            <a:endParaRPr lang="en-US" dirty="0"/>
          </a:p>
        </p:txBody>
      </p:sp>
    </p:spTree>
    <p:extLst>
      <p:ext uri="{BB962C8B-B14F-4D97-AF65-F5344CB8AC3E}">
        <p14:creationId xmlns:p14="http://schemas.microsoft.com/office/powerpoint/2010/main" val="1962655418"/>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1" r:id="rId18"/>
    <p:sldLayoutId id="2147483722" r:id="rId19"/>
    <p:sldLayoutId id="2147483724" r:id="rId20"/>
    <p:sldLayoutId id="2147483725" r:id="rId21"/>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8.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19.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3BC5C-3B03-FB0A-4D57-59B23F3427A3}"/>
              </a:ext>
            </a:extLst>
          </p:cNvPr>
          <p:cNvSpPr>
            <a:spLocks noGrp="1"/>
          </p:cNvSpPr>
          <p:nvPr>
            <p:ph type="ctrTitle"/>
          </p:nvPr>
        </p:nvSpPr>
        <p:spPr>
          <a:xfrm>
            <a:off x="8382055" y="1241266"/>
            <a:ext cx="3161016" cy="3153753"/>
          </a:xfrm>
        </p:spPr>
        <p:txBody>
          <a:bodyPr>
            <a:normAutofit/>
          </a:bodyPr>
          <a:lstStyle/>
          <a:p>
            <a:r>
              <a:rPr lang="en-US">
                <a:solidFill>
                  <a:srgbClr val="EBEBEB"/>
                </a:solidFill>
              </a:rPr>
              <a:t>Athena Software Group</a:t>
            </a:r>
          </a:p>
        </p:txBody>
      </p:sp>
      <p:sp>
        <p:nvSpPr>
          <p:cNvPr id="3" name="Subtitle 2">
            <a:extLst>
              <a:ext uri="{FF2B5EF4-FFF2-40B4-BE49-F238E27FC236}">
                <a16:creationId xmlns:a16="http://schemas.microsoft.com/office/drawing/2014/main" id="{FF623A66-3031-3E4C-8E63-A83084317564}"/>
              </a:ext>
            </a:extLst>
          </p:cNvPr>
          <p:cNvSpPr>
            <a:spLocks noGrp="1"/>
          </p:cNvSpPr>
          <p:nvPr>
            <p:ph type="subTitle" idx="1"/>
          </p:nvPr>
        </p:nvSpPr>
        <p:spPr>
          <a:xfrm>
            <a:off x="8382055" y="4591665"/>
            <a:ext cx="3161016" cy="1622322"/>
          </a:xfrm>
        </p:spPr>
        <p:txBody>
          <a:bodyPr>
            <a:normAutofit/>
          </a:bodyPr>
          <a:lstStyle/>
          <a:p>
            <a:r>
              <a:rPr lang="en-US" i="1"/>
              <a:t>Best in Class, AI Enabled, security solutions for Enterprise application providers.</a:t>
            </a:r>
            <a:endParaRPr lang="en-US" i="1" dirty="0"/>
          </a:p>
        </p:txBody>
      </p:sp>
      <p:grpSp>
        <p:nvGrpSpPr>
          <p:cNvPr id="47" name="Group 46">
            <a:extLst>
              <a:ext uri="{FF2B5EF4-FFF2-40B4-BE49-F238E27FC236}">
                <a16:creationId xmlns:a16="http://schemas.microsoft.com/office/drawing/2014/main" id="{25A657F0-42F3-40D3-BC75-7DA1F5C6A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44" name="Rectangle 43">
              <a:extLst>
                <a:ext uri="{FF2B5EF4-FFF2-40B4-BE49-F238E27FC236}">
                  <a16:creationId xmlns:a16="http://schemas.microsoft.com/office/drawing/2014/main" id="{2E94FF68-7A60-47B7-AB98-1674FC7F2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8" name="Freeform 5">
              <a:extLst>
                <a:ext uri="{FF2B5EF4-FFF2-40B4-BE49-F238E27FC236}">
                  <a16:creationId xmlns:a16="http://schemas.microsoft.com/office/drawing/2014/main" id="{42B4F8D7-4E9C-45EF-9072-1AF32CEF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46" name="Freeform 5">
              <a:extLst>
                <a:ext uri="{FF2B5EF4-FFF2-40B4-BE49-F238E27FC236}">
                  <a16:creationId xmlns:a16="http://schemas.microsoft.com/office/drawing/2014/main" id="{3ECBDDDB-593C-40F0-8E80-AA75798EE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grpSp>
      <p:pic>
        <p:nvPicPr>
          <p:cNvPr id="5" name="Picture 4">
            <a:extLst>
              <a:ext uri="{FF2B5EF4-FFF2-40B4-BE49-F238E27FC236}">
                <a16:creationId xmlns:a16="http://schemas.microsoft.com/office/drawing/2014/main" id="{DFC25AA7-5A01-6B6F-9CE4-6911E96B10D2}"/>
              </a:ext>
            </a:extLst>
          </p:cNvPr>
          <p:cNvPicPr>
            <a:picLocks noChangeAspect="1"/>
          </p:cNvPicPr>
          <p:nvPr/>
        </p:nvPicPr>
        <p:blipFill>
          <a:blip r:embed="rId2"/>
          <a:stretch>
            <a:fillRect/>
          </a:stretch>
        </p:blipFill>
        <p:spPr>
          <a:xfrm>
            <a:off x="1109763" y="2375494"/>
            <a:ext cx="6443180" cy="2107011"/>
          </a:xfrm>
          <a:prstGeom prst="rect">
            <a:avLst/>
          </a:prstGeom>
        </p:spPr>
      </p:pic>
    </p:spTree>
    <p:extLst>
      <p:ext uri="{BB962C8B-B14F-4D97-AF65-F5344CB8AC3E}">
        <p14:creationId xmlns:p14="http://schemas.microsoft.com/office/powerpoint/2010/main" val="2947202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E0DFFE-C716-4CB4-3208-782BF398E2C1}"/>
              </a:ext>
            </a:extLst>
          </p:cNvPr>
          <p:cNvPicPr>
            <a:picLocks noChangeAspect="1"/>
          </p:cNvPicPr>
          <p:nvPr/>
        </p:nvPicPr>
        <p:blipFill>
          <a:blip r:embed="rId2"/>
          <a:stretch>
            <a:fillRect/>
          </a:stretch>
        </p:blipFill>
        <p:spPr>
          <a:xfrm>
            <a:off x="111670" y="44467"/>
            <a:ext cx="3271143" cy="1150402"/>
          </a:xfrm>
          <a:prstGeom prst="rect">
            <a:avLst/>
          </a:prstGeom>
        </p:spPr>
      </p:pic>
      <p:sp>
        <p:nvSpPr>
          <p:cNvPr id="2" name="Oval 12">
            <a:extLst>
              <a:ext uri="{FF2B5EF4-FFF2-40B4-BE49-F238E27FC236}">
                <a16:creationId xmlns:a16="http://schemas.microsoft.com/office/drawing/2014/main" id="{7655BD9F-B36B-4F0C-9F56-0C8056B0D244}"/>
              </a:ext>
            </a:extLst>
          </p:cNvPr>
          <p:cNvSpPr>
            <a:spLocks noChangeArrowheads="1"/>
          </p:cNvSpPr>
          <p:nvPr/>
        </p:nvSpPr>
        <p:spPr bwMode="auto">
          <a:xfrm>
            <a:off x="1674936" y="2148096"/>
            <a:ext cx="2548856" cy="2548852"/>
          </a:xfrm>
          <a:prstGeom prst="ellipse">
            <a:avLst/>
          </a:prstGeom>
          <a:noFill/>
          <a:ln w="9525">
            <a:solidFill>
              <a:schemeClr val="tx1">
                <a:lumMod val="50000"/>
                <a:lumOff val="50000"/>
              </a:schemeClr>
            </a:solidFill>
            <a:round/>
            <a:headEnd/>
            <a:tailEnd/>
          </a:ln>
        </p:spPr>
        <p:txBody>
          <a:bodyPr vert="horz" wrap="square" lIns="91440" tIns="45720" rIns="91440" bIns="45720" numCol="1" anchor="ctr" anchorCtr="0" compatLnSpc="1">
            <a:prstTxWarp prst="textNoShape">
              <a:avLst/>
            </a:prstTxWarp>
          </a:bodyPr>
          <a:lstStyle/>
          <a:p>
            <a:pPr algn="ctr"/>
            <a:endParaRPr lang="en-IN" sz="20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3" name="Freeform 5">
            <a:extLst>
              <a:ext uri="{FF2B5EF4-FFF2-40B4-BE49-F238E27FC236}">
                <a16:creationId xmlns:a16="http://schemas.microsoft.com/office/drawing/2014/main" id="{D9BD4A1E-6E49-47EB-88D9-732C03332CC4}"/>
              </a:ext>
            </a:extLst>
          </p:cNvPr>
          <p:cNvSpPr>
            <a:spLocks/>
          </p:cNvSpPr>
          <p:nvPr/>
        </p:nvSpPr>
        <p:spPr bwMode="auto">
          <a:xfrm rot="2261061">
            <a:off x="3194443" y="2701345"/>
            <a:ext cx="1001569" cy="1152143"/>
          </a:xfrm>
          <a:custGeom>
            <a:avLst/>
            <a:gdLst>
              <a:gd name="T0" fmla="*/ 298 w 298"/>
              <a:gd name="T1" fmla="*/ 106 h 343"/>
              <a:gd name="T2" fmla="*/ 165 w 298"/>
              <a:gd name="T3" fmla="*/ 0 h 343"/>
              <a:gd name="T4" fmla="*/ 0 w 298"/>
              <a:gd name="T5" fmla="*/ 343 h 343"/>
              <a:gd name="T6" fmla="*/ 298 w 298"/>
              <a:gd name="T7" fmla="*/ 106 h 343"/>
            </a:gdLst>
            <a:ahLst/>
            <a:cxnLst>
              <a:cxn ang="0">
                <a:pos x="T0" y="T1"/>
              </a:cxn>
              <a:cxn ang="0">
                <a:pos x="T2" y="T3"/>
              </a:cxn>
              <a:cxn ang="0">
                <a:pos x="T4" y="T5"/>
              </a:cxn>
              <a:cxn ang="0">
                <a:pos x="T6" y="T7"/>
              </a:cxn>
            </a:cxnLst>
            <a:rect l="0" t="0" r="r" b="b"/>
            <a:pathLst>
              <a:path w="298" h="343">
                <a:moveTo>
                  <a:pt x="298" y="106"/>
                </a:moveTo>
                <a:cubicBezTo>
                  <a:pt x="262" y="62"/>
                  <a:pt x="217" y="25"/>
                  <a:pt x="165" y="0"/>
                </a:cubicBezTo>
                <a:cubicBezTo>
                  <a:pt x="0" y="343"/>
                  <a:pt x="0" y="343"/>
                  <a:pt x="0" y="343"/>
                </a:cubicBezTo>
                <a:lnTo>
                  <a:pt x="298" y="106"/>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4" name="Freeform 6">
            <a:extLst>
              <a:ext uri="{FF2B5EF4-FFF2-40B4-BE49-F238E27FC236}">
                <a16:creationId xmlns:a16="http://schemas.microsoft.com/office/drawing/2014/main" id="{C712740F-CBAC-4743-B203-D004D23395FB}"/>
              </a:ext>
            </a:extLst>
          </p:cNvPr>
          <p:cNvSpPr>
            <a:spLocks/>
          </p:cNvSpPr>
          <p:nvPr/>
        </p:nvSpPr>
        <p:spPr bwMode="auto">
          <a:xfrm rot="2261061">
            <a:off x="2811452" y="3534360"/>
            <a:ext cx="1277339" cy="571842"/>
          </a:xfrm>
          <a:custGeom>
            <a:avLst/>
            <a:gdLst>
              <a:gd name="T0" fmla="*/ 371 w 380"/>
              <a:gd name="T1" fmla="*/ 0 h 170"/>
              <a:gd name="T2" fmla="*/ 0 w 380"/>
              <a:gd name="T3" fmla="*/ 84 h 170"/>
              <a:gd name="T4" fmla="*/ 371 w 380"/>
              <a:gd name="T5" fmla="*/ 170 h 170"/>
              <a:gd name="T6" fmla="*/ 380 w 380"/>
              <a:gd name="T7" fmla="*/ 84 h 170"/>
              <a:gd name="T8" fmla="*/ 371 w 380"/>
              <a:gd name="T9" fmla="*/ 0 h 170"/>
            </a:gdLst>
            <a:ahLst/>
            <a:cxnLst>
              <a:cxn ang="0">
                <a:pos x="T0" y="T1"/>
              </a:cxn>
              <a:cxn ang="0">
                <a:pos x="T2" y="T3"/>
              </a:cxn>
              <a:cxn ang="0">
                <a:pos x="T4" y="T5"/>
              </a:cxn>
              <a:cxn ang="0">
                <a:pos x="T6" y="T7"/>
              </a:cxn>
              <a:cxn ang="0">
                <a:pos x="T8" y="T9"/>
              </a:cxn>
            </a:cxnLst>
            <a:rect l="0" t="0" r="r" b="b"/>
            <a:pathLst>
              <a:path w="380" h="170">
                <a:moveTo>
                  <a:pt x="371" y="0"/>
                </a:moveTo>
                <a:cubicBezTo>
                  <a:pt x="0" y="84"/>
                  <a:pt x="0" y="84"/>
                  <a:pt x="0" y="84"/>
                </a:cubicBezTo>
                <a:cubicBezTo>
                  <a:pt x="371" y="170"/>
                  <a:pt x="371" y="170"/>
                  <a:pt x="371" y="170"/>
                </a:cubicBezTo>
                <a:cubicBezTo>
                  <a:pt x="377" y="143"/>
                  <a:pt x="380" y="114"/>
                  <a:pt x="380" y="84"/>
                </a:cubicBezTo>
                <a:cubicBezTo>
                  <a:pt x="380" y="55"/>
                  <a:pt x="377" y="27"/>
                  <a:pt x="371" y="0"/>
                </a:cubicBezTo>
                <a:close/>
              </a:path>
            </a:pathLst>
          </a:custGeom>
          <a:solidFill>
            <a:schemeClr val="accent6"/>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5" name="Freeform 7">
            <a:extLst>
              <a:ext uri="{FF2B5EF4-FFF2-40B4-BE49-F238E27FC236}">
                <a16:creationId xmlns:a16="http://schemas.microsoft.com/office/drawing/2014/main" id="{E095438A-5B82-4532-A41C-EA0F13EEEDEF}"/>
              </a:ext>
            </a:extLst>
          </p:cNvPr>
          <p:cNvSpPr>
            <a:spLocks/>
          </p:cNvSpPr>
          <p:nvPr/>
        </p:nvSpPr>
        <p:spPr bwMode="auto">
          <a:xfrm rot="2261061">
            <a:off x="3280331" y="2449657"/>
            <a:ext cx="554923" cy="1280723"/>
          </a:xfrm>
          <a:custGeom>
            <a:avLst/>
            <a:gdLst>
              <a:gd name="T0" fmla="*/ 165 w 165"/>
              <a:gd name="T1" fmla="*/ 38 h 381"/>
              <a:gd name="T2" fmla="*/ 0 w 165"/>
              <a:gd name="T3" fmla="*/ 0 h 381"/>
              <a:gd name="T4" fmla="*/ 0 w 165"/>
              <a:gd name="T5" fmla="*/ 0 h 381"/>
              <a:gd name="T6" fmla="*/ 0 w 165"/>
              <a:gd name="T7" fmla="*/ 381 h 381"/>
              <a:gd name="T8" fmla="*/ 165 w 165"/>
              <a:gd name="T9" fmla="*/ 38 h 381"/>
            </a:gdLst>
            <a:ahLst/>
            <a:cxnLst>
              <a:cxn ang="0">
                <a:pos x="T0" y="T1"/>
              </a:cxn>
              <a:cxn ang="0">
                <a:pos x="T2" y="T3"/>
              </a:cxn>
              <a:cxn ang="0">
                <a:pos x="T4" y="T5"/>
              </a:cxn>
              <a:cxn ang="0">
                <a:pos x="T6" y="T7"/>
              </a:cxn>
              <a:cxn ang="0">
                <a:pos x="T8" y="T9"/>
              </a:cxn>
            </a:cxnLst>
            <a:rect l="0" t="0" r="r" b="b"/>
            <a:pathLst>
              <a:path w="165" h="381">
                <a:moveTo>
                  <a:pt x="165" y="38"/>
                </a:moveTo>
                <a:cubicBezTo>
                  <a:pt x="115" y="14"/>
                  <a:pt x="59" y="0"/>
                  <a:pt x="0" y="0"/>
                </a:cubicBezTo>
                <a:cubicBezTo>
                  <a:pt x="0" y="0"/>
                  <a:pt x="0" y="0"/>
                  <a:pt x="0" y="0"/>
                </a:cubicBezTo>
                <a:cubicBezTo>
                  <a:pt x="0" y="381"/>
                  <a:pt x="0" y="381"/>
                  <a:pt x="0" y="381"/>
                </a:cubicBezTo>
                <a:lnTo>
                  <a:pt x="165" y="38"/>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6" name="Freeform 8">
            <a:extLst>
              <a:ext uri="{FF2B5EF4-FFF2-40B4-BE49-F238E27FC236}">
                <a16:creationId xmlns:a16="http://schemas.microsoft.com/office/drawing/2014/main" id="{4081E9E4-75E2-44F7-B61E-73B749A357EB}"/>
              </a:ext>
            </a:extLst>
          </p:cNvPr>
          <p:cNvSpPr>
            <a:spLocks/>
          </p:cNvSpPr>
          <p:nvPr/>
        </p:nvSpPr>
        <p:spPr bwMode="auto">
          <a:xfrm rot="2261061">
            <a:off x="3060259" y="3094556"/>
            <a:ext cx="1246886" cy="796857"/>
          </a:xfrm>
          <a:custGeom>
            <a:avLst/>
            <a:gdLst>
              <a:gd name="T0" fmla="*/ 371 w 371"/>
              <a:gd name="T1" fmla="*/ 153 h 237"/>
              <a:gd name="T2" fmla="*/ 298 w 371"/>
              <a:gd name="T3" fmla="*/ 0 h 237"/>
              <a:gd name="T4" fmla="*/ 0 w 371"/>
              <a:gd name="T5" fmla="*/ 237 h 237"/>
              <a:gd name="T6" fmla="*/ 371 w 371"/>
              <a:gd name="T7" fmla="*/ 153 h 237"/>
            </a:gdLst>
            <a:ahLst/>
            <a:cxnLst>
              <a:cxn ang="0">
                <a:pos x="T0" y="T1"/>
              </a:cxn>
              <a:cxn ang="0">
                <a:pos x="T2" y="T3"/>
              </a:cxn>
              <a:cxn ang="0">
                <a:pos x="T4" y="T5"/>
              </a:cxn>
              <a:cxn ang="0">
                <a:pos x="T6" y="T7"/>
              </a:cxn>
            </a:cxnLst>
            <a:rect l="0" t="0" r="r" b="b"/>
            <a:pathLst>
              <a:path w="371" h="237">
                <a:moveTo>
                  <a:pt x="371" y="153"/>
                </a:moveTo>
                <a:cubicBezTo>
                  <a:pt x="358" y="96"/>
                  <a:pt x="333" y="44"/>
                  <a:pt x="298" y="0"/>
                </a:cubicBezTo>
                <a:cubicBezTo>
                  <a:pt x="0" y="237"/>
                  <a:pt x="0" y="237"/>
                  <a:pt x="0" y="237"/>
                </a:cubicBezTo>
                <a:lnTo>
                  <a:pt x="371" y="153"/>
                </a:ln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8" name="Freeform 10">
            <a:extLst>
              <a:ext uri="{FF2B5EF4-FFF2-40B4-BE49-F238E27FC236}">
                <a16:creationId xmlns:a16="http://schemas.microsoft.com/office/drawing/2014/main" id="{F184C038-5A3D-49E8-8595-8BF7B41BAD8D}"/>
              </a:ext>
            </a:extLst>
          </p:cNvPr>
          <p:cNvSpPr>
            <a:spLocks/>
          </p:cNvSpPr>
          <p:nvPr/>
        </p:nvSpPr>
        <p:spPr bwMode="auto">
          <a:xfrm rot="2261061">
            <a:off x="2571063" y="3724474"/>
            <a:ext cx="1246886" cy="803624"/>
          </a:xfrm>
          <a:custGeom>
            <a:avLst/>
            <a:gdLst>
              <a:gd name="T0" fmla="*/ 296 w 371"/>
              <a:gd name="T1" fmla="*/ 239 h 239"/>
              <a:gd name="T2" fmla="*/ 371 w 371"/>
              <a:gd name="T3" fmla="*/ 86 h 239"/>
              <a:gd name="T4" fmla="*/ 0 w 371"/>
              <a:gd name="T5" fmla="*/ 0 h 239"/>
              <a:gd name="T6" fmla="*/ 296 w 371"/>
              <a:gd name="T7" fmla="*/ 239 h 239"/>
            </a:gdLst>
            <a:ahLst/>
            <a:cxnLst>
              <a:cxn ang="0">
                <a:pos x="T0" y="T1"/>
              </a:cxn>
              <a:cxn ang="0">
                <a:pos x="T2" y="T3"/>
              </a:cxn>
              <a:cxn ang="0">
                <a:pos x="T4" y="T5"/>
              </a:cxn>
              <a:cxn ang="0">
                <a:pos x="T6" y="T7"/>
              </a:cxn>
            </a:cxnLst>
            <a:rect l="0" t="0" r="r" b="b"/>
            <a:pathLst>
              <a:path w="371" h="239">
                <a:moveTo>
                  <a:pt x="296" y="239"/>
                </a:moveTo>
                <a:cubicBezTo>
                  <a:pt x="332" y="195"/>
                  <a:pt x="358" y="143"/>
                  <a:pt x="371" y="86"/>
                </a:cubicBezTo>
                <a:cubicBezTo>
                  <a:pt x="0" y="0"/>
                  <a:pt x="0" y="0"/>
                  <a:pt x="0" y="0"/>
                </a:cubicBezTo>
                <a:lnTo>
                  <a:pt x="296" y="239"/>
                </a:lnTo>
                <a:close/>
              </a:path>
            </a:pathLst>
          </a:custGeom>
          <a:solidFill>
            <a:schemeClr val="accent1">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43" name="Freeform 7">
            <a:extLst>
              <a:ext uri="{FF2B5EF4-FFF2-40B4-BE49-F238E27FC236}">
                <a16:creationId xmlns:a16="http://schemas.microsoft.com/office/drawing/2014/main" id="{FB37BA1B-93DF-428F-AB76-37145143F7B4}"/>
              </a:ext>
            </a:extLst>
          </p:cNvPr>
          <p:cNvSpPr>
            <a:spLocks/>
          </p:cNvSpPr>
          <p:nvPr/>
        </p:nvSpPr>
        <p:spPr bwMode="auto">
          <a:xfrm rot="2261061" flipH="1">
            <a:off x="2842959" y="2113434"/>
            <a:ext cx="554923" cy="1280723"/>
          </a:xfrm>
          <a:custGeom>
            <a:avLst/>
            <a:gdLst>
              <a:gd name="T0" fmla="*/ 165 w 165"/>
              <a:gd name="T1" fmla="*/ 38 h 381"/>
              <a:gd name="T2" fmla="*/ 0 w 165"/>
              <a:gd name="T3" fmla="*/ 0 h 381"/>
              <a:gd name="T4" fmla="*/ 0 w 165"/>
              <a:gd name="T5" fmla="*/ 0 h 381"/>
              <a:gd name="T6" fmla="*/ 0 w 165"/>
              <a:gd name="T7" fmla="*/ 381 h 381"/>
              <a:gd name="T8" fmla="*/ 165 w 165"/>
              <a:gd name="T9" fmla="*/ 38 h 381"/>
            </a:gdLst>
            <a:ahLst/>
            <a:cxnLst>
              <a:cxn ang="0">
                <a:pos x="T0" y="T1"/>
              </a:cxn>
              <a:cxn ang="0">
                <a:pos x="T2" y="T3"/>
              </a:cxn>
              <a:cxn ang="0">
                <a:pos x="T4" y="T5"/>
              </a:cxn>
              <a:cxn ang="0">
                <a:pos x="T6" y="T7"/>
              </a:cxn>
              <a:cxn ang="0">
                <a:pos x="T8" y="T9"/>
              </a:cxn>
            </a:cxnLst>
            <a:rect l="0" t="0" r="r" b="b"/>
            <a:pathLst>
              <a:path w="165" h="381">
                <a:moveTo>
                  <a:pt x="165" y="38"/>
                </a:moveTo>
                <a:cubicBezTo>
                  <a:pt x="115" y="14"/>
                  <a:pt x="59" y="0"/>
                  <a:pt x="0" y="0"/>
                </a:cubicBezTo>
                <a:cubicBezTo>
                  <a:pt x="0" y="0"/>
                  <a:pt x="0" y="0"/>
                  <a:pt x="0" y="0"/>
                </a:cubicBezTo>
                <a:cubicBezTo>
                  <a:pt x="0" y="381"/>
                  <a:pt x="0" y="381"/>
                  <a:pt x="0" y="381"/>
                </a:cubicBezTo>
                <a:lnTo>
                  <a:pt x="165" y="38"/>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cxnSp>
        <p:nvCxnSpPr>
          <p:cNvPr id="129" name="Straight Connector 128">
            <a:extLst>
              <a:ext uri="{FF2B5EF4-FFF2-40B4-BE49-F238E27FC236}">
                <a16:creationId xmlns:a16="http://schemas.microsoft.com/office/drawing/2014/main" id="{84605042-82B0-42B8-B4EC-23B0E26D09E7}"/>
              </a:ext>
            </a:extLst>
          </p:cNvPr>
          <p:cNvCxnSpPr>
            <a:cxnSpLocks/>
          </p:cNvCxnSpPr>
          <p:nvPr/>
        </p:nvCxnSpPr>
        <p:spPr>
          <a:xfrm flipV="1">
            <a:off x="3713864" y="1034728"/>
            <a:ext cx="765600" cy="420031"/>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2FF61DF-7940-41F0-95AE-635092261ECE}"/>
              </a:ext>
            </a:extLst>
          </p:cNvPr>
          <p:cNvCxnSpPr>
            <a:cxnSpLocks/>
          </p:cNvCxnSpPr>
          <p:nvPr/>
        </p:nvCxnSpPr>
        <p:spPr>
          <a:xfrm flipH="1" flipV="1">
            <a:off x="4951116" y="3934618"/>
            <a:ext cx="818792" cy="4903"/>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8342B87-5447-4E36-8316-556570096E54}"/>
              </a:ext>
            </a:extLst>
          </p:cNvPr>
          <p:cNvCxnSpPr>
            <a:cxnSpLocks/>
          </p:cNvCxnSpPr>
          <p:nvPr/>
        </p:nvCxnSpPr>
        <p:spPr>
          <a:xfrm flipV="1">
            <a:off x="4509465" y="1949381"/>
            <a:ext cx="787605" cy="118197"/>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B549150-63D2-40DC-8DE2-F3EA303D5929}"/>
              </a:ext>
            </a:extLst>
          </p:cNvPr>
          <p:cNvCxnSpPr>
            <a:cxnSpLocks/>
          </p:cNvCxnSpPr>
          <p:nvPr/>
        </p:nvCxnSpPr>
        <p:spPr>
          <a:xfrm flipV="1">
            <a:off x="4956018" y="2936867"/>
            <a:ext cx="804084" cy="51481"/>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CB16BC8-4B77-4A9C-909E-2ABC367A12D5}"/>
              </a:ext>
            </a:extLst>
          </p:cNvPr>
          <p:cNvCxnSpPr>
            <a:cxnSpLocks/>
          </p:cNvCxnSpPr>
          <p:nvPr/>
        </p:nvCxnSpPr>
        <p:spPr>
          <a:xfrm>
            <a:off x="4518827" y="4762826"/>
            <a:ext cx="760787" cy="125415"/>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36A4A06-6FE1-47B6-B9A8-A537BE880531}"/>
              </a:ext>
            </a:extLst>
          </p:cNvPr>
          <p:cNvCxnSpPr>
            <a:cxnSpLocks/>
          </p:cNvCxnSpPr>
          <p:nvPr/>
        </p:nvCxnSpPr>
        <p:spPr>
          <a:xfrm>
            <a:off x="3707520" y="5381389"/>
            <a:ext cx="794350" cy="400846"/>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7658948B-6400-4947-A46E-AE5C146E965E}"/>
              </a:ext>
            </a:extLst>
          </p:cNvPr>
          <p:cNvSpPr/>
          <p:nvPr/>
        </p:nvSpPr>
        <p:spPr>
          <a:xfrm>
            <a:off x="2910883" y="1330669"/>
            <a:ext cx="2094438" cy="4188876"/>
          </a:xfrm>
          <a:custGeom>
            <a:avLst/>
            <a:gdLst>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0 w 4850078"/>
              <a:gd name="connsiteY4" fmla="*/ 242503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91440 w 4850078"/>
              <a:gd name="connsiteY4" fmla="*/ 251647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0" fmla="*/ 0 w 2425039"/>
              <a:gd name="connsiteY0" fmla="*/ 0 h 4850078"/>
              <a:gd name="connsiteX1" fmla="*/ 2425039 w 2425039"/>
              <a:gd name="connsiteY1" fmla="*/ 2425039 h 4850078"/>
              <a:gd name="connsiteX2" fmla="*/ 0 w 2425039"/>
              <a:gd name="connsiteY2" fmla="*/ 4850078 h 4850078"/>
            </a:gdLst>
            <a:ahLst/>
            <a:cxnLst>
              <a:cxn ang="0">
                <a:pos x="connsiteX0" y="connsiteY0"/>
              </a:cxn>
              <a:cxn ang="0">
                <a:pos x="connsiteX1" y="connsiteY1"/>
              </a:cxn>
              <a:cxn ang="0">
                <a:pos x="connsiteX2" y="connsiteY2"/>
              </a:cxn>
            </a:cxnLst>
            <a:rect l="l" t="t" r="r" b="b"/>
            <a:pathLst>
              <a:path w="2425039" h="4850078">
                <a:moveTo>
                  <a:pt x="0" y="0"/>
                </a:moveTo>
                <a:cubicBezTo>
                  <a:pt x="1339312" y="0"/>
                  <a:pt x="2425039" y="1085727"/>
                  <a:pt x="2425039" y="2425039"/>
                </a:cubicBezTo>
                <a:cubicBezTo>
                  <a:pt x="2425039" y="3764351"/>
                  <a:pt x="1339312" y="4850078"/>
                  <a:pt x="0" y="4850078"/>
                </a:cubicBezTo>
              </a:path>
            </a:pathLst>
          </a:custGeom>
          <a:noFill/>
          <a:ln w="38100" cap="rnd">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FC513F39-9800-4013-904F-FAA76DB47329}"/>
              </a:ext>
            </a:extLst>
          </p:cNvPr>
          <p:cNvSpPr/>
          <p:nvPr/>
        </p:nvSpPr>
        <p:spPr>
          <a:xfrm>
            <a:off x="2858448" y="1280161"/>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081FD6DC-DF1E-4423-B649-2BC02C0084ED}"/>
              </a:ext>
            </a:extLst>
          </p:cNvPr>
          <p:cNvSpPr/>
          <p:nvPr/>
        </p:nvSpPr>
        <p:spPr>
          <a:xfrm>
            <a:off x="2858448" y="5472970"/>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E6694893-FADB-4772-A629-12F924D02B89}"/>
              </a:ext>
            </a:extLst>
          </p:cNvPr>
          <p:cNvSpPr/>
          <p:nvPr/>
        </p:nvSpPr>
        <p:spPr>
          <a:xfrm>
            <a:off x="4441949" y="1995876"/>
            <a:ext cx="150046" cy="150046"/>
          </a:xfrm>
          <a:prstGeom prst="ellipse">
            <a:avLst/>
          </a:prstGeom>
          <a:solidFill>
            <a:schemeClr val="accent2"/>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B8776F7B-C4BF-4922-9A1A-0DA071E42B76}"/>
              </a:ext>
            </a:extLst>
          </p:cNvPr>
          <p:cNvSpPr/>
          <p:nvPr/>
        </p:nvSpPr>
        <p:spPr>
          <a:xfrm>
            <a:off x="4878376" y="2912535"/>
            <a:ext cx="150046" cy="150046"/>
          </a:xfrm>
          <a:prstGeom prst="ellipse">
            <a:avLst/>
          </a:prstGeom>
          <a:solidFill>
            <a:schemeClr val="accent1"/>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F98D58A9-2446-4E46-B138-733C736F4DAA}"/>
              </a:ext>
            </a:extLst>
          </p:cNvPr>
          <p:cNvSpPr/>
          <p:nvPr/>
        </p:nvSpPr>
        <p:spPr>
          <a:xfrm>
            <a:off x="4878376" y="3859351"/>
            <a:ext cx="150046" cy="150046"/>
          </a:xfrm>
          <a:prstGeom prst="ellipse">
            <a:avLst/>
          </a:prstGeom>
          <a:solidFill>
            <a:schemeClr val="accent4"/>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Rectangle: Rounded Corners 78">
            <a:extLst>
              <a:ext uri="{FF2B5EF4-FFF2-40B4-BE49-F238E27FC236}">
                <a16:creationId xmlns:a16="http://schemas.microsoft.com/office/drawing/2014/main" id="{A8275473-0AD5-45D3-8F04-91E6E7367348}"/>
              </a:ext>
            </a:extLst>
          </p:cNvPr>
          <p:cNvSpPr/>
          <p:nvPr/>
        </p:nvSpPr>
        <p:spPr>
          <a:xfrm>
            <a:off x="5616629" y="1489228"/>
            <a:ext cx="4645018" cy="847295"/>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Oval 79">
            <a:extLst>
              <a:ext uri="{FF2B5EF4-FFF2-40B4-BE49-F238E27FC236}">
                <a16:creationId xmlns:a16="http://schemas.microsoft.com/office/drawing/2014/main" id="{C6F9BE63-7DC9-4D8F-A65E-6E5F01FDEE5D}"/>
              </a:ext>
            </a:extLst>
          </p:cNvPr>
          <p:cNvSpPr/>
          <p:nvPr/>
        </p:nvSpPr>
        <p:spPr>
          <a:xfrm>
            <a:off x="5245484" y="157192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2"/>
                </a:solidFill>
              </a:rPr>
              <a:t>02</a:t>
            </a:r>
          </a:p>
        </p:txBody>
      </p:sp>
      <p:sp>
        <p:nvSpPr>
          <p:cNvPr id="81" name="Rectangle 80">
            <a:extLst>
              <a:ext uri="{FF2B5EF4-FFF2-40B4-BE49-F238E27FC236}">
                <a16:creationId xmlns:a16="http://schemas.microsoft.com/office/drawing/2014/main" id="{CC1884A0-B60E-41E3-A429-6A19DA69FB51}"/>
              </a:ext>
            </a:extLst>
          </p:cNvPr>
          <p:cNvSpPr/>
          <p:nvPr/>
        </p:nvSpPr>
        <p:spPr>
          <a:xfrm>
            <a:off x="6258437" y="180082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Market Opportunity</a:t>
            </a:r>
          </a:p>
        </p:txBody>
      </p:sp>
      <p:sp>
        <p:nvSpPr>
          <p:cNvPr id="66" name="Rectangle: Rounded Corners 65">
            <a:extLst>
              <a:ext uri="{FF2B5EF4-FFF2-40B4-BE49-F238E27FC236}">
                <a16:creationId xmlns:a16="http://schemas.microsoft.com/office/drawing/2014/main" id="{D783ED81-DA3A-4051-BA58-100A2C62427C}"/>
              </a:ext>
            </a:extLst>
          </p:cNvPr>
          <p:cNvSpPr/>
          <p:nvPr/>
        </p:nvSpPr>
        <p:spPr>
          <a:xfrm>
            <a:off x="6120685" y="2499978"/>
            <a:ext cx="4645018" cy="847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Oval 66">
            <a:extLst>
              <a:ext uri="{FF2B5EF4-FFF2-40B4-BE49-F238E27FC236}">
                <a16:creationId xmlns:a16="http://schemas.microsoft.com/office/drawing/2014/main" id="{2718954B-DF3D-422F-B68B-5EF30C982594}"/>
              </a:ext>
            </a:extLst>
          </p:cNvPr>
          <p:cNvSpPr/>
          <p:nvPr/>
        </p:nvSpPr>
        <p:spPr>
          <a:xfrm>
            <a:off x="5728084" y="258267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1"/>
                </a:solidFill>
              </a:rPr>
              <a:t>03</a:t>
            </a:r>
          </a:p>
        </p:txBody>
      </p:sp>
      <p:sp>
        <p:nvSpPr>
          <p:cNvPr id="68" name="Rectangle 67">
            <a:extLst>
              <a:ext uri="{FF2B5EF4-FFF2-40B4-BE49-F238E27FC236}">
                <a16:creationId xmlns:a16="http://schemas.microsoft.com/office/drawing/2014/main" id="{17653028-981F-444D-995E-282124D87E96}"/>
              </a:ext>
            </a:extLst>
          </p:cNvPr>
          <p:cNvSpPr/>
          <p:nvPr/>
        </p:nvSpPr>
        <p:spPr>
          <a:xfrm>
            <a:off x="6766437" y="281157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Who we are and what we do</a:t>
            </a:r>
          </a:p>
        </p:txBody>
      </p:sp>
      <p:sp>
        <p:nvSpPr>
          <p:cNvPr id="82" name="Rectangle: Rounded Corners 81">
            <a:extLst>
              <a:ext uri="{FF2B5EF4-FFF2-40B4-BE49-F238E27FC236}">
                <a16:creationId xmlns:a16="http://schemas.microsoft.com/office/drawing/2014/main" id="{55061DC2-6177-4AF2-B8D7-0C8A62DA27F0}"/>
              </a:ext>
            </a:extLst>
          </p:cNvPr>
          <p:cNvSpPr/>
          <p:nvPr/>
        </p:nvSpPr>
        <p:spPr>
          <a:xfrm>
            <a:off x="5616629" y="4521478"/>
            <a:ext cx="4645018" cy="847295"/>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C1AC8196-0264-4A2A-85C7-BB7D511208BF}"/>
              </a:ext>
            </a:extLst>
          </p:cNvPr>
          <p:cNvSpPr/>
          <p:nvPr/>
        </p:nvSpPr>
        <p:spPr>
          <a:xfrm>
            <a:off x="5245484" y="460417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2"/>
                </a:solidFill>
              </a:rPr>
              <a:t>05</a:t>
            </a:r>
          </a:p>
        </p:txBody>
      </p:sp>
      <p:sp>
        <p:nvSpPr>
          <p:cNvPr id="84" name="Rectangle 83">
            <a:extLst>
              <a:ext uri="{FF2B5EF4-FFF2-40B4-BE49-F238E27FC236}">
                <a16:creationId xmlns:a16="http://schemas.microsoft.com/office/drawing/2014/main" id="{750A0077-20AA-410E-A8F3-11DFE80EE8E2}"/>
              </a:ext>
            </a:extLst>
          </p:cNvPr>
          <p:cNvSpPr/>
          <p:nvPr/>
        </p:nvSpPr>
        <p:spPr>
          <a:xfrm>
            <a:off x="6258437" y="483307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Leadership Team</a:t>
            </a:r>
          </a:p>
        </p:txBody>
      </p:sp>
      <p:sp>
        <p:nvSpPr>
          <p:cNvPr id="69" name="Rectangle: Rounded Corners 68">
            <a:extLst>
              <a:ext uri="{FF2B5EF4-FFF2-40B4-BE49-F238E27FC236}">
                <a16:creationId xmlns:a16="http://schemas.microsoft.com/office/drawing/2014/main" id="{EFC2BB35-1826-496F-8822-3AA9ACFC6444}"/>
              </a:ext>
            </a:extLst>
          </p:cNvPr>
          <p:cNvSpPr/>
          <p:nvPr/>
        </p:nvSpPr>
        <p:spPr>
          <a:xfrm>
            <a:off x="6118291" y="3510728"/>
            <a:ext cx="4645018" cy="847295"/>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Oval 69">
            <a:extLst>
              <a:ext uri="{FF2B5EF4-FFF2-40B4-BE49-F238E27FC236}">
                <a16:creationId xmlns:a16="http://schemas.microsoft.com/office/drawing/2014/main" id="{510DBCB6-18CE-4E19-97F9-A009EE99D3BE}"/>
              </a:ext>
            </a:extLst>
          </p:cNvPr>
          <p:cNvSpPr/>
          <p:nvPr/>
        </p:nvSpPr>
        <p:spPr>
          <a:xfrm>
            <a:off x="5728084" y="359342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4"/>
                </a:solidFill>
              </a:rPr>
              <a:t>04</a:t>
            </a:r>
          </a:p>
        </p:txBody>
      </p:sp>
      <p:sp>
        <p:nvSpPr>
          <p:cNvPr id="72" name="Rectangle 71">
            <a:extLst>
              <a:ext uri="{FF2B5EF4-FFF2-40B4-BE49-F238E27FC236}">
                <a16:creationId xmlns:a16="http://schemas.microsoft.com/office/drawing/2014/main" id="{BCF47C04-A4AA-4FCE-B920-DC082893104D}"/>
              </a:ext>
            </a:extLst>
          </p:cNvPr>
          <p:cNvSpPr/>
          <p:nvPr/>
        </p:nvSpPr>
        <p:spPr>
          <a:xfrm>
            <a:off x="6787146" y="382232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Products &amp; Services</a:t>
            </a:r>
          </a:p>
        </p:txBody>
      </p:sp>
      <p:sp>
        <p:nvSpPr>
          <p:cNvPr id="102" name="Oval 101">
            <a:extLst>
              <a:ext uri="{FF2B5EF4-FFF2-40B4-BE49-F238E27FC236}">
                <a16:creationId xmlns:a16="http://schemas.microsoft.com/office/drawing/2014/main" id="{D14BEA8A-8B9C-4589-8558-51BCD94F2F71}"/>
              </a:ext>
            </a:extLst>
          </p:cNvPr>
          <p:cNvSpPr/>
          <p:nvPr/>
        </p:nvSpPr>
        <p:spPr>
          <a:xfrm>
            <a:off x="3626332" y="1399106"/>
            <a:ext cx="150046" cy="150046"/>
          </a:xfrm>
          <a:prstGeom prst="ellipse">
            <a:avLst/>
          </a:prstGeom>
          <a:solidFill>
            <a:schemeClr val="accent3"/>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 name="Oval 103">
            <a:extLst>
              <a:ext uri="{FF2B5EF4-FFF2-40B4-BE49-F238E27FC236}">
                <a16:creationId xmlns:a16="http://schemas.microsoft.com/office/drawing/2014/main" id="{7CD62A60-BC6A-48AA-BE79-FD4F3D51882F}"/>
              </a:ext>
            </a:extLst>
          </p:cNvPr>
          <p:cNvSpPr/>
          <p:nvPr/>
        </p:nvSpPr>
        <p:spPr>
          <a:xfrm>
            <a:off x="3621850" y="5297321"/>
            <a:ext cx="150046" cy="150046"/>
          </a:xfrm>
          <a:prstGeom prst="ellipse">
            <a:avLst/>
          </a:prstGeom>
          <a:solidFill>
            <a:schemeClr val="accent1">
              <a:lumMod val="75000"/>
            </a:schemeClr>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6" name="Rectangle: Rounded Corners 105">
            <a:extLst>
              <a:ext uri="{FF2B5EF4-FFF2-40B4-BE49-F238E27FC236}">
                <a16:creationId xmlns:a16="http://schemas.microsoft.com/office/drawing/2014/main" id="{137C3552-BD4B-4981-A137-7E046C8EFB5C}"/>
              </a:ext>
            </a:extLst>
          </p:cNvPr>
          <p:cNvSpPr/>
          <p:nvPr/>
        </p:nvSpPr>
        <p:spPr>
          <a:xfrm>
            <a:off x="4777643" y="478478"/>
            <a:ext cx="4645018" cy="847295"/>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7" name="Oval 106">
            <a:extLst>
              <a:ext uri="{FF2B5EF4-FFF2-40B4-BE49-F238E27FC236}">
                <a16:creationId xmlns:a16="http://schemas.microsoft.com/office/drawing/2014/main" id="{C9224741-E84A-4B1D-9E88-3030E148EF9A}"/>
              </a:ext>
            </a:extLst>
          </p:cNvPr>
          <p:cNvSpPr/>
          <p:nvPr/>
        </p:nvSpPr>
        <p:spPr>
          <a:xfrm>
            <a:off x="4406498" y="56117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3"/>
                </a:solidFill>
              </a:rPr>
              <a:t>01</a:t>
            </a:r>
          </a:p>
        </p:txBody>
      </p:sp>
      <p:sp>
        <p:nvSpPr>
          <p:cNvPr id="112" name="Rectangle 111">
            <a:extLst>
              <a:ext uri="{FF2B5EF4-FFF2-40B4-BE49-F238E27FC236}">
                <a16:creationId xmlns:a16="http://schemas.microsoft.com/office/drawing/2014/main" id="{47141795-FDA6-41DE-ACC9-EE0799026F7A}"/>
              </a:ext>
            </a:extLst>
          </p:cNvPr>
          <p:cNvSpPr/>
          <p:nvPr/>
        </p:nvSpPr>
        <p:spPr>
          <a:xfrm>
            <a:off x="5419451" y="79007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Mission Statement</a:t>
            </a:r>
          </a:p>
        </p:txBody>
      </p:sp>
      <p:sp>
        <p:nvSpPr>
          <p:cNvPr id="115" name="Rectangle: Rounded Corners 114">
            <a:extLst>
              <a:ext uri="{FF2B5EF4-FFF2-40B4-BE49-F238E27FC236}">
                <a16:creationId xmlns:a16="http://schemas.microsoft.com/office/drawing/2014/main" id="{46739440-8D8D-4B2C-A77F-6669E6B0C777}"/>
              </a:ext>
            </a:extLst>
          </p:cNvPr>
          <p:cNvSpPr/>
          <p:nvPr/>
        </p:nvSpPr>
        <p:spPr>
          <a:xfrm>
            <a:off x="4777643" y="5532230"/>
            <a:ext cx="4645018" cy="847295"/>
          </a:xfrm>
          <a:prstGeom prst="roundRect">
            <a:avLst>
              <a:gd name="adj" fmla="val 5000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6" name="Oval 125">
            <a:extLst>
              <a:ext uri="{FF2B5EF4-FFF2-40B4-BE49-F238E27FC236}">
                <a16:creationId xmlns:a16="http://schemas.microsoft.com/office/drawing/2014/main" id="{4C64F813-2C29-4816-B7D8-C70E19301B91}"/>
              </a:ext>
            </a:extLst>
          </p:cNvPr>
          <p:cNvSpPr/>
          <p:nvPr/>
        </p:nvSpPr>
        <p:spPr>
          <a:xfrm>
            <a:off x="4406498" y="5614925"/>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1">
                    <a:lumMod val="75000"/>
                  </a:schemeClr>
                </a:solidFill>
              </a:rPr>
              <a:t>06</a:t>
            </a:r>
          </a:p>
        </p:txBody>
      </p:sp>
      <p:sp>
        <p:nvSpPr>
          <p:cNvPr id="127" name="Rectangle 126">
            <a:extLst>
              <a:ext uri="{FF2B5EF4-FFF2-40B4-BE49-F238E27FC236}">
                <a16:creationId xmlns:a16="http://schemas.microsoft.com/office/drawing/2014/main" id="{D003E9EE-EB5D-4D2B-8B08-24B04CA6B3D2}"/>
              </a:ext>
            </a:extLst>
          </p:cNvPr>
          <p:cNvSpPr/>
          <p:nvPr/>
        </p:nvSpPr>
        <p:spPr>
          <a:xfrm>
            <a:off x="5419451" y="5843826"/>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Financial Model</a:t>
            </a:r>
          </a:p>
        </p:txBody>
      </p:sp>
      <p:sp>
        <p:nvSpPr>
          <p:cNvPr id="130" name="Oval 129">
            <a:extLst>
              <a:ext uri="{FF2B5EF4-FFF2-40B4-BE49-F238E27FC236}">
                <a16:creationId xmlns:a16="http://schemas.microsoft.com/office/drawing/2014/main" id="{1AC223FA-CFF8-4492-B789-F3A297D04866}"/>
              </a:ext>
            </a:extLst>
          </p:cNvPr>
          <p:cNvSpPr/>
          <p:nvPr/>
        </p:nvSpPr>
        <p:spPr>
          <a:xfrm>
            <a:off x="4441949" y="4689199"/>
            <a:ext cx="150046" cy="150046"/>
          </a:xfrm>
          <a:prstGeom prst="ellipse">
            <a:avLst/>
          </a:prstGeom>
          <a:solidFill>
            <a:schemeClr val="accent6"/>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Oval 12">
            <a:extLst>
              <a:ext uri="{FF2B5EF4-FFF2-40B4-BE49-F238E27FC236}">
                <a16:creationId xmlns:a16="http://schemas.microsoft.com/office/drawing/2014/main" id="{F77421BA-406B-4452-83AE-424049E3B4BC}"/>
              </a:ext>
            </a:extLst>
          </p:cNvPr>
          <p:cNvSpPr>
            <a:spLocks noChangeArrowheads="1"/>
          </p:cNvSpPr>
          <p:nvPr/>
        </p:nvSpPr>
        <p:spPr bwMode="auto">
          <a:xfrm>
            <a:off x="1821269" y="2304504"/>
            <a:ext cx="2248995" cy="2248992"/>
          </a:xfrm>
          <a:prstGeom prst="ellipse">
            <a:avLst/>
          </a:prstGeom>
          <a:solidFill>
            <a:schemeClr val="bg1"/>
          </a:solidFill>
          <a:ln w="9525">
            <a:noFill/>
            <a:round/>
            <a:headEnd/>
            <a:tailEnd/>
          </a:ln>
        </p:spPr>
        <p:txBody>
          <a:bodyPr vert="horz" wrap="square" lIns="91440" tIns="45720" rIns="91440" bIns="45720" numCol="1" anchor="ctr" anchorCtr="0" compatLnSpc="1">
            <a:prstTxWarp prst="textNoShape">
              <a:avLst/>
            </a:prstTxWarp>
          </a:bodyPr>
          <a:lstStyle/>
          <a:p>
            <a:pPr algn="ctr"/>
            <a:r>
              <a:rPr lang="en-IN" sz="20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ASG Overview</a:t>
            </a:r>
          </a:p>
        </p:txBody>
      </p:sp>
    </p:spTree>
    <p:extLst>
      <p:ext uri="{BB962C8B-B14F-4D97-AF65-F5344CB8AC3E}">
        <p14:creationId xmlns:p14="http://schemas.microsoft.com/office/powerpoint/2010/main" val="837395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19285-5CB1-0934-603E-12C5550073DF}"/>
              </a:ext>
            </a:extLst>
          </p:cNvPr>
          <p:cNvSpPr>
            <a:spLocks noGrp="1"/>
          </p:cNvSpPr>
          <p:nvPr>
            <p:ph type="title"/>
          </p:nvPr>
        </p:nvSpPr>
        <p:spPr/>
        <p:txBody>
          <a:bodyPr/>
          <a:lstStyle/>
          <a:p>
            <a:r>
              <a:rPr lang="en-US" dirty="0"/>
              <a:t>Mission Statement</a:t>
            </a:r>
          </a:p>
        </p:txBody>
      </p:sp>
      <p:sp>
        <p:nvSpPr>
          <p:cNvPr id="3" name="Content Placeholder 2">
            <a:extLst>
              <a:ext uri="{FF2B5EF4-FFF2-40B4-BE49-F238E27FC236}">
                <a16:creationId xmlns:a16="http://schemas.microsoft.com/office/drawing/2014/main" id="{CBBC4F52-0568-38CA-1EC4-D1F87F978082}"/>
              </a:ext>
            </a:extLst>
          </p:cNvPr>
          <p:cNvSpPr>
            <a:spLocks noGrp="1"/>
          </p:cNvSpPr>
          <p:nvPr>
            <p:ph idx="1"/>
          </p:nvPr>
        </p:nvSpPr>
        <p:spPr>
          <a:xfrm>
            <a:off x="1857882" y="3134332"/>
            <a:ext cx="9103488" cy="1723418"/>
          </a:xfrm>
        </p:spPr>
        <p:txBody>
          <a:bodyPr>
            <a:normAutofit/>
          </a:bodyPr>
          <a:lstStyle/>
          <a:p>
            <a:pPr marL="0" indent="0" algn="ctr">
              <a:buNone/>
            </a:pPr>
            <a:r>
              <a:rPr lang="en-US" sz="3200" i="1" dirty="0">
                <a:latin typeface="Optima" panose="02000503060000020004" pitchFamily="2" charset="0"/>
              </a:rPr>
              <a:t>To provide enterprise application providers with a fully integrated and best in class set of tools for application security, availability and compliance.</a:t>
            </a:r>
          </a:p>
          <a:p>
            <a:pPr algn="ctr"/>
            <a:endParaRPr lang="en-US" sz="3200" dirty="0">
              <a:latin typeface="Optima" panose="02000503060000020004" pitchFamily="2" charset="0"/>
            </a:endParaRPr>
          </a:p>
        </p:txBody>
      </p:sp>
    </p:spTree>
    <p:extLst>
      <p:ext uri="{BB962C8B-B14F-4D97-AF65-F5344CB8AC3E}">
        <p14:creationId xmlns:p14="http://schemas.microsoft.com/office/powerpoint/2010/main" val="2015413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503EB0F-2257-4A3E-A73B-E1DE769B45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77012B2A-0D78-433A-8C68-8889D3DCD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Freeform 5">
              <a:extLst>
                <a:ext uri="{FF2B5EF4-FFF2-40B4-BE49-F238E27FC236}">
                  <a16:creationId xmlns:a16="http://schemas.microsoft.com/office/drawing/2014/main" id="{119D0202-ED3F-47CC-90E9-4E963BCDAB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13" name="Rectangle 12">
            <a:extLst>
              <a:ext uri="{FF2B5EF4-FFF2-40B4-BE49-F238E27FC236}">
                <a16:creationId xmlns:a16="http://schemas.microsoft.com/office/drawing/2014/main" id="{670D6F2B-93AF-47D6-9378-5E54BE0AC6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491A5E26-1F21-459D-8C03-ADB057B090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 program&#10;&#10;AI-generated content may be incorrect.">
            <a:extLst>
              <a:ext uri="{FF2B5EF4-FFF2-40B4-BE49-F238E27FC236}">
                <a16:creationId xmlns:a16="http://schemas.microsoft.com/office/drawing/2014/main" id="{A85A74AC-13B5-F3CA-9945-EE771D799B68}"/>
              </a:ext>
            </a:extLst>
          </p:cNvPr>
          <p:cNvPicPr>
            <a:picLocks noChangeAspect="1"/>
          </p:cNvPicPr>
          <p:nvPr/>
        </p:nvPicPr>
        <p:blipFill>
          <a:blip r:embed="rId3">
            <a:alphaModFix amt="40000"/>
          </a:blip>
          <a:srcRect l="325" r="1454" b="1"/>
          <a:stretch/>
        </p:blipFill>
        <p:spPr>
          <a:xfrm>
            <a:off x="435866" y="201581"/>
            <a:ext cx="11679934" cy="6569964"/>
          </a:xfrm>
          <a:prstGeom prst="rect">
            <a:avLst/>
          </a:prstGeom>
        </p:spPr>
      </p:pic>
      <p:sp>
        <p:nvSpPr>
          <p:cNvPr id="2" name="Title 1">
            <a:extLst>
              <a:ext uri="{FF2B5EF4-FFF2-40B4-BE49-F238E27FC236}">
                <a16:creationId xmlns:a16="http://schemas.microsoft.com/office/drawing/2014/main" id="{16BF9B38-D36C-9D7D-4F82-807C32EFE971}"/>
              </a:ext>
            </a:extLst>
          </p:cNvPr>
          <p:cNvSpPr>
            <a:spLocks noGrp="1"/>
          </p:cNvSpPr>
          <p:nvPr>
            <p:ph type="title"/>
          </p:nvPr>
        </p:nvSpPr>
        <p:spPr>
          <a:xfrm>
            <a:off x="1154955" y="2099733"/>
            <a:ext cx="8825658" cy="2677648"/>
          </a:xfrm>
        </p:spPr>
        <p:txBody>
          <a:bodyPr vert="horz" lIns="91440" tIns="45720" rIns="91440" bIns="45720" rtlCol="0" anchor="b">
            <a:normAutofit/>
          </a:bodyPr>
          <a:lstStyle/>
          <a:p>
            <a:r>
              <a:rPr lang="en-US" sz="5400">
                <a:solidFill>
                  <a:schemeClr val="tx1"/>
                </a:solidFill>
              </a:rPr>
              <a:t>Cloud Solution Providers</a:t>
            </a:r>
          </a:p>
        </p:txBody>
      </p:sp>
      <p:sp>
        <p:nvSpPr>
          <p:cNvPr id="3" name="TextBox 2">
            <a:extLst>
              <a:ext uri="{FF2B5EF4-FFF2-40B4-BE49-F238E27FC236}">
                <a16:creationId xmlns:a16="http://schemas.microsoft.com/office/drawing/2014/main" id="{45A1E1B8-EF73-7A94-3B17-21651A5FDB0F}"/>
              </a:ext>
            </a:extLst>
          </p:cNvPr>
          <p:cNvSpPr txBox="1"/>
          <p:nvPr/>
        </p:nvSpPr>
        <p:spPr>
          <a:xfrm>
            <a:off x="1154955" y="4777380"/>
            <a:ext cx="8825658" cy="861420"/>
          </a:xfrm>
          <a:prstGeom prst="rect">
            <a:avLst/>
          </a:prstGeom>
        </p:spPr>
        <p:txBody>
          <a:bodyPr vert="horz" lIns="91440" tIns="45720" rIns="91440" bIns="45720" rtlCol="0" anchor="t">
            <a:normAutofit/>
          </a:bodyPr>
          <a:lstStyle/>
          <a:p>
            <a:pPr>
              <a:spcBef>
                <a:spcPts val="1000"/>
              </a:spcBef>
              <a:buClr>
                <a:schemeClr val="accent1"/>
              </a:buClr>
              <a:buSzPct val="80000"/>
            </a:pPr>
            <a:r>
              <a:rPr lang="en-US" cap="all"/>
              <a:t>If you’re not overwhelmed and confused, you’re not paying attention</a:t>
            </a:r>
          </a:p>
        </p:txBody>
      </p:sp>
    </p:spTree>
    <p:extLst>
      <p:ext uri="{BB962C8B-B14F-4D97-AF65-F5344CB8AC3E}">
        <p14:creationId xmlns:p14="http://schemas.microsoft.com/office/powerpoint/2010/main" val="2660766691"/>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801DC0-D082-912F-3F54-3BC6ABB3C44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6981798-4550-46DA-9172-4846E2FB6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82EB7D3-3AD8-4ED1-9E1A-2906E1463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flipH="1">
            <a:off x="423335" y="404829"/>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89F8FAB-F64B-EB62-E009-DC0DC24F5CAD}"/>
              </a:ext>
            </a:extLst>
          </p:cNvPr>
          <p:cNvSpPr>
            <a:spLocks noGrp="1"/>
          </p:cNvSpPr>
          <p:nvPr>
            <p:ph type="title"/>
          </p:nvPr>
        </p:nvSpPr>
        <p:spPr>
          <a:xfrm>
            <a:off x="423335" y="356199"/>
            <a:ext cx="9116347" cy="703180"/>
          </a:xfrm>
        </p:spPr>
        <p:txBody>
          <a:bodyPr vert="horz" lIns="91440" tIns="45720" rIns="91440" bIns="45720" rtlCol="0" anchor="ctr">
            <a:normAutofit/>
          </a:bodyPr>
          <a:lstStyle/>
          <a:p>
            <a:r>
              <a:rPr lang="en-US" sz="3300" dirty="0">
                <a:solidFill>
                  <a:schemeClr val="tx2"/>
                </a:solidFill>
              </a:rPr>
              <a:t>Fragmentation and Time to Resolution</a:t>
            </a:r>
          </a:p>
        </p:txBody>
      </p:sp>
      <p:sp>
        <p:nvSpPr>
          <p:cNvPr id="5" name="Text Placeholder 5">
            <a:extLst>
              <a:ext uri="{FF2B5EF4-FFF2-40B4-BE49-F238E27FC236}">
                <a16:creationId xmlns:a16="http://schemas.microsoft.com/office/drawing/2014/main" id="{EF02A928-8089-277B-F5E0-9CAFFA540CF0}"/>
              </a:ext>
            </a:extLst>
          </p:cNvPr>
          <p:cNvSpPr txBox="1">
            <a:spLocks/>
          </p:cNvSpPr>
          <p:nvPr/>
        </p:nvSpPr>
        <p:spPr>
          <a:xfrm>
            <a:off x="254789" y="1343480"/>
            <a:ext cx="3399392" cy="4991600"/>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a:lnSpc>
                <a:spcPct val="90000"/>
              </a:lnSpc>
              <a:buFont typeface="System Font Regular"/>
              <a:buChar char="⎼"/>
            </a:pPr>
            <a:r>
              <a:rPr lang="en-US" sz="1400" i="1" dirty="0"/>
              <a:t>Space is highly fragmented</a:t>
            </a:r>
          </a:p>
          <a:p>
            <a:pPr>
              <a:lnSpc>
                <a:spcPct val="90000"/>
              </a:lnSpc>
              <a:buFont typeface="System Font Regular"/>
              <a:buChar char="⎼"/>
            </a:pPr>
            <a:r>
              <a:rPr lang="en-US" sz="1400" i="1" dirty="0"/>
              <a:t>ASP and MSPs have too many tools that are not integrated and most tools are not designed for ASPs</a:t>
            </a:r>
          </a:p>
          <a:p>
            <a:pPr>
              <a:lnSpc>
                <a:spcPct val="90000"/>
              </a:lnSpc>
              <a:buFont typeface="System Font Regular"/>
              <a:buChar char="⎼"/>
            </a:pPr>
            <a:r>
              <a:rPr lang="en-US" sz="1400" i="1" dirty="0"/>
              <a:t>Cloud Providers have an assortment of tools that do not always play together</a:t>
            </a:r>
          </a:p>
          <a:p>
            <a:pPr>
              <a:lnSpc>
                <a:spcPct val="90000"/>
              </a:lnSpc>
              <a:buFont typeface="System Font Regular"/>
              <a:buChar char="⎼"/>
            </a:pPr>
            <a:r>
              <a:rPr lang="en-US" sz="1400" i="1" dirty="0"/>
              <a:t>A single interface into the security  and compliance status of an ASP is paramount to solving this problem at scale to minimize risk </a:t>
            </a:r>
          </a:p>
          <a:p>
            <a:pPr>
              <a:lnSpc>
                <a:spcPct val="90000"/>
              </a:lnSpc>
              <a:buFont typeface="System Font Regular"/>
              <a:buChar char="⎼"/>
            </a:pPr>
            <a:r>
              <a:rPr lang="en-US" sz="1400" i="1" dirty="0"/>
              <a:t>Bad actors are well funded, driven by nation-states in many cases</a:t>
            </a:r>
          </a:p>
          <a:p>
            <a:pPr>
              <a:lnSpc>
                <a:spcPct val="90000"/>
              </a:lnSpc>
              <a:buFont typeface="System Font Regular"/>
              <a:buChar char="⎼"/>
            </a:pPr>
            <a:r>
              <a:rPr lang="en-US" sz="1400" i="1" dirty="0"/>
              <a:t>Zero Days are becoming more problematic as the speed and velocity of threats accelerates. ASPs must be armed with near-real time information on threats, attack vectors and remediations continuously and in near-real time</a:t>
            </a:r>
          </a:p>
        </p:txBody>
      </p:sp>
      <p:sp>
        <p:nvSpPr>
          <p:cNvPr id="14" name="Freeform 5">
            <a:extLst>
              <a:ext uri="{FF2B5EF4-FFF2-40B4-BE49-F238E27FC236}">
                <a16:creationId xmlns:a16="http://schemas.microsoft.com/office/drawing/2014/main" id="{2D529E20-662F-4915-ACD7-970C026FDB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677511" flipH="1">
            <a:off x="3545327" y="190332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pic>
        <p:nvPicPr>
          <p:cNvPr id="7" name="Picture 6">
            <a:extLst>
              <a:ext uri="{FF2B5EF4-FFF2-40B4-BE49-F238E27FC236}">
                <a16:creationId xmlns:a16="http://schemas.microsoft.com/office/drawing/2014/main" id="{E971B947-2617-0C0E-7C9C-CDA33B0F8375}"/>
              </a:ext>
            </a:extLst>
          </p:cNvPr>
          <p:cNvPicPr>
            <a:picLocks noChangeAspect="1"/>
          </p:cNvPicPr>
          <p:nvPr/>
        </p:nvPicPr>
        <p:blipFill>
          <a:blip r:embed="rId2"/>
          <a:stretch>
            <a:fillRect/>
          </a:stretch>
        </p:blipFill>
        <p:spPr>
          <a:xfrm>
            <a:off x="3908970" y="1163209"/>
            <a:ext cx="8113170" cy="5352142"/>
          </a:xfrm>
          <a:prstGeom prst="rect">
            <a:avLst/>
          </a:prstGeom>
        </p:spPr>
      </p:pic>
    </p:spTree>
    <p:extLst>
      <p:ext uri="{BB962C8B-B14F-4D97-AF65-F5344CB8AC3E}">
        <p14:creationId xmlns:p14="http://schemas.microsoft.com/office/powerpoint/2010/main" val="4235732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060419A-272E-0C4C-8867-D4DE03482DA5}"/>
              </a:ext>
            </a:extLst>
          </p:cNvPr>
          <p:cNvPicPr>
            <a:picLocks noChangeAspect="1"/>
          </p:cNvPicPr>
          <p:nvPr/>
        </p:nvPicPr>
        <p:blipFill>
          <a:blip r:embed="rId2"/>
          <a:stretch>
            <a:fillRect/>
          </a:stretch>
        </p:blipFill>
        <p:spPr>
          <a:xfrm>
            <a:off x="4519416" y="2352485"/>
            <a:ext cx="7231589" cy="4485190"/>
          </a:xfrm>
          <a:prstGeom prst="rect">
            <a:avLst/>
          </a:prstGeom>
        </p:spPr>
      </p:pic>
      <p:sp>
        <p:nvSpPr>
          <p:cNvPr id="2" name="Title 1">
            <a:extLst>
              <a:ext uri="{FF2B5EF4-FFF2-40B4-BE49-F238E27FC236}">
                <a16:creationId xmlns:a16="http://schemas.microsoft.com/office/drawing/2014/main" id="{B37EE78C-2D44-6A2A-4FB0-074F01DA3A50}"/>
              </a:ext>
            </a:extLst>
          </p:cNvPr>
          <p:cNvSpPr>
            <a:spLocks noGrp="1"/>
          </p:cNvSpPr>
          <p:nvPr>
            <p:ph type="title"/>
          </p:nvPr>
        </p:nvSpPr>
        <p:spPr>
          <a:xfrm>
            <a:off x="981960" y="570566"/>
            <a:ext cx="8761413" cy="706964"/>
          </a:xfrm>
        </p:spPr>
        <p:txBody>
          <a:bodyPr vert="horz" lIns="91440" tIns="45720" rIns="91440" bIns="45720" rtlCol="0" anchor="ctr">
            <a:normAutofit/>
          </a:bodyPr>
          <a:lstStyle/>
          <a:p>
            <a:r>
              <a:rPr lang="en-US" dirty="0"/>
              <a:t>Market Opportunity</a:t>
            </a:r>
          </a:p>
        </p:txBody>
      </p:sp>
      <p:sp>
        <p:nvSpPr>
          <p:cNvPr id="5" name="Text Placeholder 5">
            <a:extLst>
              <a:ext uri="{FF2B5EF4-FFF2-40B4-BE49-F238E27FC236}">
                <a16:creationId xmlns:a16="http://schemas.microsoft.com/office/drawing/2014/main" id="{D6265DBC-FAAF-58EC-25B4-8A0D0DF4E0E2}"/>
              </a:ext>
            </a:extLst>
          </p:cNvPr>
          <p:cNvSpPr txBox="1">
            <a:spLocks/>
          </p:cNvSpPr>
          <p:nvPr/>
        </p:nvSpPr>
        <p:spPr>
          <a:xfrm>
            <a:off x="440995" y="2155788"/>
            <a:ext cx="3911315" cy="4485189"/>
          </a:xfrm>
          <a:prstGeom prst="rect">
            <a:avLst/>
          </a:prstGeom>
        </p:spPr>
        <p:txBody>
          <a:bodyPr vert="horz" lIns="91440" tIns="45720" rIns="91440" bIns="45720" rtlCol="0" anchor="ct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a:lnSpc>
                <a:spcPct val="90000"/>
              </a:lnSpc>
              <a:buFont typeface="System Font Regular"/>
              <a:buChar char="⎼"/>
            </a:pPr>
            <a:r>
              <a:rPr lang="en-US" sz="1600" i="1" dirty="0">
                <a:latin typeface="Arial Hebrew Scholar" pitchFamily="2" charset="-79"/>
                <a:cs typeface="Arial Hebrew Scholar" pitchFamily="2" charset="-79"/>
              </a:rPr>
              <a:t>Cost of breaches continues to soar, as does Cyber Insurance costs, driving up spend on Cyber Security</a:t>
            </a:r>
          </a:p>
          <a:p>
            <a:pPr>
              <a:buFont typeface="System Font Regular"/>
              <a:buChar char="⎼"/>
            </a:pPr>
            <a:r>
              <a:rPr lang="en-US" sz="1600" i="1" dirty="0">
                <a:solidFill>
                  <a:schemeClr val="tx1"/>
                </a:solidFill>
                <a:latin typeface="Arial Hebrew Scholar" pitchFamily="2" charset="-79"/>
                <a:cs typeface="Arial Hebrew Scholar" pitchFamily="2" charset="-79"/>
              </a:rPr>
              <a:t>LLM adoption in Cyber is just getting started. Bad actors are getting more sophisticated, leveraging AI technologies, platforms distribution models</a:t>
            </a:r>
          </a:p>
          <a:p>
            <a:pPr>
              <a:buFont typeface="System Font Regular"/>
              <a:buChar char="⎼"/>
            </a:pPr>
            <a:r>
              <a:rPr lang="en-US" sz="1600" i="1" dirty="0">
                <a:solidFill>
                  <a:schemeClr val="tx1"/>
                </a:solidFill>
                <a:latin typeface="Arial Hebrew Scholar" pitchFamily="2" charset="-79"/>
                <a:cs typeface="Arial Hebrew Scholar" pitchFamily="2" charset="-79"/>
              </a:rPr>
              <a:t>Compliance continues to become more complex as the legislative landscape continues to evolve both in the US at the federal and state levels and in the EU, UK, ASPAC</a:t>
            </a:r>
          </a:p>
        </p:txBody>
      </p:sp>
    </p:spTree>
    <p:extLst>
      <p:ext uri="{BB962C8B-B14F-4D97-AF65-F5344CB8AC3E}">
        <p14:creationId xmlns:p14="http://schemas.microsoft.com/office/powerpoint/2010/main" val="1315852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41722" y="730456"/>
            <a:ext cx="6458487" cy="838616"/>
          </a:xfrm>
        </p:spPr>
        <p:txBody>
          <a:bodyPr>
            <a:normAutofit/>
          </a:bodyPr>
          <a:lstStyle/>
          <a:p>
            <a:r>
              <a:rPr lang="en-US" dirty="0"/>
              <a:t>Athena &amp; ASG</a:t>
            </a:r>
            <a:endParaRPr dirty="0"/>
          </a:p>
        </p:txBody>
      </p:sp>
      <p:sp>
        <p:nvSpPr>
          <p:cNvPr id="3" name="Content Placeholder 2"/>
          <p:cNvSpPr>
            <a:spLocks noGrp="1"/>
          </p:cNvSpPr>
          <p:nvPr>
            <p:ph idx="1"/>
          </p:nvPr>
        </p:nvSpPr>
        <p:spPr>
          <a:xfrm>
            <a:off x="724558" y="2309127"/>
            <a:ext cx="7840707" cy="4548873"/>
          </a:xfrm>
        </p:spPr>
        <p:txBody>
          <a:bodyPr>
            <a:normAutofit/>
          </a:bodyPr>
          <a:lstStyle/>
          <a:p>
            <a:pPr marL="0" indent="0">
              <a:lnSpc>
                <a:spcPct val="100000"/>
              </a:lnSpc>
              <a:buNone/>
            </a:pPr>
            <a:r>
              <a:rPr lang="en-US" sz="1200" b="0" i="0" u="none" strike="noStrike" dirty="0">
                <a:solidFill>
                  <a:schemeClr val="tx1"/>
                </a:solidFill>
                <a:effectLst/>
                <a:latin typeface="Optima" panose="02000503060000020004" pitchFamily="2" charset="0"/>
              </a:rPr>
              <a:t>Athena is the Greek goddess of wisdom, warfare, and strategic defense who represents, among other things, intelligence, foresight, and disciplined power. She is known for her tactical acumen, fairness, and ability to protect cities, notably Athens, which was named after her. Unlike Ares, who embodies chaotic war, Athena symbolizes calculated, strategic warfare and is often depicted with a shield (Aegis) and an owl, symbolizing vigilance and knowledge.</a:t>
            </a:r>
          </a:p>
          <a:p>
            <a:pPr>
              <a:lnSpc>
                <a:spcPct val="100000"/>
              </a:lnSpc>
              <a:buFont typeface="System Font Regular"/>
              <a:buChar char="⍆"/>
            </a:pPr>
            <a:r>
              <a:rPr lang="en-US" sz="1200" b="0" i="0" u="none" strike="noStrike" dirty="0">
                <a:solidFill>
                  <a:schemeClr val="tx1"/>
                </a:solidFill>
                <a:effectLst/>
                <a:latin typeface="Optima" panose="02000503060000020004" pitchFamily="2" charset="0"/>
              </a:rPr>
              <a:t>Strategic Defense &amp; Threat Intelligence – Athena embodies proactive and intelligent defense strategies, much like modern security software that uses AI-driven analytics and predictive modeling to anticipate and neutralize threats before they materialize.</a:t>
            </a:r>
          </a:p>
          <a:p>
            <a:pPr>
              <a:lnSpc>
                <a:spcPct val="100000"/>
              </a:lnSpc>
              <a:buFont typeface="System Font Regular"/>
              <a:buChar char="⍆"/>
            </a:pPr>
            <a:r>
              <a:rPr lang="en-US" sz="1200" b="0" i="0" u="none" strike="noStrike" dirty="0">
                <a:solidFill>
                  <a:schemeClr val="tx1"/>
                </a:solidFill>
                <a:effectLst/>
                <a:latin typeface="Optima" panose="02000503060000020004" pitchFamily="2" charset="0"/>
              </a:rPr>
              <a:t>Wisdom &amp; Adaptability – Just as Athena is known for her wisdom, security solutions must be adaptive and knowledge-driven, learning from past attacks to enhance resilience and provide smarter, automated security decisions.</a:t>
            </a:r>
          </a:p>
          <a:p>
            <a:pPr>
              <a:lnSpc>
                <a:spcPct val="100000"/>
              </a:lnSpc>
              <a:buFont typeface="System Font Regular"/>
              <a:buChar char="⍆"/>
            </a:pPr>
            <a:r>
              <a:rPr lang="en-US" sz="1200" b="0" i="0" u="none" strike="noStrike" dirty="0">
                <a:solidFill>
                  <a:schemeClr val="tx1"/>
                </a:solidFill>
                <a:effectLst/>
                <a:latin typeface="Optima" panose="02000503060000020004" pitchFamily="2" charset="0"/>
              </a:rPr>
              <a:t>Guardian of Digital Cities – In the same way Athena protected Athens, security software acts as the guardian of digital infrastructures, ensuring safety against cyber threats through firewalls, encryption, and intrusion detection systems.</a:t>
            </a:r>
          </a:p>
          <a:p>
            <a:pPr>
              <a:lnSpc>
                <a:spcPct val="100000"/>
              </a:lnSpc>
              <a:buFont typeface="System Font Regular"/>
              <a:buChar char="⍆"/>
            </a:pPr>
            <a:r>
              <a:rPr lang="en-US" sz="1200" b="0" i="0" u="none" strike="noStrike" dirty="0">
                <a:solidFill>
                  <a:schemeClr val="tx1"/>
                </a:solidFill>
                <a:effectLst/>
                <a:latin typeface="Optima" panose="02000503060000020004" pitchFamily="2" charset="0"/>
              </a:rPr>
              <a:t>Ethical &amp; Fair Protection – Unlike brute-force approaches, Athena's wisdom-driven tactics align with ethical hacking, penetration testing, and responsible AI security measures that protect organizations without unnecessary aggression.</a:t>
            </a:r>
          </a:p>
          <a:p>
            <a:pPr>
              <a:lnSpc>
                <a:spcPct val="100000"/>
              </a:lnSpc>
              <a:buFont typeface="System Font Regular"/>
              <a:buChar char="⍆"/>
            </a:pPr>
            <a:r>
              <a:rPr lang="en-US" sz="1200" b="0" i="0" u="none" strike="noStrike" dirty="0">
                <a:solidFill>
                  <a:schemeClr val="tx1"/>
                </a:solidFill>
                <a:effectLst/>
                <a:latin typeface="Optima" panose="02000503060000020004" pitchFamily="2" charset="0"/>
              </a:rPr>
              <a:t>Athena Security Group is inspired by Athena and emphasizes intelligent, proactive, and ethical defense strategies, positioning itself as a guardian of digital landscapes, combining AI-driven foresight with robust protective measures.</a:t>
            </a:r>
          </a:p>
        </p:txBody>
      </p:sp>
      <p:pic>
        <p:nvPicPr>
          <p:cNvPr id="4" name="Picture 3">
            <a:extLst>
              <a:ext uri="{FF2B5EF4-FFF2-40B4-BE49-F238E27FC236}">
                <a16:creationId xmlns:a16="http://schemas.microsoft.com/office/drawing/2014/main" id="{3DBF8D00-3EEE-5FCF-CB19-7EB384081310}"/>
              </a:ext>
            </a:extLst>
          </p:cNvPr>
          <p:cNvPicPr>
            <a:picLocks noChangeAspect="1"/>
          </p:cNvPicPr>
          <p:nvPr/>
        </p:nvPicPr>
        <p:blipFill>
          <a:blip r:embed="rId2"/>
          <a:srcRect l="3265" r="903" b="1"/>
          <a:stretch/>
        </p:blipFill>
        <p:spPr>
          <a:xfrm>
            <a:off x="9135384" y="2427536"/>
            <a:ext cx="2332058" cy="387802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C94A2-B12D-0FC3-CDF7-B7315B5904AB}"/>
              </a:ext>
            </a:extLst>
          </p:cNvPr>
          <p:cNvSpPr>
            <a:spLocks noGrp="1"/>
          </p:cNvSpPr>
          <p:nvPr>
            <p:ph type="title"/>
          </p:nvPr>
        </p:nvSpPr>
        <p:spPr>
          <a:xfrm>
            <a:off x="1154954" y="857921"/>
            <a:ext cx="8761413" cy="706964"/>
          </a:xfrm>
        </p:spPr>
        <p:txBody>
          <a:bodyPr/>
          <a:lstStyle/>
          <a:p>
            <a:r>
              <a:rPr lang="en-US" sz="4000" dirty="0"/>
              <a:t>Who we are what we do</a:t>
            </a:r>
          </a:p>
        </p:txBody>
      </p:sp>
      <p:sp>
        <p:nvSpPr>
          <p:cNvPr id="3" name="Content Placeholder 2">
            <a:extLst>
              <a:ext uri="{FF2B5EF4-FFF2-40B4-BE49-F238E27FC236}">
                <a16:creationId xmlns:a16="http://schemas.microsoft.com/office/drawing/2014/main" id="{8F26F023-E979-BF7F-8669-50610F99DF69}"/>
              </a:ext>
            </a:extLst>
          </p:cNvPr>
          <p:cNvSpPr>
            <a:spLocks noGrp="1"/>
          </p:cNvSpPr>
          <p:nvPr>
            <p:ph idx="1"/>
          </p:nvPr>
        </p:nvSpPr>
        <p:spPr>
          <a:xfrm>
            <a:off x="1857080" y="2933298"/>
            <a:ext cx="9087679" cy="2871324"/>
          </a:xfrm>
        </p:spPr>
        <p:txBody>
          <a:bodyPr>
            <a:normAutofit lnSpcReduction="10000"/>
          </a:bodyPr>
          <a:lstStyle/>
          <a:p>
            <a:pPr marL="0" indent="0" algn="ctr">
              <a:buNone/>
            </a:pPr>
            <a:r>
              <a:rPr lang="en-US" sz="2400" b="0" i="1" u="none" strike="noStrike" dirty="0">
                <a:effectLst/>
                <a:latin typeface="-apple-system-font"/>
              </a:rPr>
              <a:t>Athena Software Group brings together some of the best minds in computer science, cyber defense and SaaS to design solutions </a:t>
            </a:r>
            <a:r>
              <a:rPr lang="en-US" sz="2400" i="1" dirty="0">
                <a:latin typeface="-apple-system-font"/>
              </a:rPr>
              <a:t>specifically </a:t>
            </a:r>
            <a:r>
              <a:rPr lang="en-US" sz="2400" b="0" i="1" u="none" strike="noStrike" dirty="0">
                <a:effectLst/>
                <a:latin typeface="-apple-system-font"/>
              </a:rPr>
              <a:t>for application service providers to provide a single, integrated, intuitive cyber defense system that spans the entire application, system and network ecosystem within which the application resides, facilitating better, faster and more informed outcomes with respect to threat and anomaly detection, response management, vulnerability management and compliance.</a:t>
            </a:r>
          </a:p>
        </p:txBody>
      </p:sp>
    </p:spTree>
    <p:extLst>
      <p:ext uri="{BB962C8B-B14F-4D97-AF65-F5344CB8AC3E}">
        <p14:creationId xmlns:p14="http://schemas.microsoft.com/office/powerpoint/2010/main" val="112279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E0488BA-180E-40D8-8350-4B17917955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Blue blocks and networks technology background">
            <a:extLst>
              <a:ext uri="{FF2B5EF4-FFF2-40B4-BE49-F238E27FC236}">
                <a16:creationId xmlns:a16="http://schemas.microsoft.com/office/drawing/2014/main" id="{F8A971B9-9B44-C59F-74FE-64711ADFB877}"/>
              </a:ext>
            </a:extLst>
          </p:cNvPr>
          <p:cNvPicPr>
            <a:picLocks noChangeAspect="1"/>
          </p:cNvPicPr>
          <p:nvPr/>
        </p:nvPicPr>
        <p:blipFill>
          <a:blip r:embed="rId3">
            <a:alphaModFix amt="40000"/>
          </a:blip>
          <a:srcRect b="-446"/>
          <a:stretch/>
        </p:blipFill>
        <p:spPr>
          <a:xfrm>
            <a:off x="858987" y="253231"/>
            <a:ext cx="11493641" cy="6857990"/>
          </a:xfrm>
          <a:prstGeom prst="rect">
            <a:avLst/>
          </a:prstGeom>
        </p:spPr>
      </p:pic>
      <p:sp>
        <p:nvSpPr>
          <p:cNvPr id="3" name="Title 2">
            <a:extLst>
              <a:ext uri="{FF2B5EF4-FFF2-40B4-BE49-F238E27FC236}">
                <a16:creationId xmlns:a16="http://schemas.microsoft.com/office/drawing/2014/main" id="{6182EDB4-4290-CC66-3562-7B5738A0221F}"/>
              </a:ext>
            </a:extLst>
          </p:cNvPr>
          <p:cNvSpPr>
            <a:spLocks noGrp="1"/>
          </p:cNvSpPr>
          <p:nvPr>
            <p:ph type="title"/>
          </p:nvPr>
        </p:nvSpPr>
        <p:spPr>
          <a:xfrm>
            <a:off x="485259" y="253231"/>
            <a:ext cx="8761413" cy="1146078"/>
          </a:xfrm>
        </p:spPr>
        <p:txBody>
          <a:bodyPr>
            <a:normAutofit/>
          </a:bodyPr>
          <a:lstStyle/>
          <a:p>
            <a:r>
              <a:rPr lang="en-US" dirty="0">
                <a:solidFill>
                  <a:schemeClr val="tx1"/>
                </a:solidFill>
              </a:rPr>
              <a:t>Athena</a:t>
            </a:r>
            <a:br>
              <a:rPr lang="en-US" sz="2700" dirty="0">
                <a:solidFill>
                  <a:schemeClr val="tx1"/>
                </a:solidFill>
              </a:rPr>
            </a:br>
            <a:r>
              <a:rPr lang="en-US" sz="2700" dirty="0">
                <a:solidFill>
                  <a:schemeClr val="tx1"/>
                </a:solidFill>
              </a:rPr>
              <a:t>the Product</a:t>
            </a:r>
            <a:endParaRPr lang="en-US" dirty="0">
              <a:solidFill>
                <a:schemeClr val="tx1"/>
              </a:solidFill>
            </a:endParaRPr>
          </a:p>
        </p:txBody>
      </p:sp>
      <p:sp>
        <p:nvSpPr>
          <p:cNvPr id="4" name="Text Placeholder 3">
            <a:extLst>
              <a:ext uri="{FF2B5EF4-FFF2-40B4-BE49-F238E27FC236}">
                <a16:creationId xmlns:a16="http://schemas.microsoft.com/office/drawing/2014/main" id="{2E320A14-62BE-F597-E103-C3D821B1F879}"/>
              </a:ext>
            </a:extLst>
          </p:cNvPr>
          <p:cNvSpPr>
            <a:spLocks noGrp="1"/>
          </p:cNvSpPr>
          <p:nvPr>
            <p:ph idx="1"/>
          </p:nvPr>
        </p:nvSpPr>
        <p:spPr>
          <a:xfrm>
            <a:off x="485258" y="1536783"/>
            <a:ext cx="5499905" cy="4850932"/>
          </a:xfrm>
        </p:spPr>
        <p:txBody>
          <a:bodyPr>
            <a:normAutofit lnSpcReduction="10000"/>
          </a:bodyPr>
          <a:lstStyle/>
          <a:p>
            <a:pPr marL="0" indent="0">
              <a:lnSpc>
                <a:spcPct val="90000"/>
              </a:lnSpc>
              <a:buNone/>
            </a:pPr>
            <a:r>
              <a:rPr lang="en-US" sz="1600" b="0" u="none" strike="noStrike" dirty="0">
                <a:solidFill>
                  <a:schemeClr val="tx1"/>
                </a:solidFill>
                <a:effectLst/>
                <a:latin typeface="Optima" panose="02000503060000020004" pitchFamily="2" charset="0"/>
              </a:rPr>
              <a:t>Athena Software </a:t>
            </a:r>
            <a:r>
              <a:rPr lang="en-US" sz="1600" dirty="0">
                <a:solidFill>
                  <a:schemeClr val="tx1"/>
                </a:solidFill>
                <a:latin typeface="Optima" panose="02000503060000020004" pitchFamily="2" charset="0"/>
              </a:rPr>
              <a:t>Group was founded with the vision that it should not be complicated to setup and maintain a best in class Cyber security posture for an enterprise application. </a:t>
            </a:r>
            <a:r>
              <a:rPr lang="en-US" sz="1600" b="0" u="none" strike="noStrike" dirty="0">
                <a:solidFill>
                  <a:schemeClr val="tx1"/>
                </a:solidFill>
                <a:effectLst/>
                <a:latin typeface="Optima" panose="02000503060000020004" pitchFamily="2" charset="0"/>
              </a:rPr>
              <a:t>The idea originates from the experience of one of the founders in building and supporting large scale, secure SaaS application infrastructures that house protected data for over two decades. </a:t>
            </a:r>
          </a:p>
          <a:p>
            <a:pPr marL="0" indent="0">
              <a:lnSpc>
                <a:spcPct val="90000"/>
              </a:lnSpc>
              <a:buNone/>
            </a:pPr>
            <a:r>
              <a:rPr lang="en-US" sz="1600" b="0" u="none" strike="noStrike" dirty="0">
                <a:solidFill>
                  <a:schemeClr val="tx1"/>
                </a:solidFill>
                <a:effectLst/>
                <a:latin typeface="Optima" panose="02000503060000020004" pitchFamily="2" charset="0"/>
              </a:rPr>
              <a:t>Most security software </a:t>
            </a:r>
            <a:r>
              <a:rPr lang="en-US" sz="1600" dirty="0">
                <a:solidFill>
                  <a:schemeClr val="tx1"/>
                </a:solidFill>
                <a:latin typeface="Optima" panose="02000503060000020004" pitchFamily="2" charset="0"/>
              </a:rPr>
              <a:t>solutions</a:t>
            </a:r>
            <a:r>
              <a:rPr lang="en-US" sz="1600" b="0" u="none" strike="noStrike" dirty="0">
                <a:solidFill>
                  <a:schemeClr val="tx1"/>
                </a:solidFill>
                <a:effectLst/>
                <a:latin typeface="Optima" panose="02000503060000020004" pitchFamily="2" charset="0"/>
              </a:rPr>
              <a:t> are targeted at the entire corporate network infrastructure and as such CISO’s and Security Operations professionals who are responsible for maintaining the security posture of ASPs are left with the task of cobbling together a variety of tools across the observability, telemetry, IDS, SIEM, WAF and performance monitoring landscape to </a:t>
            </a:r>
            <a:r>
              <a:rPr lang="en-US" sz="1600" dirty="0">
                <a:solidFill>
                  <a:schemeClr val="tx1"/>
                </a:solidFill>
                <a:latin typeface="Optima" panose="02000503060000020004" pitchFamily="2" charset="0"/>
              </a:rPr>
              <a:t>gain full visibility into their environment and detect and prevent threats. </a:t>
            </a:r>
          </a:p>
          <a:p>
            <a:pPr marL="0" indent="0">
              <a:lnSpc>
                <a:spcPct val="90000"/>
              </a:lnSpc>
              <a:buNone/>
            </a:pPr>
            <a:r>
              <a:rPr lang="en-US" sz="1600" dirty="0">
                <a:solidFill>
                  <a:schemeClr val="tx1"/>
                </a:solidFill>
                <a:latin typeface="Optima" panose="02000503060000020004" pitchFamily="2" charset="0"/>
              </a:rPr>
              <a:t>This problem is further exacerbated with the deluge of information in the form of reports, email alerts and SIEM data that comes from these disparate providers, creating a complex and noisy monitoring and alerting environment where the discernment of critical information itself becomes a challenge, affecting incident response times which is the most critical metric in determining the extent and scope, and ultimately cost, of a data breach.</a:t>
            </a:r>
          </a:p>
        </p:txBody>
      </p:sp>
      <p:graphicFrame>
        <p:nvGraphicFramePr>
          <p:cNvPr id="9" name="Diagram 8">
            <a:extLst>
              <a:ext uri="{FF2B5EF4-FFF2-40B4-BE49-F238E27FC236}">
                <a16:creationId xmlns:a16="http://schemas.microsoft.com/office/drawing/2014/main" id="{10CF6DF1-2D8B-A622-D3FB-4E2ABA2CBD11}"/>
              </a:ext>
            </a:extLst>
          </p:cNvPr>
          <p:cNvGraphicFramePr/>
          <p:nvPr>
            <p:extLst>
              <p:ext uri="{D42A27DB-BD31-4B8C-83A1-F6EECF244321}">
                <p14:modId xmlns:p14="http://schemas.microsoft.com/office/powerpoint/2010/main" val="880069488"/>
              </p:ext>
            </p:extLst>
          </p:nvPr>
        </p:nvGraphicFramePr>
        <p:xfrm>
          <a:off x="4865965" y="470285"/>
          <a:ext cx="8128000"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435337565"/>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B7263C4F-549A-4B23-BAE3-3CBB9E35A865}"/>
              </a:ext>
            </a:extLst>
          </p:cNvPr>
          <p:cNvGrpSpPr/>
          <p:nvPr/>
        </p:nvGrpSpPr>
        <p:grpSpPr>
          <a:xfrm>
            <a:off x="10050396" y="4689131"/>
            <a:ext cx="1468709" cy="1469159"/>
            <a:chOff x="849303" y="4139414"/>
            <a:chExt cx="1652525" cy="1653031"/>
          </a:xfrm>
        </p:grpSpPr>
        <p:sp>
          <p:nvSpPr>
            <p:cNvPr id="18" name="Oval 17">
              <a:extLst>
                <a:ext uri="{FF2B5EF4-FFF2-40B4-BE49-F238E27FC236}">
                  <a16:creationId xmlns:a16="http://schemas.microsoft.com/office/drawing/2014/main" id="{72F76701-A024-4DC7-B4F9-8ABFEE345786}"/>
                </a:ext>
              </a:extLst>
            </p:cNvPr>
            <p:cNvSpPr/>
            <p:nvPr userDrawn="1"/>
          </p:nvSpPr>
          <p:spPr>
            <a:xfrm rot="16200000">
              <a:off x="849303"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B5EED6AE-4C25-4234-8B1B-DCA2C5DE3EEB}"/>
                </a:ext>
              </a:extLst>
            </p:cNvPr>
            <p:cNvSpPr/>
            <p:nvPr userDrawn="1"/>
          </p:nvSpPr>
          <p:spPr>
            <a:xfrm rot="16200000">
              <a:off x="1168411"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F3646A61-29D9-441A-874B-DF4018BBE417}"/>
                </a:ext>
              </a:extLst>
            </p:cNvPr>
            <p:cNvSpPr/>
            <p:nvPr/>
          </p:nvSpPr>
          <p:spPr>
            <a:xfrm rot="16200000">
              <a:off x="1487519"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F6F74EBE-C76D-4D52-9704-421DC5A253F3}"/>
                </a:ext>
              </a:extLst>
            </p:cNvPr>
            <p:cNvSpPr/>
            <p:nvPr/>
          </p:nvSpPr>
          <p:spPr>
            <a:xfrm rot="16200000">
              <a:off x="1806627"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34F811AB-FF79-46C9-A65E-F2FD7783CD98}"/>
                </a:ext>
              </a:extLst>
            </p:cNvPr>
            <p:cNvSpPr/>
            <p:nvPr/>
          </p:nvSpPr>
          <p:spPr>
            <a:xfrm rot="16200000">
              <a:off x="2125735"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4BB1DAA9-8A6B-49E3-AF81-3983AAFF78FB}"/>
                </a:ext>
              </a:extLst>
            </p:cNvPr>
            <p:cNvSpPr/>
            <p:nvPr/>
          </p:nvSpPr>
          <p:spPr>
            <a:xfrm rot="16200000">
              <a:off x="2444841"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B1752059-6226-4F85-83FE-5668301161F5}"/>
                </a:ext>
              </a:extLst>
            </p:cNvPr>
            <p:cNvSpPr/>
            <p:nvPr userDrawn="1"/>
          </p:nvSpPr>
          <p:spPr>
            <a:xfrm rot="16200000">
              <a:off x="849303"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931F4ED5-F68C-4E02-A69A-43756B57E815}"/>
                </a:ext>
              </a:extLst>
            </p:cNvPr>
            <p:cNvSpPr/>
            <p:nvPr userDrawn="1"/>
          </p:nvSpPr>
          <p:spPr>
            <a:xfrm rot="16200000">
              <a:off x="1168411"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7AD78745-E5F0-43F0-85E5-E69F4B12533B}"/>
                </a:ext>
              </a:extLst>
            </p:cNvPr>
            <p:cNvSpPr/>
            <p:nvPr/>
          </p:nvSpPr>
          <p:spPr>
            <a:xfrm rot="16200000">
              <a:off x="1487519"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FC607415-33C2-4BEB-BD77-09445D813969}"/>
                </a:ext>
              </a:extLst>
            </p:cNvPr>
            <p:cNvSpPr/>
            <p:nvPr/>
          </p:nvSpPr>
          <p:spPr>
            <a:xfrm rot="16200000">
              <a:off x="1806627"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A2E67B0D-7927-45E6-948E-F6338DA442D1}"/>
                </a:ext>
              </a:extLst>
            </p:cNvPr>
            <p:cNvSpPr/>
            <p:nvPr/>
          </p:nvSpPr>
          <p:spPr>
            <a:xfrm rot="16200000">
              <a:off x="2125735"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6FDC5B5C-F704-435F-BA5D-36D828C81C84}"/>
                </a:ext>
              </a:extLst>
            </p:cNvPr>
            <p:cNvSpPr/>
            <p:nvPr/>
          </p:nvSpPr>
          <p:spPr>
            <a:xfrm rot="16200000">
              <a:off x="2444841"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4C7F7589-B8DA-467C-A7D1-DCA79D21FBC0}"/>
                </a:ext>
              </a:extLst>
            </p:cNvPr>
            <p:cNvSpPr/>
            <p:nvPr userDrawn="1"/>
          </p:nvSpPr>
          <p:spPr>
            <a:xfrm rot="16200000">
              <a:off x="849303"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8B95AC5C-9DAD-4C8B-8BE3-B5BC34D4300B}"/>
                </a:ext>
              </a:extLst>
            </p:cNvPr>
            <p:cNvSpPr/>
            <p:nvPr userDrawn="1"/>
          </p:nvSpPr>
          <p:spPr>
            <a:xfrm rot="16200000">
              <a:off x="1168411"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64ADFA75-29D3-43AB-A905-8DCD6D41EC0F}"/>
                </a:ext>
              </a:extLst>
            </p:cNvPr>
            <p:cNvSpPr/>
            <p:nvPr/>
          </p:nvSpPr>
          <p:spPr>
            <a:xfrm rot="16200000">
              <a:off x="1487519"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91F68D85-F2CC-40D4-BEA3-9BEAB3665F64}"/>
                </a:ext>
              </a:extLst>
            </p:cNvPr>
            <p:cNvSpPr/>
            <p:nvPr/>
          </p:nvSpPr>
          <p:spPr>
            <a:xfrm rot="16200000">
              <a:off x="1806627"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A2BF9B94-C449-4EE0-B4C8-E576D03A62B6}"/>
                </a:ext>
              </a:extLst>
            </p:cNvPr>
            <p:cNvSpPr/>
            <p:nvPr/>
          </p:nvSpPr>
          <p:spPr>
            <a:xfrm rot="16200000">
              <a:off x="2125735"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EF9FF47D-48C0-4637-959D-A20C93C35CF9}"/>
                </a:ext>
              </a:extLst>
            </p:cNvPr>
            <p:cNvSpPr/>
            <p:nvPr/>
          </p:nvSpPr>
          <p:spPr>
            <a:xfrm rot="16200000">
              <a:off x="2444841"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Oval 35">
              <a:extLst>
                <a:ext uri="{FF2B5EF4-FFF2-40B4-BE49-F238E27FC236}">
                  <a16:creationId xmlns:a16="http://schemas.microsoft.com/office/drawing/2014/main" id="{2AE20B62-8A41-4411-A2AD-1460607724F3}"/>
                </a:ext>
              </a:extLst>
            </p:cNvPr>
            <p:cNvSpPr/>
            <p:nvPr userDrawn="1"/>
          </p:nvSpPr>
          <p:spPr>
            <a:xfrm rot="16200000">
              <a:off x="849303"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D253D4C5-F690-4C80-A35F-10939725F59E}"/>
                </a:ext>
              </a:extLst>
            </p:cNvPr>
            <p:cNvSpPr/>
            <p:nvPr userDrawn="1"/>
          </p:nvSpPr>
          <p:spPr>
            <a:xfrm rot="16200000">
              <a:off x="1168411"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id="{8B1BC3F4-EAEB-4236-A092-187EF0F55663}"/>
                </a:ext>
              </a:extLst>
            </p:cNvPr>
            <p:cNvSpPr/>
            <p:nvPr/>
          </p:nvSpPr>
          <p:spPr>
            <a:xfrm rot="16200000">
              <a:off x="1487519"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Oval 38">
              <a:extLst>
                <a:ext uri="{FF2B5EF4-FFF2-40B4-BE49-F238E27FC236}">
                  <a16:creationId xmlns:a16="http://schemas.microsoft.com/office/drawing/2014/main" id="{202FD276-6564-4962-910F-11601DBD6E26}"/>
                </a:ext>
              </a:extLst>
            </p:cNvPr>
            <p:cNvSpPr/>
            <p:nvPr/>
          </p:nvSpPr>
          <p:spPr>
            <a:xfrm rot="16200000">
              <a:off x="1806627"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B7EB5CB2-AAA5-4D68-961E-5A65CD26B490}"/>
                </a:ext>
              </a:extLst>
            </p:cNvPr>
            <p:cNvSpPr/>
            <p:nvPr/>
          </p:nvSpPr>
          <p:spPr>
            <a:xfrm rot="16200000">
              <a:off x="2125735"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19CEA186-992C-4325-B062-D73DDA6B06C7}"/>
                </a:ext>
              </a:extLst>
            </p:cNvPr>
            <p:cNvSpPr/>
            <p:nvPr/>
          </p:nvSpPr>
          <p:spPr>
            <a:xfrm rot="16200000">
              <a:off x="2444841"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45A9A22E-ECED-46DB-B7E9-5622F11D2C16}"/>
                </a:ext>
              </a:extLst>
            </p:cNvPr>
            <p:cNvSpPr/>
            <p:nvPr userDrawn="1"/>
          </p:nvSpPr>
          <p:spPr>
            <a:xfrm rot="16200000">
              <a:off x="849303"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Oval 42">
              <a:extLst>
                <a:ext uri="{FF2B5EF4-FFF2-40B4-BE49-F238E27FC236}">
                  <a16:creationId xmlns:a16="http://schemas.microsoft.com/office/drawing/2014/main" id="{01D88C94-1F8F-4BD7-817A-682879443F63}"/>
                </a:ext>
              </a:extLst>
            </p:cNvPr>
            <p:cNvSpPr/>
            <p:nvPr userDrawn="1"/>
          </p:nvSpPr>
          <p:spPr>
            <a:xfrm rot="16200000">
              <a:off x="1168411"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Oval 43">
              <a:extLst>
                <a:ext uri="{FF2B5EF4-FFF2-40B4-BE49-F238E27FC236}">
                  <a16:creationId xmlns:a16="http://schemas.microsoft.com/office/drawing/2014/main" id="{E411E711-790E-4063-8597-D0415D5FD194}"/>
                </a:ext>
              </a:extLst>
            </p:cNvPr>
            <p:cNvSpPr/>
            <p:nvPr/>
          </p:nvSpPr>
          <p:spPr>
            <a:xfrm rot="16200000">
              <a:off x="1487519"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Oval 44">
              <a:extLst>
                <a:ext uri="{FF2B5EF4-FFF2-40B4-BE49-F238E27FC236}">
                  <a16:creationId xmlns:a16="http://schemas.microsoft.com/office/drawing/2014/main" id="{A01BDF15-19B6-42E6-B409-D3ADA97E16BE}"/>
                </a:ext>
              </a:extLst>
            </p:cNvPr>
            <p:cNvSpPr/>
            <p:nvPr/>
          </p:nvSpPr>
          <p:spPr>
            <a:xfrm rot="16200000">
              <a:off x="1806627"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Oval 45">
              <a:extLst>
                <a:ext uri="{FF2B5EF4-FFF2-40B4-BE49-F238E27FC236}">
                  <a16:creationId xmlns:a16="http://schemas.microsoft.com/office/drawing/2014/main" id="{CBD55388-D535-4D91-83A6-8990AEDCA1E5}"/>
                </a:ext>
              </a:extLst>
            </p:cNvPr>
            <p:cNvSpPr/>
            <p:nvPr/>
          </p:nvSpPr>
          <p:spPr>
            <a:xfrm rot="16200000">
              <a:off x="2125735"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Oval 46">
              <a:extLst>
                <a:ext uri="{FF2B5EF4-FFF2-40B4-BE49-F238E27FC236}">
                  <a16:creationId xmlns:a16="http://schemas.microsoft.com/office/drawing/2014/main" id="{DAC03708-265A-4E2F-8DCA-F4212B5937B4}"/>
                </a:ext>
              </a:extLst>
            </p:cNvPr>
            <p:cNvSpPr/>
            <p:nvPr/>
          </p:nvSpPr>
          <p:spPr>
            <a:xfrm rot="16200000">
              <a:off x="2444841"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Oval 47">
              <a:extLst>
                <a:ext uri="{FF2B5EF4-FFF2-40B4-BE49-F238E27FC236}">
                  <a16:creationId xmlns:a16="http://schemas.microsoft.com/office/drawing/2014/main" id="{03679C12-9D05-42A0-A61B-DC953BAE279C}"/>
                </a:ext>
              </a:extLst>
            </p:cNvPr>
            <p:cNvSpPr/>
            <p:nvPr userDrawn="1"/>
          </p:nvSpPr>
          <p:spPr>
            <a:xfrm rot="16200000">
              <a:off x="849303"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BC6324AC-B76D-4E88-BD06-813E17E28843}"/>
                </a:ext>
              </a:extLst>
            </p:cNvPr>
            <p:cNvSpPr/>
            <p:nvPr userDrawn="1"/>
          </p:nvSpPr>
          <p:spPr>
            <a:xfrm rot="16200000">
              <a:off x="1168411"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CCE1F29B-5156-4A7D-9F33-7E3156F26FB2}"/>
                </a:ext>
              </a:extLst>
            </p:cNvPr>
            <p:cNvSpPr/>
            <p:nvPr/>
          </p:nvSpPr>
          <p:spPr>
            <a:xfrm rot="16200000">
              <a:off x="1487519"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AF8C9776-7BC8-4B38-B615-1CE5AAB3D1C1}"/>
                </a:ext>
              </a:extLst>
            </p:cNvPr>
            <p:cNvSpPr/>
            <p:nvPr/>
          </p:nvSpPr>
          <p:spPr>
            <a:xfrm rot="16200000">
              <a:off x="1806627"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3A654E46-1EF4-4B52-A0AE-EE010BD18157}"/>
                </a:ext>
              </a:extLst>
            </p:cNvPr>
            <p:cNvSpPr/>
            <p:nvPr/>
          </p:nvSpPr>
          <p:spPr>
            <a:xfrm rot="16200000">
              <a:off x="2125735"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711F462F-F731-423A-B43D-811F1BF913D3}"/>
                </a:ext>
              </a:extLst>
            </p:cNvPr>
            <p:cNvSpPr/>
            <p:nvPr/>
          </p:nvSpPr>
          <p:spPr>
            <a:xfrm rot="16200000">
              <a:off x="2444841"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54" name="Group 53">
            <a:extLst>
              <a:ext uri="{FF2B5EF4-FFF2-40B4-BE49-F238E27FC236}">
                <a16:creationId xmlns:a16="http://schemas.microsoft.com/office/drawing/2014/main" id="{A15F7982-FF8D-4861-AAA7-A47B36060E67}"/>
              </a:ext>
            </a:extLst>
          </p:cNvPr>
          <p:cNvGrpSpPr/>
          <p:nvPr/>
        </p:nvGrpSpPr>
        <p:grpSpPr>
          <a:xfrm>
            <a:off x="505633" y="531225"/>
            <a:ext cx="334261" cy="1469159"/>
            <a:chOff x="458492" y="454587"/>
            <a:chExt cx="334261" cy="1469159"/>
          </a:xfrm>
        </p:grpSpPr>
        <p:sp>
          <p:nvSpPr>
            <p:cNvPr id="55" name="Oval 54">
              <a:extLst>
                <a:ext uri="{FF2B5EF4-FFF2-40B4-BE49-F238E27FC236}">
                  <a16:creationId xmlns:a16="http://schemas.microsoft.com/office/drawing/2014/main" id="{90D1E454-0D3C-4BFA-B7E9-D07C19EFCD8E}"/>
                </a:ext>
              </a:extLst>
            </p:cNvPr>
            <p:cNvSpPr/>
            <p:nvPr userDrawn="1"/>
          </p:nvSpPr>
          <p:spPr>
            <a:xfrm rot="16200000">
              <a:off x="458492" y="454587"/>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04DB8EF7-DA4C-49C2-8CB9-DAC88A9A0248}"/>
                </a:ext>
              </a:extLst>
            </p:cNvPr>
            <p:cNvSpPr/>
            <p:nvPr userDrawn="1"/>
          </p:nvSpPr>
          <p:spPr>
            <a:xfrm rot="16200000">
              <a:off x="742105" y="454587"/>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Oval 56">
              <a:extLst>
                <a:ext uri="{FF2B5EF4-FFF2-40B4-BE49-F238E27FC236}">
                  <a16:creationId xmlns:a16="http://schemas.microsoft.com/office/drawing/2014/main" id="{F54CDFD2-70E4-4724-9B7F-86C308C8194B}"/>
                </a:ext>
              </a:extLst>
            </p:cNvPr>
            <p:cNvSpPr/>
            <p:nvPr userDrawn="1"/>
          </p:nvSpPr>
          <p:spPr>
            <a:xfrm rot="16200000">
              <a:off x="458492" y="738289"/>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Oval 57">
              <a:extLst>
                <a:ext uri="{FF2B5EF4-FFF2-40B4-BE49-F238E27FC236}">
                  <a16:creationId xmlns:a16="http://schemas.microsoft.com/office/drawing/2014/main" id="{71D5E48C-4485-4215-AE18-C1A3CE794211}"/>
                </a:ext>
              </a:extLst>
            </p:cNvPr>
            <p:cNvSpPr/>
            <p:nvPr userDrawn="1"/>
          </p:nvSpPr>
          <p:spPr>
            <a:xfrm rot="16200000">
              <a:off x="742105" y="738289"/>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Oval 58">
              <a:extLst>
                <a:ext uri="{FF2B5EF4-FFF2-40B4-BE49-F238E27FC236}">
                  <a16:creationId xmlns:a16="http://schemas.microsoft.com/office/drawing/2014/main" id="{3DAAFFAB-4159-4723-B83B-762DFC0ECE1D}"/>
                </a:ext>
              </a:extLst>
            </p:cNvPr>
            <p:cNvSpPr/>
            <p:nvPr userDrawn="1"/>
          </p:nvSpPr>
          <p:spPr>
            <a:xfrm rot="16200000">
              <a:off x="458492" y="1021992"/>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Oval 59">
              <a:extLst>
                <a:ext uri="{FF2B5EF4-FFF2-40B4-BE49-F238E27FC236}">
                  <a16:creationId xmlns:a16="http://schemas.microsoft.com/office/drawing/2014/main" id="{330B1161-5400-4712-B2D7-CA9F41C8887B}"/>
                </a:ext>
              </a:extLst>
            </p:cNvPr>
            <p:cNvSpPr/>
            <p:nvPr userDrawn="1"/>
          </p:nvSpPr>
          <p:spPr>
            <a:xfrm rot="16200000">
              <a:off x="742105" y="1021992"/>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Oval 60">
              <a:extLst>
                <a:ext uri="{FF2B5EF4-FFF2-40B4-BE49-F238E27FC236}">
                  <a16:creationId xmlns:a16="http://schemas.microsoft.com/office/drawing/2014/main" id="{736CB851-E6F4-4617-BFD5-EC4EB44E8493}"/>
                </a:ext>
              </a:extLst>
            </p:cNvPr>
            <p:cNvSpPr/>
            <p:nvPr userDrawn="1"/>
          </p:nvSpPr>
          <p:spPr>
            <a:xfrm rot="16200000">
              <a:off x="458492" y="1305694"/>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2" name="Oval 61">
              <a:extLst>
                <a:ext uri="{FF2B5EF4-FFF2-40B4-BE49-F238E27FC236}">
                  <a16:creationId xmlns:a16="http://schemas.microsoft.com/office/drawing/2014/main" id="{DEC88A0D-A59D-4FE4-9575-1879E9D335FA}"/>
                </a:ext>
              </a:extLst>
            </p:cNvPr>
            <p:cNvSpPr/>
            <p:nvPr userDrawn="1"/>
          </p:nvSpPr>
          <p:spPr>
            <a:xfrm rot="16200000">
              <a:off x="742105" y="1305694"/>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Oval 62">
              <a:extLst>
                <a:ext uri="{FF2B5EF4-FFF2-40B4-BE49-F238E27FC236}">
                  <a16:creationId xmlns:a16="http://schemas.microsoft.com/office/drawing/2014/main" id="{2F6FD5A7-C0BC-426E-97A4-4AB4AC337590}"/>
                </a:ext>
              </a:extLst>
            </p:cNvPr>
            <p:cNvSpPr/>
            <p:nvPr userDrawn="1"/>
          </p:nvSpPr>
          <p:spPr>
            <a:xfrm rot="16200000">
              <a:off x="458492" y="1589396"/>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4" name="Oval 63">
              <a:extLst>
                <a:ext uri="{FF2B5EF4-FFF2-40B4-BE49-F238E27FC236}">
                  <a16:creationId xmlns:a16="http://schemas.microsoft.com/office/drawing/2014/main" id="{2855AED3-0D2F-4AE0-9650-192F06F703E2}"/>
                </a:ext>
              </a:extLst>
            </p:cNvPr>
            <p:cNvSpPr/>
            <p:nvPr userDrawn="1"/>
          </p:nvSpPr>
          <p:spPr>
            <a:xfrm rot="16200000">
              <a:off x="742105" y="1589396"/>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Oval 64">
              <a:extLst>
                <a:ext uri="{FF2B5EF4-FFF2-40B4-BE49-F238E27FC236}">
                  <a16:creationId xmlns:a16="http://schemas.microsoft.com/office/drawing/2014/main" id="{71399D32-4B68-42DE-B76F-4DC0948BA92E}"/>
                </a:ext>
              </a:extLst>
            </p:cNvPr>
            <p:cNvSpPr/>
            <p:nvPr userDrawn="1"/>
          </p:nvSpPr>
          <p:spPr>
            <a:xfrm rot="16200000">
              <a:off x="458492" y="1873098"/>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Oval 65">
              <a:extLst>
                <a:ext uri="{FF2B5EF4-FFF2-40B4-BE49-F238E27FC236}">
                  <a16:creationId xmlns:a16="http://schemas.microsoft.com/office/drawing/2014/main" id="{B7969999-BE71-48EC-9832-77CB233093A7}"/>
                </a:ext>
              </a:extLst>
            </p:cNvPr>
            <p:cNvSpPr/>
            <p:nvPr userDrawn="1"/>
          </p:nvSpPr>
          <p:spPr>
            <a:xfrm rot="16200000">
              <a:off x="742105" y="1873098"/>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3" name="Rectangle 12">
            <a:extLst>
              <a:ext uri="{FF2B5EF4-FFF2-40B4-BE49-F238E27FC236}">
                <a16:creationId xmlns:a16="http://schemas.microsoft.com/office/drawing/2014/main" id="{A49D0D04-D26D-4697-8507-5CD86CCC57A1}"/>
              </a:ext>
            </a:extLst>
          </p:cNvPr>
          <p:cNvSpPr/>
          <p:nvPr/>
        </p:nvSpPr>
        <p:spPr>
          <a:xfrm>
            <a:off x="262135" y="1644699"/>
            <a:ext cx="4526271" cy="4813379"/>
          </a:xfrm>
          <a:prstGeom prst="rect">
            <a:avLst/>
          </a:prstGeom>
          <a:solidFill>
            <a:schemeClr val="tx1">
              <a:alpha val="23000"/>
            </a:schemeClr>
          </a:solidFill>
          <a:ln>
            <a:noFill/>
          </a:ln>
          <a:effectLst>
            <a:softEdge rad="685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4F3599E7-DE57-479F-8222-B50FB947DD5B}"/>
              </a:ext>
            </a:extLst>
          </p:cNvPr>
          <p:cNvSpPr/>
          <p:nvPr/>
        </p:nvSpPr>
        <p:spPr>
          <a:xfrm>
            <a:off x="3675380" y="1639958"/>
            <a:ext cx="4526271" cy="4813379"/>
          </a:xfrm>
          <a:prstGeom prst="rect">
            <a:avLst/>
          </a:prstGeom>
          <a:solidFill>
            <a:schemeClr val="tx1">
              <a:alpha val="23000"/>
            </a:schemeClr>
          </a:solidFill>
          <a:ln>
            <a:noFill/>
          </a:ln>
          <a:effectLst>
            <a:softEdge rad="685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76423F90-D4A6-40B0-AD08-D3E0585E4A6B}"/>
              </a:ext>
            </a:extLst>
          </p:cNvPr>
          <p:cNvSpPr/>
          <p:nvPr/>
        </p:nvSpPr>
        <p:spPr>
          <a:xfrm>
            <a:off x="7036418" y="1639958"/>
            <a:ext cx="4526271" cy="4813379"/>
          </a:xfrm>
          <a:prstGeom prst="rect">
            <a:avLst/>
          </a:prstGeom>
          <a:solidFill>
            <a:schemeClr val="tx1">
              <a:alpha val="23000"/>
            </a:schemeClr>
          </a:solidFill>
          <a:ln>
            <a:noFill/>
          </a:ln>
          <a:effectLst>
            <a:softEdge rad="685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9" name="Group 8">
            <a:extLst>
              <a:ext uri="{FF2B5EF4-FFF2-40B4-BE49-F238E27FC236}">
                <a16:creationId xmlns:a16="http://schemas.microsoft.com/office/drawing/2014/main" id="{38DCEF00-6E0C-4120-9878-0B2B93B0216A}"/>
              </a:ext>
            </a:extLst>
          </p:cNvPr>
          <p:cNvGrpSpPr/>
          <p:nvPr/>
        </p:nvGrpSpPr>
        <p:grpSpPr>
          <a:xfrm>
            <a:off x="1086712" y="3393683"/>
            <a:ext cx="10018579" cy="2109339"/>
            <a:chOff x="1269876" y="1844824"/>
            <a:chExt cx="10018579" cy="1800200"/>
          </a:xfrm>
          <a:solidFill>
            <a:schemeClr val="bg1"/>
          </a:solidFill>
        </p:grpSpPr>
        <p:sp>
          <p:nvSpPr>
            <p:cNvPr id="10" name="Rectangle 9">
              <a:extLst>
                <a:ext uri="{FF2B5EF4-FFF2-40B4-BE49-F238E27FC236}">
                  <a16:creationId xmlns:a16="http://schemas.microsoft.com/office/drawing/2014/main" id="{FFFAAFDF-025A-4B97-9839-D47265E670D6}"/>
                </a:ext>
              </a:extLst>
            </p:cNvPr>
            <p:cNvSpPr/>
            <p:nvPr/>
          </p:nvSpPr>
          <p:spPr>
            <a:xfrm>
              <a:off x="1269876" y="1844824"/>
              <a:ext cx="3168352" cy="1800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27F40431-4FEF-412E-8A4B-69D0A0FEF1E2}"/>
                </a:ext>
              </a:extLst>
            </p:cNvPr>
            <p:cNvSpPr/>
            <p:nvPr/>
          </p:nvSpPr>
          <p:spPr>
            <a:xfrm>
              <a:off x="4694989" y="1844824"/>
              <a:ext cx="3168352" cy="1800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EA29778F-21D8-4098-B45F-5E4FE27CBFFA}"/>
                </a:ext>
              </a:extLst>
            </p:cNvPr>
            <p:cNvSpPr/>
            <p:nvPr/>
          </p:nvSpPr>
          <p:spPr>
            <a:xfrm>
              <a:off x="8120103" y="1844824"/>
              <a:ext cx="3168352" cy="1800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Text Placeholder 3">
            <a:extLst>
              <a:ext uri="{FF2B5EF4-FFF2-40B4-BE49-F238E27FC236}">
                <a16:creationId xmlns:a16="http://schemas.microsoft.com/office/drawing/2014/main" id="{B602B75F-4559-4EE9-B543-C056958D8609}"/>
              </a:ext>
            </a:extLst>
          </p:cNvPr>
          <p:cNvSpPr>
            <a:spLocks noGrp="1"/>
          </p:cNvSpPr>
          <p:nvPr>
            <p:ph type="body" sz="quarter" idx="13"/>
          </p:nvPr>
        </p:nvSpPr>
        <p:spPr/>
        <p:txBody>
          <a:bodyPr/>
          <a:lstStyle/>
          <a:p>
            <a:r>
              <a:rPr lang="en-IN" dirty="0"/>
              <a:t>Our Services</a:t>
            </a:r>
          </a:p>
        </p:txBody>
      </p:sp>
      <p:sp>
        <p:nvSpPr>
          <p:cNvPr id="5" name="Rectangle 4">
            <a:extLst>
              <a:ext uri="{FF2B5EF4-FFF2-40B4-BE49-F238E27FC236}">
                <a16:creationId xmlns:a16="http://schemas.microsoft.com/office/drawing/2014/main" id="{18394E1E-6F79-4796-8389-57E38F2587AE}"/>
              </a:ext>
            </a:extLst>
          </p:cNvPr>
          <p:cNvSpPr/>
          <p:nvPr/>
        </p:nvSpPr>
        <p:spPr>
          <a:xfrm>
            <a:off x="1086711" y="1700808"/>
            <a:ext cx="3168352" cy="180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5D496C87-1939-4018-935F-F3082780C477}"/>
              </a:ext>
            </a:extLst>
          </p:cNvPr>
          <p:cNvSpPr/>
          <p:nvPr/>
        </p:nvSpPr>
        <p:spPr>
          <a:xfrm>
            <a:off x="4511824" y="1700808"/>
            <a:ext cx="3168352" cy="180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1683BEDB-288E-4B26-931B-FD0DB61BF1D7}"/>
              </a:ext>
            </a:extLst>
          </p:cNvPr>
          <p:cNvSpPr/>
          <p:nvPr/>
        </p:nvSpPr>
        <p:spPr>
          <a:xfrm>
            <a:off x="7936938" y="1700808"/>
            <a:ext cx="3168352" cy="180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6" name="Group 85">
            <a:extLst>
              <a:ext uri="{FF2B5EF4-FFF2-40B4-BE49-F238E27FC236}">
                <a16:creationId xmlns:a16="http://schemas.microsoft.com/office/drawing/2014/main" id="{A82700DD-47FB-4740-AFDE-B6C4E13C7D92}"/>
              </a:ext>
            </a:extLst>
          </p:cNvPr>
          <p:cNvGrpSpPr/>
          <p:nvPr/>
        </p:nvGrpSpPr>
        <p:grpSpPr>
          <a:xfrm>
            <a:off x="2150280" y="2031456"/>
            <a:ext cx="1041214" cy="1138904"/>
            <a:chOff x="2055813" y="1185863"/>
            <a:chExt cx="2030412" cy="2220912"/>
          </a:xfrm>
        </p:grpSpPr>
        <p:sp>
          <p:nvSpPr>
            <p:cNvPr id="72" name="Freeform 5">
              <a:extLst>
                <a:ext uri="{FF2B5EF4-FFF2-40B4-BE49-F238E27FC236}">
                  <a16:creationId xmlns:a16="http://schemas.microsoft.com/office/drawing/2014/main" id="{7917CFAD-561D-4FEE-8DC3-BBE859DFB169}"/>
                </a:ext>
              </a:extLst>
            </p:cNvPr>
            <p:cNvSpPr>
              <a:spLocks/>
            </p:cNvSpPr>
            <p:nvPr/>
          </p:nvSpPr>
          <p:spPr bwMode="auto">
            <a:xfrm>
              <a:off x="2484438" y="2476500"/>
              <a:ext cx="633412" cy="608012"/>
            </a:xfrm>
            <a:custGeom>
              <a:avLst/>
              <a:gdLst>
                <a:gd name="T0" fmla="*/ 99 w 102"/>
                <a:gd name="T1" fmla="*/ 70 h 98"/>
                <a:gd name="T2" fmla="*/ 73 w 102"/>
                <a:gd name="T3" fmla="*/ 49 h 98"/>
                <a:gd name="T4" fmla="*/ 64 w 102"/>
                <a:gd name="T5" fmla="*/ 43 h 98"/>
                <a:gd name="T6" fmla="*/ 47 w 102"/>
                <a:gd name="T7" fmla="*/ 1 h 98"/>
                <a:gd name="T8" fmla="*/ 18 w 102"/>
                <a:gd name="T9" fmla="*/ 35 h 98"/>
                <a:gd name="T10" fmla="*/ 0 w 102"/>
                <a:gd name="T11" fmla="*/ 49 h 98"/>
                <a:gd name="T12" fmla="*/ 69 w 102"/>
                <a:gd name="T13" fmla="*/ 98 h 98"/>
                <a:gd name="T14" fmla="*/ 73 w 102"/>
                <a:gd name="T15" fmla="*/ 87 h 98"/>
                <a:gd name="T16" fmla="*/ 99 w 102"/>
                <a:gd name="T17" fmla="*/ 7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 h="98">
                  <a:moveTo>
                    <a:pt x="99" y="70"/>
                  </a:moveTo>
                  <a:cubicBezTo>
                    <a:pt x="102" y="51"/>
                    <a:pt x="81" y="44"/>
                    <a:pt x="73" y="49"/>
                  </a:cubicBezTo>
                  <a:cubicBezTo>
                    <a:pt x="65" y="55"/>
                    <a:pt x="55" y="50"/>
                    <a:pt x="64" y="43"/>
                  </a:cubicBezTo>
                  <a:cubicBezTo>
                    <a:pt x="74" y="36"/>
                    <a:pt x="79" y="2"/>
                    <a:pt x="47" y="1"/>
                  </a:cubicBezTo>
                  <a:cubicBezTo>
                    <a:pt x="15" y="0"/>
                    <a:pt x="18" y="35"/>
                    <a:pt x="18" y="35"/>
                  </a:cubicBezTo>
                  <a:cubicBezTo>
                    <a:pt x="11" y="38"/>
                    <a:pt x="5" y="44"/>
                    <a:pt x="0" y="49"/>
                  </a:cubicBezTo>
                  <a:cubicBezTo>
                    <a:pt x="16" y="73"/>
                    <a:pt x="40" y="91"/>
                    <a:pt x="69" y="98"/>
                  </a:cubicBezTo>
                  <a:cubicBezTo>
                    <a:pt x="70" y="91"/>
                    <a:pt x="73" y="87"/>
                    <a:pt x="73" y="87"/>
                  </a:cubicBezTo>
                  <a:cubicBezTo>
                    <a:pt x="73" y="87"/>
                    <a:pt x="96" y="90"/>
                    <a:pt x="99" y="7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IN"/>
            </a:p>
          </p:txBody>
        </p:sp>
        <p:sp>
          <p:nvSpPr>
            <p:cNvPr id="73" name="Freeform 6">
              <a:extLst>
                <a:ext uri="{FF2B5EF4-FFF2-40B4-BE49-F238E27FC236}">
                  <a16:creationId xmlns:a16="http://schemas.microsoft.com/office/drawing/2014/main" id="{08EC4A40-2141-45CB-891D-EE7A4B82B727}"/>
                </a:ext>
              </a:extLst>
            </p:cNvPr>
            <p:cNvSpPr>
              <a:spLocks/>
            </p:cNvSpPr>
            <p:nvPr/>
          </p:nvSpPr>
          <p:spPr bwMode="auto">
            <a:xfrm>
              <a:off x="2490788" y="1608138"/>
              <a:ext cx="1365250" cy="1239837"/>
            </a:xfrm>
            <a:custGeom>
              <a:avLst/>
              <a:gdLst>
                <a:gd name="T0" fmla="*/ 99 w 220"/>
                <a:gd name="T1" fmla="*/ 0 h 200"/>
                <a:gd name="T2" fmla="*/ 2 w 220"/>
                <a:gd name="T3" fmla="*/ 49 h 200"/>
                <a:gd name="T4" fmla="*/ 6 w 220"/>
                <a:gd name="T5" fmla="*/ 56 h 200"/>
                <a:gd name="T6" fmla="*/ 4 w 220"/>
                <a:gd name="T7" fmla="*/ 79 h 200"/>
                <a:gd name="T8" fmla="*/ 10 w 220"/>
                <a:gd name="T9" fmla="*/ 102 h 200"/>
                <a:gd name="T10" fmla="*/ 25 w 220"/>
                <a:gd name="T11" fmla="*/ 130 h 200"/>
                <a:gd name="T12" fmla="*/ 47 w 220"/>
                <a:gd name="T13" fmla="*/ 114 h 200"/>
                <a:gd name="T14" fmla="*/ 60 w 220"/>
                <a:gd name="T15" fmla="*/ 92 h 200"/>
                <a:gd name="T16" fmla="*/ 82 w 220"/>
                <a:gd name="T17" fmla="*/ 68 h 200"/>
                <a:gd name="T18" fmla="*/ 120 w 220"/>
                <a:gd name="T19" fmla="*/ 34 h 200"/>
                <a:gd name="T20" fmla="*/ 143 w 220"/>
                <a:gd name="T21" fmla="*/ 62 h 200"/>
                <a:gd name="T22" fmla="*/ 156 w 220"/>
                <a:gd name="T23" fmla="*/ 78 h 200"/>
                <a:gd name="T24" fmla="*/ 148 w 220"/>
                <a:gd name="T25" fmla="*/ 97 h 200"/>
                <a:gd name="T26" fmla="*/ 141 w 220"/>
                <a:gd name="T27" fmla="*/ 141 h 200"/>
                <a:gd name="T28" fmla="*/ 163 w 220"/>
                <a:gd name="T29" fmla="*/ 173 h 200"/>
                <a:gd name="T30" fmla="*/ 192 w 220"/>
                <a:gd name="T31" fmla="*/ 200 h 200"/>
                <a:gd name="T32" fmla="*/ 215 w 220"/>
                <a:gd name="T33" fmla="*/ 158 h 200"/>
                <a:gd name="T34" fmla="*/ 203 w 220"/>
                <a:gd name="T35" fmla="*/ 147 h 200"/>
                <a:gd name="T36" fmla="*/ 199 w 220"/>
                <a:gd name="T37" fmla="*/ 100 h 200"/>
                <a:gd name="T38" fmla="*/ 218 w 220"/>
                <a:gd name="T39" fmla="*/ 98 h 200"/>
                <a:gd name="T40" fmla="*/ 99 w 220"/>
                <a:gd name="T41" fmla="*/ 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0" h="200">
                  <a:moveTo>
                    <a:pt x="99" y="0"/>
                  </a:moveTo>
                  <a:cubicBezTo>
                    <a:pt x="60" y="0"/>
                    <a:pt x="24" y="19"/>
                    <a:pt x="2" y="49"/>
                  </a:cubicBezTo>
                  <a:cubicBezTo>
                    <a:pt x="4" y="52"/>
                    <a:pt x="6" y="54"/>
                    <a:pt x="6" y="56"/>
                  </a:cubicBezTo>
                  <a:cubicBezTo>
                    <a:pt x="10" y="66"/>
                    <a:pt x="5" y="70"/>
                    <a:pt x="4" y="79"/>
                  </a:cubicBezTo>
                  <a:cubicBezTo>
                    <a:pt x="2" y="87"/>
                    <a:pt x="0" y="95"/>
                    <a:pt x="10" y="102"/>
                  </a:cubicBezTo>
                  <a:cubicBezTo>
                    <a:pt x="19" y="109"/>
                    <a:pt x="12" y="125"/>
                    <a:pt x="25" y="130"/>
                  </a:cubicBezTo>
                  <a:cubicBezTo>
                    <a:pt x="39" y="136"/>
                    <a:pt x="48" y="123"/>
                    <a:pt x="47" y="114"/>
                  </a:cubicBezTo>
                  <a:cubicBezTo>
                    <a:pt x="47" y="105"/>
                    <a:pt x="57" y="103"/>
                    <a:pt x="60" y="92"/>
                  </a:cubicBezTo>
                  <a:cubicBezTo>
                    <a:pt x="62" y="81"/>
                    <a:pt x="69" y="86"/>
                    <a:pt x="82" y="68"/>
                  </a:cubicBezTo>
                  <a:cubicBezTo>
                    <a:pt x="94" y="51"/>
                    <a:pt x="93" y="33"/>
                    <a:pt x="120" y="34"/>
                  </a:cubicBezTo>
                  <a:cubicBezTo>
                    <a:pt x="148" y="36"/>
                    <a:pt x="143" y="62"/>
                    <a:pt x="143" y="62"/>
                  </a:cubicBezTo>
                  <a:cubicBezTo>
                    <a:pt x="143" y="62"/>
                    <a:pt x="156" y="60"/>
                    <a:pt x="156" y="78"/>
                  </a:cubicBezTo>
                  <a:cubicBezTo>
                    <a:pt x="157" y="95"/>
                    <a:pt x="156" y="94"/>
                    <a:pt x="148" y="97"/>
                  </a:cubicBezTo>
                  <a:cubicBezTo>
                    <a:pt x="141" y="100"/>
                    <a:pt x="130" y="122"/>
                    <a:pt x="141" y="141"/>
                  </a:cubicBezTo>
                  <a:cubicBezTo>
                    <a:pt x="152" y="159"/>
                    <a:pt x="162" y="153"/>
                    <a:pt x="163" y="173"/>
                  </a:cubicBezTo>
                  <a:cubicBezTo>
                    <a:pt x="164" y="189"/>
                    <a:pt x="176" y="197"/>
                    <a:pt x="192" y="200"/>
                  </a:cubicBezTo>
                  <a:cubicBezTo>
                    <a:pt x="202" y="187"/>
                    <a:pt x="210" y="173"/>
                    <a:pt x="215" y="158"/>
                  </a:cubicBezTo>
                  <a:cubicBezTo>
                    <a:pt x="212" y="154"/>
                    <a:pt x="208" y="150"/>
                    <a:pt x="203" y="147"/>
                  </a:cubicBezTo>
                  <a:cubicBezTo>
                    <a:pt x="203" y="147"/>
                    <a:pt x="220" y="117"/>
                    <a:pt x="199" y="100"/>
                  </a:cubicBezTo>
                  <a:cubicBezTo>
                    <a:pt x="199" y="100"/>
                    <a:pt x="210" y="102"/>
                    <a:pt x="218" y="98"/>
                  </a:cubicBezTo>
                  <a:cubicBezTo>
                    <a:pt x="207" y="42"/>
                    <a:pt x="158" y="0"/>
                    <a:pt x="99"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IN"/>
            </a:p>
          </p:txBody>
        </p:sp>
        <p:sp>
          <p:nvSpPr>
            <p:cNvPr id="74" name="Freeform 7">
              <a:extLst>
                <a:ext uri="{FF2B5EF4-FFF2-40B4-BE49-F238E27FC236}">
                  <a16:creationId xmlns:a16="http://schemas.microsoft.com/office/drawing/2014/main" id="{D7F3FE9E-49E8-463F-8ED7-DDA95F67E144}"/>
                </a:ext>
              </a:extLst>
            </p:cNvPr>
            <p:cNvSpPr>
              <a:spLocks/>
            </p:cNvSpPr>
            <p:nvPr/>
          </p:nvSpPr>
          <p:spPr bwMode="auto">
            <a:xfrm>
              <a:off x="2484438" y="2476500"/>
              <a:ext cx="633412" cy="608012"/>
            </a:xfrm>
            <a:custGeom>
              <a:avLst/>
              <a:gdLst>
                <a:gd name="T0" fmla="*/ 69 w 102"/>
                <a:gd name="T1" fmla="*/ 98 h 98"/>
                <a:gd name="T2" fmla="*/ 73 w 102"/>
                <a:gd name="T3" fmla="*/ 87 h 98"/>
                <a:gd name="T4" fmla="*/ 99 w 102"/>
                <a:gd name="T5" fmla="*/ 70 h 98"/>
                <a:gd name="T6" fmla="*/ 73 w 102"/>
                <a:gd name="T7" fmla="*/ 49 h 98"/>
                <a:gd name="T8" fmla="*/ 64 w 102"/>
                <a:gd name="T9" fmla="*/ 43 h 98"/>
                <a:gd name="T10" fmla="*/ 47 w 102"/>
                <a:gd name="T11" fmla="*/ 1 h 98"/>
                <a:gd name="T12" fmla="*/ 18 w 102"/>
                <a:gd name="T13" fmla="*/ 35 h 98"/>
                <a:gd name="T14" fmla="*/ 0 w 102"/>
                <a:gd name="T15" fmla="*/ 49 h 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98">
                  <a:moveTo>
                    <a:pt x="69" y="98"/>
                  </a:moveTo>
                  <a:cubicBezTo>
                    <a:pt x="70" y="91"/>
                    <a:pt x="73" y="87"/>
                    <a:pt x="73" y="87"/>
                  </a:cubicBezTo>
                  <a:cubicBezTo>
                    <a:pt x="73" y="87"/>
                    <a:pt x="96" y="90"/>
                    <a:pt x="99" y="70"/>
                  </a:cubicBezTo>
                  <a:cubicBezTo>
                    <a:pt x="102" y="51"/>
                    <a:pt x="81" y="44"/>
                    <a:pt x="73" y="49"/>
                  </a:cubicBezTo>
                  <a:cubicBezTo>
                    <a:pt x="65" y="55"/>
                    <a:pt x="55" y="50"/>
                    <a:pt x="64" y="43"/>
                  </a:cubicBezTo>
                  <a:cubicBezTo>
                    <a:pt x="74" y="36"/>
                    <a:pt x="79" y="2"/>
                    <a:pt x="47" y="1"/>
                  </a:cubicBezTo>
                  <a:cubicBezTo>
                    <a:pt x="15" y="0"/>
                    <a:pt x="18" y="35"/>
                    <a:pt x="18" y="35"/>
                  </a:cubicBezTo>
                  <a:cubicBezTo>
                    <a:pt x="11" y="38"/>
                    <a:pt x="5" y="44"/>
                    <a:pt x="0" y="49"/>
                  </a:cubicBezTo>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75" name="Freeform 8">
              <a:extLst>
                <a:ext uri="{FF2B5EF4-FFF2-40B4-BE49-F238E27FC236}">
                  <a16:creationId xmlns:a16="http://schemas.microsoft.com/office/drawing/2014/main" id="{9BA4F743-A469-4255-B4C3-0205AC448AD2}"/>
                </a:ext>
              </a:extLst>
            </p:cNvPr>
            <p:cNvSpPr>
              <a:spLocks/>
            </p:cNvSpPr>
            <p:nvPr/>
          </p:nvSpPr>
          <p:spPr bwMode="auto">
            <a:xfrm>
              <a:off x="2490788" y="1812925"/>
              <a:ext cx="1365250" cy="1035050"/>
            </a:xfrm>
            <a:custGeom>
              <a:avLst/>
              <a:gdLst>
                <a:gd name="T0" fmla="*/ 2 w 220"/>
                <a:gd name="T1" fmla="*/ 16 h 167"/>
                <a:gd name="T2" fmla="*/ 6 w 220"/>
                <a:gd name="T3" fmla="*/ 23 h 167"/>
                <a:gd name="T4" fmla="*/ 4 w 220"/>
                <a:gd name="T5" fmla="*/ 46 h 167"/>
                <a:gd name="T6" fmla="*/ 10 w 220"/>
                <a:gd name="T7" fmla="*/ 69 h 167"/>
                <a:gd name="T8" fmla="*/ 25 w 220"/>
                <a:gd name="T9" fmla="*/ 97 h 167"/>
                <a:gd name="T10" fmla="*/ 47 w 220"/>
                <a:gd name="T11" fmla="*/ 81 h 167"/>
                <a:gd name="T12" fmla="*/ 60 w 220"/>
                <a:gd name="T13" fmla="*/ 59 h 167"/>
                <a:gd name="T14" fmla="*/ 82 w 220"/>
                <a:gd name="T15" fmla="*/ 35 h 167"/>
                <a:gd name="T16" fmla="*/ 120 w 220"/>
                <a:gd name="T17" fmla="*/ 1 h 167"/>
                <a:gd name="T18" fmla="*/ 143 w 220"/>
                <a:gd name="T19" fmla="*/ 29 h 167"/>
                <a:gd name="T20" fmla="*/ 156 w 220"/>
                <a:gd name="T21" fmla="*/ 45 h 167"/>
                <a:gd name="T22" fmla="*/ 148 w 220"/>
                <a:gd name="T23" fmla="*/ 64 h 167"/>
                <a:gd name="T24" fmla="*/ 141 w 220"/>
                <a:gd name="T25" fmla="*/ 108 h 167"/>
                <a:gd name="T26" fmla="*/ 163 w 220"/>
                <a:gd name="T27" fmla="*/ 140 h 167"/>
                <a:gd name="T28" fmla="*/ 192 w 220"/>
                <a:gd name="T29" fmla="*/ 167 h 167"/>
                <a:gd name="T30" fmla="*/ 215 w 220"/>
                <a:gd name="T31" fmla="*/ 125 h 167"/>
                <a:gd name="T32" fmla="*/ 203 w 220"/>
                <a:gd name="T33" fmla="*/ 114 h 167"/>
                <a:gd name="T34" fmla="*/ 199 w 220"/>
                <a:gd name="T35" fmla="*/ 67 h 167"/>
                <a:gd name="T36" fmla="*/ 218 w 220"/>
                <a:gd name="T37" fmla="*/ 65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0" h="167">
                  <a:moveTo>
                    <a:pt x="2" y="16"/>
                  </a:moveTo>
                  <a:cubicBezTo>
                    <a:pt x="4" y="19"/>
                    <a:pt x="6" y="21"/>
                    <a:pt x="6" y="23"/>
                  </a:cubicBezTo>
                  <a:cubicBezTo>
                    <a:pt x="10" y="33"/>
                    <a:pt x="5" y="37"/>
                    <a:pt x="4" y="46"/>
                  </a:cubicBezTo>
                  <a:cubicBezTo>
                    <a:pt x="2" y="54"/>
                    <a:pt x="0" y="62"/>
                    <a:pt x="10" y="69"/>
                  </a:cubicBezTo>
                  <a:cubicBezTo>
                    <a:pt x="19" y="76"/>
                    <a:pt x="12" y="92"/>
                    <a:pt x="25" y="97"/>
                  </a:cubicBezTo>
                  <a:cubicBezTo>
                    <a:pt x="39" y="103"/>
                    <a:pt x="48" y="90"/>
                    <a:pt x="47" y="81"/>
                  </a:cubicBezTo>
                  <a:cubicBezTo>
                    <a:pt x="47" y="72"/>
                    <a:pt x="57" y="70"/>
                    <a:pt x="60" y="59"/>
                  </a:cubicBezTo>
                  <a:cubicBezTo>
                    <a:pt x="62" y="48"/>
                    <a:pt x="69" y="53"/>
                    <a:pt x="82" y="35"/>
                  </a:cubicBezTo>
                  <a:cubicBezTo>
                    <a:pt x="94" y="18"/>
                    <a:pt x="93" y="0"/>
                    <a:pt x="120" y="1"/>
                  </a:cubicBezTo>
                  <a:cubicBezTo>
                    <a:pt x="148" y="3"/>
                    <a:pt x="143" y="29"/>
                    <a:pt x="143" y="29"/>
                  </a:cubicBezTo>
                  <a:cubicBezTo>
                    <a:pt x="143" y="29"/>
                    <a:pt x="156" y="27"/>
                    <a:pt x="156" y="45"/>
                  </a:cubicBezTo>
                  <a:cubicBezTo>
                    <a:pt x="157" y="62"/>
                    <a:pt x="156" y="61"/>
                    <a:pt x="148" y="64"/>
                  </a:cubicBezTo>
                  <a:cubicBezTo>
                    <a:pt x="141" y="67"/>
                    <a:pt x="130" y="89"/>
                    <a:pt x="141" y="108"/>
                  </a:cubicBezTo>
                  <a:cubicBezTo>
                    <a:pt x="152" y="126"/>
                    <a:pt x="162" y="120"/>
                    <a:pt x="163" y="140"/>
                  </a:cubicBezTo>
                  <a:cubicBezTo>
                    <a:pt x="164" y="156"/>
                    <a:pt x="176" y="164"/>
                    <a:pt x="192" y="167"/>
                  </a:cubicBezTo>
                  <a:cubicBezTo>
                    <a:pt x="202" y="154"/>
                    <a:pt x="210" y="140"/>
                    <a:pt x="215" y="125"/>
                  </a:cubicBezTo>
                  <a:cubicBezTo>
                    <a:pt x="212" y="121"/>
                    <a:pt x="208" y="117"/>
                    <a:pt x="203" y="114"/>
                  </a:cubicBezTo>
                  <a:cubicBezTo>
                    <a:pt x="203" y="114"/>
                    <a:pt x="220" y="84"/>
                    <a:pt x="199" y="67"/>
                  </a:cubicBezTo>
                  <a:cubicBezTo>
                    <a:pt x="199" y="67"/>
                    <a:pt x="210" y="69"/>
                    <a:pt x="218" y="65"/>
                  </a:cubicBezTo>
                </a:path>
              </a:pathLst>
            </a:cu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6" name="Oval 9">
              <a:extLst>
                <a:ext uri="{FF2B5EF4-FFF2-40B4-BE49-F238E27FC236}">
                  <a16:creationId xmlns:a16="http://schemas.microsoft.com/office/drawing/2014/main" id="{9095043F-ED47-4493-84A4-A073C1984AEB}"/>
                </a:ext>
              </a:extLst>
            </p:cNvPr>
            <p:cNvSpPr>
              <a:spLocks noChangeArrowheads="1"/>
            </p:cNvSpPr>
            <p:nvPr/>
          </p:nvSpPr>
          <p:spPr bwMode="auto">
            <a:xfrm>
              <a:off x="2354263" y="1608138"/>
              <a:ext cx="1501775" cy="1501775"/>
            </a:xfrm>
            <a:prstGeom prst="ellipse">
              <a:avLst/>
            </a:pr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7" name="Freeform 10">
              <a:extLst>
                <a:ext uri="{FF2B5EF4-FFF2-40B4-BE49-F238E27FC236}">
                  <a16:creationId xmlns:a16="http://schemas.microsoft.com/office/drawing/2014/main" id="{10FC4959-A785-45C9-8138-DA2816B95687}"/>
                </a:ext>
              </a:extLst>
            </p:cNvPr>
            <p:cNvSpPr>
              <a:spLocks/>
            </p:cNvSpPr>
            <p:nvPr/>
          </p:nvSpPr>
          <p:spPr bwMode="auto">
            <a:xfrm>
              <a:off x="2266950" y="1465263"/>
              <a:ext cx="838200" cy="582612"/>
            </a:xfrm>
            <a:custGeom>
              <a:avLst/>
              <a:gdLst>
                <a:gd name="T0" fmla="*/ 0 w 135"/>
                <a:gd name="T1" fmla="*/ 94 h 94"/>
                <a:gd name="T2" fmla="*/ 135 w 135"/>
                <a:gd name="T3" fmla="*/ 0 h 94"/>
              </a:gdLst>
              <a:ahLst/>
              <a:cxnLst>
                <a:cxn ang="0">
                  <a:pos x="T0" y="T1"/>
                </a:cxn>
                <a:cxn ang="0">
                  <a:pos x="T2" y="T3"/>
                </a:cxn>
              </a:cxnLst>
              <a:rect l="0" t="0" r="r" b="b"/>
              <a:pathLst>
                <a:path w="135" h="94">
                  <a:moveTo>
                    <a:pt x="0" y="94"/>
                  </a:moveTo>
                  <a:cubicBezTo>
                    <a:pt x="21" y="39"/>
                    <a:pt x="73" y="0"/>
                    <a:pt x="135"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8" name="Freeform 11">
              <a:extLst>
                <a:ext uri="{FF2B5EF4-FFF2-40B4-BE49-F238E27FC236}">
                  <a16:creationId xmlns:a16="http://schemas.microsoft.com/office/drawing/2014/main" id="{4E122F10-B551-4E72-ABCA-E0C021DADF75}"/>
                </a:ext>
              </a:extLst>
            </p:cNvPr>
            <p:cNvSpPr>
              <a:spLocks/>
            </p:cNvSpPr>
            <p:nvPr/>
          </p:nvSpPr>
          <p:spPr bwMode="auto">
            <a:xfrm>
              <a:off x="2222500" y="2513013"/>
              <a:ext cx="690562" cy="720725"/>
            </a:xfrm>
            <a:custGeom>
              <a:avLst/>
              <a:gdLst>
                <a:gd name="T0" fmla="*/ 111 w 111"/>
                <a:gd name="T1" fmla="*/ 116 h 116"/>
                <a:gd name="T2" fmla="*/ 0 w 111"/>
                <a:gd name="T3" fmla="*/ 0 h 116"/>
              </a:gdLst>
              <a:ahLst/>
              <a:cxnLst>
                <a:cxn ang="0">
                  <a:pos x="T0" y="T1"/>
                </a:cxn>
                <a:cxn ang="0">
                  <a:pos x="T2" y="T3"/>
                </a:cxn>
              </a:cxnLst>
              <a:rect l="0" t="0" r="r" b="b"/>
              <a:pathLst>
                <a:path w="111" h="116">
                  <a:moveTo>
                    <a:pt x="111" y="116"/>
                  </a:moveTo>
                  <a:cubicBezTo>
                    <a:pt x="55" y="104"/>
                    <a:pt x="10" y="58"/>
                    <a:pt x="0"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9" name="Freeform 12">
              <a:extLst>
                <a:ext uri="{FF2B5EF4-FFF2-40B4-BE49-F238E27FC236}">
                  <a16:creationId xmlns:a16="http://schemas.microsoft.com/office/drawing/2014/main" id="{9BBC3F51-5B3D-4E19-A6FA-AAB7A36DBD9F}"/>
                </a:ext>
              </a:extLst>
            </p:cNvPr>
            <p:cNvSpPr>
              <a:spLocks/>
            </p:cNvSpPr>
            <p:nvPr/>
          </p:nvSpPr>
          <p:spPr bwMode="auto">
            <a:xfrm>
              <a:off x="3514725" y="1862138"/>
              <a:ext cx="490537" cy="1296987"/>
            </a:xfrm>
            <a:custGeom>
              <a:avLst/>
              <a:gdLst>
                <a:gd name="T0" fmla="*/ 54 w 79"/>
                <a:gd name="T1" fmla="*/ 0 h 209"/>
                <a:gd name="T2" fmla="*/ 79 w 79"/>
                <a:gd name="T3" fmla="*/ 80 h 209"/>
                <a:gd name="T4" fmla="*/ 0 w 79"/>
                <a:gd name="T5" fmla="*/ 209 h 209"/>
              </a:gdLst>
              <a:ahLst/>
              <a:cxnLst>
                <a:cxn ang="0">
                  <a:pos x="T0" y="T1"/>
                </a:cxn>
                <a:cxn ang="0">
                  <a:pos x="T2" y="T3"/>
                </a:cxn>
                <a:cxn ang="0">
                  <a:pos x="T4" y="T5"/>
                </a:cxn>
              </a:cxnLst>
              <a:rect l="0" t="0" r="r" b="b"/>
              <a:pathLst>
                <a:path w="79" h="209">
                  <a:moveTo>
                    <a:pt x="54" y="0"/>
                  </a:moveTo>
                  <a:cubicBezTo>
                    <a:pt x="70" y="23"/>
                    <a:pt x="79" y="50"/>
                    <a:pt x="79" y="80"/>
                  </a:cubicBezTo>
                  <a:cubicBezTo>
                    <a:pt x="79" y="137"/>
                    <a:pt x="47" y="185"/>
                    <a:pt x="0" y="209"/>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0" name="Freeform 13">
              <a:extLst>
                <a:ext uri="{FF2B5EF4-FFF2-40B4-BE49-F238E27FC236}">
                  <a16:creationId xmlns:a16="http://schemas.microsoft.com/office/drawing/2014/main" id="{A02E2171-48E8-42B2-A91C-1C63EB487384}"/>
                </a:ext>
              </a:extLst>
            </p:cNvPr>
            <p:cNvSpPr>
              <a:spLocks/>
            </p:cNvSpPr>
            <p:nvPr/>
          </p:nvSpPr>
          <p:spPr bwMode="auto">
            <a:xfrm>
              <a:off x="2055813" y="1898650"/>
              <a:ext cx="111125" cy="652462"/>
            </a:xfrm>
            <a:custGeom>
              <a:avLst/>
              <a:gdLst>
                <a:gd name="T0" fmla="*/ 3 w 18"/>
                <a:gd name="T1" fmla="*/ 105 h 105"/>
                <a:gd name="T2" fmla="*/ 0 w 18"/>
                <a:gd name="T3" fmla="*/ 74 h 105"/>
                <a:gd name="T4" fmla="*/ 18 w 18"/>
                <a:gd name="T5" fmla="*/ 0 h 105"/>
              </a:gdLst>
              <a:ahLst/>
              <a:cxnLst>
                <a:cxn ang="0">
                  <a:pos x="T0" y="T1"/>
                </a:cxn>
                <a:cxn ang="0">
                  <a:pos x="T2" y="T3"/>
                </a:cxn>
                <a:cxn ang="0">
                  <a:pos x="T4" y="T5"/>
                </a:cxn>
              </a:cxnLst>
              <a:rect l="0" t="0" r="r" b="b"/>
              <a:pathLst>
                <a:path w="18" h="105">
                  <a:moveTo>
                    <a:pt x="3" y="105"/>
                  </a:moveTo>
                  <a:cubicBezTo>
                    <a:pt x="1" y="95"/>
                    <a:pt x="0" y="85"/>
                    <a:pt x="0" y="74"/>
                  </a:cubicBezTo>
                  <a:cubicBezTo>
                    <a:pt x="0" y="48"/>
                    <a:pt x="7" y="22"/>
                    <a:pt x="18"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1" name="Freeform 14">
              <a:extLst>
                <a:ext uri="{FF2B5EF4-FFF2-40B4-BE49-F238E27FC236}">
                  <a16:creationId xmlns:a16="http://schemas.microsoft.com/office/drawing/2014/main" id="{F0E7C619-C8E6-4CE3-9AFB-7068855E5671}"/>
                </a:ext>
              </a:extLst>
            </p:cNvPr>
            <p:cNvSpPr>
              <a:spLocks/>
            </p:cNvSpPr>
            <p:nvPr/>
          </p:nvSpPr>
          <p:spPr bwMode="auto">
            <a:xfrm>
              <a:off x="2813050" y="3246438"/>
              <a:ext cx="857250" cy="160337"/>
            </a:xfrm>
            <a:custGeom>
              <a:avLst/>
              <a:gdLst>
                <a:gd name="T0" fmla="*/ 138 w 138"/>
                <a:gd name="T1" fmla="*/ 0 h 26"/>
                <a:gd name="T2" fmla="*/ 47 w 138"/>
                <a:gd name="T3" fmla="*/ 26 h 26"/>
                <a:gd name="T4" fmla="*/ 0 w 138"/>
                <a:gd name="T5" fmla="*/ 20 h 26"/>
              </a:gdLst>
              <a:ahLst/>
              <a:cxnLst>
                <a:cxn ang="0">
                  <a:pos x="T0" y="T1"/>
                </a:cxn>
                <a:cxn ang="0">
                  <a:pos x="T2" y="T3"/>
                </a:cxn>
                <a:cxn ang="0">
                  <a:pos x="T4" y="T5"/>
                </a:cxn>
              </a:cxnLst>
              <a:rect l="0" t="0" r="r" b="b"/>
              <a:pathLst>
                <a:path w="138" h="26">
                  <a:moveTo>
                    <a:pt x="138" y="0"/>
                  </a:moveTo>
                  <a:cubicBezTo>
                    <a:pt x="112" y="17"/>
                    <a:pt x="81" y="26"/>
                    <a:pt x="47" y="26"/>
                  </a:cubicBezTo>
                  <a:cubicBezTo>
                    <a:pt x="31" y="26"/>
                    <a:pt x="15" y="24"/>
                    <a:pt x="0" y="2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2" name="Freeform 15">
              <a:extLst>
                <a:ext uri="{FF2B5EF4-FFF2-40B4-BE49-F238E27FC236}">
                  <a16:creationId xmlns:a16="http://schemas.microsoft.com/office/drawing/2014/main" id="{2448A90A-C490-4392-92CA-B56C6372C890}"/>
                </a:ext>
              </a:extLst>
            </p:cNvPr>
            <p:cNvSpPr>
              <a:spLocks/>
            </p:cNvSpPr>
            <p:nvPr/>
          </p:nvSpPr>
          <p:spPr bwMode="auto">
            <a:xfrm>
              <a:off x="3105150" y="1309688"/>
              <a:ext cx="981075" cy="663575"/>
            </a:xfrm>
            <a:custGeom>
              <a:avLst/>
              <a:gdLst>
                <a:gd name="T0" fmla="*/ 0 w 158"/>
                <a:gd name="T1" fmla="*/ 0 h 107"/>
                <a:gd name="T2" fmla="*/ 158 w 158"/>
                <a:gd name="T3" fmla="*/ 107 h 107"/>
              </a:gdLst>
              <a:ahLst/>
              <a:cxnLst>
                <a:cxn ang="0">
                  <a:pos x="T0" y="T1"/>
                </a:cxn>
                <a:cxn ang="0">
                  <a:pos x="T2" y="T3"/>
                </a:cxn>
              </a:cxnLst>
              <a:rect l="0" t="0" r="r" b="b"/>
              <a:pathLst>
                <a:path w="158" h="107">
                  <a:moveTo>
                    <a:pt x="0" y="0"/>
                  </a:moveTo>
                  <a:cubicBezTo>
                    <a:pt x="72" y="0"/>
                    <a:pt x="133" y="45"/>
                    <a:pt x="158" y="107"/>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3" name="Freeform 16">
              <a:extLst>
                <a:ext uri="{FF2B5EF4-FFF2-40B4-BE49-F238E27FC236}">
                  <a16:creationId xmlns:a16="http://schemas.microsoft.com/office/drawing/2014/main" id="{22DEAA94-3118-4DEC-88D6-5661168811F1}"/>
                </a:ext>
              </a:extLst>
            </p:cNvPr>
            <p:cNvSpPr>
              <a:spLocks/>
            </p:cNvSpPr>
            <p:nvPr/>
          </p:nvSpPr>
          <p:spPr bwMode="auto">
            <a:xfrm>
              <a:off x="3354388" y="1185863"/>
              <a:ext cx="533400" cy="962025"/>
            </a:xfrm>
            <a:custGeom>
              <a:avLst/>
              <a:gdLst>
                <a:gd name="T0" fmla="*/ 86 w 86"/>
                <a:gd name="T1" fmla="*/ 43 h 155"/>
                <a:gd name="T2" fmla="*/ 43 w 86"/>
                <a:gd name="T3" fmla="*/ 155 h 155"/>
                <a:gd name="T4" fmla="*/ 0 w 86"/>
                <a:gd name="T5" fmla="*/ 43 h 155"/>
                <a:gd name="T6" fmla="*/ 43 w 86"/>
                <a:gd name="T7" fmla="*/ 0 h 155"/>
                <a:gd name="T8" fmla="*/ 86 w 86"/>
                <a:gd name="T9" fmla="*/ 43 h 155"/>
              </a:gdLst>
              <a:ahLst/>
              <a:cxnLst>
                <a:cxn ang="0">
                  <a:pos x="T0" y="T1"/>
                </a:cxn>
                <a:cxn ang="0">
                  <a:pos x="T2" y="T3"/>
                </a:cxn>
                <a:cxn ang="0">
                  <a:pos x="T4" y="T5"/>
                </a:cxn>
                <a:cxn ang="0">
                  <a:pos x="T6" y="T7"/>
                </a:cxn>
                <a:cxn ang="0">
                  <a:pos x="T8" y="T9"/>
                </a:cxn>
              </a:cxnLst>
              <a:rect l="0" t="0" r="r" b="b"/>
              <a:pathLst>
                <a:path w="86" h="155">
                  <a:moveTo>
                    <a:pt x="86" y="43"/>
                  </a:moveTo>
                  <a:cubicBezTo>
                    <a:pt x="86" y="67"/>
                    <a:pt x="43" y="155"/>
                    <a:pt x="43" y="155"/>
                  </a:cubicBezTo>
                  <a:cubicBezTo>
                    <a:pt x="43" y="155"/>
                    <a:pt x="0" y="67"/>
                    <a:pt x="0" y="43"/>
                  </a:cubicBezTo>
                  <a:cubicBezTo>
                    <a:pt x="0" y="20"/>
                    <a:pt x="19" y="0"/>
                    <a:pt x="43" y="0"/>
                  </a:cubicBezTo>
                  <a:cubicBezTo>
                    <a:pt x="67" y="0"/>
                    <a:pt x="86" y="20"/>
                    <a:pt x="86" y="43"/>
                  </a:cubicBezTo>
                  <a:close/>
                </a:path>
              </a:pathLst>
            </a:custGeom>
            <a:solidFill>
              <a:schemeClr val="accent2"/>
            </a:solidFill>
            <a:ln w="19050" cap="flat">
              <a:solidFill>
                <a:schemeClr val="accent4"/>
              </a:solidFill>
              <a:prstDash val="solid"/>
              <a:miter lim="800000"/>
              <a:headEnd/>
              <a:tailEnd/>
            </a:ln>
          </p:spPr>
          <p:txBody>
            <a:bodyPr vert="horz" wrap="square" lIns="91440" tIns="45720" rIns="91440" bIns="45720" numCol="1" anchor="t" anchorCtr="0" compatLnSpc="1">
              <a:prstTxWarp prst="textNoShape">
                <a:avLst/>
              </a:prstTxWarp>
            </a:bodyPr>
            <a:lstStyle/>
            <a:p>
              <a:endParaRPr lang="en-IN" dirty="0"/>
            </a:p>
          </p:txBody>
        </p:sp>
        <p:sp>
          <p:nvSpPr>
            <p:cNvPr id="84" name="Oval 17">
              <a:extLst>
                <a:ext uri="{FF2B5EF4-FFF2-40B4-BE49-F238E27FC236}">
                  <a16:creationId xmlns:a16="http://schemas.microsoft.com/office/drawing/2014/main" id="{5D93C01F-0A4A-47F6-9031-D66B9F84818D}"/>
                </a:ext>
              </a:extLst>
            </p:cNvPr>
            <p:cNvSpPr>
              <a:spLocks noChangeArrowheads="1"/>
            </p:cNvSpPr>
            <p:nvPr/>
          </p:nvSpPr>
          <p:spPr bwMode="auto">
            <a:xfrm>
              <a:off x="3502025" y="1335088"/>
              <a:ext cx="236537" cy="241300"/>
            </a:xfrm>
            <a:prstGeom prst="ellipse">
              <a:avLst/>
            </a:prstGeom>
            <a:noFill/>
            <a:ln w="19050" cap="flat">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
        <p:nvSpPr>
          <p:cNvPr id="87" name="TextBox 86">
            <a:extLst>
              <a:ext uri="{FF2B5EF4-FFF2-40B4-BE49-F238E27FC236}">
                <a16:creationId xmlns:a16="http://schemas.microsoft.com/office/drawing/2014/main" id="{118F2E3C-4C94-4C17-9BD6-86FF7AF05F75}"/>
              </a:ext>
            </a:extLst>
          </p:cNvPr>
          <p:cNvSpPr txBox="1"/>
          <p:nvPr/>
        </p:nvSpPr>
        <p:spPr>
          <a:xfrm>
            <a:off x="1558541" y="4319150"/>
            <a:ext cx="2224692" cy="825526"/>
          </a:xfrm>
          <a:prstGeom prst="rect">
            <a:avLst/>
          </a:prstGeom>
          <a:noFill/>
        </p:spPr>
        <p:txBody>
          <a:bodyPr wrap="square" lIns="0" tIns="0" rIns="0" bIns="0" rtlCol="0" anchor="t">
            <a:noAutofit/>
          </a:bodyPr>
          <a:lstStyle/>
          <a:p>
            <a:pPr algn="ctr"/>
            <a:r>
              <a:rPr lang="en-US" sz="14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Subscription fees, sized according to application complexity &amp; scale</a:t>
            </a:r>
          </a:p>
        </p:txBody>
      </p:sp>
      <p:sp>
        <p:nvSpPr>
          <p:cNvPr id="88" name="TextBox 87">
            <a:extLst>
              <a:ext uri="{FF2B5EF4-FFF2-40B4-BE49-F238E27FC236}">
                <a16:creationId xmlns:a16="http://schemas.microsoft.com/office/drawing/2014/main" id="{757135C1-9BA5-45B1-AF14-FA26FF95F1C5}"/>
              </a:ext>
            </a:extLst>
          </p:cNvPr>
          <p:cNvSpPr txBox="1"/>
          <p:nvPr/>
        </p:nvSpPr>
        <p:spPr>
          <a:xfrm>
            <a:off x="1558541" y="3739733"/>
            <a:ext cx="2224692" cy="430887"/>
          </a:xfrm>
          <a:prstGeom prst="rect">
            <a:avLst/>
          </a:prstGeom>
          <a:noFill/>
        </p:spPr>
        <p:txBody>
          <a:bodyPr wrap="square" lIns="0" tIns="0" rIns="0" bIns="0" rtlCol="0" anchor="b">
            <a:spAutoFit/>
          </a:bodyPr>
          <a:lstStyle/>
          <a:p>
            <a:pPr algn="ctr"/>
            <a:r>
              <a:rPr lang="en-US" sz="1400" b="1" kern="0" dirty="0">
                <a:solidFill>
                  <a:schemeClr val="accent1"/>
                </a:solidFill>
                <a:latin typeface="Optima" panose="02000503060000020004" pitchFamily="2" charset="0"/>
                <a:ea typeface="Calibri Light" charset="0"/>
                <a:cs typeface="Segoe UI" panose="020B0502040204020203" pitchFamily="34" charset="0"/>
              </a:rPr>
              <a:t>Core Cyber Security Tools (Promachos)</a:t>
            </a:r>
            <a:endParaRPr lang="en-US" sz="1400" b="1" dirty="0">
              <a:solidFill>
                <a:schemeClr val="accent1"/>
              </a:solidFill>
              <a:latin typeface="Optima" panose="02000503060000020004" pitchFamily="2" charset="0"/>
              <a:ea typeface="Calibri Light" charset="0"/>
              <a:cs typeface="Segoe UI" panose="020B0502040204020203" pitchFamily="34" charset="0"/>
            </a:endParaRPr>
          </a:p>
        </p:txBody>
      </p:sp>
      <p:sp>
        <p:nvSpPr>
          <p:cNvPr id="89" name="TextBox 88">
            <a:extLst>
              <a:ext uri="{FF2B5EF4-FFF2-40B4-BE49-F238E27FC236}">
                <a16:creationId xmlns:a16="http://schemas.microsoft.com/office/drawing/2014/main" id="{4322609B-0408-4897-8F57-104BBDE1CB34}"/>
              </a:ext>
            </a:extLst>
          </p:cNvPr>
          <p:cNvSpPr txBox="1"/>
          <p:nvPr/>
        </p:nvSpPr>
        <p:spPr>
          <a:xfrm>
            <a:off x="5018433" y="4319150"/>
            <a:ext cx="2224692" cy="825526"/>
          </a:xfrm>
          <a:prstGeom prst="rect">
            <a:avLst/>
          </a:prstGeom>
          <a:noFill/>
        </p:spPr>
        <p:txBody>
          <a:bodyPr wrap="square" lIns="0" tIns="0" rIns="0" bIns="0" rtlCol="0" anchor="t">
            <a:noAutofit/>
          </a:bodyPr>
          <a:lstStyle/>
          <a:p>
            <a:pPr algn="ctr"/>
            <a:r>
              <a:rPr lang="en-US" sz="14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Custom Threat Intelligence LLM, license model channel dependent</a:t>
            </a:r>
            <a:endParaRPr lang="en-US" sz="14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a:p>
            <a:pPr algn="ctr"/>
            <a:endParaRPr lang="en-US" sz="14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sp>
        <p:nvSpPr>
          <p:cNvPr id="90" name="TextBox 89">
            <a:extLst>
              <a:ext uri="{FF2B5EF4-FFF2-40B4-BE49-F238E27FC236}">
                <a16:creationId xmlns:a16="http://schemas.microsoft.com/office/drawing/2014/main" id="{656BFCBA-4246-4169-ABC3-574725F3DEC9}"/>
              </a:ext>
            </a:extLst>
          </p:cNvPr>
          <p:cNvSpPr txBox="1"/>
          <p:nvPr/>
        </p:nvSpPr>
        <p:spPr>
          <a:xfrm>
            <a:off x="5018433" y="3739733"/>
            <a:ext cx="2224692" cy="430887"/>
          </a:xfrm>
          <a:prstGeom prst="rect">
            <a:avLst/>
          </a:prstGeom>
          <a:noFill/>
        </p:spPr>
        <p:txBody>
          <a:bodyPr wrap="square" lIns="0" tIns="0" rIns="0" bIns="0" rtlCol="0" anchor="b">
            <a:spAutoFit/>
          </a:bodyPr>
          <a:lstStyle/>
          <a:p>
            <a:pPr algn="ctr"/>
            <a:r>
              <a:rPr lang="en-US" sz="1400" b="1" kern="0" dirty="0">
                <a:solidFill>
                  <a:schemeClr val="accent1"/>
                </a:solidFill>
                <a:latin typeface="Optima" panose="02000503060000020004" pitchFamily="2" charset="0"/>
                <a:ea typeface="Calibri Light" charset="0"/>
                <a:cs typeface="Segoe UI" panose="020B0502040204020203" pitchFamily="34" charset="0"/>
              </a:rPr>
              <a:t>Threat Intelligence Model (Glaukopis)</a:t>
            </a:r>
            <a:endParaRPr lang="en-US" sz="1400" b="1" dirty="0">
              <a:solidFill>
                <a:schemeClr val="accent1"/>
              </a:solidFill>
              <a:latin typeface="Optima" panose="02000503060000020004" pitchFamily="2" charset="0"/>
              <a:ea typeface="Calibri Light" charset="0"/>
              <a:cs typeface="Segoe UI" panose="020B0502040204020203" pitchFamily="34" charset="0"/>
            </a:endParaRPr>
          </a:p>
        </p:txBody>
      </p:sp>
      <p:sp>
        <p:nvSpPr>
          <p:cNvPr id="91" name="TextBox 90">
            <a:extLst>
              <a:ext uri="{FF2B5EF4-FFF2-40B4-BE49-F238E27FC236}">
                <a16:creationId xmlns:a16="http://schemas.microsoft.com/office/drawing/2014/main" id="{3C546DF1-67E2-49FF-B3D3-72FB818762F1}"/>
              </a:ext>
            </a:extLst>
          </p:cNvPr>
          <p:cNvSpPr txBox="1"/>
          <p:nvPr/>
        </p:nvSpPr>
        <p:spPr>
          <a:xfrm>
            <a:off x="8354758" y="4319150"/>
            <a:ext cx="2224692" cy="825526"/>
          </a:xfrm>
          <a:prstGeom prst="rect">
            <a:avLst/>
          </a:prstGeom>
          <a:noFill/>
        </p:spPr>
        <p:txBody>
          <a:bodyPr wrap="square" lIns="0" tIns="0" rIns="0" bIns="0" rtlCol="0" anchor="t">
            <a:noAutofit/>
          </a:bodyPr>
          <a:lstStyle/>
          <a:p>
            <a:pPr algn="ctr"/>
            <a:r>
              <a:rPr lang="en-US" sz="14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Outsourced cyber security related product and/or operational support. Priced per project.</a:t>
            </a:r>
            <a:endParaRPr lang="en-US" sz="14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sp>
        <p:nvSpPr>
          <p:cNvPr id="92" name="TextBox 91">
            <a:extLst>
              <a:ext uri="{FF2B5EF4-FFF2-40B4-BE49-F238E27FC236}">
                <a16:creationId xmlns:a16="http://schemas.microsoft.com/office/drawing/2014/main" id="{C1C2D4C8-256C-456D-A017-83BB7C200094}"/>
              </a:ext>
            </a:extLst>
          </p:cNvPr>
          <p:cNvSpPr txBox="1"/>
          <p:nvPr/>
        </p:nvSpPr>
        <p:spPr>
          <a:xfrm>
            <a:off x="8354758" y="3739732"/>
            <a:ext cx="2224692" cy="430887"/>
          </a:xfrm>
          <a:prstGeom prst="rect">
            <a:avLst/>
          </a:prstGeom>
          <a:noFill/>
        </p:spPr>
        <p:txBody>
          <a:bodyPr wrap="square" lIns="0" tIns="0" rIns="0" bIns="0" rtlCol="0" anchor="b">
            <a:spAutoFit/>
          </a:bodyPr>
          <a:lstStyle/>
          <a:p>
            <a:pPr algn="ctr"/>
            <a:r>
              <a:rPr lang="en-US" sz="1400" b="1" kern="0" dirty="0">
                <a:solidFill>
                  <a:schemeClr val="accent1"/>
                </a:solidFill>
                <a:latin typeface="Optima" panose="02000503060000020004" pitchFamily="2" charset="0"/>
                <a:ea typeface="Calibri Light" charset="0"/>
                <a:cs typeface="Segoe UI" panose="020B0502040204020203" pitchFamily="34" charset="0"/>
              </a:rPr>
              <a:t>Cyber Product Development &amp; Operations Support</a:t>
            </a:r>
            <a:endParaRPr lang="en-US" sz="1400" b="1" dirty="0">
              <a:solidFill>
                <a:schemeClr val="accent1"/>
              </a:solidFill>
              <a:latin typeface="Optima" panose="02000503060000020004" pitchFamily="2" charset="0"/>
              <a:ea typeface="Calibri Light" charset="0"/>
              <a:cs typeface="Segoe UI" panose="020B0502040204020203" pitchFamily="34" charset="0"/>
            </a:endParaRPr>
          </a:p>
        </p:txBody>
      </p:sp>
      <p:grpSp>
        <p:nvGrpSpPr>
          <p:cNvPr id="3" name="Group 2">
            <a:extLst>
              <a:ext uri="{FF2B5EF4-FFF2-40B4-BE49-F238E27FC236}">
                <a16:creationId xmlns:a16="http://schemas.microsoft.com/office/drawing/2014/main" id="{880D70CE-BFFA-4583-8E4B-8A410AD03214}"/>
              </a:ext>
            </a:extLst>
          </p:cNvPr>
          <p:cNvGrpSpPr/>
          <p:nvPr/>
        </p:nvGrpSpPr>
        <p:grpSpPr>
          <a:xfrm>
            <a:off x="5810592" y="2344919"/>
            <a:ext cx="624560" cy="553010"/>
            <a:chOff x="5730339" y="2419282"/>
            <a:chExt cx="781890" cy="692316"/>
          </a:xfrm>
        </p:grpSpPr>
        <p:sp>
          <p:nvSpPr>
            <p:cNvPr id="102" name="Freeform 27">
              <a:extLst>
                <a:ext uri="{FF2B5EF4-FFF2-40B4-BE49-F238E27FC236}">
                  <a16:creationId xmlns:a16="http://schemas.microsoft.com/office/drawing/2014/main" id="{75EECAA9-D6A5-41B7-8683-C0D98FEFF578}"/>
                </a:ext>
              </a:extLst>
            </p:cNvPr>
            <p:cNvSpPr>
              <a:spLocks/>
            </p:cNvSpPr>
            <p:nvPr/>
          </p:nvSpPr>
          <p:spPr bwMode="auto">
            <a:xfrm>
              <a:off x="5730339" y="2419282"/>
              <a:ext cx="781890" cy="692316"/>
            </a:xfrm>
            <a:custGeom>
              <a:avLst/>
              <a:gdLst>
                <a:gd name="T0" fmla="*/ 119 w 247"/>
                <a:gd name="T1" fmla="*/ 0 h 219"/>
                <a:gd name="T2" fmla="*/ 221 w 247"/>
                <a:gd name="T3" fmla="*/ 42 h 219"/>
                <a:gd name="T4" fmla="*/ 119 w 247"/>
                <a:gd name="T5" fmla="*/ 219 h 219"/>
                <a:gd name="T6" fmla="*/ 14 w 247"/>
                <a:gd name="T7" fmla="*/ 41 h 219"/>
                <a:gd name="T8" fmla="*/ 119 w 247"/>
                <a:gd name="T9" fmla="*/ 0 h 219"/>
              </a:gdLst>
              <a:ahLst/>
              <a:cxnLst>
                <a:cxn ang="0">
                  <a:pos x="T0" y="T1"/>
                </a:cxn>
                <a:cxn ang="0">
                  <a:pos x="T2" y="T3"/>
                </a:cxn>
                <a:cxn ang="0">
                  <a:pos x="T4" y="T5"/>
                </a:cxn>
                <a:cxn ang="0">
                  <a:pos x="T6" y="T7"/>
                </a:cxn>
                <a:cxn ang="0">
                  <a:pos x="T8" y="T9"/>
                </a:cxn>
              </a:cxnLst>
              <a:rect l="0" t="0" r="r" b="b"/>
              <a:pathLst>
                <a:path w="247" h="219">
                  <a:moveTo>
                    <a:pt x="119" y="0"/>
                  </a:moveTo>
                  <a:cubicBezTo>
                    <a:pt x="119" y="0"/>
                    <a:pt x="151" y="30"/>
                    <a:pt x="221" y="42"/>
                  </a:cubicBezTo>
                  <a:cubicBezTo>
                    <a:pt x="221" y="42"/>
                    <a:pt x="247" y="169"/>
                    <a:pt x="119" y="219"/>
                  </a:cubicBezTo>
                  <a:cubicBezTo>
                    <a:pt x="119" y="219"/>
                    <a:pt x="0" y="181"/>
                    <a:pt x="14" y="41"/>
                  </a:cubicBezTo>
                  <a:cubicBezTo>
                    <a:pt x="14" y="41"/>
                    <a:pt x="70" y="36"/>
                    <a:pt x="119" y="0"/>
                  </a:cubicBez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grpSp>
          <p:nvGrpSpPr>
            <p:cNvPr id="108" name="Group 107">
              <a:extLst>
                <a:ext uri="{FF2B5EF4-FFF2-40B4-BE49-F238E27FC236}">
                  <a16:creationId xmlns:a16="http://schemas.microsoft.com/office/drawing/2014/main" id="{28C85E4E-0401-470D-9AFA-CE5E3D4F4F2F}"/>
                </a:ext>
              </a:extLst>
            </p:cNvPr>
            <p:cNvGrpSpPr/>
            <p:nvPr/>
          </p:nvGrpSpPr>
          <p:grpSpPr>
            <a:xfrm>
              <a:off x="5986924" y="2612298"/>
              <a:ext cx="237514" cy="299927"/>
              <a:chOff x="-2308415" y="2971519"/>
              <a:chExt cx="652462" cy="823913"/>
            </a:xfrm>
          </p:grpSpPr>
          <p:sp>
            <p:nvSpPr>
              <p:cNvPr id="104" name="Freeform 29">
                <a:extLst>
                  <a:ext uri="{FF2B5EF4-FFF2-40B4-BE49-F238E27FC236}">
                    <a16:creationId xmlns:a16="http://schemas.microsoft.com/office/drawing/2014/main" id="{7C85D2BC-B9E1-4FB9-B729-13C07705E2D2}"/>
                  </a:ext>
                </a:extLst>
              </p:cNvPr>
              <p:cNvSpPr>
                <a:spLocks/>
              </p:cNvSpPr>
              <p:nvPr/>
            </p:nvSpPr>
            <p:spPr bwMode="auto">
              <a:xfrm>
                <a:off x="-2213165" y="2971519"/>
                <a:ext cx="452437" cy="511175"/>
              </a:xfrm>
              <a:custGeom>
                <a:avLst/>
                <a:gdLst>
                  <a:gd name="T0" fmla="*/ 0 w 52"/>
                  <a:gd name="T1" fmla="*/ 59 h 59"/>
                  <a:gd name="T2" fmla="*/ 0 w 52"/>
                  <a:gd name="T3" fmla="*/ 26 h 59"/>
                  <a:gd name="T4" fmla="*/ 26 w 52"/>
                  <a:gd name="T5" fmla="*/ 0 h 59"/>
                  <a:gd name="T6" fmla="*/ 26 w 52"/>
                  <a:gd name="T7" fmla="*/ 0 h 59"/>
                  <a:gd name="T8" fmla="*/ 52 w 52"/>
                  <a:gd name="T9" fmla="*/ 26 h 59"/>
                  <a:gd name="T10" fmla="*/ 52 w 52"/>
                  <a:gd name="T11" fmla="*/ 59 h 59"/>
                </a:gdLst>
                <a:ahLst/>
                <a:cxnLst>
                  <a:cxn ang="0">
                    <a:pos x="T0" y="T1"/>
                  </a:cxn>
                  <a:cxn ang="0">
                    <a:pos x="T2" y="T3"/>
                  </a:cxn>
                  <a:cxn ang="0">
                    <a:pos x="T4" y="T5"/>
                  </a:cxn>
                  <a:cxn ang="0">
                    <a:pos x="T6" y="T7"/>
                  </a:cxn>
                  <a:cxn ang="0">
                    <a:pos x="T8" y="T9"/>
                  </a:cxn>
                  <a:cxn ang="0">
                    <a:pos x="T10" y="T11"/>
                  </a:cxn>
                </a:cxnLst>
                <a:rect l="0" t="0" r="r" b="b"/>
                <a:pathLst>
                  <a:path w="52" h="59">
                    <a:moveTo>
                      <a:pt x="0" y="59"/>
                    </a:moveTo>
                    <a:cubicBezTo>
                      <a:pt x="0" y="26"/>
                      <a:pt x="0" y="26"/>
                      <a:pt x="0" y="26"/>
                    </a:cubicBezTo>
                    <a:cubicBezTo>
                      <a:pt x="0" y="11"/>
                      <a:pt x="12" y="0"/>
                      <a:pt x="26" y="0"/>
                    </a:cubicBezTo>
                    <a:cubicBezTo>
                      <a:pt x="26" y="0"/>
                      <a:pt x="26" y="0"/>
                      <a:pt x="26" y="0"/>
                    </a:cubicBezTo>
                    <a:cubicBezTo>
                      <a:pt x="41" y="0"/>
                      <a:pt x="52" y="11"/>
                      <a:pt x="52" y="26"/>
                    </a:cubicBezTo>
                    <a:cubicBezTo>
                      <a:pt x="52" y="59"/>
                      <a:pt x="52" y="59"/>
                      <a:pt x="52" y="59"/>
                    </a:cubicBezTo>
                  </a:path>
                </a:pathLst>
              </a:cu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3" name="Freeform 28">
                <a:extLst>
                  <a:ext uri="{FF2B5EF4-FFF2-40B4-BE49-F238E27FC236}">
                    <a16:creationId xmlns:a16="http://schemas.microsoft.com/office/drawing/2014/main" id="{29275529-321D-4185-A597-19E50C9E3280}"/>
                  </a:ext>
                </a:extLst>
              </p:cNvPr>
              <p:cNvSpPr>
                <a:spLocks/>
              </p:cNvSpPr>
              <p:nvPr/>
            </p:nvSpPr>
            <p:spPr bwMode="auto">
              <a:xfrm>
                <a:off x="-2308415" y="3317594"/>
                <a:ext cx="652462" cy="477838"/>
              </a:xfrm>
              <a:custGeom>
                <a:avLst/>
                <a:gdLst>
                  <a:gd name="T0" fmla="*/ 75 w 75"/>
                  <a:gd name="T1" fmla="*/ 44 h 55"/>
                  <a:gd name="T2" fmla="*/ 63 w 75"/>
                  <a:gd name="T3" fmla="*/ 55 h 55"/>
                  <a:gd name="T4" fmla="*/ 12 w 75"/>
                  <a:gd name="T5" fmla="*/ 55 h 55"/>
                  <a:gd name="T6" fmla="*/ 0 w 75"/>
                  <a:gd name="T7" fmla="*/ 44 h 55"/>
                  <a:gd name="T8" fmla="*/ 0 w 75"/>
                  <a:gd name="T9" fmla="*/ 11 h 55"/>
                  <a:gd name="T10" fmla="*/ 12 w 75"/>
                  <a:gd name="T11" fmla="*/ 0 h 55"/>
                  <a:gd name="T12" fmla="*/ 63 w 75"/>
                  <a:gd name="T13" fmla="*/ 0 h 55"/>
                  <a:gd name="T14" fmla="*/ 75 w 75"/>
                  <a:gd name="T15" fmla="*/ 11 h 55"/>
                  <a:gd name="T16" fmla="*/ 75 w 75"/>
                  <a:gd name="T17" fmla="*/ 44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5">
                    <a:moveTo>
                      <a:pt x="75" y="44"/>
                    </a:moveTo>
                    <a:cubicBezTo>
                      <a:pt x="75" y="50"/>
                      <a:pt x="70" y="55"/>
                      <a:pt x="63" y="55"/>
                    </a:cubicBezTo>
                    <a:cubicBezTo>
                      <a:pt x="12" y="55"/>
                      <a:pt x="12" y="55"/>
                      <a:pt x="12" y="55"/>
                    </a:cubicBezTo>
                    <a:cubicBezTo>
                      <a:pt x="5" y="55"/>
                      <a:pt x="0" y="50"/>
                      <a:pt x="0" y="44"/>
                    </a:cubicBezTo>
                    <a:cubicBezTo>
                      <a:pt x="0" y="11"/>
                      <a:pt x="0" y="11"/>
                      <a:pt x="0" y="11"/>
                    </a:cubicBezTo>
                    <a:cubicBezTo>
                      <a:pt x="0" y="5"/>
                      <a:pt x="5" y="0"/>
                      <a:pt x="12" y="0"/>
                    </a:cubicBezTo>
                    <a:cubicBezTo>
                      <a:pt x="63" y="0"/>
                      <a:pt x="63" y="0"/>
                      <a:pt x="63" y="0"/>
                    </a:cubicBezTo>
                    <a:cubicBezTo>
                      <a:pt x="70" y="0"/>
                      <a:pt x="75" y="5"/>
                      <a:pt x="75" y="11"/>
                    </a:cubicBezTo>
                    <a:lnTo>
                      <a:pt x="75" y="44"/>
                    </a:ln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5" name="Oval 30">
                <a:extLst>
                  <a:ext uri="{FF2B5EF4-FFF2-40B4-BE49-F238E27FC236}">
                    <a16:creationId xmlns:a16="http://schemas.microsoft.com/office/drawing/2014/main" id="{D856AA7A-E74A-4B75-8E56-A7C118BD234E}"/>
                  </a:ext>
                </a:extLst>
              </p:cNvPr>
              <p:cNvSpPr>
                <a:spLocks noChangeArrowheads="1"/>
              </p:cNvSpPr>
              <p:nvPr/>
            </p:nvSpPr>
            <p:spPr bwMode="auto">
              <a:xfrm>
                <a:off x="-2021077" y="3396969"/>
                <a:ext cx="85725" cy="95250"/>
              </a:xfrm>
              <a:prstGeom prst="ellipse">
                <a:avLst/>
              </a:pr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6" name="Freeform 31">
                <a:extLst>
                  <a:ext uri="{FF2B5EF4-FFF2-40B4-BE49-F238E27FC236}">
                    <a16:creationId xmlns:a16="http://schemas.microsoft.com/office/drawing/2014/main" id="{4E0A33C8-6A9E-4F07-A74E-DB2E84C55D3E}"/>
                  </a:ext>
                </a:extLst>
              </p:cNvPr>
              <p:cNvSpPr>
                <a:spLocks/>
              </p:cNvSpPr>
              <p:nvPr/>
            </p:nvSpPr>
            <p:spPr bwMode="auto">
              <a:xfrm>
                <a:off x="-2005202" y="3482694"/>
                <a:ext cx="52387" cy="130175"/>
              </a:xfrm>
              <a:custGeom>
                <a:avLst/>
                <a:gdLst>
                  <a:gd name="T0" fmla="*/ 6 w 6"/>
                  <a:gd name="T1" fmla="*/ 0 h 15"/>
                  <a:gd name="T2" fmla="*/ 6 w 6"/>
                  <a:gd name="T3" fmla="*/ 13 h 15"/>
                  <a:gd name="T4" fmla="*/ 3 w 6"/>
                  <a:gd name="T5" fmla="*/ 15 h 15"/>
                  <a:gd name="T6" fmla="*/ 3 w 6"/>
                  <a:gd name="T7" fmla="*/ 15 h 15"/>
                  <a:gd name="T8" fmla="*/ 0 w 6"/>
                  <a:gd name="T9" fmla="*/ 13 h 15"/>
                  <a:gd name="T10" fmla="*/ 0 w 6"/>
                  <a:gd name="T11" fmla="*/ 0 h 15"/>
                </a:gdLst>
                <a:ahLst/>
                <a:cxnLst>
                  <a:cxn ang="0">
                    <a:pos x="T0" y="T1"/>
                  </a:cxn>
                  <a:cxn ang="0">
                    <a:pos x="T2" y="T3"/>
                  </a:cxn>
                  <a:cxn ang="0">
                    <a:pos x="T4" y="T5"/>
                  </a:cxn>
                  <a:cxn ang="0">
                    <a:pos x="T6" y="T7"/>
                  </a:cxn>
                  <a:cxn ang="0">
                    <a:pos x="T8" y="T9"/>
                  </a:cxn>
                  <a:cxn ang="0">
                    <a:pos x="T10" y="T11"/>
                  </a:cxn>
                </a:cxnLst>
                <a:rect l="0" t="0" r="r" b="b"/>
                <a:pathLst>
                  <a:path w="6" h="15">
                    <a:moveTo>
                      <a:pt x="6" y="0"/>
                    </a:moveTo>
                    <a:cubicBezTo>
                      <a:pt x="6" y="13"/>
                      <a:pt x="6" y="13"/>
                      <a:pt x="6" y="13"/>
                    </a:cubicBezTo>
                    <a:cubicBezTo>
                      <a:pt x="6" y="14"/>
                      <a:pt x="4" y="15"/>
                      <a:pt x="3" y="15"/>
                    </a:cubicBezTo>
                    <a:cubicBezTo>
                      <a:pt x="3" y="15"/>
                      <a:pt x="3" y="15"/>
                      <a:pt x="3" y="15"/>
                    </a:cubicBezTo>
                    <a:cubicBezTo>
                      <a:pt x="1" y="15"/>
                      <a:pt x="0" y="14"/>
                      <a:pt x="0" y="13"/>
                    </a:cubicBezTo>
                    <a:cubicBezTo>
                      <a:pt x="0" y="0"/>
                      <a:pt x="0" y="0"/>
                      <a:pt x="0" y="0"/>
                    </a:cubicBezTo>
                  </a:path>
                </a:pathLst>
              </a:cu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grpSp>
      <p:grpSp>
        <p:nvGrpSpPr>
          <p:cNvPr id="128" name="Group 127">
            <a:extLst>
              <a:ext uri="{FF2B5EF4-FFF2-40B4-BE49-F238E27FC236}">
                <a16:creationId xmlns:a16="http://schemas.microsoft.com/office/drawing/2014/main" id="{F925F70B-7A02-473B-AA78-AC67777FFFA3}"/>
              </a:ext>
            </a:extLst>
          </p:cNvPr>
          <p:cNvGrpSpPr/>
          <p:nvPr/>
        </p:nvGrpSpPr>
        <p:grpSpPr>
          <a:xfrm>
            <a:off x="9305029" y="2332973"/>
            <a:ext cx="441823" cy="632446"/>
            <a:chOff x="9521825" y="992188"/>
            <a:chExt cx="1493844" cy="2138363"/>
          </a:xfrm>
        </p:grpSpPr>
        <p:sp>
          <p:nvSpPr>
            <p:cNvPr id="113" name="Freeform 35">
              <a:extLst>
                <a:ext uri="{FF2B5EF4-FFF2-40B4-BE49-F238E27FC236}">
                  <a16:creationId xmlns:a16="http://schemas.microsoft.com/office/drawing/2014/main" id="{E7FD4B2C-155F-497D-8112-3F34AEC88563}"/>
                </a:ext>
              </a:extLst>
            </p:cNvPr>
            <p:cNvSpPr>
              <a:spLocks/>
            </p:cNvSpPr>
            <p:nvPr/>
          </p:nvSpPr>
          <p:spPr bwMode="auto">
            <a:xfrm>
              <a:off x="9807575" y="992188"/>
              <a:ext cx="944562" cy="1774825"/>
            </a:xfrm>
            <a:custGeom>
              <a:avLst/>
              <a:gdLst>
                <a:gd name="T0" fmla="*/ 109 w 109"/>
                <a:gd name="T1" fmla="*/ 190 h 205"/>
                <a:gd name="T2" fmla="*/ 94 w 109"/>
                <a:gd name="T3" fmla="*/ 205 h 205"/>
                <a:gd name="T4" fmla="*/ 15 w 109"/>
                <a:gd name="T5" fmla="*/ 205 h 205"/>
                <a:gd name="T6" fmla="*/ 0 w 109"/>
                <a:gd name="T7" fmla="*/ 190 h 205"/>
                <a:gd name="T8" fmla="*/ 0 w 109"/>
                <a:gd name="T9" fmla="*/ 15 h 205"/>
                <a:gd name="T10" fmla="*/ 15 w 109"/>
                <a:gd name="T11" fmla="*/ 0 h 205"/>
                <a:gd name="T12" fmla="*/ 94 w 109"/>
                <a:gd name="T13" fmla="*/ 0 h 205"/>
                <a:gd name="T14" fmla="*/ 109 w 109"/>
                <a:gd name="T15" fmla="*/ 15 h 205"/>
                <a:gd name="T16" fmla="*/ 109 w 109"/>
                <a:gd name="T17" fmla="*/ 190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9" h="205">
                  <a:moveTo>
                    <a:pt x="109" y="190"/>
                  </a:moveTo>
                  <a:cubicBezTo>
                    <a:pt x="109" y="198"/>
                    <a:pt x="103" y="205"/>
                    <a:pt x="94" y="205"/>
                  </a:cubicBezTo>
                  <a:cubicBezTo>
                    <a:pt x="15" y="205"/>
                    <a:pt x="15" y="205"/>
                    <a:pt x="15" y="205"/>
                  </a:cubicBezTo>
                  <a:cubicBezTo>
                    <a:pt x="7" y="205"/>
                    <a:pt x="0" y="198"/>
                    <a:pt x="0" y="190"/>
                  </a:cubicBezTo>
                  <a:cubicBezTo>
                    <a:pt x="0" y="15"/>
                    <a:pt x="0" y="15"/>
                    <a:pt x="0" y="15"/>
                  </a:cubicBezTo>
                  <a:cubicBezTo>
                    <a:pt x="0" y="7"/>
                    <a:pt x="7" y="0"/>
                    <a:pt x="15" y="0"/>
                  </a:cubicBezTo>
                  <a:cubicBezTo>
                    <a:pt x="94" y="0"/>
                    <a:pt x="94" y="0"/>
                    <a:pt x="94" y="0"/>
                  </a:cubicBezTo>
                  <a:cubicBezTo>
                    <a:pt x="103" y="0"/>
                    <a:pt x="109" y="7"/>
                    <a:pt x="109" y="15"/>
                  </a:cubicBezTo>
                  <a:lnTo>
                    <a:pt x="109" y="190"/>
                  </a:ln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5" name="Oval 37">
              <a:extLst>
                <a:ext uri="{FF2B5EF4-FFF2-40B4-BE49-F238E27FC236}">
                  <a16:creationId xmlns:a16="http://schemas.microsoft.com/office/drawing/2014/main" id="{4E7F8FB6-090E-4419-9DAB-4B6E55A19A6B}"/>
                </a:ext>
              </a:extLst>
            </p:cNvPr>
            <p:cNvSpPr>
              <a:spLocks noChangeArrowheads="1"/>
            </p:cNvSpPr>
            <p:nvPr/>
          </p:nvSpPr>
          <p:spPr bwMode="auto">
            <a:xfrm>
              <a:off x="10213975" y="2568575"/>
              <a:ext cx="130175" cy="128588"/>
            </a:xfrm>
            <a:prstGeom prst="ellipse">
              <a:avLst/>
            </a:pr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6" name="Freeform 38">
              <a:extLst>
                <a:ext uri="{FF2B5EF4-FFF2-40B4-BE49-F238E27FC236}">
                  <a16:creationId xmlns:a16="http://schemas.microsoft.com/office/drawing/2014/main" id="{E5C2ABF3-BA5D-46D1-823F-DE172A7DA06A}"/>
                </a:ext>
              </a:extLst>
            </p:cNvPr>
            <p:cNvSpPr>
              <a:spLocks/>
            </p:cNvSpPr>
            <p:nvPr/>
          </p:nvSpPr>
          <p:spPr bwMode="auto">
            <a:xfrm>
              <a:off x="9521825" y="1719263"/>
              <a:ext cx="449262" cy="1185863"/>
            </a:xfrm>
            <a:custGeom>
              <a:avLst/>
              <a:gdLst>
                <a:gd name="T0" fmla="*/ 39 w 52"/>
                <a:gd name="T1" fmla="*/ 129 h 137"/>
                <a:gd name="T2" fmla="*/ 33 w 52"/>
                <a:gd name="T3" fmla="*/ 76 h 137"/>
                <a:gd name="T4" fmla="*/ 33 w 52"/>
                <a:gd name="T5" fmla="*/ 30 h 137"/>
                <a:gd name="T6" fmla="*/ 0 w 52"/>
                <a:gd name="T7" fmla="*/ 9 h 137"/>
                <a:gd name="T8" fmla="*/ 0 w 52"/>
                <a:gd name="T9" fmla="*/ 137 h 137"/>
              </a:gdLst>
              <a:ahLst/>
              <a:cxnLst>
                <a:cxn ang="0">
                  <a:pos x="T0" y="T1"/>
                </a:cxn>
                <a:cxn ang="0">
                  <a:pos x="T2" y="T3"/>
                </a:cxn>
                <a:cxn ang="0">
                  <a:pos x="T4" y="T5"/>
                </a:cxn>
                <a:cxn ang="0">
                  <a:pos x="T6" y="T7"/>
                </a:cxn>
                <a:cxn ang="0">
                  <a:pos x="T8" y="T9"/>
                </a:cxn>
              </a:cxnLst>
              <a:rect l="0" t="0" r="r" b="b"/>
              <a:pathLst>
                <a:path w="52" h="137">
                  <a:moveTo>
                    <a:pt x="39" y="129"/>
                  </a:moveTo>
                  <a:cubicBezTo>
                    <a:pt x="52" y="101"/>
                    <a:pt x="33" y="76"/>
                    <a:pt x="33" y="76"/>
                  </a:cubicBezTo>
                  <a:cubicBezTo>
                    <a:pt x="33" y="30"/>
                    <a:pt x="33" y="30"/>
                    <a:pt x="33" y="30"/>
                  </a:cubicBezTo>
                  <a:cubicBezTo>
                    <a:pt x="26" y="0"/>
                    <a:pt x="0" y="9"/>
                    <a:pt x="0" y="9"/>
                  </a:cubicBezTo>
                  <a:cubicBezTo>
                    <a:pt x="0" y="137"/>
                    <a:pt x="0" y="137"/>
                    <a:pt x="0" y="137"/>
                  </a:cubicBezTo>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7" name="Freeform 39">
              <a:extLst>
                <a:ext uri="{FF2B5EF4-FFF2-40B4-BE49-F238E27FC236}">
                  <a16:creationId xmlns:a16="http://schemas.microsoft.com/office/drawing/2014/main" id="{9C433E23-FEF2-41D3-B1F1-956FF2D2C4DA}"/>
                </a:ext>
              </a:extLst>
            </p:cNvPr>
            <p:cNvSpPr>
              <a:spLocks/>
            </p:cNvSpPr>
            <p:nvPr/>
          </p:nvSpPr>
          <p:spPr bwMode="auto">
            <a:xfrm>
              <a:off x="10344150" y="2767013"/>
              <a:ext cx="242887" cy="363538"/>
            </a:xfrm>
            <a:custGeom>
              <a:avLst/>
              <a:gdLst>
                <a:gd name="T0" fmla="*/ 0 w 28"/>
                <a:gd name="T1" fmla="*/ 42 h 42"/>
                <a:gd name="T2" fmla="*/ 28 w 28"/>
                <a:gd name="T3" fmla="*/ 0 h 42"/>
              </a:gdLst>
              <a:ahLst/>
              <a:cxnLst>
                <a:cxn ang="0">
                  <a:pos x="T0" y="T1"/>
                </a:cxn>
                <a:cxn ang="0">
                  <a:pos x="T2" y="T3"/>
                </a:cxn>
              </a:cxnLst>
              <a:rect l="0" t="0" r="r" b="b"/>
              <a:pathLst>
                <a:path w="28" h="42">
                  <a:moveTo>
                    <a:pt x="0" y="42"/>
                  </a:moveTo>
                  <a:cubicBezTo>
                    <a:pt x="0" y="42"/>
                    <a:pt x="14" y="33"/>
                    <a:pt x="28" y="0"/>
                  </a:cubicBezTo>
                </a:path>
              </a:pathLst>
            </a:cu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9" name="Freeform 41">
              <a:extLst>
                <a:ext uri="{FF2B5EF4-FFF2-40B4-BE49-F238E27FC236}">
                  <a16:creationId xmlns:a16="http://schemas.microsoft.com/office/drawing/2014/main" id="{72DF7846-B77E-4A95-AD62-CC43EF4863FE}"/>
                </a:ext>
              </a:extLst>
            </p:cNvPr>
            <p:cNvSpPr>
              <a:spLocks/>
            </p:cNvSpPr>
            <p:nvPr/>
          </p:nvSpPr>
          <p:spPr bwMode="auto">
            <a:xfrm>
              <a:off x="10552113" y="1779588"/>
              <a:ext cx="390525" cy="268288"/>
            </a:xfrm>
            <a:custGeom>
              <a:avLst/>
              <a:gdLst>
                <a:gd name="T0" fmla="*/ 44 w 45"/>
                <a:gd name="T1" fmla="*/ 10 h 31"/>
                <a:gd name="T2" fmla="*/ 35 w 45"/>
                <a:gd name="T3" fmla="*/ 25 h 31"/>
                <a:gd name="T4" fmla="*/ 16 w 45"/>
                <a:gd name="T5" fmla="*/ 30 h 31"/>
                <a:gd name="T6" fmla="*/ 1 w 45"/>
                <a:gd name="T7" fmla="*/ 20 h 31"/>
                <a:gd name="T8" fmla="*/ 1 w 45"/>
                <a:gd name="T9" fmla="*/ 20 h 31"/>
                <a:gd name="T10" fmla="*/ 11 w 45"/>
                <a:gd name="T11" fmla="*/ 6 h 31"/>
                <a:gd name="T12" fmla="*/ 29 w 45"/>
                <a:gd name="T13" fmla="*/ 1 h 31"/>
                <a:gd name="T14" fmla="*/ 44 w 45"/>
                <a:gd name="T15" fmla="*/ 1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31">
                  <a:moveTo>
                    <a:pt x="44" y="10"/>
                  </a:moveTo>
                  <a:cubicBezTo>
                    <a:pt x="45" y="17"/>
                    <a:pt x="41" y="24"/>
                    <a:pt x="35" y="25"/>
                  </a:cubicBezTo>
                  <a:cubicBezTo>
                    <a:pt x="16" y="30"/>
                    <a:pt x="16" y="30"/>
                    <a:pt x="16" y="30"/>
                  </a:cubicBezTo>
                  <a:cubicBezTo>
                    <a:pt x="10" y="31"/>
                    <a:pt x="3" y="27"/>
                    <a:pt x="1" y="20"/>
                  </a:cubicBezTo>
                  <a:cubicBezTo>
                    <a:pt x="1" y="20"/>
                    <a:pt x="1" y="20"/>
                    <a:pt x="1" y="20"/>
                  </a:cubicBezTo>
                  <a:cubicBezTo>
                    <a:pt x="0" y="14"/>
                    <a:pt x="4" y="7"/>
                    <a:pt x="11" y="6"/>
                  </a:cubicBezTo>
                  <a:cubicBezTo>
                    <a:pt x="29" y="1"/>
                    <a:pt x="29" y="1"/>
                    <a:pt x="29" y="1"/>
                  </a:cubicBezTo>
                  <a:cubicBezTo>
                    <a:pt x="36" y="0"/>
                    <a:pt x="42" y="4"/>
                    <a:pt x="44" y="10"/>
                  </a:cubicBez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dirty="0"/>
            </a:p>
          </p:txBody>
        </p:sp>
        <p:sp>
          <p:nvSpPr>
            <p:cNvPr id="120" name="Freeform 42">
              <a:extLst>
                <a:ext uri="{FF2B5EF4-FFF2-40B4-BE49-F238E27FC236}">
                  <a16:creationId xmlns:a16="http://schemas.microsoft.com/office/drawing/2014/main" id="{4CCE539D-39E3-415D-AF8F-2797D04DE5F9}"/>
                </a:ext>
              </a:extLst>
            </p:cNvPr>
            <p:cNvSpPr>
              <a:spLocks/>
            </p:cNvSpPr>
            <p:nvPr/>
          </p:nvSpPr>
          <p:spPr bwMode="auto">
            <a:xfrm>
              <a:off x="10587038" y="2039938"/>
              <a:ext cx="320675" cy="215900"/>
            </a:xfrm>
            <a:custGeom>
              <a:avLst/>
              <a:gdLst>
                <a:gd name="T0" fmla="*/ 36 w 37"/>
                <a:gd name="T1" fmla="*/ 9 h 25"/>
                <a:gd name="T2" fmla="*/ 27 w 37"/>
                <a:gd name="T3" fmla="*/ 22 h 25"/>
                <a:gd name="T4" fmla="*/ 14 w 37"/>
                <a:gd name="T5" fmla="*/ 24 h 25"/>
                <a:gd name="T6" fmla="*/ 1 w 37"/>
                <a:gd name="T7" fmla="*/ 16 h 25"/>
                <a:gd name="T8" fmla="*/ 1 w 37"/>
                <a:gd name="T9" fmla="*/ 16 h 25"/>
                <a:gd name="T10" fmla="*/ 10 w 37"/>
                <a:gd name="T11" fmla="*/ 3 h 25"/>
                <a:gd name="T12" fmla="*/ 23 w 37"/>
                <a:gd name="T13" fmla="*/ 1 h 25"/>
                <a:gd name="T14" fmla="*/ 36 w 37"/>
                <a:gd name="T15" fmla="*/ 9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25">
                  <a:moveTo>
                    <a:pt x="36" y="9"/>
                  </a:moveTo>
                  <a:cubicBezTo>
                    <a:pt x="37" y="15"/>
                    <a:pt x="33" y="21"/>
                    <a:pt x="27" y="22"/>
                  </a:cubicBezTo>
                  <a:cubicBezTo>
                    <a:pt x="14" y="24"/>
                    <a:pt x="14" y="24"/>
                    <a:pt x="14" y="24"/>
                  </a:cubicBezTo>
                  <a:cubicBezTo>
                    <a:pt x="8" y="25"/>
                    <a:pt x="3" y="22"/>
                    <a:pt x="1" y="16"/>
                  </a:cubicBezTo>
                  <a:cubicBezTo>
                    <a:pt x="1" y="16"/>
                    <a:pt x="1" y="16"/>
                    <a:pt x="1" y="16"/>
                  </a:cubicBezTo>
                  <a:cubicBezTo>
                    <a:pt x="0" y="10"/>
                    <a:pt x="4" y="5"/>
                    <a:pt x="10" y="3"/>
                  </a:cubicBezTo>
                  <a:cubicBezTo>
                    <a:pt x="23" y="1"/>
                    <a:pt x="23" y="1"/>
                    <a:pt x="23" y="1"/>
                  </a:cubicBezTo>
                  <a:cubicBezTo>
                    <a:pt x="29" y="0"/>
                    <a:pt x="35" y="3"/>
                    <a:pt x="36" y="9"/>
                  </a:cubicBez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21" name="Freeform 43">
              <a:extLst>
                <a:ext uri="{FF2B5EF4-FFF2-40B4-BE49-F238E27FC236}">
                  <a16:creationId xmlns:a16="http://schemas.microsoft.com/office/drawing/2014/main" id="{0030C638-27F5-4A20-8C84-D4C9565ED39F}"/>
                </a:ext>
              </a:extLst>
            </p:cNvPr>
            <p:cNvSpPr>
              <a:spLocks/>
            </p:cNvSpPr>
            <p:nvPr/>
          </p:nvSpPr>
          <p:spPr bwMode="auto">
            <a:xfrm>
              <a:off x="10577513" y="2273300"/>
              <a:ext cx="285750" cy="217488"/>
            </a:xfrm>
            <a:custGeom>
              <a:avLst/>
              <a:gdLst>
                <a:gd name="T0" fmla="*/ 32 w 33"/>
                <a:gd name="T1" fmla="*/ 9 h 25"/>
                <a:gd name="T2" fmla="*/ 25 w 33"/>
                <a:gd name="T3" fmla="*/ 21 h 25"/>
                <a:gd name="T4" fmla="*/ 13 w 33"/>
                <a:gd name="T5" fmla="*/ 23 h 25"/>
                <a:gd name="T6" fmla="*/ 2 w 33"/>
                <a:gd name="T7" fmla="*/ 16 h 25"/>
                <a:gd name="T8" fmla="*/ 2 w 33"/>
                <a:gd name="T9" fmla="*/ 16 h 25"/>
                <a:gd name="T10" fmla="*/ 9 w 33"/>
                <a:gd name="T11" fmla="*/ 4 h 25"/>
                <a:gd name="T12" fmla="*/ 20 w 33"/>
                <a:gd name="T13" fmla="*/ 2 h 25"/>
                <a:gd name="T14" fmla="*/ 32 w 33"/>
                <a:gd name="T15" fmla="*/ 9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 h="25">
                  <a:moveTo>
                    <a:pt x="32" y="9"/>
                  </a:moveTo>
                  <a:cubicBezTo>
                    <a:pt x="33" y="14"/>
                    <a:pt x="30" y="19"/>
                    <a:pt x="25" y="21"/>
                  </a:cubicBezTo>
                  <a:cubicBezTo>
                    <a:pt x="13" y="23"/>
                    <a:pt x="13" y="23"/>
                    <a:pt x="13" y="23"/>
                  </a:cubicBezTo>
                  <a:cubicBezTo>
                    <a:pt x="8" y="25"/>
                    <a:pt x="3" y="21"/>
                    <a:pt x="2" y="16"/>
                  </a:cubicBezTo>
                  <a:cubicBezTo>
                    <a:pt x="2" y="16"/>
                    <a:pt x="2" y="16"/>
                    <a:pt x="2" y="16"/>
                  </a:cubicBezTo>
                  <a:cubicBezTo>
                    <a:pt x="0" y="11"/>
                    <a:pt x="4" y="6"/>
                    <a:pt x="9" y="4"/>
                  </a:cubicBezTo>
                  <a:cubicBezTo>
                    <a:pt x="20" y="2"/>
                    <a:pt x="20" y="2"/>
                    <a:pt x="20" y="2"/>
                  </a:cubicBezTo>
                  <a:cubicBezTo>
                    <a:pt x="26" y="0"/>
                    <a:pt x="31" y="3"/>
                    <a:pt x="32" y="9"/>
                  </a:cubicBez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54" name="Freeform 41">
              <a:extLst>
                <a:ext uri="{FF2B5EF4-FFF2-40B4-BE49-F238E27FC236}">
                  <a16:creationId xmlns:a16="http://schemas.microsoft.com/office/drawing/2014/main" id="{395E254A-6503-4BAB-8128-7840CA1C75B2}"/>
                </a:ext>
              </a:extLst>
            </p:cNvPr>
            <p:cNvSpPr>
              <a:spLocks/>
            </p:cNvSpPr>
            <p:nvPr/>
          </p:nvSpPr>
          <p:spPr bwMode="auto">
            <a:xfrm>
              <a:off x="10625143" y="1455003"/>
              <a:ext cx="390526" cy="268287"/>
            </a:xfrm>
            <a:custGeom>
              <a:avLst/>
              <a:gdLst>
                <a:gd name="T0" fmla="*/ 44 w 45"/>
                <a:gd name="T1" fmla="*/ 10 h 31"/>
                <a:gd name="T2" fmla="*/ 35 w 45"/>
                <a:gd name="T3" fmla="*/ 25 h 31"/>
                <a:gd name="T4" fmla="*/ 16 w 45"/>
                <a:gd name="T5" fmla="*/ 30 h 31"/>
                <a:gd name="T6" fmla="*/ 1 w 45"/>
                <a:gd name="T7" fmla="*/ 20 h 31"/>
                <a:gd name="T8" fmla="*/ 1 w 45"/>
                <a:gd name="T9" fmla="*/ 20 h 31"/>
                <a:gd name="T10" fmla="*/ 11 w 45"/>
                <a:gd name="T11" fmla="*/ 6 h 31"/>
                <a:gd name="T12" fmla="*/ 29 w 45"/>
                <a:gd name="T13" fmla="*/ 1 h 31"/>
                <a:gd name="T14" fmla="*/ 44 w 45"/>
                <a:gd name="T15" fmla="*/ 1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31">
                  <a:moveTo>
                    <a:pt x="44" y="10"/>
                  </a:moveTo>
                  <a:cubicBezTo>
                    <a:pt x="45" y="17"/>
                    <a:pt x="41" y="24"/>
                    <a:pt x="35" y="25"/>
                  </a:cubicBezTo>
                  <a:cubicBezTo>
                    <a:pt x="16" y="30"/>
                    <a:pt x="16" y="30"/>
                    <a:pt x="16" y="30"/>
                  </a:cubicBezTo>
                  <a:cubicBezTo>
                    <a:pt x="10" y="31"/>
                    <a:pt x="3" y="27"/>
                    <a:pt x="1" y="20"/>
                  </a:cubicBezTo>
                  <a:cubicBezTo>
                    <a:pt x="1" y="20"/>
                    <a:pt x="1" y="20"/>
                    <a:pt x="1" y="20"/>
                  </a:cubicBezTo>
                  <a:cubicBezTo>
                    <a:pt x="0" y="14"/>
                    <a:pt x="4" y="7"/>
                    <a:pt x="11" y="6"/>
                  </a:cubicBezTo>
                  <a:cubicBezTo>
                    <a:pt x="29" y="1"/>
                    <a:pt x="29" y="1"/>
                    <a:pt x="29" y="1"/>
                  </a:cubicBezTo>
                  <a:cubicBezTo>
                    <a:pt x="36" y="0"/>
                    <a:pt x="42" y="4"/>
                    <a:pt x="44" y="10"/>
                  </a:cubicBez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dirty="0"/>
            </a:p>
          </p:txBody>
        </p:sp>
      </p:grpSp>
      <p:grpSp>
        <p:nvGrpSpPr>
          <p:cNvPr id="8" name="Group 7">
            <a:extLst>
              <a:ext uri="{FF2B5EF4-FFF2-40B4-BE49-F238E27FC236}">
                <a16:creationId xmlns:a16="http://schemas.microsoft.com/office/drawing/2014/main" id="{94D7F7CD-25A5-487E-8E1E-5DE94237F59B}"/>
              </a:ext>
            </a:extLst>
          </p:cNvPr>
          <p:cNvGrpSpPr/>
          <p:nvPr/>
        </p:nvGrpSpPr>
        <p:grpSpPr>
          <a:xfrm>
            <a:off x="5572623" y="2052686"/>
            <a:ext cx="1041214" cy="1075405"/>
            <a:chOff x="-1207351" y="2238971"/>
            <a:chExt cx="1041214" cy="1075405"/>
          </a:xfrm>
        </p:grpSpPr>
        <p:sp>
          <p:nvSpPr>
            <p:cNvPr id="137" name="Oval 9">
              <a:extLst>
                <a:ext uri="{FF2B5EF4-FFF2-40B4-BE49-F238E27FC236}">
                  <a16:creationId xmlns:a16="http://schemas.microsoft.com/office/drawing/2014/main" id="{EB168216-A7EB-45E6-AE71-765DBB44EBE5}"/>
                </a:ext>
              </a:extLst>
            </p:cNvPr>
            <p:cNvSpPr>
              <a:spLocks noChangeArrowheads="1"/>
            </p:cNvSpPr>
            <p:nvPr/>
          </p:nvSpPr>
          <p:spPr bwMode="auto">
            <a:xfrm>
              <a:off x="-1054303" y="2392018"/>
              <a:ext cx="770124" cy="770124"/>
            </a:xfrm>
            <a:prstGeom prst="ellipse">
              <a:avLst/>
            </a:pr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8" name="Freeform 10">
              <a:extLst>
                <a:ext uri="{FF2B5EF4-FFF2-40B4-BE49-F238E27FC236}">
                  <a16:creationId xmlns:a16="http://schemas.microsoft.com/office/drawing/2014/main" id="{5B020A2A-FE01-438F-8D5D-507CCAE3ECF1}"/>
                </a:ext>
              </a:extLst>
            </p:cNvPr>
            <p:cNvSpPr>
              <a:spLocks/>
            </p:cNvSpPr>
            <p:nvPr/>
          </p:nvSpPr>
          <p:spPr bwMode="auto">
            <a:xfrm>
              <a:off x="-1099078" y="2318751"/>
              <a:ext cx="429837" cy="298769"/>
            </a:xfrm>
            <a:custGeom>
              <a:avLst/>
              <a:gdLst>
                <a:gd name="T0" fmla="*/ 0 w 135"/>
                <a:gd name="T1" fmla="*/ 94 h 94"/>
                <a:gd name="T2" fmla="*/ 135 w 135"/>
                <a:gd name="T3" fmla="*/ 0 h 94"/>
              </a:gdLst>
              <a:ahLst/>
              <a:cxnLst>
                <a:cxn ang="0">
                  <a:pos x="T0" y="T1"/>
                </a:cxn>
                <a:cxn ang="0">
                  <a:pos x="T2" y="T3"/>
                </a:cxn>
              </a:cxnLst>
              <a:rect l="0" t="0" r="r" b="b"/>
              <a:pathLst>
                <a:path w="135" h="94">
                  <a:moveTo>
                    <a:pt x="0" y="94"/>
                  </a:moveTo>
                  <a:cubicBezTo>
                    <a:pt x="21" y="39"/>
                    <a:pt x="73" y="0"/>
                    <a:pt x="135"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9" name="Freeform 11">
              <a:extLst>
                <a:ext uri="{FF2B5EF4-FFF2-40B4-BE49-F238E27FC236}">
                  <a16:creationId xmlns:a16="http://schemas.microsoft.com/office/drawing/2014/main" id="{4DA870B2-8418-4DFB-93DB-4894300AE355}"/>
                </a:ext>
              </a:extLst>
            </p:cNvPr>
            <p:cNvSpPr>
              <a:spLocks/>
            </p:cNvSpPr>
            <p:nvPr/>
          </p:nvSpPr>
          <p:spPr bwMode="auto">
            <a:xfrm>
              <a:off x="-1121872" y="2856047"/>
              <a:ext cx="354127" cy="369594"/>
            </a:xfrm>
            <a:custGeom>
              <a:avLst/>
              <a:gdLst>
                <a:gd name="T0" fmla="*/ 111 w 111"/>
                <a:gd name="T1" fmla="*/ 116 h 116"/>
                <a:gd name="T2" fmla="*/ 0 w 111"/>
                <a:gd name="T3" fmla="*/ 0 h 116"/>
              </a:gdLst>
              <a:ahLst/>
              <a:cxnLst>
                <a:cxn ang="0">
                  <a:pos x="T0" y="T1"/>
                </a:cxn>
                <a:cxn ang="0">
                  <a:pos x="T2" y="T3"/>
                </a:cxn>
              </a:cxnLst>
              <a:rect l="0" t="0" r="r" b="b"/>
              <a:pathLst>
                <a:path w="111" h="116">
                  <a:moveTo>
                    <a:pt x="111" y="116"/>
                  </a:moveTo>
                  <a:cubicBezTo>
                    <a:pt x="55" y="104"/>
                    <a:pt x="10" y="58"/>
                    <a:pt x="0"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0" name="Freeform 12">
              <a:extLst>
                <a:ext uri="{FF2B5EF4-FFF2-40B4-BE49-F238E27FC236}">
                  <a16:creationId xmlns:a16="http://schemas.microsoft.com/office/drawing/2014/main" id="{BFF19818-ADCB-4A67-974D-538C425F9D4D}"/>
                </a:ext>
              </a:extLst>
            </p:cNvPr>
            <p:cNvSpPr>
              <a:spLocks/>
            </p:cNvSpPr>
            <p:nvPr/>
          </p:nvSpPr>
          <p:spPr bwMode="auto">
            <a:xfrm>
              <a:off x="-459207" y="2522272"/>
              <a:ext cx="251552" cy="665107"/>
            </a:xfrm>
            <a:custGeom>
              <a:avLst/>
              <a:gdLst>
                <a:gd name="T0" fmla="*/ 54 w 79"/>
                <a:gd name="T1" fmla="*/ 0 h 209"/>
                <a:gd name="T2" fmla="*/ 79 w 79"/>
                <a:gd name="T3" fmla="*/ 80 h 209"/>
                <a:gd name="T4" fmla="*/ 0 w 79"/>
                <a:gd name="T5" fmla="*/ 209 h 209"/>
              </a:gdLst>
              <a:ahLst/>
              <a:cxnLst>
                <a:cxn ang="0">
                  <a:pos x="T0" y="T1"/>
                </a:cxn>
                <a:cxn ang="0">
                  <a:pos x="T2" y="T3"/>
                </a:cxn>
                <a:cxn ang="0">
                  <a:pos x="T4" y="T5"/>
                </a:cxn>
              </a:cxnLst>
              <a:rect l="0" t="0" r="r" b="b"/>
              <a:pathLst>
                <a:path w="79" h="209">
                  <a:moveTo>
                    <a:pt x="54" y="0"/>
                  </a:moveTo>
                  <a:cubicBezTo>
                    <a:pt x="70" y="23"/>
                    <a:pt x="79" y="50"/>
                    <a:pt x="79" y="80"/>
                  </a:cubicBezTo>
                  <a:cubicBezTo>
                    <a:pt x="79" y="137"/>
                    <a:pt x="47" y="185"/>
                    <a:pt x="0" y="209"/>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1" name="Freeform 13">
              <a:extLst>
                <a:ext uri="{FF2B5EF4-FFF2-40B4-BE49-F238E27FC236}">
                  <a16:creationId xmlns:a16="http://schemas.microsoft.com/office/drawing/2014/main" id="{4CDB7F4D-1950-40AD-BE1D-7D6B5661E557}"/>
                </a:ext>
              </a:extLst>
            </p:cNvPr>
            <p:cNvSpPr>
              <a:spLocks/>
            </p:cNvSpPr>
            <p:nvPr/>
          </p:nvSpPr>
          <p:spPr bwMode="auto">
            <a:xfrm>
              <a:off x="-1207351" y="2540996"/>
              <a:ext cx="56986" cy="334588"/>
            </a:xfrm>
            <a:custGeom>
              <a:avLst/>
              <a:gdLst>
                <a:gd name="T0" fmla="*/ 3 w 18"/>
                <a:gd name="T1" fmla="*/ 105 h 105"/>
                <a:gd name="T2" fmla="*/ 0 w 18"/>
                <a:gd name="T3" fmla="*/ 74 h 105"/>
                <a:gd name="T4" fmla="*/ 18 w 18"/>
                <a:gd name="T5" fmla="*/ 0 h 105"/>
              </a:gdLst>
              <a:ahLst/>
              <a:cxnLst>
                <a:cxn ang="0">
                  <a:pos x="T0" y="T1"/>
                </a:cxn>
                <a:cxn ang="0">
                  <a:pos x="T2" y="T3"/>
                </a:cxn>
                <a:cxn ang="0">
                  <a:pos x="T4" y="T5"/>
                </a:cxn>
              </a:cxnLst>
              <a:rect l="0" t="0" r="r" b="b"/>
              <a:pathLst>
                <a:path w="18" h="105">
                  <a:moveTo>
                    <a:pt x="3" y="105"/>
                  </a:moveTo>
                  <a:cubicBezTo>
                    <a:pt x="1" y="95"/>
                    <a:pt x="0" y="85"/>
                    <a:pt x="0" y="74"/>
                  </a:cubicBezTo>
                  <a:cubicBezTo>
                    <a:pt x="0" y="48"/>
                    <a:pt x="7" y="22"/>
                    <a:pt x="18"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2" name="Freeform 14">
              <a:extLst>
                <a:ext uri="{FF2B5EF4-FFF2-40B4-BE49-F238E27FC236}">
                  <a16:creationId xmlns:a16="http://schemas.microsoft.com/office/drawing/2014/main" id="{0DFBA46F-0CB6-4C85-AB52-F00FC13F5880}"/>
                </a:ext>
              </a:extLst>
            </p:cNvPr>
            <p:cNvSpPr>
              <a:spLocks/>
            </p:cNvSpPr>
            <p:nvPr/>
          </p:nvSpPr>
          <p:spPr bwMode="auto">
            <a:xfrm>
              <a:off x="-819033" y="3232154"/>
              <a:ext cx="439606" cy="82222"/>
            </a:xfrm>
            <a:custGeom>
              <a:avLst/>
              <a:gdLst>
                <a:gd name="T0" fmla="*/ 138 w 138"/>
                <a:gd name="T1" fmla="*/ 0 h 26"/>
                <a:gd name="T2" fmla="*/ 47 w 138"/>
                <a:gd name="T3" fmla="*/ 26 h 26"/>
                <a:gd name="T4" fmla="*/ 0 w 138"/>
                <a:gd name="T5" fmla="*/ 20 h 26"/>
              </a:gdLst>
              <a:ahLst/>
              <a:cxnLst>
                <a:cxn ang="0">
                  <a:pos x="T0" y="T1"/>
                </a:cxn>
                <a:cxn ang="0">
                  <a:pos x="T2" y="T3"/>
                </a:cxn>
                <a:cxn ang="0">
                  <a:pos x="T4" y="T5"/>
                </a:cxn>
              </a:cxnLst>
              <a:rect l="0" t="0" r="r" b="b"/>
              <a:pathLst>
                <a:path w="138" h="26">
                  <a:moveTo>
                    <a:pt x="138" y="0"/>
                  </a:moveTo>
                  <a:cubicBezTo>
                    <a:pt x="112" y="17"/>
                    <a:pt x="81" y="26"/>
                    <a:pt x="47" y="26"/>
                  </a:cubicBezTo>
                  <a:cubicBezTo>
                    <a:pt x="31" y="26"/>
                    <a:pt x="15" y="24"/>
                    <a:pt x="0" y="2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3" name="Freeform 15">
              <a:extLst>
                <a:ext uri="{FF2B5EF4-FFF2-40B4-BE49-F238E27FC236}">
                  <a16:creationId xmlns:a16="http://schemas.microsoft.com/office/drawing/2014/main" id="{FAF79AD0-4FD0-47E6-AB14-51788B93624B}"/>
                </a:ext>
              </a:extLst>
            </p:cNvPr>
            <p:cNvSpPr>
              <a:spLocks/>
            </p:cNvSpPr>
            <p:nvPr/>
          </p:nvSpPr>
          <p:spPr bwMode="auto">
            <a:xfrm>
              <a:off x="-669241" y="2238971"/>
              <a:ext cx="503104" cy="340287"/>
            </a:xfrm>
            <a:custGeom>
              <a:avLst/>
              <a:gdLst>
                <a:gd name="T0" fmla="*/ 0 w 158"/>
                <a:gd name="T1" fmla="*/ 0 h 107"/>
                <a:gd name="T2" fmla="*/ 158 w 158"/>
                <a:gd name="T3" fmla="*/ 107 h 107"/>
              </a:gdLst>
              <a:ahLst/>
              <a:cxnLst>
                <a:cxn ang="0">
                  <a:pos x="T0" y="T1"/>
                </a:cxn>
                <a:cxn ang="0">
                  <a:pos x="T2" y="T3"/>
                </a:cxn>
              </a:cxnLst>
              <a:rect l="0" t="0" r="r" b="b"/>
              <a:pathLst>
                <a:path w="158" h="107">
                  <a:moveTo>
                    <a:pt x="0" y="0"/>
                  </a:moveTo>
                  <a:cubicBezTo>
                    <a:pt x="72" y="0"/>
                    <a:pt x="133" y="45"/>
                    <a:pt x="158" y="107"/>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grpSp>
        <p:nvGrpSpPr>
          <p:cNvPr id="146" name="Group 145">
            <a:extLst>
              <a:ext uri="{FF2B5EF4-FFF2-40B4-BE49-F238E27FC236}">
                <a16:creationId xmlns:a16="http://schemas.microsoft.com/office/drawing/2014/main" id="{3913C5B3-71AA-4057-BE3F-81F718C43926}"/>
              </a:ext>
            </a:extLst>
          </p:cNvPr>
          <p:cNvGrpSpPr/>
          <p:nvPr/>
        </p:nvGrpSpPr>
        <p:grpSpPr>
          <a:xfrm>
            <a:off x="8996949" y="2052686"/>
            <a:ext cx="1041214" cy="1075405"/>
            <a:chOff x="-1207351" y="2238971"/>
            <a:chExt cx="1041214" cy="1075405"/>
          </a:xfrm>
        </p:grpSpPr>
        <p:sp>
          <p:nvSpPr>
            <p:cNvPr id="147" name="Oval 9">
              <a:extLst>
                <a:ext uri="{FF2B5EF4-FFF2-40B4-BE49-F238E27FC236}">
                  <a16:creationId xmlns:a16="http://schemas.microsoft.com/office/drawing/2014/main" id="{870EE860-0586-42A7-9BF3-F413078A58AF}"/>
                </a:ext>
              </a:extLst>
            </p:cNvPr>
            <p:cNvSpPr>
              <a:spLocks noChangeArrowheads="1"/>
            </p:cNvSpPr>
            <p:nvPr/>
          </p:nvSpPr>
          <p:spPr bwMode="auto">
            <a:xfrm>
              <a:off x="-1054303" y="2392018"/>
              <a:ext cx="770124" cy="770124"/>
            </a:xfrm>
            <a:prstGeom prst="ellipse">
              <a:avLst/>
            </a:pr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8" name="Freeform 10">
              <a:extLst>
                <a:ext uri="{FF2B5EF4-FFF2-40B4-BE49-F238E27FC236}">
                  <a16:creationId xmlns:a16="http://schemas.microsoft.com/office/drawing/2014/main" id="{0BD433D7-A1B8-4061-98F8-638A73C2AB40}"/>
                </a:ext>
              </a:extLst>
            </p:cNvPr>
            <p:cNvSpPr>
              <a:spLocks/>
            </p:cNvSpPr>
            <p:nvPr/>
          </p:nvSpPr>
          <p:spPr bwMode="auto">
            <a:xfrm>
              <a:off x="-1099078" y="2318751"/>
              <a:ext cx="429837" cy="298769"/>
            </a:xfrm>
            <a:custGeom>
              <a:avLst/>
              <a:gdLst>
                <a:gd name="T0" fmla="*/ 0 w 135"/>
                <a:gd name="T1" fmla="*/ 94 h 94"/>
                <a:gd name="T2" fmla="*/ 135 w 135"/>
                <a:gd name="T3" fmla="*/ 0 h 94"/>
              </a:gdLst>
              <a:ahLst/>
              <a:cxnLst>
                <a:cxn ang="0">
                  <a:pos x="T0" y="T1"/>
                </a:cxn>
                <a:cxn ang="0">
                  <a:pos x="T2" y="T3"/>
                </a:cxn>
              </a:cxnLst>
              <a:rect l="0" t="0" r="r" b="b"/>
              <a:pathLst>
                <a:path w="135" h="94">
                  <a:moveTo>
                    <a:pt x="0" y="94"/>
                  </a:moveTo>
                  <a:cubicBezTo>
                    <a:pt x="21" y="39"/>
                    <a:pt x="73" y="0"/>
                    <a:pt x="135"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9" name="Freeform 11">
              <a:extLst>
                <a:ext uri="{FF2B5EF4-FFF2-40B4-BE49-F238E27FC236}">
                  <a16:creationId xmlns:a16="http://schemas.microsoft.com/office/drawing/2014/main" id="{D08E61B5-76F8-48BE-AB2C-2F2B217BA929}"/>
                </a:ext>
              </a:extLst>
            </p:cNvPr>
            <p:cNvSpPr>
              <a:spLocks/>
            </p:cNvSpPr>
            <p:nvPr/>
          </p:nvSpPr>
          <p:spPr bwMode="auto">
            <a:xfrm>
              <a:off x="-1121872" y="2856047"/>
              <a:ext cx="354127" cy="369594"/>
            </a:xfrm>
            <a:custGeom>
              <a:avLst/>
              <a:gdLst>
                <a:gd name="T0" fmla="*/ 111 w 111"/>
                <a:gd name="T1" fmla="*/ 116 h 116"/>
                <a:gd name="T2" fmla="*/ 0 w 111"/>
                <a:gd name="T3" fmla="*/ 0 h 116"/>
              </a:gdLst>
              <a:ahLst/>
              <a:cxnLst>
                <a:cxn ang="0">
                  <a:pos x="T0" y="T1"/>
                </a:cxn>
                <a:cxn ang="0">
                  <a:pos x="T2" y="T3"/>
                </a:cxn>
              </a:cxnLst>
              <a:rect l="0" t="0" r="r" b="b"/>
              <a:pathLst>
                <a:path w="111" h="116">
                  <a:moveTo>
                    <a:pt x="111" y="116"/>
                  </a:moveTo>
                  <a:cubicBezTo>
                    <a:pt x="55" y="104"/>
                    <a:pt x="10" y="58"/>
                    <a:pt x="0"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0" name="Freeform 12">
              <a:extLst>
                <a:ext uri="{FF2B5EF4-FFF2-40B4-BE49-F238E27FC236}">
                  <a16:creationId xmlns:a16="http://schemas.microsoft.com/office/drawing/2014/main" id="{F2CA497B-4B2F-45C1-A356-ECD636C80945}"/>
                </a:ext>
              </a:extLst>
            </p:cNvPr>
            <p:cNvSpPr>
              <a:spLocks/>
            </p:cNvSpPr>
            <p:nvPr/>
          </p:nvSpPr>
          <p:spPr bwMode="auto">
            <a:xfrm>
              <a:off x="-459207" y="2522272"/>
              <a:ext cx="251552" cy="665107"/>
            </a:xfrm>
            <a:custGeom>
              <a:avLst/>
              <a:gdLst>
                <a:gd name="T0" fmla="*/ 54 w 79"/>
                <a:gd name="T1" fmla="*/ 0 h 209"/>
                <a:gd name="T2" fmla="*/ 79 w 79"/>
                <a:gd name="T3" fmla="*/ 80 h 209"/>
                <a:gd name="T4" fmla="*/ 0 w 79"/>
                <a:gd name="T5" fmla="*/ 209 h 209"/>
              </a:gdLst>
              <a:ahLst/>
              <a:cxnLst>
                <a:cxn ang="0">
                  <a:pos x="T0" y="T1"/>
                </a:cxn>
                <a:cxn ang="0">
                  <a:pos x="T2" y="T3"/>
                </a:cxn>
                <a:cxn ang="0">
                  <a:pos x="T4" y="T5"/>
                </a:cxn>
              </a:cxnLst>
              <a:rect l="0" t="0" r="r" b="b"/>
              <a:pathLst>
                <a:path w="79" h="209">
                  <a:moveTo>
                    <a:pt x="54" y="0"/>
                  </a:moveTo>
                  <a:cubicBezTo>
                    <a:pt x="70" y="23"/>
                    <a:pt x="79" y="50"/>
                    <a:pt x="79" y="80"/>
                  </a:cubicBezTo>
                  <a:cubicBezTo>
                    <a:pt x="79" y="137"/>
                    <a:pt x="47" y="185"/>
                    <a:pt x="0" y="209"/>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1" name="Freeform 13">
              <a:extLst>
                <a:ext uri="{FF2B5EF4-FFF2-40B4-BE49-F238E27FC236}">
                  <a16:creationId xmlns:a16="http://schemas.microsoft.com/office/drawing/2014/main" id="{8773A804-DF07-4722-8AA3-141086A1A45D}"/>
                </a:ext>
              </a:extLst>
            </p:cNvPr>
            <p:cNvSpPr>
              <a:spLocks/>
            </p:cNvSpPr>
            <p:nvPr/>
          </p:nvSpPr>
          <p:spPr bwMode="auto">
            <a:xfrm>
              <a:off x="-1207351" y="2540996"/>
              <a:ext cx="56986" cy="334588"/>
            </a:xfrm>
            <a:custGeom>
              <a:avLst/>
              <a:gdLst>
                <a:gd name="T0" fmla="*/ 3 w 18"/>
                <a:gd name="T1" fmla="*/ 105 h 105"/>
                <a:gd name="T2" fmla="*/ 0 w 18"/>
                <a:gd name="T3" fmla="*/ 74 h 105"/>
                <a:gd name="T4" fmla="*/ 18 w 18"/>
                <a:gd name="T5" fmla="*/ 0 h 105"/>
              </a:gdLst>
              <a:ahLst/>
              <a:cxnLst>
                <a:cxn ang="0">
                  <a:pos x="T0" y="T1"/>
                </a:cxn>
                <a:cxn ang="0">
                  <a:pos x="T2" y="T3"/>
                </a:cxn>
                <a:cxn ang="0">
                  <a:pos x="T4" y="T5"/>
                </a:cxn>
              </a:cxnLst>
              <a:rect l="0" t="0" r="r" b="b"/>
              <a:pathLst>
                <a:path w="18" h="105">
                  <a:moveTo>
                    <a:pt x="3" y="105"/>
                  </a:moveTo>
                  <a:cubicBezTo>
                    <a:pt x="1" y="95"/>
                    <a:pt x="0" y="85"/>
                    <a:pt x="0" y="74"/>
                  </a:cubicBezTo>
                  <a:cubicBezTo>
                    <a:pt x="0" y="48"/>
                    <a:pt x="7" y="22"/>
                    <a:pt x="18"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2" name="Freeform 14">
              <a:extLst>
                <a:ext uri="{FF2B5EF4-FFF2-40B4-BE49-F238E27FC236}">
                  <a16:creationId xmlns:a16="http://schemas.microsoft.com/office/drawing/2014/main" id="{2CAAE1B3-1E00-4301-8BD7-9E72C8600C19}"/>
                </a:ext>
              </a:extLst>
            </p:cNvPr>
            <p:cNvSpPr>
              <a:spLocks/>
            </p:cNvSpPr>
            <p:nvPr/>
          </p:nvSpPr>
          <p:spPr bwMode="auto">
            <a:xfrm>
              <a:off x="-819033" y="3232154"/>
              <a:ext cx="439606" cy="82222"/>
            </a:xfrm>
            <a:custGeom>
              <a:avLst/>
              <a:gdLst>
                <a:gd name="T0" fmla="*/ 138 w 138"/>
                <a:gd name="T1" fmla="*/ 0 h 26"/>
                <a:gd name="T2" fmla="*/ 47 w 138"/>
                <a:gd name="T3" fmla="*/ 26 h 26"/>
                <a:gd name="T4" fmla="*/ 0 w 138"/>
                <a:gd name="T5" fmla="*/ 20 h 26"/>
              </a:gdLst>
              <a:ahLst/>
              <a:cxnLst>
                <a:cxn ang="0">
                  <a:pos x="T0" y="T1"/>
                </a:cxn>
                <a:cxn ang="0">
                  <a:pos x="T2" y="T3"/>
                </a:cxn>
                <a:cxn ang="0">
                  <a:pos x="T4" y="T5"/>
                </a:cxn>
              </a:cxnLst>
              <a:rect l="0" t="0" r="r" b="b"/>
              <a:pathLst>
                <a:path w="138" h="26">
                  <a:moveTo>
                    <a:pt x="138" y="0"/>
                  </a:moveTo>
                  <a:cubicBezTo>
                    <a:pt x="112" y="17"/>
                    <a:pt x="81" y="26"/>
                    <a:pt x="47" y="26"/>
                  </a:cubicBezTo>
                  <a:cubicBezTo>
                    <a:pt x="31" y="26"/>
                    <a:pt x="15" y="24"/>
                    <a:pt x="0" y="2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3" name="Freeform 15">
              <a:extLst>
                <a:ext uri="{FF2B5EF4-FFF2-40B4-BE49-F238E27FC236}">
                  <a16:creationId xmlns:a16="http://schemas.microsoft.com/office/drawing/2014/main" id="{1A469AF8-3D2A-4D2E-8229-F14085CDE502}"/>
                </a:ext>
              </a:extLst>
            </p:cNvPr>
            <p:cNvSpPr>
              <a:spLocks/>
            </p:cNvSpPr>
            <p:nvPr/>
          </p:nvSpPr>
          <p:spPr bwMode="auto">
            <a:xfrm>
              <a:off x="-669241" y="2238971"/>
              <a:ext cx="503104" cy="340287"/>
            </a:xfrm>
            <a:custGeom>
              <a:avLst/>
              <a:gdLst>
                <a:gd name="T0" fmla="*/ 0 w 158"/>
                <a:gd name="T1" fmla="*/ 0 h 107"/>
                <a:gd name="T2" fmla="*/ 158 w 158"/>
                <a:gd name="T3" fmla="*/ 107 h 107"/>
              </a:gdLst>
              <a:ahLst/>
              <a:cxnLst>
                <a:cxn ang="0">
                  <a:pos x="T0" y="T1"/>
                </a:cxn>
                <a:cxn ang="0">
                  <a:pos x="T2" y="T3"/>
                </a:cxn>
              </a:cxnLst>
              <a:rect l="0" t="0" r="r" b="b"/>
              <a:pathLst>
                <a:path w="158" h="107">
                  <a:moveTo>
                    <a:pt x="0" y="0"/>
                  </a:moveTo>
                  <a:cubicBezTo>
                    <a:pt x="72" y="0"/>
                    <a:pt x="133" y="45"/>
                    <a:pt x="158" y="107"/>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230361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11C9383-94A4-4BD8-918D-07729644C2C1}"/>
              </a:ext>
            </a:extLst>
          </p:cNvPr>
          <p:cNvSpPr>
            <a:spLocks noGrp="1"/>
          </p:cNvSpPr>
          <p:nvPr>
            <p:ph type="sldNum" sz="quarter" idx="4294967295"/>
          </p:nvPr>
        </p:nvSpPr>
        <p:spPr>
          <a:xfrm>
            <a:off x="10352540" y="295729"/>
            <a:ext cx="838199" cy="767687"/>
          </a:xfrm>
          <a:prstGeom prst="rect">
            <a:avLst/>
          </a:prstGeom>
        </p:spPr>
        <p:txBody>
          <a:bodyPr/>
          <a:lstStyle/>
          <a:p>
            <a:fld id="{96E69268-9C8B-4EBF-A9EE-DC5DC2D48DC3}" type="slidenum">
              <a:rPr lang="en-US" smtClean="0"/>
              <a:pPr/>
              <a:t>11</a:t>
            </a:fld>
            <a:endParaRPr lang="en-US" dirty="0"/>
          </a:p>
        </p:txBody>
      </p:sp>
      <p:sp>
        <p:nvSpPr>
          <p:cNvPr id="3" name="Title 2">
            <a:extLst>
              <a:ext uri="{FF2B5EF4-FFF2-40B4-BE49-F238E27FC236}">
                <a16:creationId xmlns:a16="http://schemas.microsoft.com/office/drawing/2014/main" id="{DB5A2353-1CCC-4E6B-9185-3696E296A071}"/>
              </a:ext>
            </a:extLst>
          </p:cNvPr>
          <p:cNvSpPr>
            <a:spLocks noGrp="1"/>
          </p:cNvSpPr>
          <p:nvPr>
            <p:ph type="title" idx="4294967295"/>
          </p:nvPr>
        </p:nvSpPr>
        <p:spPr>
          <a:xfrm>
            <a:off x="480060" y="234950"/>
            <a:ext cx="10492739" cy="711200"/>
          </a:xfrm>
        </p:spPr>
        <p:txBody>
          <a:bodyPr/>
          <a:lstStyle/>
          <a:p>
            <a:r>
              <a:rPr lang="en-IN" dirty="0">
                <a:solidFill>
                  <a:schemeClr val="accent1"/>
                </a:solidFill>
                <a:latin typeface="Open Sans"/>
              </a:rPr>
              <a:t>Product Roadmap &amp; Go to Market </a:t>
            </a:r>
            <a:r>
              <a:rPr lang="en-IN" b="1" dirty="0">
                <a:solidFill>
                  <a:schemeClr val="accent6"/>
                </a:solidFill>
                <a:latin typeface="Open Sans"/>
              </a:rPr>
              <a:t>Timeline</a:t>
            </a:r>
          </a:p>
        </p:txBody>
      </p:sp>
      <p:sp>
        <p:nvSpPr>
          <p:cNvPr id="29" name="Freeform: Shape 28">
            <a:extLst>
              <a:ext uri="{FF2B5EF4-FFF2-40B4-BE49-F238E27FC236}">
                <a16:creationId xmlns:a16="http://schemas.microsoft.com/office/drawing/2014/main" id="{6EB4DC67-5286-4E88-90B5-D3D6B79E5796}"/>
              </a:ext>
            </a:extLst>
          </p:cNvPr>
          <p:cNvSpPr/>
          <p:nvPr/>
        </p:nvSpPr>
        <p:spPr>
          <a:xfrm>
            <a:off x="1108500" y="3443735"/>
            <a:ext cx="10180115" cy="2457719"/>
          </a:xfrm>
          <a:custGeom>
            <a:avLst/>
            <a:gdLst>
              <a:gd name="connsiteX0" fmla="*/ 9424213 w 9424213"/>
              <a:gd name="connsiteY0" fmla="*/ 0 h 3089999"/>
              <a:gd name="connsiteX1" fmla="*/ 218156 w 9424213"/>
              <a:gd name="connsiteY1" fmla="*/ 3089813 h 3089999"/>
              <a:gd name="connsiteX2" fmla="*/ 197709 w 9424213"/>
              <a:gd name="connsiteY2" fmla="*/ 3089999 h 3089999"/>
              <a:gd name="connsiteX3" fmla="*/ 0 w 9424213"/>
              <a:gd name="connsiteY3" fmla="*/ 2930800 h 3089999"/>
              <a:gd name="connsiteX4" fmla="*/ 9424213 w 9424213"/>
              <a:gd name="connsiteY4" fmla="*/ 0 h 3089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4213" h="3089999">
                <a:moveTo>
                  <a:pt x="9424213" y="0"/>
                </a:moveTo>
                <a:lnTo>
                  <a:pt x="218156" y="3089813"/>
                </a:lnTo>
                <a:lnTo>
                  <a:pt x="197709" y="3089999"/>
                </a:lnTo>
                <a:lnTo>
                  <a:pt x="0" y="2930800"/>
                </a:lnTo>
                <a:lnTo>
                  <a:pt x="9424213"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3" name="Oval 12">
            <a:extLst>
              <a:ext uri="{FF2B5EF4-FFF2-40B4-BE49-F238E27FC236}">
                <a16:creationId xmlns:a16="http://schemas.microsoft.com/office/drawing/2014/main" id="{9D923115-E0A8-4FD6-8B07-91335A4D14D3}"/>
              </a:ext>
            </a:extLst>
          </p:cNvPr>
          <p:cNvSpPr/>
          <p:nvPr/>
        </p:nvSpPr>
        <p:spPr>
          <a:xfrm>
            <a:off x="776834" y="5674802"/>
            <a:ext cx="693375" cy="311472"/>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3" name="Oval 42">
            <a:extLst>
              <a:ext uri="{FF2B5EF4-FFF2-40B4-BE49-F238E27FC236}">
                <a16:creationId xmlns:a16="http://schemas.microsoft.com/office/drawing/2014/main" id="{BCE8645F-BA58-4FE2-8FCC-3984E9B23E23}"/>
              </a:ext>
            </a:extLst>
          </p:cNvPr>
          <p:cNvSpPr/>
          <p:nvPr/>
        </p:nvSpPr>
        <p:spPr>
          <a:xfrm flipV="1">
            <a:off x="1000911" y="5774054"/>
            <a:ext cx="245218" cy="11015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5" name="Oval 44">
            <a:extLst>
              <a:ext uri="{FF2B5EF4-FFF2-40B4-BE49-F238E27FC236}">
                <a16:creationId xmlns:a16="http://schemas.microsoft.com/office/drawing/2014/main" id="{E472ED43-822F-4E1D-9840-426CC78CA2C3}"/>
              </a:ext>
            </a:extLst>
          </p:cNvPr>
          <p:cNvSpPr/>
          <p:nvPr/>
        </p:nvSpPr>
        <p:spPr>
          <a:xfrm>
            <a:off x="3331011" y="5120168"/>
            <a:ext cx="633840" cy="284729"/>
          </a:xfrm>
          <a:prstGeom prst="ellipse">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7" name="Oval 46">
            <a:extLst>
              <a:ext uri="{FF2B5EF4-FFF2-40B4-BE49-F238E27FC236}">
                <a16:creationId xmlns:a16="http://schemas.microsoft.com/office/drawing/2014/main" id="{54CC123B-6A00-45B2-B9B5-72F7EF341735}"/>
              </a:ext>
            </a:extLst>
          </p:cNvPr>
          <p:cNvSpPr/>
          <p:nvPr/>
        </p:nvSpPr>
        <p:spPr>
          <a:xfrm flipV="1">
            <a:off x="3535851" y="5210897"/>
            <a:ext cx="224163" cy="10069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9" name="Oval 48">
            <a:extLst>
              <a:ext uri="{FF2B5EF4-FFF2-40B4-BE49-F238E27FC236}">
                <a16:creationId xmlns:a16="http://schemas.microsoft.com/office/drawing/2014/main" id="{CA059239-36DA-4607-B140-92248D80145E}"/>
              </a:ext>
            </a:extLst>
          </p:cNvPr>
          <p:cNvSpPr/>
          <p:nvPr/>
        </p:nvSpPr>
        <p:spPr>
          <a:xfrm>
            <a:off x="5825654" y="4553023"/>
            <a:ext cx="520492" cy="233812"/>
          </a:xfrm>
          <a:prstGeom prst="ellipse">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51" name="Oval 50">
            <a:extLst>
              <a:ext uri="{FF2B5EF4-FFF2-40B4-BE49-F238E27FC236}">
                <a16:creationId xmlns:a16="http://schemas.microsoft.com/office/drawing/2014/main" id="{E4695610-7443-41A2-8CA5-401FAD026F15}"/>
              </a:ext>
            </a:extLst>
          </p:cNvPr>
          <p:cNvSpPr/>
          <p:nvPr/>
        </p:nvSpPr>
        <p:spPr>
          <a:xfrm flipV="1">
            <a:off x="5993862" y="4627529"/>
            <a:ext cx="184076" cy="8269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3" name="Oval 52">
            <a:extLst>
              <a:ext uri="{FF2B5EF4-FFF2-40B4-BE49-F238E27FC236}">
                <a16:creationId xmlns:a16="http://schemas.microsoft.com/office/drawing/2014/main" id="{9DDBCCDA-19E6-46BB-9A2C-A46C998F8373}"/>
              </a:ext>
            </a:extLst>
          </p:cNvPr>
          <p:cNvSpPr/>
          <p:nvPr/>
        </p:nvSpPr>
        <p:spPr>
          <a:xfrm>
            <a:off x="8206949" y="4020235"/>
            <a:ext cx="439154" cy="197274"/>
          </a:xfrm>
          <a:prstGeom prst="ellipse">
            <a:avLst/>
          </a:prstGeom>
          <a:solidFill>
            <a:schemeClr val="bg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5" name="Oval 54">
            <a:extLst>
              <a:ext uri="{FF2B5EF4-FFF2-40B4-BE49-F238E27FC236}">
                <a16:creationId xmlns:a16="http://schemas.microsoft.com/office/drawing/2014/main" id="{3BAB75A5-9A7C-437C-8BA8-F2CEC4F6F687}"/>
              </a:ext>
            </a:extLst>
          </p:cNvPr>
          <p:cNvSpPr/>
          <p:nvPr/>
        </p:nvSpPr>
        <p:spPr>
          <a:xfrm flipV="1">
            <a:off x="8348872" y="4083098"/>
            <a:ext cx="155311" cy="6976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cxnSp>
        <p:nvCxnSpPr>
          <p:cNvPr id="18" name="Straight Connector 17">
            <a:extLst>
              <a:ext uri="{FF2B5EF4-FFF2-40B4-BE49-F238E27FC236}">
                <a16:creationId xmlns:a16="http://schemas.microsoft.com/office/drawing/2014/main" id="{F6D3C4C1-3A03-41CE-9DB6-E9378458852A}"/>
              </a:ext>
            </a:extLst>
          </p:cNvPr>
          <p:cNvCxnSpPr>
            <a:cxnSpLocks/>
          </p:cNvCxnSpPr>
          <p:nvPr/>
        </p:nvCxnSpPr>
        <p:spPr>
          <a:xfrm>
            <a:off x="1116476" y="1498859"/>
            <a:ext cx="0" cy="4322675"/>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76B5A18-7070-4F4D-B429-7C814936783B}"/>
              </a:ext>
            </a:extLst>
          </p:cNvPr>
          <p:cNvCxnSpPr>
            <a:cxnSpLocks/>
          </p:cNvCxnSpPr>
          <p:nvPr/>
        </p:nvCxnSpPr>
        <p:spPr>
          <a:xfrm>
            <a:off x="3647931" y="1498858"/>
            <a:ext cx="0" cy="3724696"/>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A0151DD-0551-41B6-9DEC-62335824A0A8}"/>
              </a:ext>
            </a:extLst>
          </p:cNvPr>
          <p:cNvCxnSpPr>
            <a:cxnSpLocks/>
          </p:cNvCxnSpPr>
          <p:nvPr/>
        </p:nvCxnSpPr>
        <p:spPr>
          <a:xfrm>
            <a:off x="6085900" y="1498859"/>
            <a:ext cx="0" cy="3147457"/>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261E01AA-D061-4E50-AFFD-F9129270459A}"/>
              </a:ext>
            </a:extLst>
          </p:cNvPr>
          <p:cNvCxnSpPr>
            <a:cxnSpLocks/>
            <a:endCxn id="55" idx="4"/>
          </p:cNvCxnSpPr>
          <p:nvPr/>
        </p:nvCxnSpPr>
        <p:spPr>
          <a:xfrm>
            <a:off x="8426527" y="1498859"/>
            <a:ext cx="0" cy="2584239"/>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E30737F0-4F43-41D9-A3A4-7B18300E519A}"/>
              </a:ext>
            </a:extLst>
          </p:cNvPr>
          <p:cNvSpPr txBox="1"/>
          <p:nvPr/>
        </p:nvSpPr>
        <p:spPr>
          <a:xfrm>
            <a:off x="1269272" y="1288849"/>
            <a:ext cx="2074046" cy="646331"/>
          </a:xfrm>
          <a:prstGeom prst="rect">
            <a:avLst/>
          </a:prstGeom>
          <a:noFill/>
        </p:spPr>
        <p:txBody>
          <a:bodyPr wrap="square" rtlCol="0">
            <a:spAutoFit/>
          </a:bodyPr>
          <a:lstStyle/>
          <a:p>
            <a:r>
              <a:rPr lang="en-IN" sz="3600" dirty="0">
                <a:solidFill>
                  <a:schemeClr val="accent1"/>
                </a:solidFill>
                <a:latin typeface="Open Sans"/>
              </a:rPr>
              <a:t>2025</a:t>
            </a:r>
          </a:p>
        </p:txBody>
      </p:sp>
      <p:sp>
        <p:nvSpPr>
          <p:cNvPr id="59" name="TextBox 58">
            <a:extLst>
              <a:ext uri="{FF2B5EF4-FFF2-40B4-BE49-F238E27FC236}">
                <a16:creationId xmlns:a16="http://schemas.microsoft.com/office/drawing/2014/main" id="{3A08C3BF-4742-4082-B835-DD60020673C7}"/>
              </a:ext>
            </a:extLst>
          </p:cNvPr>
          <p:cNvSpPr txBox="1"/>
          <p:nvPr/>
        </p:nvSpPr>
        <p:spPr>
          <a:xfrm>
            <a:off x="3784576" y="1288849"/>
            <a:ext cx="2060447" cy="646331"/>
          </a:xfrm>
          <a:prstGeom prst="rect">
            <a:avLst/>
          </a:prstGeom>
          <a:noFill/>
        </p:spPr>
        <p:txBody>
          <a:bodyPr wrap="square" rtlCol="0">
            <a:spAutoFit/>
          </a:bodyPr>
          <a:lstStyle/>
          <a:p>
            <a:r>
              <a:rPr lang="en-IN" sz="3600" dirty="0">
                <a:solidFill>
                  <a:schemeClr val="accent3"/>
                </a:solidFill>
                <a:latin typeface="Open Sans"/>
              </a:rPr>
              <a:t>2026</a:t>
            </a:r>
          </a:p>
        </p:txBody>
      </p:sp>
      <p:sp>
        <p:nvSpPr>
          <p:cNvPr id="60" name="TextBox 59">
            <a:extLst>
              <a:ext uri="{FF2B5EF4-FFF2-40B4-BE49-F238E27FC236}">
                <a16:creationId xmlns:a16="http://schemas.microsoft.com/office/drawing/2014/main" id="{27C1D5DA-9587-4703-B68E-490B3298B2A2}"/>
              </a:ext>
            </a:extLst>
          </p:cNvPr>
          <p:cNvSpPr txBox="1"/>
          <p:nvPr/>
        </p:nvSpPr>
        <p:spPr>
          <a:xfrm>
            <a:off x="6230960" y="1288849"/>
            <a:ext cx="2060446" cy="646331"/>
          </a:xfrm>
          <a:prstGeom prst="rect">
            <a:avLst/>
          </a:prstGeom>
          <a:noFill/>
        </p:spPr>
        <p:txBody>
          <a:bodyPr wrap="square" rtlCol="0">
            <a:spAutoFit/>
          </a:bodyPr>
          <a:lstStyle/>
          <a:p>
            <a:r>
              <a:rPr lang="en-IN" sz="3600" dirty="0">
                <a:solidFill>
                  <a:schemeClr val="accent4"/>
                </a:solidFill>
                <a:latin typeface="Open Sans"/>
              </a:rPr>
              <a:t>2027</a:t>
            </a:r>
          </a:p>
        </p:txBody>
      </p:sp>
      <p:sp>
        <p:nvSpPr>
          <p:cNvPr id="61" name="TextBox 60">
            <a:extLst>
              <a:ext uri="{FF2B5EF4-FFF2-40B4-BE49-F238E27FC236}">
                <a16:creationId xmlns:a16="http://schemas.microsoft.com/office/drawing/2014/main" id="{BC58D078-E11A-4676-8D3B-8A2EB2A8CDA6}"/>
              </a:ext>
            </a:extLst>
          </p:cNvPr>
          <p:cNvSpPr txBox="1"/>
          <p:nvPr/>
        </p:nvSpPr>
        <p:spPr>
          <a:xfrm>
            <a:off x="8539522" y="1288849"/>
            <a:ext cx="2096171" cy="646331"/>
          </a:xfrm>
          <a:prstGeom prst="rect">
            <a:avLst/>
          </a:prstGeom>
          <a:noFill/>
        </p:spPr>
        <p:txBody>
          <a:bodyPr wrap="square" rtlCol="0">
            <a:spAutoFit/>
          </a:bodyPr>
          <a:lstStyle/>
          <a:p>
            <a:r>
              <a:rPr lang="en-IN" sz="3600" dirty="0">
                <a:solidFill>
                  <a:schemeClr val="accent5"/>
                </a:solidFill>
                <a:latin typeface="Open Sans"/>
              </a:rPr>
              <a:t>2028</a:t>
            </a:r>
          </a:p>
        </p:txBody>
      </p:sp>
      <p:sp>
        <p:nvSpPr>
          <p:cNvPr id="70" name="TextBox 69">
            <a:extLst>
              <a:ext uri="{FF2B5EF4-FFF2-40B4-BE49-F238E27FC236}">
                <a16:creationId xmlns:a16="http://schemas.microsoft.com/office/drawing/2014/main" id="{846F008F-0964-48F8-B6CD-00B3E22C48F5}"/>
              </a:ext>
            </a:extLst>
          </p:cNvPr>
          <p:cNvSpPr txBox="1"/>
          <p:nvPr/>
        </p:nvSpPr>
        <p:spPr>
          <a:xfrm>
            <a:off x="1256964" y="1979162"/>
            <a:ext cx="2074047" cy="369332"/>
          </a:xfrm>
          <a:prstGeom prst="rect">
            <a:avLst/>
          </a:prstGeom>
          <a:noFill/>
        </p:spPr>
        <p:txBody>
          <a:bodyPr wrap="square" rtlCol="0" anchor="b">
            <a:spAutoFit/>
          </a:bodyPr>
          <a:lstStyle/>
          <a:p>
            <a:r>
              <a:rPr lang="en-US" b="1" kern="0" dirty="0">
                <a:solidFill>
                  <a:schemeClr val="accent1"/>
                </a:solidFill>
                <a:latin typeface="Open Sans"/>
                <a:cs typeface="Arial" panose="020B0604020202020204" pitchFamily="34" charset="0"/>
              </a:rPr>
              <a:t>ALPHA </a:t>
            </a:r>
            <a:endParaRPr lang="en-IN" b="1" dirty="0">
              <a:solidFill>
                <a:schemeClr val="accent1"/>
              </a:solidFill>
            </a:endParaRPr>
          </a:p>
        </p:txBody>
      </p:sp>
      <p:sp>
        <p:nvSpPr>
          <p:cNvPr id="73" name="TextBox 72">
            <a:extLst>
              <a:ext uri="{FF2B5EF4-FFF2-40B4-BE49-F238E27FC236}">
                <a16:creationId xmlns:a16="http://schemas.microsoft.com/office/drawing/2014/main" id="{312E1B46-04E5-49AC-8C86-69E026C4A538}"/>
              </a:ext>
            </a:extLst>
          </p:cNvPr>
          <p:cNvSpPr txBox="1"/>
          <p:nvPr/>
        </p:nvSpPr>
        <p:spPr>
          <a:xfrm>
            <a:off x="3768936" y="1979162"/>
            <a:ext cx="2074047" cy="369332"/>
          </a:xfrm>
          <a:prstGeom prst="rect">
            <a:avLst/>
          </a:prstGeom>
          <a:noFill/>
        </p:spPr>
        <p:txBody>
          <a:bodyPr wrap="square" rtlCol="0" anchor="b">
            <a:spAutoFit/>
          </a:bodyPr>
          <a:lstStyle/>
          <a:p>
            <a:r>
              <a:rPr lang="en-US" b="1" kern="0" dirty="0">
                <a:solidFill>
                  <a:schemeClr val="accent3"/>
                </a:solidFill>
                <a:latin typeface="Open Sans"/>
                <a:cs typeface="Arial" panose="020B0604020202020204" pitchFamily="34" charset="0"/>
              </a:rPr>
              <a:t>BETA</a:t>
            </a:r>
            <a:endParaRPr lang="en-IN" b="1" dirty="0">
              <a:solidFill>
                <a:schemeClr val="accent3"/>
              </a:solidFill>
            </a:endParaRPr>
          </a:p>
        </p:txBody>
      </p:sp>
      <p:sp>
        <p:nvSpPr>
          <p:cNvPr id="76" name="TextBox 75">
            <a:extLst>
              <a:ext uri="{FF2B5EF4-FFF2-40B4-BE49-F238E27FC236}">
                <a16:creationId xmlns:a16="http://schemas.microsoft.com/office/drawing/2014/main" id="{3B042C02-484E-454E-BC73-7873AA27760C}"/>
              </a:ext>
            </a:extLst>
          </p:cNvPr>
          <p:cNvSpPr txBox="1"/>
          <p:nvPr/>
        </p:nvSpPr>
        <p:spPr>
          <a:xfrm>
            <a:off x="6228355" y="1979162"/>
            <a:ext cx="2074047" cy="369332"/>
          </a:xfrm>
          <a:prstGeom prst="rect">
            <a:avLst/>
          </a:prstGeom>
          <a:noFill/>
        </p:spPr>
        <p:txBody>
          <a:bodyPr wrap="square" rtlCol="0" anchor="b">
            <a:spAutoFit/>
          </a:bodyPr>
          <a:lstStyle/>
          <a:p>
            <a:r>
              <a:rPr lang="en-US" b="1" kern="0" dirty="0">
                <a:solidFill>
                  <a:schemeClr val="accent4"/>
                </a:solidFill>
                <a:latin typeface="Open Sans"/>
                <a:cs typeface="Arial" panose="020B0604020202020204" pitchFamily="34" charset="0"/>
              </a:rPr>
              <a:t>GAMMA</a:t>
            </a:r>
            <a:endParaRPr lang="en-IN" b="1" dirty="0">
              <a:solidFill>
                <a:schemeClr val="accent4"/>
              </a:solidFill>
            </a:endParaRPr>
          </a:p>
        </p:txBody>
      </p:sp>
      <p:sp>
        <p:nvSpPr>
          <p:cNvPr id="79" name="TextBox 78">
            <a:extLst>
              <a:ext uri="{FF2B5EF4-FFF2-40B4-BE49-F238E27FC236}">
                <a16:creationId xmlns:a16="http://schemas.microsoft.com/office/drawing/2014/main" id="{00001365-C2DF-471E-ADB3-1782A2062F48}"/>
              </a:ext>
            </a:extLst>
          </p:cNvPr>
          <p:cNvSpPr txBox="1"/>
          <p:nvPr/>
        </p:nvSpPr>
        <p:spPr>
          <a:xfrm>
            <a:off x="8561650" y="1979162"/>
            <a:ext cx="2074047" cy="369332"/>
          </a:xfrm>
          <a:prstGeom prst="rect">
            <a:avLst/>
          </a:prstGeom>
          <a:noFill/>
        </p:spPr>
        <p:txBody>
          <a:bodyPr wrap="square" rtlCol="0" anchor="b">
            <a:spAutoFit/>
          </a:bodyPr>
          <a:lstStyle/>
          <a:p>
            <a:r>
              <a:rPr lang="en-US" b="1" kern="0" dirty="0">
                <a:solidFill>
                  <a:schemeClr val="accent5"/>
                </a:solidFill>
                <a:latin typeface="Open Sans"/>
                <a:cs typeface="Arial" panose="020B0604020202020204" pitchFamily="34" charset="0"/>
              </a:rPr>
              <a:t>Delta</a:t>
            </a:r>
            <a:endParaRPr lang="en-IN" b="1" dirty="0">
              <a:solidFill>
                <a:schemeClr val="accent5"/>
              </a:solidFill>
            </a:endParaRPr>
          </a:p>
        </p:txBody>
      </p:sp>
      <p:sp>
        <p:nvSpPr>
          <p:cNvPr id="6" name="TextBox 5">
            <a:extLst>
              <a:ext uri="{FF2B5EF4-FFF2-40B4-BE49-F238E27FC236}">
                <a16:creationId xmlns:a16="http://schemas.microsoft.com/office/drawing/2014/main" id="{68C94701-EB6D-5D95-400B-3757D38FB2F9}"/>
              </a:ext>
            </a:extLst>
          </p:cNvPr>
          <p:cNvSpPr txBox="1"/>
          <p:nvPr/>
        </p:nvSpPr>
        <p:spPr>
          <a:xfrm>
            <a:off x="1405402" y="2659891"/>
            <a:ext cx="1721057" cy="1277273"/>
          </a:xfrm>
          <a:prstGeom prst="rect">
            <a:avLst/>
          </a:prstGeom>
          <a:noFill/>
        </p:spPr>
        <p:txBody>
          <a:bodyPr wrap="square" lIns="0" tIns="0" rIns="0" bIns="0" rtlCol="0" anchor="ctr">
            <a:spAutoFit/>
          </a:bodyPr>
          <a:lstStyle/>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Entity &amp; Team Build. </a:t>
            </a:r>
          </a:p>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Site setup and Branding</a:t>
            </a:r>
          </a:p>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Proof of Concept</a:t>
            </a:r>
          </a:p>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Go to Market Strategy</a:t>
            </a:r>
          </a:p>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Funding</a:t>
            </a:r>
            <a:endParaRPr lang="en-US" sz="1200" dirty="0">
              <a:solidFill>
                <a:schemeClr val="tx1">
                  <a:lumMod val="75000"/>
                  <a:lumOff val="25000"/>
                </a:schemeClr>
              </a:solidFill>
              <a:ea typeface="Calibri Light" charset="0"/>
              <a:cs typeface="Segoe UI" panose="020B0502040204020203" pitchFamily="34" charset="0"/>
            </a:endParaRPr>
          </a:p>
        </p:txBody>
      </p:sp>
      <p:sp>
        <p:nvSpPr>
          <p:cNvPr id="7" name="TextBox 6">
            <a:extLst>
              <a:ext uri="{FF2B5EF4-FFF2-40B4-BE49-F238E27FC236}">
                <a16:creationId xmlns:a16="http://schemas.microsoft.com/office/drawing/2014/main" id="{20928F6C-A3B0-E55D-1FAB-64A3330A2F42}"/>
              </a:ext>
            </a:extLst>
          </p:cNvPr>
          <p:cNvSpPr txBox="1"/>
          <p:nvPr/>
        </p:nvSpPr>
        <p:spPr>
          <a:xfrm>
            <a:off x="3920591" y="2548322"/>
            <a:ext cx="1643840" cy="1361911"/>
          </a:xfrm>
          <a:prstGeom prst="rect">
            <a:avLst/>
          </a:prstGeom>
          <a:noFill/>
        </p:spPr>
        <p:txBody>
          <a:bodyPr wrap="square" lIns="0" tIns="0" rIns="0" bIns="0" rtlCol="0" anchor="ctr">
            <a:spAutoFit/>
          </a:bodyPr>
          <a:lstStyle/>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Beta Release</a:t>
            </a:r>
          </a:p>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Production Operations</a:t>
            </a:r>
          </a:p>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Design Partners &amp; Solution Delivery</a:t>
            </a:r>
          </a:p>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Product Refinement &amp; optimization</a:t>
            </a:r>
          </a:p>
        </p:txBody>
      </p:sp>
      <p:sp>
        <p:nvSpPr>
          <p:cNvPr id="8" name="TextBox 7">
            <a:extLst>
              <a:ext uri="{FF2B5EF4-FFF2-40B4-BE49-F238E27FC236}">
                <a16:creationId xmlns:a16="http://schemas.microsoft.com/office/drawing/2014/main" id="{DD9633C3-4D73-F5A3-2FE8-ED00E3E532F8}"/>
              </a:ext>
            </a:extLst>
          </p:cNvPr>
          <p:cNvSpPr txBox="1"/>
          <p:nvPr/>
        </p:nvSpPr>
        <p:spPr>
          <a:xfrm>
            <a:off x="6358559" y="2548322"/>
            <a:ext cx="1848388" cy="1361911"/>
          </a:xfrm>
          <a:prstGeom prst="rect">
            <a:avLst/>
          </a:prstGeom>
          <a:noFill/>
        </p:spPr>
        <p:txBody>
          <a:bodyPr wrap="square" lIns="0" tIns="0" rIns="0" bIns="0" rtlCol="0" anchor="ctr">
            <a:spAutoFit/>
          </a:bodyPr>
          <a:lstStyle/>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GA</a:t>
            </a:r>
          </a:p>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SOC Operations &amp; outsourcing</a:t>
            </a:r>
          </a:p>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Partner Channels</a:t>
            </a:r>
          </a:p>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Sales &amp; Marketing Scale Additional Funding, Valuation</a:t>
            </a:r>
            <a:endParaRPr lang="en-US" sz="1050" dirty="0">
              <a:solidFill>
                <a:schemeClr val="tx1">
                  <a:lumMod val="75000"/>
                  <a:lumOff val="25000"/>
                </a:schemeClr>
              </a:solidFill>
              <a:ea typeface="Calibri Light" charset="0"/>
              <a:cs typeface="Segoe UI" panose="020B0502040204020203" pitchFamily="34" charset="0"/>
            </a:endParaRPr>
          </a:p>
        </p:txBody>
      </p:sp>
      <p:sp>
        <p:nvSpPr>
          <p:cNvPr id="10" name="TextBox 9">
            <a:extLst>
              <a:ext uri="{FF2B5EF4-FFF2-40B4-BE49-F238E27FC236}">
                <a16:creationId xmlns:a16="http://schemas.microsoft.com/office/drawing/2014/main" id="{0E0BFCE2-A47F-ABA6-AF87-9E171344E00F}"/>
              </a:ext>
            </a:extLst>
          </p:cNvPr>
          <p:cNvSpPr txBox="1"/>
          <p:nvPr/>
        </p:nvSpPr>
        <p:spPr>
          <a:xfrm>
            <a:off x="8699185" y="2548322"/>
            <a:ext cx="1848388" cy="1038746"/>
          </a:xfrm>
          <a:prstGeom prst="rect">
            <a:avLst/>
          </a:prstGeom>
          <a:noFill/>
        </p:spPr>
        <p:txBody>
          <a:bodyPr wrap="square" lIns="0" tIns="0" rIns="0" bIns="0" rtlCol="0" anchor="ctr">
            <a:spAutoFit/>
          </a:bodyPr>
          <a:lstStyle/>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Market Disruption</a:t>
            </a:r>
          </a:p>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Generation II LLM</a:t>
            </a:r>
          </a:p>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Larger Customer Deployments</a:t>
            </a:r>
          </a:p>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Custom Engagements</a:t>
            </a:r>
            <a:endParaRPr lang="en-US" sz="1050" dirty="0">
              <a:solidFill>
                <a:schemeClr val="tx1">
                  <a:lumMod val="75000"/>
                  <a:lumOff val="25000"/>
                </a:schemeClr>
              </a:solidFill>
              <a:ea typeface="Calibri Light" charset="0"/>
              <a:cs typeface="Segoe UI" panose="020B0502040204020203" pitchFamily="34" charset="0"/>
            </a:endParaRPr>
          </a:p>
        </p:txBody>
      </p:sp>
      <p:sp>
        <p:nvSpPr>
          <p:cNvPr id="11" name="TextBox 10">
            <a:extLst>
              <a:ext uri="{FF2B5EF4-FFF2-40B4-BE49-F238E27FC236}">
                <a16:creationId xmlns:a16="http://schemas.microsoft.com/office/drawing/2014/main" id="{39419E24-575F-D9AE-0823-0354E5C5549A}"/>
              </a:ext>
            </a:extLst>
          </p:cNvPr>
          <p:cNvSpPr txBox="1"/>
          <p:nvPr/>
        </p:nvSpPr>
        <p:spPr>
          <a:xfrm>
            <a:off x="5268091" y="5373944"/>
            <a:ext cx="6316870" cy="800219"/>
          </a:xfrm>
          <a:prstGeom prst="rect">
            <a:avLst/>
          </a:prstGeom>
          <a:noFill/>
        </p:spPr>
        <p:txBody>
          <a:bodyPr wrap="square" lIns="0" tIns="0" rIns="0" bIns="0" rtlCol="0" anchor="ctr">
            <a:spAutoFit/>
          </a:bodyPr>
          <a:lstStyle/>
          <a:p>
            <a:pPr marL="285750" indent="-285750">
              <a:spcBef>
                <a:spcPts val="600"/>
              </a:spcBef>
              <a:buFont typeface="Wingdings" pitchFamily="2" charset="2"/>
              <a:buChar char="ü"/>
            </a:pPr>
            <a:r>
              <a:rPr lang="en-US" sz="1400" i="1" kern="0" dirty="0">
                <a:solidFill>
                  <a:schemeClr val="tx1">
                    <a:lumMod val="75000"/>
                    <a:lumOff val="25000"/>
                  </a:schemeClr>
                </a:solidFill>
                <a:ea typeface="Calibri Light" charset="0"/>
                <a:cs typeface="Segoe UI" panose="020B0502040204020203" pitchFamily="34" charset="0"/>
              </a:rPr>
              <a:t>Release Early &amp; Often</a:t>
            </a:r>
          </a:p>
          <a:p>
            <a:pPr marL="285750" indent="-285750">
              <a:spcBef>
                <a:spcPts val="600"/>
              </a:spcBef>
              <a:buFont typeface="Wingdings" pitchFamily="2" charset="2"/>
              <a:buChar char="ü"/>
            </a:pPr>
            <a:r>
              <a:rPr lang="en-US" sz="1400" i="1" kern="0" dirty="0">
                <a:solidFill>
                  <a:schemeClr val="tx1">
                    <a:lumMod val="75000"/>
                    <a:lumOff val="25000"/>
                  </a:schemeClr>
                </a:solidFill>
                <a:ea typeface="Calibri Light" charset="0"/>
                <a:cs typeface="Segoe UI" panose="020B0502040204020203" pitchFamily="34" charset="0"/>
              </a:rPr>
              <a:t>Engage Design Partners Early for market fit and revenue alignment</a:t>
            </a:r>
          </a:p>
          <a:p>
            <a:pPr marL="285750" indent="-285750">
              <a:spcBef>
                <a:spcPts val="600"/>
              </a:spcBef>
              <a:buFont typeface="Wingdings" pitchFamily="2" charset="2"/>
              <a:buChar char="ü"/>
            </a:pPr>
            <a:r>
              <a:rPr lang="en-US" sz="1400" i="1" kern="0" dirty="0">
                <a:solidFill>
                  <a:schemeClr val="tx1">
                    <a:lumMod val="75000"/>
                    <a:lumOff val="25000"/>
                  </a:schemeClr>
                </a:solidFill>
                <a:ea typeface="Calibri Light" charset="0"/>
                <a:cs typeface="Segoe UI" panose="020B0502040204020203" pitchFamily="34" charset="0"/>
              </a:rPr>
              <a:t>Raise funds only as necessary</a:t>
            </a:r>
            <a:endParaRPr lang="en-US" sz="1400" i="1" dirty="0">
              <a:solidFill>
                <a:schemeClr val="tx1">
                  <a:lumMod val="75000"/>
                  <a:lumOff val="25000"/>
                </a:schemeClr>
              </a:solidFill>
              <a:ea typeface="Calibri Light" charset="0"/>
              <a:cs typeface="Segoe UI" panose="020B0502040204020203" pitchFamily="34" charset="0"/>
            </a:endParaRPr>
          </a:p>
        </p:txBody>
      </p:sp>
    </p:spTree>
    <p:extLst>
      <p:ext uri="{BB962C8B-B14F-4D97-AF65-F5344CB8AC3E}">
        <p14:creationId xmlns:p14="http://schemas.microsoft.com/office/powerpoint/2010/main" val="59810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6" name="Group 175">
            <a:extLst>
              <a:ext uri="{FF2B5EF4-FFF2-40B4-BE49-F238E27FC236}">
                <a16:creationId xmlns:a16="http://schemas.microsoft.com/office/drawing/2014/main" id="{1A8CC96D-381B-428F-A169-C0EECABBEE6E}"/>
              </a:ext>
            </a:extLst>
          </p:cNvPr>
          <p:cNvGrpSpPr/>
          <p:nvPr/>
        </p:nvGrpSpPr>
        <p:grpSpPr>
          <a:xfrm>
            <a:off x="2801344" y="5680682"/>
            <a:ext cx="590745" cy="593877"/>
            <a:chOff x="5160963" y="211138"/>
            <a:chExt cx="898525" cy="903288"/>
          </a:xfrm>
        </p:grpSpPr>
        <p:sp>
          <p:nvSpPr>
            <p:cNvPr id="177" name="Freeform 25">
              <a:extLst>
                <a:ext uri="{FF2B5EF4-FFF2-40B4-BE49-F238E27FC236}">
                  <a16:creationId xmlns:a16="http://schemas.microsoft.com/office/drawing/2014/main" id="{0072DA94-39D3-477C-8F98-FD32826BB5B3}"/>
                </a:ext>
              </a:extLst>
            </p:cNvPr>
            <p:cNvSpPr>
              <a:spLocks/>
            </p:cNvSpPr>
            <p:nvPr/>
          </p:nvSpPr>
          <p:spPr bwMode="auto">
            <a:xfrm>
              <a:off x="5160963" y="211138"/>
              <a:ext cx="898525" cy="903288"/>
            </a:xfrm>
            <a:custGeom>
              <a:avLst/>
              <a:gdLst>
                <a:gd name="T0" fmla="*/ 566 w 566"/>
                <a:gd name="T1" fmla="*/ 0 h 569"/>
                <a:gd name="T2" fmla="*/ 566 w 566"/>
                <a:gd name="T3" fmla="*/ 394 h 569"/>
                <a:gd name="T4" fmla="*/ 393 w 566"/>
                <a:gd name="T5" fmla="*/ 569 h 569"/>
                <a:gd name="T6" fmla="*/ 0 w 566"/>
                <a:gd name="T7" fmla="*/ 569 h 569"/>
                <a:gd name="T8" fmla="*/ 0 w 566"/>
                <a:gd name="T9" fmla="*/ 0 h 569"/>
                <a:gd name="T10" fmla="*/ 566 w 566"/>
                <a:gd name="T11" fmla="*/ 0 h 569"/>
              </a:gdLst>
              <a:ahLst/>
              <a:cxnLst>
                <a:cxn ang="0">
                  <a:pos x="T0" y="T1"/>
                </a:cxn>
                <a:cxn ang="0">
                  <a:pos x="T2" y="T3"/>
                </a:cxn>
                <a:cxn ang="0">
                  <a:pos x="T4" y="T5"/>
                </a:cxn>
                <a:cxn ang="0">
                  <a:pos x="T6" y="T7"/>
                </a:cxn>
                <a:cxn ang="0">
                  <a:pos x="T8" y="T9"/>
                </a:cxn>
                <a:cxn ang="0">
                  <a:pos x="T10" y="T11"/>
                </a:cxn>
              </a:cxnLst>
              <a:rect l="0" t="0" r="r" b="b"/>
              <a:pathLst>
                <a:path w="566" h="569">
                  <a:moveTo>
                    <a:pt x="566" y="0"/>
                  </a:moveTo>
                  <a:lnTo>
                    <a:pt x="566" y="394"/>
                  </a:lnTo>
                  <a:lnTo>
                    <a:pt x="393" y="569"/>
                  </a:lnTo>
                  <a:lnTo>
                    <a:pt x="0" y="569"/>
                  </a:lnTo>
                  <a:lnTo>
                    <a:pt x="0" y="0"/>
                  </a:lnTo>
                  <a:lnTo>
                    <a:pt x="566" y="0"/>
                  </a:lnTo>
                  <a:close/>
                </a:path>
              </a:pathLst>
            </a:custGeom>
            <a:solidFill>
              <a:schemeClr val="accent1"/>
            </a:solidFill>
            <a:ln w="19050" cap="rnd">
              <a:solidFill>
                <a:schemeClr val="accent2"/>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78" name="Freeform 26">
              <a:extLst>
                <a:ext uri="{FF2B5EF4-FFF2-40B4-BE49-F238E27FC236}">
                  <a16:creationId xmlns:a16="http://schemas.microsoft.com/office/drawing/2014/main" id="{8C3A0BD3-FB1F-4CE0-89CA-CD84847C7387}"/>
                </a:ext>
              </a:extLst>
            </p:cNvPr>
            <p:cNvSpPr>
              <a:spLocks/>
            </p:cNvSpPr>
            <p:nvPr/>
          </p:nvSpPr>
          <p:spPr bwMode="auto">
            <a:xfrm>
              <a:off x="5784850" y="836613"/>
              <a:ext cx="274638" cy="277813"/>
            </a:xfrm>
            <a:custGeom>
              <a:avLst/>
              <a:gdLst>
                <a:gd name="T0" fmla="*/ 173 w 173"/>
                <a:gd name="T1" fmla="*/ 0 h 175"/>
                <a:gd name="T2" fmla="*/ 0 w 173"/>
                <a:gd name="T3" fmla="*/ 175 h 175"/>
                <a:gd name="T4" fmla="*/ 0 w 173"/>
                <a:gd name="T5" fmla="*/ 0 h 175"/>
                <a:gd name="T6" fmla="*/ 173 w 173"/>
                <a:gd name="T7" fmla="*/ 0 h 175"/>
              </a:gdLst>
              <a:ahLst/>
              <a:cxnLst>
                <a:cxn ang="0">
                  <a:pos x="T0" y="T1"/>
                </a:cxn>
                <a:cxn ang="0">
                  <a:pos x="T2" y="T3"/>
                </a:cxn>
                <a:cxn ang="0">
                  <a:pos x="T4" y="T5"/>
                </a:cxn>
                <a:cxn ang="0">
                  <a:pos x="T6" y="T7"/>
                </a:cxn>
              </a:cxnLst>
              <a:rect l="0" t="0" r="r" b="b"/>
              <a:pathLst>
                <a:path w="173" h="175">
                  <a:moveTo>
                    <a:pt x="173" y="0"/>
                  </a:moveTo>
                  <a:lnTo>
                    <a:pt x="0" y="175"/>
                  </a:lnTo>
                  <a:lnTo>
                    <a:pt x="0" y="0"/>
                  </a:lnTo>
                  <a:lnTo>
                    <a:pt x="173" y="0"/>
                  </a:lnTo>
                  <a:close/>
                </a:path>
              </a:pathLst>
            </a:custGeom>
            <a:solidFill>
              <a:schemeClr val="accent1"/>
            </a:solidFill>
            <a:ln w="19050" cap="rnd">
              <a:solidFill>
                <a:schemeClr val="accent2"/>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1" name="Group 110">
            <a:extLst>
              <a:ext uri="{FF2B5EF4-FFF2-40B4-BE49-F238E27FC236}">
                <a16:creationId xmlns:a16="http://schemas.microsoft.com/office/drawing/2014/main" id="{9631D0D0-FA11-4CA9-A90C-29DA0838798A}"/>
              </a:ext>
            </a:extLst>
          </p:cNvPr>
          <p:cNvGrpSpPr/>
          <p:nvPr/>
        </p:nvGrpSpPr>
        <p:grpSpPr>
          <a:xfrm rot="16200000">
            <a:off x="4072684" y="5154546"/>
            <a:ext cx="334261" cy="1469159"/>
            <a:chOff x="458492" y="454587"/>
            <a:chExt cx="334261" cy="1469159"/>
          </a:xfrm>
        </p:grpSpPr>
        <p:sp>
          <p:nvSpPr>
            <p:cNvPr id="112" name="Oval 111">
              <a:extLst>
                <a:ext uri="{FF2B5EF4-FFF2-40B4-BE49-F238E27FC236}">
                  <a16:creationId xmlns:a16="http://schemas.microsoft.com/office/drawing/2014/main" id="{64B9B4F8-8EA6-459B-8AF8-2AC5A6BBB598}"/>
                </a:ext>
              </a:extLst>
            </p:cNvPr>
            <p:cNvSpPr/>
            <p:nvPr userDrawn="1"/>
          </p:nvSpPr>
          <p:spPr>
            <a:xfrm rot="16200000">
              <a:off x="458492" y="454587"/>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 name="Oval 112">
              <a:extLst>
                <a:ext uri="{FF2B5EF4-FFF2-40B4-BE49-F238E27FC236}">
                  <a16:creationId xmlns:a16="http://schemas.microsoft.com/office/drawing/2014/main" id="{D2E8BFA0-2DE0-4126-B216-58D59A3384D4}"/>
                </a:ext>
              </a:extLst>
            </p:cNvPr>
            <p:cNvSpPr/>
            <p:nvPr userDrawn="1"/>
          </p:nvSpPr>
          <p:spPr>
            <a:xfrm rot="16200000">
              <a:off x="742105" y="454587"/>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4" name="Oval 113">
              <a:extLst>
                <a:ext uri="{FF2B5EF4-FFF2-40B4-BE49-F238E27FC236}">
                  <a16:creationId xmlns:a16="http://schemas.microsoft.com/office/drawing/2014/main" id="{96C44A36-1AC3-4570-9EEF-7C814A67F8AF}"/>
                </a:ext>
              </a:extLst>
            </p:cNvPr>
            <p:cNvSpPr/>
            <p:nvPr userDrawn="1"/>
          </p:nvSpPr>
          <p:spPr>
            <a:xfrm rot="16200000">
              <a:off x="458492" y="738289"/>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5" name="Oval 114">
              <a:extLst>
                <a:ext uri="{FF2B5EF4-FFF2-40B4-BE49-F238E27FC236}">
                  <a16:creationId xmlns:a16="http://schemas.microsoft.com/office/drawing/2014/main" id="{9F7991C0-CB12-4A5F-8CF6-3617A8402C80}"/>
                </a:ext>
              </a:extLst>
            </p:cNvPr>
            <p:cNvSpPr/>
            <p:nvPr userDrawn="1"/>
          </p:nvSpPr>
          <p:spPr>
            <a:xfrm rot="16200000">
              <a:off x="742105" y="738289"/>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6" name="Oval 115">
              <a:extLst>
                <a:ext uri="{FF2B5EF4-FFF2-40B4-BE49-F238E27FC236}">
                  <a16:creationId xmlns:a16="http://schemas.microsoft.com/office/drawing/2014/main" id="{5F032808-83FD-4CB8-8079-27A413ACEE52}"/>
                </a:ext>
              </a:extLst>
            </p:cNvPr>
            <p:cNvSpPr/>
            <p:nvPr userDrawn="1"/>
          </p:nvSpPr>
          <p:spPr>
            <a:xfrm rot="16200000">
              <a:off x="458492" y="1021992"/>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7" name="Oval 116">
              <a:extLst>
                <a:ext uri="{FF2B5EF4-FFF2-40B4-BE49-F238E27FC236}">
                  <a16:creationId xmlns:a16="http://schemas.microsoft.com/office/drawing/2014/main" id="{A584B043-C955-4F41-B828-FBF9C3900D3E}"/>
                </a:ext>
              </a:extLst>
            </p:cNvPr>
            <p:cNvSpPr/>
            <p:nvPr userDrawn="1"/>
          </p:nvSpPr>
          <p:spPr>
            <a:xfrm rot="16200000">
              <a:off x="742105" y="1021992"/>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8" name="Oval 117">
              <a:extLst>
                <a:ext uri="{FF2B5EF4-FFF2-40B4-BE49-F238E27FC236}">
                  <a16:creationId xmlns:a16="http://schemas.microsoft.com/office/drawing/2014/main" id="{C0F4C171-AD98-436C-9E8A-8CDBA7B184D5}"/>
                </a:ext>
              </a:extLst>
            </p:cNvPr>
            <p:cNvSpPr/>
            <p:nvPr userDrawn="1"/>
          </p:nvSpPr>
          <p:spPr>
            <a:xfrm rot="16200000">
              <a:off x="458492" y="1305694"/>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9" name="Oval 118">
              <a:extLst>
                <a:ext uri="{FF2B5EF4-FFF2-40B4-BE49-F238E27FC236}">
                  <a16:creationId xmlns:a16="http://schemas.microsoft.com/office/drawing/2014/main" id="{8CAD6389-D19C-49CF-A5B8-7F5B3A0555FC}"/>
                </a:ext>
              </a:extLst>
            </p:cNvPr>
            <p:cNvSpPr/>
            <p:nvPr userDrawn="1"/>
          </p:nvSpPr>
          <p:spPr>
            <a:xfrm rot="16200000">
              <a:off x="742105" y="1305694"/>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0" name="Oval 119">
              <a:extLst>
                <a:ext uri="{FF2B5EF4-FFF2-40B4-BE49-F238E27FC236}">
                  <a16:creationId xmlns:a16="http://schemas.microsoft.com/office/drawing/2014/main" id="{8A424CC4-AF98-458F-B508-AAA1C408EA92}"/>
                </a:ext>
              </a:extLst>
            </p:cNvPr>
            <p:cNvSpPr/>
            <p:nvPr userDrawn="1"/>
          </p:nvSpPr>
          <p:spPr>
            <a:xfrm rot="16200000">
              <a:off x="458492" y="1589396"/>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1" name="Oval 120">
              <a:extLst>
                <a:ext uri="{FF2B5EF4-FFF2-40B4-BE49-F238E27FC236}">
                  <a16:creationId xmlns:a16="http://schemas.microsoft.com/office/drawing/2014/main" id="{FB89BCF3-629A-43FF-B103-D8C998DF80CC}"/>
                </a:ext>
              </a:extLst>
            </p:cNvPr>
            <p:cNvSpPr/>
            <p:nvPr userDrawn="1"/>
          </p:nvSpPr>
          <p:spPr>
            <a:xfrm rot="16200000">
              <a:off x="742105" y="1589396"/>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2" name="Oval 121">
              <a:extLst>
                <a:ext uri="{FF2B5EF4-FFF2-40B4-BE49-F238E27FC236}">
                  <a16:creationId xmlns:a16="http://schemas.microsoft.com/office/drawing/2014/main" id="{C7594D92-E2D0-4A41-85C2-0CA885D1957A}"/>
                </a:ext>
              </a:extLst>
            </p:cNvPr>
            <p:cNvSpPr/>
            <p:nvPr userDrawn="1"/>
          </p:nvSpPr>
          <p:spPr>
            <a:xfrm rot="16200000">
              <a:off x="458492" y="1873098"/>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3" name="Oval 122">
              <a:extLst>
                <a:ext uri="{FF2B5EF4-FFF2-40B4-BE49-F238E27FC236}">
                  <a16:creationId xmlns:a16="http://schemas.microsoft.com/office/drawing/2014/main" id="{61E78F72-7D27-45FC-8BB9-40BC25919DF5}"/>
                </a:ext>
              </a:extLst>
            </p:cNvPr>
            <p:cNvSpPr/>
            <p:nvPr userDrawn="1"/>
          </p:nvSpPr>
          <p:spPr>
            <a:xfrm rot="16200000">
              <a:off x="742105" y="1873098"/>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79" name="Group 178">
            <a:extLst>
              <a:ext uri="{FF2B5EF4-FFF2-40B4-BE49-F238E27FC236}">
                <a16:creationId xmlns:a16="http://schemas.microsoft.com/office/drawing/2014/main" id="{3CDB5EC5-77C7-4676-8AE0-BBFF0BA123AF}"/>
              </a:ext>
            </a:extLst>
          </p:cNvPr>
          <p:cNvGrpSpPr/>
          <p:nvPr/>
        </p:nvGrpSpPr>
        <p:grpSpPr>
          <a:xfrm>
            <a:off x="3228929" y="6040757"/>
            <a:ext cx="332434" cy="334197"/>
            <a:chOff x="5160963" y="211138"/>
            <a:chExt cx="898525" cy="903288"/>
          </a:xfrm>
        </p:grpSpPr>
        <p:sp>
          <p:nvSpPr>
            <p:cNvPr id="180" name="Freeform 25">
              <a:extLst>
                <a:ext uri="{FF2B5EF4-FFF2-40B4-BE49-F238E27FC236}">
                  <a16:creationId xmlns:a16="http://schemas.microsoft.com/office/drawing/2014/main" id="{21907A22-8B98-47EC-836D-5AC15609F13B}"/>
                </a:ext>
              </a:extLst>
            </p:cNvPr>
            <p:cNvSpPr>
              <a:spLocks/>
            </p:cNvSpPr>
            <p:nvPr/>
          </p:nvSpPr>
          <p:spPr bwMode="auto">
            <a:xfrm>
              <a:off x="5160963" y="211138"/>
              <a:ext cx="898525" cy="903288"/>
            </a:xfrm>
            <a:custGeom>
              <a:avLst/>
              <a:gdLst>
                <a:gd name="T0" fmla="*/ 566 w 566"/>
                <a:gd name="T1" fmla="*/ 0 h 569"/>
                <a:gd name="T2" fmla="*/ 566 w 566"/>
                <a:gd name="T3" fmla="*/ 394 h 569"/>
                <a:gd name="T4" fmla="*/ 393 w 566"/>
                <a:gd name="T5" fmla="*/ 569 h 569"/>
                <a:gd name="T6" fmla="*/ 0 w 566"/>
                <a:gd name="T7" fmla="*/ 569 h 569"/>
                <a:gd name="T8" fmla="*/ 0 w 566"/>
                <a:gd name="T9" fmla="*/ 0 h 569"/>
                <a:gd name="T10" fmla="*/ 566 w 566"/>
                <a:gd name="T11" fmla="*/ 0 h 569"/>
              </a:gdLst>
              <a:ahLst/>
              <a:cxnLst>
                <a:cxn ang="0">
                  <a:pos x="T0" y="T1"/>
                </a:cxn>
                <a:cxn ang="0">
                  <a:pos x="T2" y="T3"/>
                </a:cxn>
                <a:cxn ang="0">
                  <a:pos x="T4" y="T5"/>
                </a:cxn>
                <a:cxn ang="0">
                  <a:pos x="T6" y="T7"/>
                </a:cxn>
                <a:cxn ang="0">
                  <a:pos x="T8" y="T9"/>
                </a:cxn>
                <a:cxn ang="0">
                  <a:pos x="T10" y="T11"/>
                </a:cxn>
              </a:cxnLst>
              <a:rect l="0" t="0" r="r" b="b"/>
              <a:pathLst>
                <a:path w="566" h="569">
                  <a:moveTo>
                    <a:pt x="566" y="0"/>
                  </a:moveTo>
                  <a:lnTo>
                    <a:pt x="566" y="394"/>
                  </a:lnTo>
                  <a:lnTo>
                    <a:pt x="393" y="569"/>
                  </a:lnTo>
                  <a:lnTo>
                    <a:pt x="0" y="569"/>
                  </a:lnTo>
                  <a:lnTo>
                    <a:pt x="0" y="0"/>
                  </a:lnTo>
                  <a:lnTo>
                    <a:pt x="566" y="0"/>
                  </a:lnTo>
                  <a:close/>
                </a:path>
              </a:pathLst>
            </a:custGeom>
            <a:solidFill>
              <a:schemeClr val="accent1"/>
            </a:solidFill>
            <a:ln w="19050" cap="rnd">
              <a:solidFill>
                <a:schemeClr val="accent2"/>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81" name="Freeform 26">
              <a:extLst>
                <a:ext uri="{FF2B5EF4-FFF2-40B4-BE49-F238E27FC236}">
                  <a16:creationId xmlns:a16="http://schemas.microsoft.com/office/drawing/2014/main" id="{A547BCA9-0014-4568-A1FB-0312162095B7}"/>
                </a:ext>
              </a:extLst>
            </p:cNvPr>
            <p:cNvSpPr>
              <a:spLocks/>
            </p:cNvSpPr>
            <p:nvPr/>
          </p:nvSpPr>
          <p:spPr bwMode="auto">
            <a:xfrm>
              <a:off x="5784850" y="836613"/>
              <a:ext cx="274638" cy="277813"/>
            </a:xfrm>
            <a:custGeom>
              <a:avLst/>
              <a:gdLst>
                <a:gd name="T0" fmla="*/ 173 w 173"/>
                <a:gd name="T1" fmla="*/ 0 h 175"/>
                <a:gd name="T2" fmla="*/ 0 w 173"/>
                <a:gd name="T3" fmla="*/ 175 h 175"/>
                <a:gd name="T4" fmla="*/ 0 w 173"/>
                <a:gd name="T5" fmla="*/ 0 h 175"/>
                <a:gd name="T6" fmla="*/ 173 w 173"/>
                <a:gd name="T7" fmla="*/ 0 h 175"/>
              </a:gdLst>
              <a:ahLst/>
              <a:cxnLst>
                <a:cxn ang="0">
                  <a:pos x="T0" y="T1"/>
                </a:cxn>
                <a:cxn ang="0">
                  <a:pos x="T2" y="T3"/>
                </a:cxn>
                <a:cxn ang="0">
                  <a:pos x="T4" y="T5"/>
                </a:cxn>
                <a:cxn ang="0">
                  <a:pos x="T6" y="T7"/>
                </a:cxn>
              </a:cxnLst>
              <a:rect l="0" t="0" r="r" b="b"/>
              <a:pathLst>
                <a:path w="173" h="175">
                  <a:moveTo>
                    <a:pt x="173" y="0"/>
                  </a:moveTo>
                  <a:lnTo>
                    <a:pt x="0" y="175"/>
                  </a:lnTo>
                  <a:lnTo>
                    <a:pt x="0" y="0"/>
                  </a:lnTo>
                  <a:lnTo>
                    <a:pt x="173" y="0"/>
                  </a:lnTo>
                  <a:close/>
                </a:path>
              </a:pathLst>
            </a:custGeom>
            <a:solidFill>
              <a:schemeClr val="accent1"/>
            </a:solidFill>
            <a:ln w="19050" cap="rnd">
              <a:solidFill>
                <a:schemeClr val="accent2"/>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4" name="Group 73">
            <a:extLst>
              <a:ext uri="{FF2B5EF4-FFF2-40B4-BE49-F238E27FC236}">
                <a16:creationId xmlns:a16="http://schemas.microsoft.com/office/drawing/2014/main" id="{D297FA49-95BB-40AF-9E89-287C68118899}"/>
              </a:ext>
            </a:extLst>
          </p:cNvPr>
          <p:cNvGrpSpPr/>
          <p:nvPr/>
        </p:nvGrpSpPr>
        <p:grpSpPr>
          <a:xfrm>
            <a:off x="245600" y="246581"/>
            <a:ext cx="1468709" cy="1469159"/>
            <a:chOff x="849303" y="4139414"/>
            <a:chExt cx="1652525" cy="1653031"/>
          </a:xfrm>
        </p:grpSpPr>
        <p:sp>
          <p:nvSpPr>
            <p:cNvPr id="75" name="Oval 74">
              <a:extLst>
                <a:ext uri="{FF2B5EF4-FFF2-40B4-BE49-F238E27FC236}">
                  <a16:creationId xmlns:a16="http://schemas.microsoft.com/office/drawing/2014/main" id="{56B0ABB8-4D59-473B-858D-FD648F9EC711}"/>
                </a:ext>
              </a:extLst>
            </p:cNvPr>
            <p:cNvSpPr/>
            <p:nvPr userDrawn="1"/>
          </p:nvSpPr>
          <p:spPr>
            <a:xfrm rot="16200000">
              <a:off x="849303"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9D532F83-5E6B-4CE9-8E93-090B3A6B32CE}"/>
                </a:ext>
              </a:extLst>
            </p:cNvPr>
            <p:cNvSpPr/>
            <p:nvPr userDrawn="1"/>
          </p:nvSpPr>
          <p:spPr>
            <a:xfrm rot="16200000">
              <a:off x="1168411"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FE88DB77-C217-4DC9-A557-0B491067BE90}"/>
                </a:ext>
              </a:extLst>
            </p:cNvPr>
            <p:cNvSpPr/>
            <p:nvPr/>
          </p:nvSpPr>
          <p:spPr>
            <a:xfrm rot="16200000">
              <a:off x="1487519"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694DF019-9D90-443F-A770-F16E69AC12ED}"/>
                </a:ext>
              </a:extLst>
            </p:cNvPr>
            <p:cNvSpPr/>
            <p:nvPr/>
          </p:nvSpPr>
          <p:spPr>
            <a:xfrm rot="16200000">
              <a:off x="1806627"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Oval 78">
              <a:extLst>
                <a:ext uri="{FF2B5EF4-FFF2-40B4-BE49-F238E27FC236}">
                  <a16:creationId xmlns:a16="http://schemas.microsoft.com/office/drawing/2014/main" id="{11452B4A-E362-4926-8E9C-EF1BE1911AF3}"/>
                </a:ext>
              </a:extLst>
            </p:cNvPr>
            <p:cNvSpPr/>
            <p:nvPr/>
          </p:nvSpPr>
          <p:spPr>
            <a:xfrm rot="16200000">
              <a:off x="2125735"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Oval 79">
              <a:extLst>
                <a:ext uri="{FF2B5EF4-FFF2-40B4-BE49-F238E27FC236}">
                  <a16:creationId xmlns:a16="http://schemas.microsoft.com/office/drawing/2014/main" id="{34EC31BB-18BF-48C9-BB1F-BC3BEC656488}"/>
                </a:ext>
              </a:extLst>
            </p:cNvPr>
            <p:cNvSpPr/>
            <p:nvPr/>
          </p:nvSpPr>
          <p:spPr>
            <a:xfrm rot="16200000">
              <a:off x="2444841"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50B0213C-51D6-4781-A41B-B03DB983D2B3}"/>
                </a:ext>
              </a:extLst>
            </p:cNvPr>
            <p:cNvSpPr/>
            <p:nvPr userDrawn="1"/>
          </p:nvSpPr>
          <p:spPr>
            <a:xfrm rot="16200000">
              <a:off x="849303"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2" name="Oval 81">
              <a:extLst>
                <a:ext uri="{FF2B5EF4-FFF2-40B4-BE49-F238E27FC236}">
                  <a16:creationId xmlns:a16="http://schemas.microsoft.com/office/drawing/2014/main" id="{7EE44591-33A5-446F-BDE6-19DA2C7F323D}"/>
                </a:ext>
              </a:extLst>
            </p:cNvPr>
            <p:cNvSpPr/>
            <p:nvPr userDrawn="1"/>
          </p:nvSpPr>
          <p:spPr>
            <a:xfrm rot="16200000">
              <a:off x="1168411"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35F31E09-0D9F-4B2F-8D75-5ACBE8B5F401}"/>
                </a:ext>
              </a:extLst>
            </p:cNvPr>
            <p:cNvSpPr/>
            <p:nvPr/>
          </p:nvSpPr>
          <p:spPr>
            <a:xfrm rot="16200000">
              <a:off x="1487519"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4" name="Oval 83">
              <a:extLst>
                <a:ext uri="{FF2B5EF4-FFF2-40B4-BE49-F238E27FC236}">
                  <a16:creationId xmlns:a16="http://schemas.microsoft.com/office/drawing/2014/main" id="{E786F7EB-2DC7-47A3-BE0F-C86B24A4821F}"/>
                </a:ext>
              </a:extLst>
            </p:cNvPr>
            <p:cNvSpPr/>
            <p:nvPr/>
          </p:nvSpPr>
          <p:spPr>
            <a:xfrm rot="16200000">
              <a:off x="1806627"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5" name="Oval 84">
              <a:extLst>
                <a:ext uri="{FF2B5EF4-FFF2-40B4-BE49-F238E27FC236}">
                  <a16:creationId xmlns:a16="http://schemas.microsoft.com/office/drawing/2014/main" id="{6E14ADA2-4A41-4733-88A6-2D3E4DE3EF34}"/>
                </a:ext>
              </a:extLst>
            </p:cNvPr>
            <p:cNvSpPr/>
            <p:nvPr/>
          </p:nvSpPr>
          <p:spPr>
            <a:xfrm rot="16200000">
              <a:off x="2125735"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6" name="Oval 85">
              <a:extLst>
                <a:ext uri="{FF2B5EF4-FFF2-40B4-BE49-F238E27FC236}">
                  <a16:creationId xmlns:a16="http://schemas.microsoft.com/office/drawing/2014/main" id="{43429A34-84D7-421F-BE8D-C53D4F467FC4}"/>
                </a:ext>
              </a:extLst>
            </p:cNvPr>
            <p:cNvSpPr/>
            <p:nvPr/>
          </p:nvSpPr>
          <p:spPr>
            <a:xfrm rot="16200000">
              <a:off x="2444841"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7" name="Oval 86">
              <a:extLst>
                <a:ext uri="{FF2B5EF4-FFF2-40B4-BE49-F238E27FC236}">
                  <a16:creationId xmlns:a16="http://schemas.microsoft.com/office/drawing/2014/main" id="{8A800B31-2404-48F2-8285-D05AAEAAB0B8}"/>
                </a:ext>
              </a:extLst>
            </p:cNvPr>
            <p:cNvSpPr/>
            <p:nvPr userDrawn="1"/>
          </p:nvSpPr>
          <p:spPr>
            <a:xfrm rot="16200000">
              <a:off x="849303"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8" name="Oval 87">
              <a:extLst>
                <a:ext uri="{FF2B5EF4-FFF2-40B4-BE49-F238E27FC236}">
                  <a16:creationId xmlns:a16="http://schemas.microsoft.com/office/drawing/2014/main" id="{520853D1-A132-4332-AEC6-14090741B557}"/>
                </a:ext>
              </a:extLst>
            </p:cNvPr>
            <p:cNvSpPr/>
            <p:nvPr userDrawn="1"/>
          </p:nvSpPr>
          <p:spPr>
            <a:xfrm rot="16200000">
              <a:off x="1168411"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9" name="Oval 88">
              <a:extLst>
                <a:ext uri="{FF2B5EF4-FFF2-40B4-BE49-F238E27FC236}">
                  <a16:creationId xmlns:a16="http://schemas.microsoft.com/office/drawing/2014/main" id="{C06B8076-A33B-4D27-A9F8-DAD91A4BF0A1}"/>
                </a:ext>
              </a:extLst>
            </p:cNvPr>
            <p:cNvSpPr/>
            <p:nvPr/>
          </p:nvSpPr>
          <p:spPr>
            <a:xfrm rot="16200000">
              <a:off x="1487519"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0" name="Oval 89">
              <a:extLst>
                <a:ext uri="{FF2B5EF4-FFF2-40B4-BE49-F238E27FC236}">
                  <a16:creationId xmlns:a16="http://schemas.microsoft.com/office/drawing/2014/main" id="{E0F01887-BE3A-43EA-BA7F-B563C71CD7CA}"/>
                </a:ext>
              </a:extLst>
            </p:cNvPr>
            <p:cNvSpPr/>
            <p:nvPr/>
          </p:nvSpPr>
          <p:spPr>
            <a:xfrm rot="16200000">
              <a:off x="1806627"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1" name="Oval 90">
              <a:extLst>
                <a:ext uri="{FF2B5EF4-FFF2-40B4-BE49-F238E27FC236}">
                  <a16:creationId xmlns:a16="http://schemas.microsoft.com/office/drawing/2014/main" id="{39B74CDD-AEA7-480B-B46A-5333CC51EF7D}"/>
                </a:ext>
              </a:extLst>
            </p:cNvPr>
            <p:cNvSpPr/>
            <p:nvPr/>
          </p:nvSpPr>
          <p:spPr>
            <a:xfrm rot="16200000">
              <a:off x="2125735"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2" name="Oval 91">
              <a:extLst>
                <a:ext uri="{FF2B5EF4-FFF2-40B4-BE49-F238E27FC236}">
                  <a16:creationId xmlns:a16="http://schemas.microsoft.com/office/drawing/2014/main" id="{761B5BFE-2865-43A4-8FD7-EC1439F378F7}"/>
                </a:ext>
              </a:extLst>
            </p:cNvPr>
            <p:cNvSpPr/>
            <p:nvPr/>
          </p:nvSpPr>
          <p:spPr>
            <a:xfrm rot="16200000">
              <a:off x="2444841"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3" name="Oval 92">
              <a:extLst>
                <a:ext uri="{FF2B5EF4-FFF2-40B4-BE49-F238E27FC236}">
                  <a16:creationId xmlns:a16="http://schemas.microsoft.com/office/drawing/2014/main" id="{E8C059FF-4556-4213-AD94-B3783EAF53A0}"/>
                </a:ext>
              </a:extLst>
            </p:cNvPr>
            <p:cNvSpPr/>
            <p:nvPr userDrawn="1"/>
          </p:nvSpPr>
          <p:spPr>
            <a:xfrm rot="16200000">
              <a:off x="849303"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4" name="Oval 93">
              <a:extLst>
                <a:ext uri="{FF2B5EF4-FFF2-40B4-BE49-F238E27FC236}">
                  <a16:creationId xmlns:a16="http://schemas.microsoft.com/office/drawing/2014/main" id="{CF60C454-9385-4B61-8484-A37655C565C6}"/>
                </a:ext>
              </a:extLst>
            </p:cNvPr>
            <p:cNvSpPr/>
            <p:nvPr userDrawn="1"/>
          </p:nvSpPr>
          <p:spPr>
            <a:xfrm rot="16200000">
              <a:off x="1168411"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5" name="Oval 94">
              <a:extLst>
                <a:ext uri="{FF2B5EF4-FFF2-40B4-BE49-F238E27FC236}">
                  <a16:creationId xmlns:a16="http://schemas.microsoft.com/office/drawing/2014/main" id="{EFFA44A9-8F75-43AF-8051-8ACCD45BCD11}"/>
                </a:ext>
              </a:extLst>
            </p:cNvPr>
            <p:cNvSpPr/>
            <p:nvPr/>
          </p:nvSpPr>
          <p:spPr>
            <a:xfrm rot="16200000">
              <a:off x="1487519"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6" name="Oval 95">
              <a:extLst>
                <a:ext uri="{FF2B5EF4-FFF2-40B4-BE49-F238E27FC236}">
                  <a16:creationId xmlns:a16="http://schemas.microsoft.com/office/drawing/2014/main" id="{B9DD3C6F-EB77-4FA9-92F5-35BA787A9009}"/>
                </a:ext>
              </a:extLst>
            </p:cNvPr>
            <p:cNvSpPr/>
            <p:nvPr/>
          </p:nvSpPr>
          <p:spPr>
            <a:xfrm rot="16200000">
              <a:off x="1806627"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7" name="Oval 96">
              <a:extLst>
                <a:ext uri="{FF2B5EF4-FFF2-40B4-BE49-F238E27FC236}">
                  <a16:creationId xmlns:a16="http://schemas.microsoft.com/office/drawing/2014/main" id="{FA1DE8C4-9517-4A9D-9AA2-8A86E32AD2FE}"/>
                </a:ext>
              </a:extLst>
            </p:cNvPr>
            <p:cNvSpPr/>
            <p:nvPr/>
          </p:nvSpPr>
          <p:spPr>
            <a:xfrm rot="16200000">
              <a:off x="2125735"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8" name="Oval 97">
              <a:extLst>
                <a:ext uri="{FF2B5EF4-FFF2-40B4-BE49-F238E27FC236}">
                  <a16:creationId xmlns:a16="http://schemas.microsoft.com/office/drawing/2014/main" id="{6E99ABCF-32EB-4F01-8B53-788419E92B01}"/>
                </a:ext>
              </a:extLst>
            </p:cNvPr>
            <p:cNvSpPr/>
            <p:nvPr/>
          </p:nvSpPr>
          <p:spPr>
            <a:xfrm rot="16200000">
              <a:off x="2444841"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9" name="Oval 98">
              <a:extLst>
                <a:ext uri="{FF2B5EF4-FFF2-40B4-BE49-F238E27FC236}">
                  <a16:creationId xmlns:a16="http://schemas.microsoft.com/office/drawing/2014/main" id="{853E56D8-11F8-4C19-815E-467899951AC4}"/>
                </a:ext>
              </a:extLst>
            </p:cNvPr>
            <p:cNvSpPr/>
            <p:nvPr userDrawn="1"/>
          </p:nvSpPr>
          <p:spPr>
            <a:xfrm rot="16200000">
              <a:off x="849303"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0" name="Oval 99">
              <a:extLst>
                <a:ext uri="{FF2B5EF4-FFF2-40B4-BE49-F238E27FC236}">
                  <a16:creationId xmlns:a16="http://schemas.microsoft.com/office/drawing/2014/main" id="{E7FA9EED-CD16-44DB-A89D-98DE3593941E}"/>
                </a:ext>
              </a:extLst>
            </p:cNvPr>
            <p:cNvSpPr/>
            <p:nvPr userDrawn="1"/>
          </p:nvSpPr>
          <p:spPr>
            <a:xfrm rot="16200000">
              <a:off x="1168411"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1" name="Oval 100">
              <a:extLst>
                <a:ext uri="{FF2B5EF4-FFF2-40B4-BE49-F238E27FC236}">
                  <a16:creationId xmlns:a16="http://schemas.microsoft.com/office/drawing/2014/main" id="{56202974-8302-41D3-8D18-D8AF178CE6EE}"/>
                </a:ext>
              </a:extLst>
            </p:cNvPr>
            <p:cNvSpPr/>
            <p:nvPr/>
          </p:nvSpPr>
          <p:spPr>
            <a:xfrm rot="16200000">
              <a:off x="1487519"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2" name="Oval 101">
              <a:extLst>
                <a:ext uri="{FF2B5EF4-FFF2-40B4-BE49-F238E27FC236}">
                  <a16:creationId xmlns:a16="http://schemas.microsoft.com/office/drawing/2014/main" id="{B8FBAE11-F7FF-497E-9E38-4620C39A6939}"/>
                </a:ext>
              </a:extLst>
            </p:cNvPr>
            <p:cNvSpPr/>
            <p:nvPr/>
          </p:nvSpPr>
          <p:spPr>
            <a:xfrm rot="16200000">
              <a:off x="1806627"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3" name="Oval 102">
              <a:extLst>
                <a:ext uri="{FF2B5EF4-FFF2-40B4-BE49-F238E27FC236}">
                  <a16:creationId xmlns:a16="http://schemas.microsoft.com/office/drawing/2014/main" id="{A0F45FFE-14BD-4F50-9D85-C48F9C2ADAF3}"/>
                </a:ext>
              </a:extLst>
            </p:cNvPr>
            <p:cNvSpPr/>
            <p:nvPr/>
          </p:nvSpPr>
          <p:spPr>
            <a:xfrm rot="16200000">
              <a:off x="2125735"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 name="Oval 103">
              <a:extLst>
                <a:ext uri="{FF2B5EF4-FFF2-40B4-BE49-F238E27FC236}">
                  <a16:creationId xmlns:a16="http://schemas.microsoft.com/office/drawing/2014/main" id="{D07610A7-82DA-489F-94E0-A225924AC5D7}"/>
                </a:ext>
              </a:extLst>
            </p:cNvPr>
            <p:cNvSpPr/>
            <p:nvPr/>
          </p:nvSpPr>
          <p:spPr>
            <a:xfrm rot="16200000">
              <a:off x="2444841"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5" name="Oval 104">
              <a:extLst>
                <a:ext uri="{FF2B5EF4-FFF2-40B4-BE49-F238E27FC236}">
                  <a16:creationId xmlns:a16="http://schemas.microsoft.com/office/drawing/2014/main" id="{2D09906F-E2C6-4669-A8C6-21A461F43A4C}"/>
                </a:ext>
              </a:extLst>
            </p:cNvPr>
            <p:cNvSpPr/>
            <p:nvPr userDrawn="1"/>
          </p:nvSpPr>
          <p:spPr>
            <a:xfrm rot="16200000">
              <a:off x="849303"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6" name="Oval 105">
              <a:extLst>
                <a:ext uri="{FF2B5EF4-FFF2-40B4-BE49-F238E27FC236}">
                  <a16:creationId xmlns:a16="http://schemas.microsoft.com/office/drawing/2014/main" id="{8E6293F0-B9DA-4362-B2A4-0FB4E0B31C5F}"/>
                </a:ext>
              </a:extLst>
            </p:cNvPr>
            <p:cNvSpPr/>
            <p:nvPr userDrawn="1"/>
          </p:nvSpPr>
          <p:spPr>
            <a:xfrm rot="16200000">
              <a:off x="1168411"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7" name="Oval 106">
              <a:extLst>
                <a:ext uri="{FF2B5EF4-FFF2-40B4-BE49-F238E27FC236}">
                  <a16:creationId xmlns:a16="http://schemas.microsoft.com/office/drawing/2014/main" id="{BB9DD5FA-DF1C-471E-A69E-CA70BE7BFF0E}"/>
                </a:ext>
              </a:extLst>
            </p:cNvPr>
            <p:cNvSpPr/>
            <p:nvPr/>
          </p:nvSpPr>
          <p:spPr>
            <a:xfrm rot="16200000">
              <a:off x="1487519"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8" name="Oval 107">
              <a:extLst>
                <a:ext uri="{FF2B5EF4-FFF2-40B4-BE49-F238E27FC236}">
                  <a16:creationId xmlns:a16="http://schemas.microsoft.com/office/drawing/2014/main" id="{8D84A486-9480-4017-8820-2032449418E0}"/>
                </a:ext>
              </a:extLst>
            </p:cNvPr>
            <p:cNvSpPr/>
            <p:nvPr/>
          </p:nvSpPr>
          <p:spPr>
            <a:xfrm rot="16200000">
              <a:off x="1806627"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9" name="Oval 108">
              <a:extLst>
                <a:ext uri="{FF2B5EF4-FFF2-40B4-BE49-F238E27FC236}">
                  <a16:creationId xmlns:a16="http://schemas.microsoft.com/office/drawing/2014/main" id="{E13B2444-CFAE-42E2-A7F1-03B1CC225F77}"/>
                </a:ext>
              </a:extLst>
            </p:cNvPr>
            <p:cNvSpPr/>
            <p:nvPr/>
          </p:nvSpPr>
          <p:spPr>
            <a:xfrm rot="16200000">
              <a:off x="2125735"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0" name="Oval 109">
              <a:extLst>
                <a:ext uri="{FF2B5EF4-FFF2-40B4-BE49-F238E27FC236}">
                  <a16:creationId xmlns:a16="http://schemas.microsoft.com/office/drawing/2014/main" id="{E41EF4E4-EA6F-4F37-A082-376E812BF985}"/>
                </a:ext>
              </a:extLst>
            </p:cNvPr>
            <p:cNvSpPr/>
            <p:nvPr/>
          </p:nvSpPr>
          <p:spPr>
            <a:xfrm rot="16200000">
              <a:off x="2444841"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29" name="Rectangle 128">
            <a:extLst>
              <a:ext uri="{FF2B5EF4-FFF2-40B4-BE49-F238E27FC236}">
                <a16:creationId xmlns:a16="http://schemas.microsoft.com/office/drawing/2014/main" id="{9231FA97-D74A-4282-85BE-CB03D842C738}"/>
              </a:ext>
            </a:extLst>
          </p:cNvPr>
          <p:cNvSpPr/>
          <p:nvPr/>
        </p:nvSpPr>
        <p:spPr>
          <a:xfrm>
            <a:off x="1589" y="1523913"/>
            <a:ext cx="3431427" cy="4834738"/>
          </a:xfrm>
          <a:prstGeom prst="rect">
            <a:avLst/>
          </a:prstGeom>
          <a:solidFill>
            <a:schemeClr val="tx1">
              <a:alpha val="23000"/>
            </a:schemeClr>
          </a:solidFill>
          <a:ln>
            <a:noFill/>
          </a:ln>
          <a:effectLst>
            <a:softEdge rad="685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0" name="Rectangle 129">
            <a:extLst>
              <a:ext uri="{FF2B5EF4-FFF2-40B4-BE49-F238E27FC236}">
                <a16:creationId xmlns:a16="http://schemas.microsoft.com/office/drawing/2014/main" id="{C235D287-1F41-437A-A931-B7E2CF869202}"/>
              </a:ext>
            </a:extLst>
          </p:cNvPr>
          <p:cNvSpPr/>
          <p:nvPr/>
        </p:nvSpPr>
        <p:spPr>
          <a:xfrm>
            <a:off x="2744789" y="1523913"/>
            <a:ext cx="3431427" cy="4834738"/>
          </a:xfrm>
          <a:prstGeom prst="rect">
            <a:avLst/>
          </a:prstGeom>
          <a:solidFill>
            <a:schemeClr val="tx1">
              <a:alpha val="23000"/>
            </a:schemeClr>
          </a:solidFill>
          <a:ln>
            <a:noFill/>
          </a:ln>
          <a:effectLst>
            <a:softEdge rad="685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1" name="Rectangle 130">
            <a:extLst>
              <a:ext uri="{FF2B5EF4-FFF2-40B4-BE49-F238E27FC236}">
                <a16:creationId xmlns:a16="http://schemas.microsoft.com/office/drawing/2014/main" id="{BD19B755-C23F-441C-A72C-D8418862C0D8}"/>
              </a:ext>
            </a:extLst>
          </p:cNvPr>
          <p:cNvSpPr/>
          <p:nvPr/>
        </p:nvSpPr>
        <p:spPr>
          <a:xfrm>
            <a:off x="5604103" y="1523913"/>
            <a:ext cx="3431427" cy="4834738"/>
          </a:xfrm>
          <a:prstGeom prst="rect">
            <a:avLst/>
          </a:prstGeom>
          <a:solidFill>
            <a:schemeClr val="tx1">
              <a:alpha val="23000"/>
            </a:schemeClr>
          </a:solidFill>
          <a:ln>
            <a:noFill/>
          </a:ln>
          <a:effectLst>
            <a:softEdge rad="685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3" name="Rectangle 132">
            <a:extLst>
              <a:ext uri="{FF2B5EF4-FFF2-40B4-BE49-F238E27FC236}">
                <a16:creationId xmlns:a16="http://schemas.microsoft.com/office/drawing/2014/main" id="{FC3BADE8-013F-4751-9BFB-CA5A4EDF119A}"/>
              </a:ext>
            </a:extLst>
          </p:cNvPr>
          <p:cNvSpPr/>
          <p:nvPr/>
        </p:nvSpPr>
        <p:spPr>
          <a:xfrm>
            <a:off x="8390846" y="1523913"/>
            <a:ext cx="3431427" cy="4834738"/>
          </a:xfrm>
          <a:prstGeom prst="rect">
            <a:avLst/>
          </a:prstGeom>
          <a:solidFill>
            <a:schemeClr val="tx1">
              <a:alpha val="23000"/>
            </a:schemeClr>
          </a:solidFill>
          <a:ln>
            <a:noFill/>
          </a:ln>
          <a:effectLst>
            <a:softEdge rad="685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72" name="Group 171">
            <a:extLst>
              <a:ext uri="{FF2B5EF4-FFF2-40B4-BE49-F238E27FC236}">
                <a16:creationId xmlns:a16="http://schemas.microsoft.com/office/drawing/2014/main" id="{A0F8D493-38A5-4F8E-ADBD-B535E7CCAA4E}"/>
              </a:ext>
            </a:extLst>
          </p:cNvPr>
          <p:cNvGrpSpPr/>
          <p:nvPr/>
        </p:nvGrpSpPr>
        <p:grpSpPr>
          <a:xfrm>
            <a:off x="7491985" y="4835775"/>
            <a:ext cx="2732087" cy="1491533"/>
            <a:chOff x="2832694" y="320160"/>
            <a:chExt cx="2143154" cy="1170016"/>
          </a:xfrm>
        </p:grpSpPr>
        <p:sp>
          <p:nvSpPr>
            <p:cNvPr id="173" name="Freeform 5">
              <a:extLst>
                <a:ext uri="{FF2B5EF4-FFF2-40B4-BE49-F238E27FC236}">
                  <a16:creationId xmlns:a16="http://schemas.microsoft.com/office/drawing/2014/main" id="{15C1ED02-1D14-4C6C-A299-14976867AA18}"/>
                </a:ext>
              </a:extLst>
            </p:cNvPr>
            <p:cNvSpPr>
              <a:spLocks noEditPoints="1"/>
            </p:cNvSpPr>
            <p:nvPr/>
          </p:nvSpPr>
          <p:spPr bwMode="auto">
            <a:xfrm>
              <a:off x="2832694" y="320160"/>
              <a:ext cx="1175955" cy="1170016"/>
            </a:xfrm>
            <a:custGeom>
              <a:avLst/>
              <a:gdLst>
                <a:gd name="T0" fmla="*/ 166 w 166"/>
                <a:gd name="T1" fmla="*/ 98 h 165"/>
                <a:gd name="T2" fmla="*/ 166 w 166"/>
                <a:gd name="T3" fmla="*/ 68 h 165"/>
                <a:gd name="T4" fmla="*/ 143 w 166"/>
                <a:gd name="T5" fmla="*/ 66 h 165"/>
                <a:gd name="T6" fmla="*/ 138 w 166"/>
                <a:gd name="T7" fmla="*/ 52 h 165"/>
                <a:gd name="T8" fmla="*/ 152 w 166"/>
                <a:gd name="T9" fmla="*/ 35 h 165"/>
                <a:gd name="T10" fmla="*/ 131 w 166"/>
                <a:gd name="T11" fmla="*/ 14 h 165"/>
                <a:gd name="T12" fmla="*/ 114 w 166"/>
                <a:gd name="T13" fmla="*/ 28 h 165"/>
                <a:gd name="T14" fmla="*/ 100 w 166"/>
                <a:gd name="T15" fmla="*/ 23 h 165"/>
                <a:gd name="T16" fmla="*/ 98 w 166"/>
                <a:gd name="T17" fmla="*/ 0 h 165"/>
                <a:gd name="T18" fmla="*/ 68 w 166"/>
                <a:gd name="T19" fmla="*/ 0 h 165"/>
                <a:gd name="T20" fmla="*/ 66 w 166"/>
                <a:gd name="T21" fmla="*/ 23 h 165"/>
                <a:gd name="T22" fmla="*/ 52 w 166"/>
                <a:gd name="T23" fmla="*/ 28 h 165"/>
                <a:gd name="T24" fmla="*/ 35 w 166"/>
                <a:gd name="T25" fmla="*/ 14 h 165"/>
                <a:gd name="T26" fmla="*/ 14 w 166"/>
                <a:gd name="T27" fmla="*/ 35 h 165"/>
                <a:gd name="T28" fmla="*/ 28 w 166"/>
                <a:gd name="T29" fmla="*/ 52 h 165"/>
                <a:gd name="T30" fmla="*/ 23 w 166"/>
                <a:gd name="T31" fmla="*/ 66 h 165"/>
                <a:gd name="T32" fmla="*/ 0 w 166"/>
                <a:gd name="T33" fmla="*/ 68 h 165"/>
                <a:gd name="T34" fmla="*/ 0 w 166"/>
                <a:gd name="T35" fmla="*/ 98 h 165"/>
                <a:gd name="T36" fmla="*/ 23 w 166"/>
                <a:gd name="T37" fmla="*/ 100 h 165"/>
                <a:gd name="T38" fmla="*/ 28 w 166"/>
                <a:gd name="T39" fmla="*/ 113 h 165"/>
                <a:gd name="T40" fmla="*/ 14 w 166"/>
                <a:gd name="T41" fmla="*/ 131 h 165"/>
                <a:gd name="T42" fmla="*/ 35 w 166"/>
                <a:gd name="T43" fmla="*/ 152 h 165"/>
                <a:gd name="T44" fmla="*/ 52 w 166"/>
                <a:gd name="T45" fmla="*/ 137 h 165"/>
                <a:gd name="T46" fmla="*/ 66 w 166"/>
                <a:gd name="T47" fmla="*/ 143 h 165"/>
                <a:gd name="T48" fmla="*/ 68 w 166"/>
                <a:gd name="T49" fmla="*/ 165 h 165"/>
                <a:gd name="T50" fmla="*/ 98 w 166"/>
                <a:gd name="T51" fmla="*/ 165 h 165"/>
                <a:gd name="T52" fmla="*/ 100 w 166"/>
                <a:gd name="T53" fmla="*/ 143 h 165"/>
                <a:gd name="T54" fmla="*/ 114 w 166"/>
                <a:gd name="T55" fmla="*/ 137 h 165"/>
                <a:gd name="T56" fmla="*/ 131 w 166"/>
                <a:gd name="T57" fmla="*/ 152 h 165"/>
                <a:gd name="T58" fmla="*/ 152 w 166"/>
                <a:gd name="T59" fmla="*/ 131 h 165"/>
                <a:gd name="T60" fmla="*/ 138 w 166"/>
                <a:gd name="T61" fmla="*/ 113 h 165"/>
                <a:gd name="T62" fmla="*/ 143 w 166"/>
                <a:gd name="T63" fmla="*/ 100 h 165"/>
                <a:gd name="T64" fmla="*/ 166 w 166"/>
                <a:gd name="T65" fmla="*/ 98 h 165"/>
                <a:gd name="T66" fmla="*/ 83 w 166"/>
                <a:gd name="T67" fmla="*/ 118 h 165"/>
                <a:gd name="T68" fmla="*/ 48 w 166"/>
                <a:gd name="T69" fmla="*/ 83 h 165"/>
                <a:gd name="T70" fmla="*/ 83 w 166"/>
                <a:gd name="T71" fmla="*/ 48 h 165"/>
                <a:gd name="T72" fmla="*/ 118 w 166"/>
                <a:gd name="T73" fmla="*/ 83 h 165"/>
                <a:gd name="T74" fmla="*/ 83 w 166"/>
                <a:gd name="T75" fmla="*/ 118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6" h="165">
                  <a:moveTo>
                    <a:pt x="166" y="98"/>
                  </a:moveTo>
                  <a:cubicBezTo>
                    <a:pt x="166" y="68"/>
                    <a:pt x="166" y="68"/>
                    <a:pt x="166" y="68"/>
                  </a:cubicBezTo>
                  <a:cubicBezTo>
                    <a:pt x="143" y="66"/>
                    <a:pt x="143" y="66"/>
                    <a:pt x="143" y="66"/>
                  </a:cubicBezTo>
                  <a:cubicBezTo>
                    <a:pt x="142" y="61"/>
                    <a:pt x="140" y="56"/>
                    <a:pt x="138" y="52"/>
                  </a:cubicBezTo>
                  <a:cubicBezTo>
                    <a:pt x="152" y="35"/>
                    <a:pt x="152" y="35"/>
                    <a:pt x="152" y="35"/>
                  </a:cubicBezTo>
                  <a:cubicBezTo>
                    <a:pt x="131" y="14"/>
                    <a:pt x="131" y="14"/>
                    <a:pt x="131" y="14"/>
                  </a:cubicBezTo>
                  <a:cubicBezTo>
                    <a:pt x="114" y="28"/>
                    <a:pt x="114" y="28"/>
                    <a:pt x="114" y="28"/>
                  </a:cubicBezTo>
                  <a:cubicBezTo>
                    <a:pt x="109" y="26"/>
                    <a:pt x="105" y="24"/>
                    <a:pt x="100" y="23"/>
                  </a:cubicBezTo>
                  <a:cubicBezTo>
                    <a:pt x="98" y="0"/>
                    <a:pt x="98" y="0"/>
                    <a:pt x="98" y="0"/>
                  </a:cubicBezTo>
                  <a:cubicBezTo>
                    <a:pt x="68" y="0"/>
                    <a:pt x="68" y="0"/>
                    <a:pt x="68" y="0"/>
                  </a:cubicBezTo>
                  <a:cubicBezTo>
                    <a:pt x="66" y="23"/>
                    <a:pt x="66" y="23"/>
                    <a:pt x="66" y="23"/>
                  </a:cubicBezTo>
                  <a:cubicBezTo>
                    <a:pt x="61" y="24"/>
                    <a:pt x="57" y="26"/>
                    <a:pt x="52" y="28"/>
                  </a:cubicBezTo>
                  <a:cubicBezTo>
                    <a:pt x="35" y="14"/>
                    <a:pt x="35" y="14"/>
                    <a:pt x="35" y="14"/>
                  </a:cubicBezTo>
                  <a:cubicBezTo>
                    <a:pt x="14" y="35"/>
                    <a:pt x="14" y="35"/>
                    <a:pt x="14" y="35"/>
                  </a:cubicBezTo>
                  <a:cubicBezTo>
                    <a:pt x="28" y="52"/>
                    <a:pt x="28" y="52"/>
                    <a:pt x="28" y="52"/>
                  </a:cubicBezTo>
                  <a:cubicBezTo>
                    <a:pt x="26" y="56"/>
                    <a:pt x="24" y="61"/>
                    <a:pt x="23" y="66"/>
                  </a:cubicBezTo>
                  <a:cubicBezTo>
                    <a:pt x="0" y="68"/>
                    <a:pt x="0" y="68"/>
                    <a:pt x="0" y="68"/>
                  </a:cubicBezTo>
                  <a:cubicBezTo>
                    <a:pt x="0" y="98"/>
                    <a:pt x="0" y="98"/>
                    <a:pt x="0" y="98"/>
                  </a:cubicBezTo>
                  <a:cubicBezTo>
                    <a:pt x="23" y="100"/>
                    <a:pt x="23" y="100"/>
                    <a:pt x="23" y="100"/>
                  </a:cubicBezTo>
                  <a:cubicBezTo>
                    <a:pt x="24" y="105"/>
                    <a:pt x="26" y="109"/>
                    <a:pt x="28" y="113"/>
                  </a:cubicBezTo>
                  <a:cubicBezTo>
                    <a:pt x="14" y="131"/>
                    <a:pt x="14" y="131"/>
                    <a:pt x="14" y="131"/>
                  </a:cubicBezTo>
                  <a:cubicBezTo>
                    <a:pt x="35" y="152"/>
                    <a:pt x="35" y="152"/>
                    <a:pt x="35" y="152"/>
                  </a:cubicBezTo>
                  <a:cubicBezTo>
                    <a:pt x="52" y="137"/>
                    <a:pt x="52" y="137"/>
                    <a:pt x="52" y="137"/>
                  </a:cubicBezTo>
                  <a:cubicBezTo>
                    <a:pt x="57" y="140"/>
                    <a:pt x="61" y="142"/>
                    <a:pt x="66" y="143"/>
                  </a:cubicBezTo>
                  <a:cubicBezTo>
                    <a:pt x="68" y="165"/>
                    <a:pt x="68" y="165"/>
                    <a:pt x="68" y="165"/>
                  </a:cubicBezTo>
                  <a:cubicBezTo>
                    <a:pt x="98" y="165"/>
                    <a:pt x="98" y="165"/>
                    <a:pt x="98" y="165"/>
                  </a:cubicBezTo>
                  <a:cubicBezTo>
                    <a:pt x="100" y="143"/>
                    <a:pt x="100" y="143"/>
                    <a:pt x="100" y="143"/>
                  </a:cubicBezTo>
                  <a:cubicBezTo>
                    <a:pt x="105" y="142"/>
                    <a:pt x="109" y="140"/>
                    <a:pt x="114" y="137"/>
                  </a:cubicBezTo>
                  <a:cubicBezTo>
                    <a:pt x="131" y="152"/>
                    <a:pt x="131" y="152"/>
                    <a:pt x="131" y="152"/>
                  </a:cubicBezTo>
                  <a:cubicBezTo>
                    <a:pt x="152" y="131"/>
                    <a:pt x="152" y="131"/>
                    <a:pt x="152" y="131"/>
                  </a:cubicBezTo>
                  <a:cubicBezTo>
                    <a:pt x="138" y="113"/>
                    <a:pt x="138" y="113"/>
                    <a:pt x="138" y="113"/>
                  </a:cubicBezTo>
                  <a:cubicBezTo>
                    <a:pt x="140" y="109"/>
                    <a:pt x="142" y="105"/>
                    <a:pt x="143" y="100"/>
                  </a:cubicBezTo>
                  <a:lnTo>
                    <a:pt x="166" y="98"/>
                  </a:lnTo>
                  <a:close/>
                  <a:moveTo>
                    <a:pt x="83" y="118"/>
                  </a:moveTo>
                  <a:cubicBezTo>
                    <a:pt x="64" y="118"/>
                    <a:pt x="48" y="102"/>
                    <a:pt x="48" y="83"/>
                  </a:cubicBezTo>
                  <a:cubicBezTo>
                    <a:pt x="48" y="63"/>
                    <a:pt x="64" y="48"/>
                    <a:pt x="83" y="48"/>
                  </a:cubicBezTo>
                  <a:cubicBezTo>
                    <a:pt x="102" y="48"/>
                    <a:pt x="118" y="63"/>
                    <a:pt x="118" y="83"/>
                  </a:cubicBezTo>
                  <a:cubicBezTo>
                    <a:pt x="118" y="102"/>
                    <a:pt x="102" y="118"/>
                    <a:pt x="83" y="118"/>
                  </a:cubicBezTo>
                  <a:close/>
                </a:path>
              </a:pathLst>
            </a:custGeom>
            <a:noFill/>
            <a:ln w="19050"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74" name="Freeform 5">
              <a:extLst>
                <a:ext uri="{FF2B5EF4-FFF2-40B4-BE49-F238E27FC236}">
                  <a16:creationId xmlns:a16="http://schemas.microsoft.com/office/drawing/2014/main" id="{0DD5112A-615D-4DB6-8000-E6BA6C610397}"/>
                </a:ext>
              </a:extLst>
            </p:cNvPr>
            <p:cNvSpPr>
              <a:spLocks noEditPoints="1"/>
            </p:cNvSpPr>
            <p:nvPr/>
          </p:nvSpPr>
          <p:spPr bwMode="auto">
            <a:xfrm>
              <a:off x="4112684" y="495863"/>
              <a:ext cx="863164" cy="858805"/>
            </a:xfrm>
            <a:custGeom>
              <a:avLst/>
              <a:gdLst>
                <a:gd name="T0" fmla="*/ 166 w 166"/>
                <a:gd name="T1" fmla="*/ 98 h 165"/>
                <a:gd name="T2" fmla="*/ 166 w 166"/>
                <a:gd name="T3" fmla="*/ 68 h 165"/>
                <a:gd name="T4" fmla="*/ 143 w 166"/>
                <a:gd name="T5" fmla="*/ 66 h 165"/>
                <a:gd name="T6" fmla="*/ 138 w 166"/>
                <a:gd name="T7" fmla="*/ 52 h 165"/>
                <a:gd name="T8" fmla="*/ 152 w 166"/>
                <a:gd name="T9" fmla="*/ 35 h 165"/>
                <a:gd name="T10" fmla="*/ 131 w 166"/>
                <a:gd name="T11" fmla="*/ 14 h 165"/>
                <a:gd name="T12" fmla="*/ 114 w 166"/>
                <a:gd name="T13" fmla="*/ 28 h 165"/>
                <a:gd name="T14" fmla="*/ 100 w 166"/>
                <a:gd name="T15" fmla="*/ 23 h 165"/>
                <a:gd name="T16" fmla="*/ 98 w 166"/>
                <a:gd name="T17" fmla="*/ 0 h 165"/>
                <a:gd name="T18" fmla="*/ 68 w 166"/>
                <a:gd name="T19" fmla="*/ 0 h 165"/>
                <a:gd name="T20" fmla="*/ 66 w 166"/>
                <a:gd name="T21" fmla="*/ 23 h 165"/>
                <a:gd name="T22" fmla="*/ 52 w 166"/>
                <a:gd name="T23" fmla="*/ 28 h 165"/>
                <a:gd name="T24" fmla="*/ 35 w 166"/>
                <a:gd name="T25" fmla="*/ 14 h 165"/>
                <a:gd name="T26" fmla="*/ 14 w 166"/>
                <a:gd name="T27" fmla="*/ 35 h 165"/>
                <a:gd name="T28" fmla="*/ 28 w 166"/>
                <a:gd name="T29" fmla="*/ 52 h 165"/>
                <a:gd name="T30" fmla="*/ 23 w 166"/>
                <a:gd name="T31" fmla="*/ 66 h 165"/>
                <a:gd name="T32" fmla="*/ 0 w 166"/>
                <a:gd name="T33" fmla="*/ 68 h 165"/>
                <a:gd name="T34" fmla="*/ 0 w 166"/>
                <a:gd name="T35" fmla="*/ 98 h 165"/>
                <a:gd name="T36" fmla="*/ 23 w 166"/>
                <a:gd name="T37" fmla="*/ 100 h 165"/>
                <a:gd name="T38" fmla="*/ 28 w 166"/>
                <a:gd name="T39" fmla="*/ 113 h 165"/>
                <a:gd name="T40" fmla="*/ 14 w 166"/>
                <a:gd name="T41" fmla="*/ 131 h 165"/>
                <a:gd name="T42" fmla="*/ 35 w 166"/>
                <a:gd name="T43" fmla="*/ 152 h 165"/>
                <a:gd name="T44" fmla="*/ 52 w 166"/>
                <a:gd name="T45" fmla="*/ 137 h 165"/>
                <a:gd name="T46" fmla="*/ 66 w 166"/>
                <a:gd name="T47" fmla="*/ 143 h 165"/>
                <a:gd name="T48" fmla="*/ 68 w 166"/>
                <a:gd name="T49" fmla="*/ 165 h 165"/>
                <a:gd name="T50" fmla="*/ 98 w 166"/>
                <a:gd name="T51" fmla="*/ 165 h 165"/>
                <a:gd name="T52" fmla="*/ 100 w 166"/>
                <a:gd name="T53" fmla="*/ 143 h 165"/>
                <a:gd name="T54" fmla="*/ 114 w 166"/>
                <a:gd name="T55" fmla="*/ 137 h 165"/>
                <a:gd name="T56" fmla="*/ 131 w 166"/>
                <a:gd name="T57" fmla="*/ 152 h 165"/>
                <a:gd name="T58" fmla="*/ 152 w 166"/>
                <a:gd name="T59" fmla="*/ 131 h 165"/>
                <a:gd name="T60" fmla="*/ 138 w 166"/>
                <a:gd name="T61" fmla="*/ 113 h 165"/>
                <a:gd name="T62" fmla="*/ 143 w 166"/>
                <a:gd name="T63" fmla="*/ 100 h 165"/>
                <a:gd name="T64" fmla="*/ 166 w 166"/>
                <a:gd name="T65" fmla="*/ 98 h 165"/>
                <a:gd name="T66" fmla="*/ 83 w 166"/>
                <a:gd name="T67" fmla="*/ 118 h 165"/>
                <a:gd name="T68" fmla="*/ 48 w 166"/>
                <a:gd name="T69" fmla="*/ 83 h 165"/>
                <a:gd name="T70" fmla="*/ 83 w 166"/>
                <a:gd name="T71" fmla="*/ 48 h 165"/>
                <a:gd name="T72" fmla="*/ 118 w 166"/>
                <a:gd name="T73" fmla="*/ 83 h 165"/>
                <a:gd name="T74" fmla="*/ 83 w 166"/>
                <a:gd name="T75" fmla="*/ 118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6" h="165">
                  <a:moveTo>
                    <a:pt x="166" y="98"/>
                  </a:moveTo>
                  <a:cubicBezTo>
                    <a:pt x="166" y="68"/>
                    <a:pt x="166" y="68"/>
                    <a:pt x="166" y="68"/>
                  </a:cubicBezTo>
                  <a:cubicBezTo>
                    <a:pt x="143" y="66"/>
                    <a:pt x="143" y="66"/>
                    <a:pt x="143" y="66"/>
                  </a:cubicBezTo>
                  <a:cubicBezTo>
                    <a:pt x="142" y="61"/>
                    <a:pt x="140" y="56"/>
                    <a:pt x="138" y="52"/>
                  </a:cubicBezTo>
                  <a:cubicBezTo>
                    <a:pt x="152" y="35"/>
                    <a:pt x="152" y="35"/>
                    <a:pt x="152" y="35"/>
                  </a:cubicBezTo>
                  <a:cubicBezTo>
                    <a:pt x="131" y="14"/>
                    <a:pt x="131" y="14"/>
                    <a:pt x="131" y="14"/>
                  </a:cubicBezTo>
                  <a:cubicBezTo>
                    <a:pt x="114" y="28"/>
                    <a:pt x="114" y="28"/>
                    <a:pt x="114" y="28"/>
                  </a:cubicBezTo>
                  <a:cubicBezTo>
                    <a:pt x="109" y="26"/>
                    <a:pt x="105" y="24"/>
                    <a:pt x="100" y="23"/>
                  </a:cubicBezTo>
                  <a:cubicBezTo>
                    <a:pt x="98" y="0"/>
                    <a:pt x="98" y="0"/>
                    <a:pt x="98" y="0"/>
                  </a:cubicBezTo>
                  <a:cubicBezTo>
                    <a:pt x="68" y="0"/>
                    <a:pt x="68" y="0"/>
                    <a:pt x="68" y="0"/>
                  </a:cubicBezTo>
                  <a:cubicBezTo>
                    <a:pt x="66" y="23"/>
                    <a:pt x="66" y="23"/>
                    <a:pt x="66" y="23"/>
                  </a:cubicBezTo>
                  <a:cubicBezTo>
                    <a:pt x="61" y="24"/>
                    <a:pt x="57" y="26"/>
                    <a:pt x="52" y="28"/>
                  </a:cubicBezTo>
                  <a:cubicBezTo>
                    <a:pt x="35" y="14"/>
                    <a:pt x="35" y="14"/>
                    <a:pt x="35" y="14"/>
                  </a:cubicBezTo>
                  <a:cubicBezTo>
                    <a:pt x="14" y="35"/>
                    <a:pt x="14" y="35"/>
                    <a:pt x="14" y="35"/>
                  </a:cubicBezTo>
                  <a:cubicBezTo>
                    <a:pt x="28" y="52"/>
                    <a:pt x="28" y="52"/>
                    <a:pt x="28" y="52"/>
                  </a:cubicBezTo>
                  <a:cubicBezTo>
                    <a:pt x="26" y="56"/>
                    <a:pt x="24" y="61"/>
                    <a:pt x="23" y="66"/>
                  </a:cubicBezTo>
                  <a:cubicBezTo>
                    <a:pt x="0" y="68"/>
                    <a:pt x="0" y="68"/>
                    <a:pt x="0" y="68"/>
                  </a:cubicBezTo>
                  <a:cubicBezTo>
                    <a:pt x="0" y="98"/>
                    <a:pt x="0" y="98"/>
                    <a:pt x="0" y="98"/>
                  </a:cubicBezTo>
                  <a:cubicBezTo>
                    <a:pt x="23" y="100"/>
                    <a:pt x="23" y="100"/>
                    <a:pt x="23" y="100"/>
                  </a:cubicBezTo>
                  <a:cubicBezTo>
                    <a:pt x="24" y="105"/>
                    <a:pt x="26" y="109"/>
                    <a:pt x="28" y="113"/>
                  </a:cubicBezTo>
                  <a:cubicBezTo>
                    <a:pt x="14" y="131"/>
                    <a:pt x="14" y="131"/>
                    <a:pt x="14" y="131"/>
                  </a:cubicBezTo>
                  <a:cubicBezTo>
                    <a:pt x="35" y="152"/>
                    <a:pt x="35" y="152"/>
                    <a:pt x="35" y="152"/>
                  </a:cubicBezTo>
                  <a:cubicBezTo>
                    <a:pt x="52" y="137"/>
                    <a:pt x="52" y="137"/>
                    <a:pt x="52" y="137"/>
                  </a:cubicBezTo>
                  <a:cubicBezTo>
                    <a:pt x="57" y="140"/>
                    <a:pt x="61" y="142"/>
                    <a:pt x="66" y="143"/>
                  </a:cubicBezTo>
                  <a:cubicBezTo>
                    <a:pt x="68" y="165"/>
                    <a:pt x="68" y="165"/>
                    <a:pt x="68" y="165"/>
                  </a:cubicBezTo>
                  <a:cubicBezTo>
                    <a:pt x="98" y="165"/>
                    <a:pt x="98" y="165"/>
                    <a:pt x="98" y="165"/>
                  </a:cubicBezTo>
                  <a:cubicBezTo>
                    <a:pt x="100" y="143"/>
                    <a:pt x="100" y="143"/>
                    <a:pt x="100" y="143"/>
                  </a:cubicBezTo>
                  <a:cubicBezTo>
                    <a:pt x="105" y="142"/>
                    <a:pt x="109" y="140"/>
                    <a:pt x="114" y="137"/>
                  </a:cubicBezTo>
                  <a:cubicBezTo>
                    <a:pt x="131" y="152"/>
                    <a:pt x="131" y="152"/>
                    <a:pt x="131" y="152"/>
                  </a:cubicBezTo>
                  <a:cubicBezTo>
                    <a:pt x="152" y="131"/>
                    <a:pt x="152" y="131"/>
                    <a:pt x="152" y="131"/>
                  </a:cubicBezTo>
                  <a:cubicBezTo>
                    <a:pt x="138" y="113"/>
                    <a:pt x="138" y="113"/>
                    <a:pt x="138" y="113"/>
                  </a:cubicBezTo>
                  <a:cubicBezTo>
                    <a:pt x="140" y="109"/>
                    <a:pt x="142" y="105"/>
                    <a:pt x="143" y="100"/>
                  </a:cubicBezTo>
                  <a:lnTo>
                    <a:pt x="166" y="98"/>
                  </a:lnTo>
                  <a:close/>
                  <a:moveTo>
                    <a:pt x="83" y="118"/>
                  </a:moveTo>
                  <a:cubicBezTo>
                    <a:pt x="64" y="118"/>
                    <a:pt x="48" y="102"/>
                    <a:pt x="48" y="83"/>
                  </a:cubicBezTo>
                  <a:cubicBezTo>
                    <a:pt x="48" y="63"/>
                    <a:pt x="64" y="48"/>
                    <a:pt x="83" y="48"/>
                  </a:cubicBezTo>
                  <a:cubicBezTo>
                    <a:pt x="102" y="48"/>
                    <a:pt x="118" y="63"/>
                    <a:pt x="118" y="83"/>
                  </a:cubicBezTo>
                  <a:cubicBezTo>
                    <a:pt x="118" y="102"/>
                    <a:pt x="102" y="118"/>
                    <a:pt x="83" y="118"/>
                  </a:cubicBezTo>
                  <a:close/>
                </a:path>
              </a:pathLst>
            </a:custGeom>
            <a:noFill/>
            <a:ln w="19050"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
        <p:nvSpPr>
          <p:cNvPr id="124" name="Rectangle 123">
            <a:extLst>
              <a:ext uri="{FF2B5EF4-FFF2-40B4-BE49-F238E27FC236}">
                <a16:creationId xmlns:a16="http://schemas.microsoft.com/office/drawing/2014/main" id="{1544CCBF-D544-41A1-8A08-95F5A9F7BFB0}"/>
              </a:ext>
            </a:extLst>
          </p:cNvPr>
          <p:cNvSpPr/>
          <p:nvPr/>
        </p:nvSpPr>
        <p:spPr>
          <a:xfrm>
            <a:off x="611029" y="1470991"/>
            <a:ext cx="2563146" cy="428363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6" name="Rectangle 125">
            <a:extLst>
              <a:ext uri="{FF2B5EF4-FFF2-40B4-BE49-F238E27FC236}">
                <a16:creationId xmlns:a16="http://schemas.microsoft.com/office/drawing/2014/main" id="{F664AB4A-9979-42D4-BEBA-4D055B2C18F4}"/>
              </a:ext>
            </a:extLst>
          </p:cNvPr>
          <p:cNvSpPr/>
          <p:nvPr/>
        </p:nvSpPr>
        <p:spPr>
          <a:xfrm>
            <a:off x="3413294" y="1470991"/>
            <a:ext cx="2563146" cy="428363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7" name="Rectangle 126">
            <a:extLst>
              <a:ext uri="{FF2B5EF4-FFF2-40B4-BE49-F238E27FC236}">
                <a16:creationId xmlns:a16="http://schemas.microsoft.com/office/drawing/2014/main" id="{702E713E-D486-49D0-A9E1-0FA9C9CCAAA3}"/>
              </a:ext>
            </a:extLst>
          </p:cNvPr>
          <p:cNvSpPr/>
          <p:nvPr/>
        </p:nvSpPr>
        <p:spPr>
          <a:xfrm>
            <a:off x="6215560" y="1470991"/>
            <a:ext cx="2563146" cy="428363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8" name="Rectangle 127">
            <a:extLst>
              <a:ext uri="{FF2B5EF4-FFF2-40B4-BE49-F238E27FC236}">
                <a16:creationId xmlns:a16="http://schemas.microsoft.com/office/drawing/2014/main" id="{C6CD1A2A-E731-494E-B883-430E5D91882E}"/>
              </a:ext>
            </a:extLst>
          </p:cNvPr>
          <p:cNvSpPr/>
          <p:nvPr/>
        </p:nvSpPr>
        <p:spPr>
          <a:xfrm>
            <a:off x="9017826" y="1470991"/>
            <a:ext cx="2563146" cy="428363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Slide Number Placeholder 3">
            <a:extLst>
              <a:ext uri="{FF2B5EF4-FFF2-40B4-BE49-F238E27FC236}">
                <a16:creationId xmlns:a16="http://schemas.microsoft.com/office/drawing/2014/main" id="{A6CA19A0-2796-4CC6-BE25-28DAA22FB253}"/>
              </a:ext>
            </a:extLst>
          </p:cNvPr>
          <p:cNvSpPr>
            <a:spLocks noGrp="1"/>
          </p:cNvSpPr>
          <p:nvPr>
            <p:ph type="sldNum" sz="quarter" idx="4294967295"/>
          </p:nvPr>
        </p:nvSpPr>
        <p:spPr>
          <a:xfrm>
            <a:off x="10576138" y="6165305"/>
            <a:ext cx="1006263" cy="556172"/>
          </a:xfrm>
          <a:prstGeom prst="rect">
            <a:avLst/>
          </a:prstGeom>
        </p:spPr>
        <p:txBody>
          <a:bodyPr/>
          <a:lstStyle/>
          <a:p>
            <a:fld id="{96E69268-9C8B-4EBF-A9EE-DC5DC2D48DC3}" type="slidenum">
              <a:rPr lang="en-US" smtClean="0"/>
              <a:pPr/>
              <a:t>12</a:t>
            </a:fld>
            <a:endParaRPr lang="en-US" dirty="0"/>
          </a:p>
        </p:txBody>
      </p:sp>
      <p:sp>
        <p:nvSpPr>
          <p:cNvPr id="2" name="Text Placeholder 1">
            <a:extLst>
              <a:ext uri="{FF2B5EF4-FFF2-40B4-BE49-F238E27FC236}">
                <a16:creationId xmlns:a16="http://schemas.microsoft.com/office/drawing/2014/main" id="{523516AA-B039-44AA-8CA1-910662728BCD}"/>
              </a:ext>
            </a:extLst>
          </p:cNvPr>
          <p:cNvSpPr>
            <a:spLocks noGrp="1"/>
          </p:cNvSpPr>
          <p:nvPr>
            <p:ph type="body" sz="quarter" idx="13"/>
          </p:nvPr>
        </p:nvSpPr>
        <p:spPr/>
        <p:txBody>
          <a:bodyPr/>
          <a:lstStyle/>
          <a:p>
            <a:r>
              <a:rPr lang="en-IN" dirty="0"/>
              <a:t>Our Leadership Team</a:t>
            </a:r>
          </a:p>
        </p:txBody>
      </p:sp>
      <p:sp>
        <p:nvSpPr>
          <p:cNvPr id="175" name="Freeform 6">
            <a:extLst>
              <a:ext uri="{FF2B5EF4-FFF2-40B4-BE49-F238E27FC236}">
                <a16:creationId xmlns:a16="http://schemas.microsoft.com/office/drawing/2014/main" id="{8DCE1C18-2992-43C5-AEA8-C61671440FD5}"/>
              </a:ext>
            </a:extLst>
          </p:cNvPr>
          <p:cNvSpPr>
            <a:spLocks/>
          </p:cNvSpPr>
          <p:nvPr/>
        </p:nvSpPr>
        <p:spPr bwMode="auto">
          <a:xfrm>
            <a:off x="10652802" y="927771"/>
            <a:ext cx="663750" cy="356831"/>
          </a:xfrm>
          <a:custGeom>
            <a:avLst/>
            <a:gdLst>
              <a:gd name="T0" fmla="*/ 360 w 373"/>
              <a:gd name="T1" fmla="*/ 138 h 201"/>
              <a:gd name="T2" fmla="*/ 362 w 373"/>
              <a:gd name="T3" fmla="*/ 119 h 201"/>
              <a:gd name="T4" fmla="*/ 280 w 373"/>
              <a:gd name="T5" fmla="*/ 37 h 201"/>
              <a:gd name="T6" fmla="*/ 259 w 373"/>
              <a:gd name="T7" fmla="*/ 40 h 201"/>
              <a:gd name="T8" fmla="*/ 190 w 373"/>
              <a:gd name="T9" fmla="*/ 0 h 201"/>
              <a:gd name="T10" fmla="*/ 111 w 373"/>
              <a:gd name="T11" fmla="*/ 74 h 201"/>
              <a:gd name="T12" fmla="*/ 99 w 373"/>
              <a:gd name="T13" fmla="*/ 73 h 201"/>
              <a:gd name="T14" fmla="*/ 36 w 373"/>
              <a:gd name="T15" fmla="*/ 130 h 201"/>
              <a:gd name="T16" fmla="*/ 0 w 373"/>
              <a:gd name="T17" fmla="*/ 166 h 201"/>
              <a:gd name="T18" fmla="*/ 36 w 373"/>
              <a:gd name="T19" fmla="*/ 201 h 201"/>
              <a:gd name="T20" fmla="*/ 337 w 373"/>
              <a:gd name="T21" fmla="*/ 201 h 201"/>
              <a:gd name="T22" fmla="*/ 373 w 373"/>
              <a:gd name="T23" fmla="*/ 166 h 201"/>
              <a:gd name="T24" fmla="*/ 360 w 373"/>
              <a:gd name="T25" fmla="*/ 138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3" h="201">
                <a:moveTo>
                  <a:pt x="360" y="138"/>
                </a:moveTo>
                <a:cubicBezTo>
                  <a:pt x="361" y="132"/>
                  <a:pt x="362" y="126"/>
                  <a:pt x="362" y="119"/>
                </a:cubicBezTo>
                <a:cubicBezTo>
                  <a:pt x="362" y="74"/>
                  <a:pt x="325" y="37"/>
                  <a:pt x="280" y="37"/>
                </a:cubicBezTo>
                <a:cubicBezTo>
                  <a:pt x="273" y="37"/>
                  <a:pt x="266" y="38"/>
                  <a:pt x="259" y="40"/>
                </a:cubicBezTo>
                <a:cubicBezTo>
                  <a:pt x="245" y="16"/>
                  <a:pt x="219" y="0"/>
                  <a:pt x="190" y="0"/>
                </a:cubicBezTo>
                <a:cubicBezTo>
                  <a:pt x="148" y="0"/>
                  <a:pt x="114" y="33"/>
                  <a:pt x="111" y="74"/>
                </a:cubicBezTo>
                <a:cubicBezTo>
                  <a:pt x="108" y="73"/>
                  <a:pt x="104" y="73"/>
                  <a:pt x="99" y="73"/>
                </a:cubicBezTo>
                <a:cubicBezTo>
                  <a:pt x="66" y="73"/>
                  <a:pt x="39" y="98"/>
                  <a:pt x="36" y="130"/>
                </a:cubicBezTo>
                <a:cubicBezTo>
                  <a:pt x="16" y="130"/>
                  <a:pt x="0" y="146"/>
                  <a:pt x="0" y="166"/>
                </a:cubicBezTo>
                <a:cubicBezTo>
                  <a:pt x="0" y="185"/>
                  <a:pt x="17" y="201"/>
                  <a:pt x="36" y="201"/>
                </a:cubicBezTo>
                <a:cubicBezTo>
                  <a:pt x="337" y="201"/>
                  <a:pt x="337" y="201"/>
                  <a:pt x="337" y="201"/>
                </a:cubicBezTo>
                <a:cubicBezTo>
                  <a:pt x="357" y="201"/>
                  <a:pt x="373" y="185"/>
                  <a:pt x="373" y="166"/>
                </a:cubicBezTo>
                <a:cubicBezTo>
                  <a:pt x="373" y="154"/>
                  <a:pt x="368" y="144"/>
                  <a:pt x="360" y="138"/>
                </a:cubicBezTo>
                <a:close/>
              </a:path>
            </a:pathLst>
          </a:custGeom>
          <a:noFill/>
          <a:ln w="19050"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82" name="Freeform 6">
            <a:extLst>
              <a:ext uri="{FF2B5EF4-FFF2-40B4-BE49-F238E27FC236}">
                <a16:creationId xmlns:a16="http://schemas.microsoft.com/office/drawing/2014/main" id="{6375C468-D681-4116-90BB-024C9FABEE35}"/>
              </a:ext>
            </a:extLst>
          </p:cNvPr>
          <p:cNvSpPr>
            <a:spLocks/>
          </p:cNvSpPr>
          <p:nvPr/>
        </p:nvSpPr>
        <p:spPr bwMode="auto">
          <a:xfrm>
            <a:off x="9487211" y="648793"/>
            <a:ext cx="1041090" cy="559688"/>
          </a:xfrm>
          <a:custGeom>
            <a:avLst/>
            <a:gdLst>
              <a:gd name="T0" fmla="*/ 360 w 373"/>
              <a:gd name="T1" fmla="*/ 138 h 201"/>
              <a:gd name="T2" fmla="*/ 362 w 373"/>
              <a:gd name="T3" fmla="*/ 119 h 201"/>
              <a:gd name="T4" fmla="*/ 280 w 373"/>
              <a:gd name="T5" fmla="*/ 37 h 201"/>
              <a:gd name="T6" fmla="*/ 259 w 373"/>
              <a:gd name="T7" fmla="*/ 40 h 201"/>
              <a:gd name="T8" fmla="*/ 190 w 373"/>
              <a:gd name="T9" fmla="*/ 0 h 201"/>
              <a:gd name="T10" fmla="*/ 111 w 373"/>
              <a:gd name="T11" fmla="*/ 74 h 201"/>
              <a:gd name="T12" fmla="*/ 99 w 373"/>
              <a:gd name="T13" fmla="*/ 73 h 201"/>
              <a:gd name="T14" fmla="*/ 36 w 373"/>
              <a:gd name="T15" fmla="*/ 130 h 201"/>
              <a:gd name="T16" fmla="*/ 0 w 373"/>
              <a:gd name="T17" fmla="*/ 166 h 201"/>
              <a:gd name="T18" fmla="*/ 36 w 373"/>
              <a:gd name="T19" fmla="*/ 201 h 201"/>
              <a:gd name="T20" fmla="*/ 337 w 373"/>
              <a:gd name="T21" fmla="*/ 201 h 201"/>
              <a:gd name="T22" fmla="*/ 373 w 373"/>
              <a:gd name="T23" fmla="*/ 166 h 201"/>
              <a:gd name="T24" fmla="*/ 360 w 373"/>
              <a:gd name="T25" fmla="*/ 138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3" h="201">
                <a:moveTo>
                  <a:pt x="360" y="138"/>
                </a:moveTo>
                <a:cubicBezTo>
                  <a:pt x="361" y="132"/>
                  <a:pt x="362" y="126"/>
                  <a:pt x="362" y="119"/>
                </a:cubicBezTo>
                <a:cubicBezTo>
                  <a:pt x="362" y="74"/>
                  <a:pt x="325" y="37"/>
                  <a:pt x="280" y="37"/>
                </a:cubicBezTo>
                <a:cubicBezTo>
                  <a:pt x="273" y="37"/>
                  <a:pt x="266" y="38"/>
                  <a:pt x="259" y="40"/>
                </a:cubicBezTo>
                <a:cubicBezTo>
                  <a:pt x="245" y="16"/>
                  <a:pt x="219" y="0"/>
                  <a:pt x="190" y="0"/>
                </a:cubicBezTo>
                <a:cubicBezTo>
                  <a:pt x="148" y="0"/>
                  <a:pt x="114" y="33"/>
                  <a:pt x="111" y="74"/>
                </a:cubicBezTo>
                <a:cubicBezTo>
                  <a:pt x="108" y="73"/>
                  <a:pt x="104" y="73"/>
                  <a:pt x="99" y="73"/>
                </a:cubicBezTo>
                <a:cubicBezTo>
                  <a:pt x="66" y="73"/>
                  <a:pt x="39" y="98"/>
                  <a:pt x="36" y="130"/>
                </a:cubicBezTo>
                <a:cubicBezTo>
                  <a:pt x="16" y="130"/>
                  <a:pt x="0" y="146"/>
                  <a:pt x="0" y="166"/>
                </a:cubicBezTo>
                <a:cubicBezTo>
                  <a:pt x="0" y="185"/>
                  <a:pt x="17" y="201"/>
                  <a:pt x="36" y="201"/>
                </a:cubicBezTo>
                <a:cubicBezTo>
                  <a:pt x="337" y="201"/>
                  <a:pt x="337" y="201"/>
                  <a:pt x="337" y="201"/>
                </a:cubicBezTo>
                <a:cubicBezTo>
                  <a:pt x="357" y="201"/>
                  <a:pt x="373" y="185"/>
                  <a:pt x="373" y="166"/>
                </a:cubicBezTo>
                <a:cubicBezTo>
                  <a:pt x="373" y="154"/>
                  <a:pt x="368" y="144"/>
                  <a:pt x="360" y="138"/>
                </a:cubicBezTo>
                <a:close/>
              </a:path>
            </a:pathLst>
          </a:custGeom>
          <a:solidFill>
            <a:schemeClr val="accent1"/>
          </a:solidFill>
          <a:ln w="19050" cap="rnd">
            <a:solidFill>
              <a:schemeClr val="accent2"/>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45" name="TextBox 144">
            <a:extLst>
              <a:ext uri="{FF2B5EF4-FFF2-40B4-BE49-F238E27FC236}">
                <a16:creationId xmlns:a16="http://schemas.microsoft.com/office/drawing/2014/main" id="{18A7977F-C0DB-41A2-A255-2FD1A13D2F4D}"/>
              </a:ext>
            </a:extLst>
          </p:cNvPr>
          <p:cNvSpPr txBox="1"/>
          <p:nvPr/>
        </p:nvSpPr>
        <p:spPr>
          <a:xfrm>
            <a:off x="838115" y="3519957"/>
            <a:ext cx="2108974" cy="169277"/>
          </a:xfrm>
          <a:prstGeom prst="rect">
            <a:avLst/>
          </a:prstGeom>
          <a:noFill/>
        </p:spPr>
        <p:txBody>
          <a:bodyPr wrap="square" lIns="0" tIns="0" rIns="0" bIns="0" rtlCol="0" anchor="b">
            <a:spAutoFit/>
          </a:bodyPr>
          <a:lstStyle/>
          <a:p>
            <a:pPr algn="ctr"/>
            <a:r>
              <a:rPr lang="en-US" sz="1100" kern="0" dirty="0">
                <a:solidFill>
                  <a:schemeClr val="bg1">
                    <a:lumMod val="85000"/>
                  </a:schemeClr>
                </a:solidFill>
                <a:ea typeface="Calibri Light" charset="0"/>
                <a:cs typeface="Segoe UI" panose="020B0502040204020203" pitchFamily="34" charset="0"/>
              </a:rPr>
              <a:t>Founder, CEO</a:t>
            </a:r>
            <a:endParaRPr lang="en-US" sz="1100" dirty="0">
              <a:solidFill>
                <a:schemeClr val="bg1">
                  <a:lumMod val="85000"/>
                </a:schemeClr>
              </a:solidFill>
              <a:ea typeface="Calibri Light" charset="0"/>
              <a:cs typeface="Segoe UI" panose="020B0502040204020203" pitchFamily="34" charset="0"/>
            </a:endParaRPr>
          </a:p>
        </p:txBody>
      </p:sp>
      <p:grpSp>
        <p:nvGrpSpPr>
          <p:cNvPr id="33" name="Group 32">
            <a:extLst>
              <a:ext uri="{FF2B5EF4-FFF2-40B4-BE49-F238E27FC236}">
                <a16:creationId xmlns:a16="http://schemas.microsoft.com/office/drawing/2014/main" id="{78CDB673-E887-4332-A048-ABD82723AD84}"/>
              </a:ext>
            </a:extLst>
          </p:cNvPr>
          <p:cNvGrpSpPr/>
          <p:nvPr/>
        </p:nvGrpSpPr>
        <p:grpSpPr>
          <a:xfrm>
            <a:off x="938593" y="1534483"/>
            <a:ext cx="1842170" cy="1902662"/>
            <a:chOff x="2148692" y="2094955"/>
            <a:chExt cx="1041214" cy="1075405"/>
          </a:xfrm>
        </p:grpSpPr>
        <p:sp>
          <p:nvSpPr>
            <p:cNvPr id="136" name="Freeform 10">
              <a:extLst>
                <a:ext uri="{FF2B5EF4-FFF2-40B4-BE49-F238E27FC236}">
                  <a16:creationId xmlns:a16="http://schemas.microsoft.com/office/drawing/2014/main" id="{763FCDB1-B59B-49BA-91A2-B367C8382821}"/>
                </a:ext>
              </a:extLst>
            </p:cNvPr>
            <p:cNvSpPr>
              <a:spLocks/>
            </p:cNvSpPr>
            <p:nvPr/>
          </p:nvSpPr>
          <p:spPr bwMode="auto">
            <a:xfrm>
              <a:off x="2256965" y="2174735"/>
              <a:ext cx="429837" cy="298769"/>
            </a:xfrm>
            <a:custGeom>
              <a:avLst/>
              <a:gdLst>
                <a:gd name="T0" fmla="*/ 0 w 135"/>
                <a:gd name="T1" fmla="*/ 94 h 94"/>
                <a:gd name="T2" fmla="*/ 135 w 135"/>
                <a:gd name="T3" fmla="*/ 0 h 94"/>
              </a:gdLst>
              <a:ahLst/>
              <a:cxnLst>
                <a:cxn ang="0">
                  <a:pos x="T0" y="T1"/>
                </a:cxn>
                <a:cxn ang="0">
                  <a:pos x="T2" y="T3"/>
                </a:cxn>
              </a:cxnLst>
              <a:rect l="0" t="0" r="r" b="b"/>
              <a:pathLst>
                <a:path w="135" h="94">
                  <a:moveTo>
                    <a:pt x="0" y="94"/>
                  </a:moveTo>
                  <a:cubicBezTo>
                    <a:pt x="21" y="39"/>
                    <a:pt x="73" y="0"/>
                    <a:pt x="135"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7" name="Freeform 11">
              <a:extLst>
                <a:ext uri="{FF2B5EF4-FFF2-40B4-BE49-F238E27FC236}">
                  <a16:creationId xmlns:a16="http://schemas.microsoft.com/office/drawing/2014/main" id="{DC3401AE-ADFE-47FB-B5E1-2D8FC0C70852}"/>
                </a:ext>
              </a:extLst>
            </p:cNvPr>
            <p:cNvSpPr>
              <a:spLocks/>
            </p:cNvSpPr>
            <p:nvPr/>
          </p:nvSpPr>
          <p:spPr bwMode="auto">
            <a:xfrm>
              <a:off x="2234171" y="2712031"/>
              <a:ext cx="354127" cy="369594"/>
            </a:xfrm>
            <a:custGeom>
              <a:avLst/>
              <a:gdLst>
                <a:gd name="T0" fmla="*/ 111 w 111"/>
                <a:gd name="T1" fmla="*/ 116 h 116"/>
                <a:gd name="T2" fmla="*/ 0 w 111"/>
                <a:gd name="T3" fmla="*/ 0 h 116"/>
              </a:gdLst>
              <a:ahLst/>
              <a:cxnLst>
                <a:cxn ang="0">
                  <a:pos x="T0" y="T1"/>
                </a:cxn>
                <a:cxn ang="0">
                  <a:pos x="T2" y="T3"/>
                </a:cxn>
              </a:cxnLst>
              <a:rect l="0" t="0" r="r" b="b"/>
              <a:pathLst>
                <a:path w="111" h="116">
                  <a:moveTo>
                    <a:pt x="111" y="116"/>
                  </a:moveTo>
                  <a:cubicBezTo>
                    <a:pt x="55" y="104"/>
                    <a:pt x="10" y="58"/>
                    <a:pt x="0"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8" name="Freeform 12">
              <a:extLst>
                <a:ext uri="{FF2B5EF4-FFF2-40B4-BE49-F238E27FC236}">
                  <a16:creationId xmlns:a16="http://schemas.microsoft.com/office/drawing/2014/main" id="{12F263A6-B94D-4F89-BDA7-3125C58CC1DB}"/>
                </a:ext>
              </a:extLst>
            </p:cNvPr>
            <p:cNvSpPr>
              <a:spLocks/>
            </p:cNvSpPr>
            <p:nvPr/>
          </p:nvSpPr>
          <p:spPr bwMode="auto">
            <a:xfrm>
              <a:off x="2896836" y="2378256"/>
              <a:ext cx="251552" cy="665107"/>
            </a:xfrm>
            <a:custGeom>
              <a:avLst/>
              <a:gdLst>
                <a:gd name="T0" fmla="*/ 54 w 79"/>
                <a:gd name="T1" fmla="*/ 0 h 209"/>
                <a:gd name="T2" fmla="*/ 79 w 79"/>
                <a:gd name="T3" fmla="*/ 80 h 209"/>
                <a:gd name="T4" fmla="*/ 0 w 79"/>
                <a:gd name="T5" fmla="*/ 209 h 209"/>
              </a:gdLst>
              <a:ahLst/>
              <a:cxnLst>
                <a:cxn ang="0">
                  <a:pos x="T0" y="T1"/>
                </a:cxn>
                <a:cxn ang="0">
                  <a:pos x="T2" y="T3"/>
                </a:cxn>
                <a:cxn ang="0">
                  <a:pos x="T4" y="T5"/>
                </a:cxn>
              </a:cxnLst>
              <a:rect l="0" t="0" r="r" b="b"/>
              <a:pathLst>
                <a:path w="79" h="209">
                  <a:moveTo>
                    <a:pt x="54" y="0"/>
                  </a:moveTo>
                  <a:cubicBezTo>
                    <a:pt x="70" y="23"/>
                    <a:pt x="79" y="50"/>
                    <a:pt x="79" y="80"/>
                  </a:cubicBezTo>
                  <a:cubicBezTo>
                    <a:pt x="79" y="137"/>
                    <a:pt x="47" y="185"/>
                    <a:pt x="0" y="209"/>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9" name="Freeform 13">
              <a:extLst>
                <a:ext uri="{FF2B5EF4-FFF2-40B4-BE49-F238E27FC236}">
                  <a16:creationId xmlns:a16="http://schemas.microsoft.com/office/drawing/2014/main" id="{A6D35558-BCD5-4CB9-ABE9-F0A0C727BE1D}"/>
                </a:ext>
              </a:extLst>
            </p:cNvPr>
            <p:cNvSpPr>
              <a:spLocks/>
            </p:cNvSpPr>
            <p:nvPr/>
          </p:nvSpPr>
          <p:spPr bwMode="auto">
            <a:xfrm>
              <a:off x="2148692" y="2396980"/>
              <a:ext cx="56986" cy="334588"/>
            </a:xfrm>
            <a:custGeom>
              <a:avLst/>
              <a:gdLst>
                <a:gd name="T0" fmla="*/ 3 w 18"/>
                <a:gd name="T1" fmla="*/ 105 h 105"/>
                <a:gd name="T2" fmla="*/ 0 w 18"/>
                <a:gd name="T3" fmla="*/ 74 h 105"/>
                <a:gd name="T4" fmla="*/ 18 w 18"/>
                <a:gd name="T5" fmla="*/ 0 h 105"/>
              </a:gdLst>
              <a:ahLst/>
              <a:cxnLst>
                <a:cxn ang="0">
                  <a:pos x="T0" y="T1"/>
                </a:cxn>
                <a:cxn ang="0">
                  <a:pos x="T2" y="T3"/>
                </a:cxn>
                <a:cxn ang="0">
                  <a:pos x="T4" y="T5"/>
                </a:cxn>
              </a:cxnLst>
              <a:rect l="0" t="0" r="r" b="b"/>
              <a:pathLst>
                <a:path w="18" h="105">
                  <a:moveTo>
                    <a:pt x="3" y="105"/>
                  </a:moveTo>
                  <a:cubicBezTo>
                    <a:pt x="1" y="95"/>
                    <a:pt x="0" y="85"/>
                    <a:pt x="0" y="74"/>
                  </a:cubicBezTo>
                  <a:cubicBezTo>
                    <a:pt x="0" y="48"/>
                    <a:pt x="7" y="22"/>
                    <a:pt x="18"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0" name="Freeform 14">
              <a:extLst>
                <a:ext uri="{FF2B5EF4-FFF2-40B4-BE49-F238E27FC236}">
                  <a16:creationId xmlns:a16="http://schemas.microsoft.com/office/drawing/2014/main" id="{C1BC668D-353A-41F6-8852-6B3AA94B671E}"/>
                </a:ext>
              </a:extLst>
            </p:cNvPr>
            <p:cNvSpPr>
              <a:spLocks/>
            </p:cNvSpPr>
            <p:nvPr/>
          </p:nvSpPr>
          <p:spPr bwMode="auto">
            <a:xfrm>
              <a:off x="2537010" y="3088138"/>
              <a:ext cx="439606" cy="82222"/>
            </a:xfrm>
            <a:custGeom>
              <a:avLst/>
              <a:gdLst>
                <a:gd name="T0" fmla="*/ 138 w 138"/>
                <a:gd name="T1" fmla="*/ 0 h 26"/>
                <a:gd name="T2" fmla="*/ 47 w 138"/>
                <a:gd name="T3" fmla="*/ 26 h 26"/>
                <a:gd name="T4" fmla="*/ 0 w 138"/>
                <a:gd name="T5" fmla="*/ 20 h 26"/>
              </a:gdLst>
              <a:ahLst/>
              <a:cxnLst>
                <a:cxn ang="0">
                  <a:pos x="T0" y="T1"/>
                </a:cxn>
                <a:cxn ang="0">
                  <a:pos x="T2" y="T3"/>
                </a:cxn>
                <a:cxn ang="0">
                  <a:pos x="T4" y="T5"/>
                </a:cxn>
              </a:cxnLst>
              <a:rect l="0" t="0" r="r" b="b"/>
              <a:pathLst>
                <a:path w="138" h="26">
                  <a:moveTo>
                    <a:pt x="138" y="0"/>
                  </a:moveTo>
                  <a:cubicBezTo>
                    <a:pt x="112" y="17"/>
                    <a:pt x="81" y="26"/>
                    <a:pt x="47" y="26"/>
                  </a:cubicBezTo>
                  <a:cubicBezTo>
                    <a:pt x="31" y="26"/>
                    <a:pt x="15" y="24"/>
                    <a:pt x="0" y="2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1" name="Freeform 15">
              <a:extLst>
                <a:ext uri="{FF2B5EF4-FFF2-40B4-BE49-F238E27FC236}">
                  <a16:creationId xmlns:a16="http://schemas.microsoft.com/office/drawing/2014/main" id="{0EF0666B-E3E8-4736-BF7D-2573C3EB2CAA}"/>
                </a:ext>
              </a:extLst>
            </p:cNvPr>
            <p:cNvSpPr>
              <a:spLocks/>
            </p:cNvSpPr>
            <p:nvPr/>
          </p:nvSpPr>
          <p:spPr bwMode="auto">
            <a:xfrm>
              <a:off x="2686802" y="2094955"/>
              <a:ext cx="503104" cy="340287"/>
            </a:xfrm>
            <a:custGeom>
              <a:avLst/>
              <a:gdLst>
                <a:gd name="T0" fmla="*/ 0 w 158"/>
                <a:gd name="T1" fmla="*/ 0 h 107"/>
                <a:gd name="T2" fmla="*/ 158 w 158"/>
                <a:gd name="T3" fmla="*/ 107 h 107"/>
              </a:gdLst>
              <a:ahLst/>
              <a:cxnLst>
                <a:cxn ang="0">
                  <a:pos x="T0" y="T1"/>
                </a:cxn>
                <a:cxn ang="0">
                  <a:pos x="T2" y="T3"/>
                </a:cxn>
              </a:cxnLst>
              <a:rect l="0" t="0" r="r" b="b"/>
              <a:pathLst>
                <a:path w="158" h="107">
                  <a:moveTo>
                    <a:pt x="0" y="0"/>
                  </a:moveTo>
                  <a:cubicBezTo>
                    <a:pt x="72" y="0"/>
                    <a:pt x="133" y="45"/>
                    <a:pt x="158" y="107"/>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grpSp>
        <p:nvGrpSpPr>
          <p:cNvPr id="142" name="Group 141">
            <a:extLst>
              <a:ext uri="{FF2B5EF4-FFF2-40B4-BE49-F238E27FC236}">
                <a16:creationId xmlns:a16="http://schemas.microsoft.com/office/drawing/2014/main" id="{0180D0FD-A938-496A-9C6A-71A18C220E76}"/>
              </a:ext>
            </a:extLst>
          </p:cNvPr>
          <p:cNvGrpSpPr/>
          <p:nvPr/>
        </p:nvGrpSpPr>
        <p:grpSpPr>
          <a:xfrm>
            <a:off x="3735372" y="1534484"/>
            <a:ext cx="1842170" cy="1902662"/>
            <a:chOff x="2148692" y="2094955"/>
            <a:chExt cx="1041214" cy="1075405"/>
          </a:xfrm>
        </p:grpSpPr>
        <p:sp>
          <p:nvSpPr>
            <p:cNvPr id="143" name="Freeform 10">
              <a:extLst>
                <a:ext uri="{FF2B5EF4-FFF2-40B4-BE49-F238E27FC236}">
                  <a16:creationId xmlns:a16="http://schemas.microsoft.com/office/drawing/2014/main" id="{0CF95EAF-89AF-497A-8FBA-ABBD6C6B2A50}"/>
                </a:ext>
              </a:extLst>
            </p:cNvPr>
            <p:cNvSpPr>
              <a:spLocks/>
            </p:cNvSpPr>
            <p:nvPr/>
          </p:nvSpPr>
          <p:spPr bwMode="auto">
            <a:xfrm>
              <a:off x="2256965" y="2174735"/>
              <a:ext cx="429837" cy="298769"/>
            </a:xfrm>
            <a:custGeom>
              <a:avLst/>
              <a:gdLst>
                <a:gd name="T0" fmla="*/ 0 w 135"/>
                <a:gd name="T1" fmla="*/ 94 h 94"/>
                <a:gd name="T2" fmla="*/ 135 w 135"/>
                <a:gd name="T3" fmla="*/ 0 h 94"/>
              </a:gdLst>
              <a:ahLst/>
              <a:cxnLst>
                <a:cxn ang="0">
                  <a:pos x="T0" y="T1"/>
                </a:cxn>
                <a:cxn ang="0">
                  <a:pos x="T2" y="T3"/>
                </a:cxn>
              </a:cxnLst>
              <a:rect l="0" t="0" r="r" b="b"/>
              <a:pathLst>
                <a:path w="135" h="94">
                  <a:moveTo>
                    <a:pt x="0" y="94"/>
                  </a:moveTo>
                  <a:cubicBezTo>
                    <a:pt x="21" y="39"/>
                    <a:pt x="73" y="0"/>
                    <a:pt x="135"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6" name="Freeform 11">
              <a:extLst>
                <a:ext uri="{FF2B5EF4-FFF2-40B4-BE49-F238E27FC236}">
                  <a16:creationId xmlns:a16="http://schemas.microsoft.com/office/drawing/2014/main" id="{B446FBF5-E084-46FD-90D1-142C53EFF84C}"/>
                </a:ext>
              </a:extLst>
            </p:cNvPr>
            <p:cNvSpPr>
              <a:spLocks/>
            </p:cNvSpPr>
            <p:nvPr/>
          </p:nvSpPr>
          <p:spPr bwMode="auto">
            <a:xfrm>
              <a:off x="2234171" y="2712031"/>
              <a:ext cx="354127" cy="369594"/>
            </a:xfrm>
            <a:custGeom>
              <a:avLst/>
              <a:gdLst>
                <a:gd name="T0" fmla="*/ 111 w 111"/>
                <a:gd name="T1" fmla="*/ 116 h 116"/>
                <a:gd name="T2" fmla="*/ 0 w 111"/>
                <a:gd name="T3" fmla="*/ 0 h 116"/>
              </a:gdLst>
              <a:ahLst/>
              <a:cxnLst>
                <a:cxn ang="0">
                  <a:pos x="T0" y="T1"/>
                </a:cxn>
                <a:cxn ang="0">
                  <a:pos x="T2" y="T3"/>
                </a:cxn>
              </a:cxnLst>
              <a:rect l="0" t="0" r="r" b="b"/>
              <a:pathLst>
                <a:path w="111" h="116">
                  <a:moveTo>
                    <a:pt x="111" y="116"/>
                  </a:moveTo>
                  <a:cubicBezTo>
                    <a:pt x="55" y="104"/>
                    <a:pt x="10" y="58"/>
                    <a:pt x="0"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7" name="Freeform 12">
              <a:extLst>
                <a:ext uri="{FF2B5EF4-FFF2-40B4-BE49-F238E27FC236}">
                  <a16:creationId xmlns:a16="http://schemas.microsoft.com/office/drawing/2014/main" id="{F73519AB-E122-402F-AA9A-F7A07AC19F98}"/>
                </a:ext>
              </a:extLst>
            </p:cNvPr>
            <p:cNvSpPr>
              <a:spLocks/>
            </p:cNvSpPr>
            <p:nvPr/>
          </p:nvSpPr>
          <p:spPr bwMode="auto">
            <a:xfrm>
              <a:off x="2896836" y="2378256"/>
              <a:ext cx="251552" cy="665107"/>
            </a:xfrm>
            <a:custGeom>
              <a:avLst/>
              <a:gdLst>
                <a:gd name="T0" fmla="*/ 54 w 79"/>
                <a:gd name="T1" fmla="*/ 0 h 209"/>
                <a:gd name="T2" fmla="*/ 79 w 79"/>
                <a:gd name="T3" fmla="*/ 80 h 209"/>
                <a:gd name="T4" fmla="*/ 0 w 79"/>
                <a:gd name="T5" fmla="*/ 209 h 209"/>
              </a:gdLst>
              <a:ahLst/>
              <a:cxnLst>
                <a:cxn ang="0">
                  <a:pos x="T0" y="T1"/>
                </a:cxn>
                <a:cxn ang="0">
                  <a:pos x="T2" y="T3"/>
                </a:cxn>
                <a:cxn ang="0">
                  <a:pos x="T4" y="T5"/>
                </a:cxn>
              </a:cxnLst>
              <a:rect l="0" t="0" r="r" b="b"/>
              <a:pathLst>
                <a:path w="79" h="209">
                  <a:moveTo>
                    <a:pt x="54" y="0"/>
                  </a:moveTo>
                  <a:cubicBezTo>
                    <a:pt x="70" y="23"/>
                    <a:pt x="79" y="50"/>
                    <a:pt x="79" y="80"/>
                  </a:cubicBezTo>
                  <a:cubicBezTo>
                    <a:pt x="79" y="137"/>
                    <a:pt x="47" y="185"/>
                    <a:pt x="0" y="209"/>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8" name="Freeform 13">
              <a:extLst>
                <a:ext uri="{FF2B5EF4-FFF2-40B4-BE49-F238E27FC236}">
                  <a16:creationId xmlns:a16="http://schemas.microsoft.com/office/drawing/2014/main" id="{A07F5480-2F4B-49DF-B489-19F01D3F13E3}"/>
                </a:ext>
              </a:extLst>
            </p:cNvPr>
            <p:cNvSpPr>
              <a:spLocks/>
            </p:cNvSpPr>
            <p:nvPr/>
          </p:nvSpPr>
          <p:spPr bwMode="auto">
            <a:xfrm>
              <a:off x="2148692" y="2396980"/>
              <a:ext cx="56986" cy="334588"/>
            </a:xfrm>
            <a:custGeom>
              <a:avLst/>
              <a:gdLst>
                <a:gd name="T0" fmla="*/ 3 w 18"/>
                <a:gd name="T1" fmla="*/ 105 h 105"/>
                <a:gd name="T2" fmla="*/ 0 w 18"/>
                <a:gd name="T3" fmla="*/ 74 h 105"/>
                <a:gd name="T4" fmla="*/ 18 w 18"/>
                <a:gd name="T5" fmla="*/ 0 h 105"/>
              </a:gdLst>
              <a:ahLst/>
              <a:cxnLst>
                <a:cxn ang="0">
                  <a:pos x="T0" y="T1"/>
                </a:cxn>
                <a:cxn ang="0">
                  <a:pos x="T2" y="T3"/>
                </a:cxn>
                <a:cxn ang="0">
                  <a:pos x="T4" y="T5"/>
                </a:cxn>
              </a:cxnLst>
              <a:rect l="0" t="0" r="r" b="b"/>
              <a:pathLst>
                <a:path w="18" h="105">
                  <a:moveTo>
                    <a:pt x="3" y="105"/>
                  </a:moveTo>
                  <a:cubicBezTo>
                    <a:pt x="1" y="95"/>
                    <a:pt x="0" y="85"/>
                    <a:pt x="0" y="74"/>
                  </a:cubicBezTo>
                  <a:cubicBezTo>
                    <a:pt x="0" y="48"/>
                    <a:pt x="7" y="22"/>
                    <a:pt x="18"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9" name="Freeform 14">
              <a:extLst>
                <a:ext uri="{FF2B5EF4-FFF2-40B4-BE49-F238E27FC236}">
                  <a16:creationId xmlns:a16="http://schemas.microsoft.com/office/drawing/2014/main" id="{1132CBE1-E1F5-4650-A64E-71B1A3493A12}"/>
                </a:ext>
              </a:extLst>
            </p:cNvPr>
            <p:cNvSpPr>
              <a:spLocks/>
            </p:cNvSpPr>
            <p:nvPr/>
          </p:nvSpPr>
          <p:spPr bwMode="auto">
            <a:xfrm>
              <a:off x="2537010" y="3088138"/>
              <a:ext cx="439606" cy="82222"/>
            </a:xfrm>
            <a:custGeom>
              <a:avLst/>
              <a:gdLst>
                <a:gd name="T0" fmla="*/ 138 w 138"/>
                <a:gd name="T1" fmla="*/ 0 h 26"/>
                <a:gd name="T2" fmla="*/ 47 w 138"/>
                <a:gd name="T3" fmla="*/ 26 h 26"/>
                <a:gd name="T4" fmla="*/ 0 w 138"/>
                <a:gd name="T5" fmla="*/ 20 h 26"/>
              </a:gdLst>
              <a:ahLst/>
              <a:cxnLst>
                <a:cxn ang="0">
                  <a:pos x="T0" y="T1"/>
                </a:cxn>
                <a:cxn ang="0">
                  <a:pos x="T2" y="T3"/>
                </a:cxn>
                <a:cxn ang="0">
                  <a:pos x="T4" y="T5"/>
                </a:cxn>
              </a:cxnLst>
              <a:rect l="0" t="0" r="r" b="b"/>
              <a:pathLst>
                <a:path w="138" h="26">
                  <a:moveTo>
                    <a:pt x="138" y="0"/>
                  </a:moveTo>
                  <a:cubicBezTo>
                    <a:pt x="112" y="17"/>
                    <a:pt x="81" y="26"/>
                    <a:pt x="47" y="26"/>
                  </a:cubicBezTo>
                  <a:cubicBezTo>
                    <a:pt x="31" y="26"/>
                    <a:pt x="15" y="24"/>
                    <a:pt x="0" y="2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0" name="Freeform 15">
              <a:extLst>
                <a:ext uri="{FF2B5EF4-FFF2-40B4-BE49-F238E27FC236}">
                  <a16:creationId xmlns:a16="http://schemas.microsoft.com/office/drawing/2014/main" id="{0A029FBE-E7A6-4038-AAC6-6D7433391ED3}"/>
                </a:ext>
              </a:extLst>
            </p:cNvPr>
            <p:cNvSpPr>
              <a:spLocks/>
            </p:cNvSpPr>
            <p:nvPr/>
          </p:nvSpPr>
          <p:spPr bwMode="auto">
            <a:xfrm>
              <a:off x="2686802" y="2094955"/>
              <a:ext cx="503104" cy="340287"/>
            </a:xfrm>
            <a:custGeom>
              <a:avLst/>
              <a:gdLst>
                <a:gd name="T0" fmla="*/ 0 w 158"/>
                <a:gd name="T1" fmla="*/ 0 h 107"/>
                <a:gd name="T2" fmla="*/ 158 w 158"/>
                <a:gd name="T3" fmla="*/ 107 h 107"/>
              </a:gdLst>
              <a:ahLst/>
              <a:cxnLst>
                <a:cxn ang="0">
                  <a:pos x="T0" y="T1"/>
                </a:cxn>
                <a:cxn ang="0">
                  <a:pos x="T2" y="T3"/>
                </a:cxn>
              </a:cxnLst>
              <a:rect l="0" t="0" r="r" b="b"/>
              <a:pathLst>
                <a:path w="158" h="107">
                  <a:moveTo>
                    <a:pt x="0" y="0"/>
                  </a:moveTo>
                  <a:cubicBezTo>
                    <a:pt x="72" y="0"/>
                    <a:pt x="133" y="45"/>
                    <a:pt x="158" y="107"/>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grpSp>
        <p:nvGrpSpPr>
          <p:cNvPr id="151" name="Group 150">
            <a:extLst>
              <a:ext uri="{FF2B5EF4-FFF2-40B4-BE49-F238E27FC236}">
                <a16:creationId xmlns:a16="http://schemas.microsoft.com/office/drawing/2014/main" id="{DE6E1424-C51A-452A-B392-652FEA748185}"/>
              </a:ext>
            </a:extLst>
          </p:cNvPr>
          <p:cNvGrpSpPr/>
          <p:nvPr/>
        </p:nvGrpSpPr>
        <p:grpSpPr>
          <a:xfrm>
            <a:off x="6545698" y="1515630"/>
            <a:ext cx="1842170" cy="1902662"/>
            <a:chOff x="2148692" y="2094955"/>
            <a:chExt cx="1041214" cy="1075405"/>
          </a:xfrm>
        </p:grpSpPr>
        <p:sp>
          <p:nvSpPr>
            <p:cNvPr id="152" name="Freeform 10">
              <a:extLst>
                <a:ext uri="{FF2B5EF4-FFF2-40B4-BE49-F238E27FC236}">
                  <a16:creationId xmlns:a16="http://schemas.microsoft.com/office/drawing/2014/main" id="{F8B1A8AA-8951-4EED-BD0B-FD6CA188CD73}"/>
                </a:ext>
              </a:extLst>
            </p:cNvPr>
            <p:cNvSpPr>
              <a:spLocks/>
            </p:cNvSpPr>
            <p:nvPr/>
          </p:nvSpPr>
          <p:spPr bwMode="auto">
            <a:xfrm>
              <a:off x="2256965" y="2174735"/>
              <a:ext cx="429837" cy="298769"/>
            </a:xfrm>
            <a:custGeom>
              <a:avLst/>
              <a:gdLst>
                <a:gd name="T0" fmla="*/ 0 w 135"/>
                <a:gd name="T1" fmla="*/ 94 h 94"/>
                <a:gd name="T2" fmla="*/ 135 w 135"/>
                <a:gd name="T3" fmla="*/ 0 h 94"/>
              </a:gdLst>
              <a:ahLst/>
              <a:cxnLst>
                <a:cxn ang="0">
                  <a:pos x="T0" y="T1"/>
                </a:cxn>
                <a:cxn ang="0">
                  <a:pos x="T2" y="T3"/>
                </a:cxn>
              </a:cxnLst>
              <a:rect l="0" t="0" r="r" b="b"/>
              <a:pathLst>
                <a:path w="135" h="94">
                  <a:moveTo>
                    <a:pt x="0" y="94"/>
                  </a:moveTo>
                  <a:cubicBezTo>
                    <a:pt x="21" y="39"/>
                    <a:pt x="73" y="0"/>
                    <a:pt x="135"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3" name="Freeform 11">
              <a:extLst>
                <a:ext uri="{FF2B5EF4-FFF2-40B4-BE49-F238E27FC236}">
                  <a16:creationId xmlns:a16="http://schemas.microsoft.com/office/drawing/2014/main" id="{4192D018-512A-49E5-A991-3A8C962C61FB}"/>
                </a:ext>
              </a:extLst>
            </p:cNvPr>
            <p:cNvSpPr>
              <a:spLocks/>
            </p:cNvSpPr>
            <p:nvPr/>
          </p:nvSpPr>
          <p:spPr bwMode="auto">
            <a:xfrm>
              <a:off x="2234171" y="2712031"/>
              <a:ext cx="354127" cy="369594"/>
            </a:xfrm>
            <a:custGeom>
              <a:avLst/>
              <a:gdLst>
                <a:gd name="T0" fmla="*/ 111 w 111"/>
                <a:gd name="T1" fmla="*/ 116 h 116"/>
                <a:gd name="T2" fmla="*/ 0 w 111"/>
                <a:gd name="T3" fmla="*/ 0 h 116"/>
              </a:gdLst>
              <a:ahLst/>
              <a:cxnLst>
                <a:cxn ang="0">
                  <a:pos x="T0" y="T1"/>
                </a:cxn>
                <a:cxn ang="0">
                  <a:pos x="T2" y="T3"/>
                </a:cxn>
              </a:cxnLst>
              <a:rect l="0" t="0" r="r" b="b"/>
              <a:pathLst>
                <a:path w="111" h="116">
                  <a:moveTo>
                    <a:pt x="111" y="116"/>
                  </a:moveTo>
                  <a:cubicBezTo>
                    <a:pt x="55" y="104"/>
                    <a:pt x="10" y="58"/>
                    <a:pt x="0"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4" name="Freeform 12">
              <a:extLst>
                <a:ext uri="{FF2B5EF4-FFF2-40B4-BE49-F238E27FC236}">
                  <a16:creationId xmlns:a16="http://schemas.microsoft.com/office/drawing/2014/main" id="{E0C36993-6CAD-427E-9B72-491673C52052}"/>
                </a:ext>
              </a:extLst>
            </p:cNvPr>
            <p:cNvSpPr>
              <a:spLocks/>
            </p:cNvSpPr>
            <p:nvPr/>
          </p:nvSpPr>
          <p:spPr bwMode="auto">
            <a:xfrm>
              <a:off x="2896836" y="2378256"/>
              <a:ext cx="251552" cy="665107"/>
            </a:xfrm>
            <a:custGeom>
              <a:avLst/>
              <a:gdLst>
                <a:gd name="T0" fmla="*/ 54 w 79"/>
                <a:gd name="T1" fmla="*/ 0 h 209"/>
                <a:gd name="T2" fmla="*/ 79 w 79"/>
                <a:gd name="T3" fmla="*/ 80 h 209"/>
                <a:gd name="T4" fmla="*/ 0 w 79"/>
                <a:gd name="T5" fmla="*/ 209 h 209"/>
              </a:gdLst>
              <a:ahLst/>
              <a:cxnLst>
                <a:cxn ang="0">
                  <a:pos x="T0" y="T1"/>
                </a:cxn>
                <a:cxn ang="0">
                  <a:pos x="T2" y="T3"/>
                </a:cxn>
                <a:cxn ang="0">
                  <a:pos x="T4" y="T5"/>
                </a:cxn>
              </a:cxnLst>
              <a:rect l="0" t="0" r="r" b="b"/>
              <a:pathLst>
                <a:path w="79" h="209">
                  <a:moveTo>
                    <a:pt x="54" y="0"/>
                  </a:moveTo>
                  <a:cubicBezTo>
                    <a:pt x="70" y="23"/>
                    <a:pt x="79" y="50"/>
                    <a:pt x="79" y="80"/>
                  </a:cubicBezTo>
                  <a:cubicBezTo>
                    <a:pt x="79" y="137"/>
                    <a:pt x="47" y="185"/>
                    <a:pt x="0" y="209"/>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5" name="Freeform 13">
              <a:extLst>
                <a:ext uri="{FF2B5EF4-FFF2-40B4-BE49-F238E27FC236}">
                  <a16:creationId xmlns:a16="http://schemas.microsoft.com/office/drawing/2014/main" id="{94919A78-1502-451A-8CDE-8C5305B20BFA}"/>
                </a:ext>
              </a:extLst>
            </p:cNvPr>
            <p:cNvSpPr>
              <a:spLocks/>
            </p:cNvSpPr>
            <p:nvPr/>
          </p:nvSpPr>
          <p:spPr bwMode="auto">
            <a:xfrm>
              <a:off x="2148692" y="2396980"/>
              <a:ext cx="56986" cy="334588"/>
            </a:xfrm>
            <a:custGeom>
              <a:avLst/>
              <a:gdLst>
                <a:gd name="T0" fmla="*/ 3 w 18"/>
                <a:gd name="T1" fmla="*/ 105 h 105"/>
                <a:gd name="T2" fmla="*/ 0 w 18"/>
                <a:gd name="T3" fmla="*/ 74 h 105"/>
                <a:gd name="T4" fmla="*/ 18 w 18"/>
                <a:gd name="T5" fmla="*/ 0 h 105"/>
              </a:gdLst>
              <a:ahLst/>
              <a:cxnLst>
                <a:cxn ang="0">
                  <a:pos x="T0" y="T1"/>
                </a:cxn>
                <a:cxn ang="0">
                  <a:pos x="T2" y="T3"/>
                </a:cxn>
                <a:cxn ang="0">
                  <a:pos x="T4" y="T5"/>
                </a:cxn>
              </a:cxnLst>
              <a:rect l="0" t="0" r="r" b="b"/>
              <a:pathLst>
                <a:path w="18" h="105">
                  <a:moveTo>
                    <a:pt x="3" y="105"/>
                  </a:moveTo>
                  <a:cubicBezTo>
                    <a:pt x="1" y="95"/>
                    <a:pt x="0" y="85"/>
                    <a:pt x="0" y="74"/>
                  </a:cubicBezTo>
                  <a:cubicBezTo>
                    <a:pt x="0" y="48"/>
                    <a:pt x="7" y="22"/>
                    <a:pt x="18"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6" name="Freeform 14">
              <a:extLst>
                <a:ext uri="{FF2B5EF4-FFF2-40B4-BE49-F238E27FC236}">
                  <a16:creationId xmlns:a16="http://schemas.microsoft.com/office/drawing/2014/main" id="{8A6CCEAE-2EEB-4B4B-BE54-F64C807713E7}"/>
                </a:ext>
              </a:extLst>
            </p:cNvPr>
            <p:cNvSpPr>
              <a:spLocks/>
            </p:cNvSpPr>
            <p:nvPr/>
          </p:nvSpPr>
          <p:spPr bwMode="auto">
            <a:xfrm>
              <a:off x="2537010" y="3088138"/>
              <a:ext cx="439606" cy="82222"/>
            </a:xfrm>
            <a:custGeom>
              <a:avLst/>
              <a:gdLst>
                <a:gd name="T0" fmla="*/ 138 w 138"/>
                <a:gd name="T1" fmla="*/ 0 h 26"/>
                <a:gd name="T2" fmla="*/ 47 w 138"/>
                <a:gd name="T3" fmla="*/ 26 h 26"/>
                <a:gd name="T4" fmla="*/ 0 w 138"/>
                <a:gd name="T5" fmla="*/ 20 h 26"/>
              </a:gdLst>
              <a:ahLst/>
              <a:cxnLst>
                <a:cxn ang="0">
                  <a:pos x="T0" y="T1"/>
                </a:cxn>
                <a:cxn ang="0">
                  <a:pos x="T2" y="T3"/>
                </a:cxn>
                <a:cxn ang="0">
                  <a:pos x="T4" y="T5"/>
                </a:cxn>
              </a:cxnLst>
              <a:rect l="0" t="0" r="r" b="b"/>
              <a:pathLst>
                <a:path w="138" h="26">
                  <a:moveTo>
                    <a:pt x="138" y="0"/>
                  </a:moveTo>
                  <a:cubicBezTo>
                    <a:pt x="112" y="17"/>
                    <a:pt x="81" y="26"/>
                    <a:pt x="47" y="26"/>
                  </a:cubicBezTo>
                  <a:cubicBezTo>
                    <a:pt x="31" y="26"/>
                    <a:pt x="15" y="24"/>
                    <a:pt x="0" y="2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7" name="Freeform 15">
              <a:extLst>
                <a:ext uri="{FF2B5EF4-FFF2-40B4-BE49-F238E27FC236}">
                  <a16:creationId xmlns:a16="http://schemas.microsoft.com/office/drawing/2014/main" id="{D697364D-609E-4AD3-ADE1-ACE27F2AC322}"/>
                </a:ext>
              </a:extLst>
            </p:cNvPr>
            <p:cNvSpPr>
              <a:spLocks/>
            </p:cNvSpPr>
            <p:nvPr/>
          </p:nvSpPr>
          <p:spPr bwMode="auto">
            <a:xfrm>
              <a:off x="2686802" y="2094955"/>
              <a:ext cx="503104" cy="340287"/>
            </a:xfrm>
            <a:custGeom>
              <a:avLst/>
              <a:gdLst>
                <a:gd name="T0" fmla="*/ 0 w 158"/>
                <a:gd name="T1" fmla="*/ 0 h 107"/>
                <a:gd name="T2" fmla="*/ 158 w 158"/>
                <a:gd name="T3" fmla="*/ 107 h 107"/>
              </a:gdLst>
              <a:ahLst/>
              <a:cxnLst>
                <a:cxn ang="0">
                  <a:pos x="T0" y="T1"/>
                </a:cxn>
                <a:cxn ang="0">
                  <a:pos x="T2" y="T3"/>
                </a:cxn>
              </a:cxnLst>
              <a:rect l="0" t="0" r="r" b="b"/>
              <a:pathLst>
                <a:path w="158" h="107">
                  <a:moveTo>
                    <a:pt x="0" y="0"/>
                  </a:moveTo>
                  <a:cubicBezTo>
                    <a:pt x="72" y="0"/>
                    <a:pt x="133" y="45"/>
                    <a:pt x="158" y="107"/>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grpSp>
        <p:nvGrpSpPr>
          <p:cNvPr id="158" name="Group 157">
            <a:extLst>
              <a:ext uri="{FF2B5EF4-FFF2-40B4-BE49-F238E27FC236}">
                <a16:creationId xmlns:a16="http://schemas.microsoft.com/office/drawing/2014/main" id="{C57BB686-17F9-4C10-9323-121CA1F56BFF}"/>
              </a:ext>
            </a:extLst>
          </p:cNvPr>
          <p:cNvGrpSpPr/>
          <p:nvPr/>
        </p:nvGrpSpPr>
        <p:grpSpPr>
          <a:xfrm>
            <a:off x="9342477" y="1515631"/>
            <a:ext cx="1842170" cy="1902662"/>
            <a:chOff x="2148692" y="2094955"/>
            <a:chExt cx="1041214" cy="1075405"/>
          </a:xfrm>
        </p:grpSpPr>
        <p:sp>
          <p:nvSpPr>
            <p:cNvPr id="159" name="Freeform 10">
              <a:extLst>
                <a:ext uri="{FF2B5EF4-FFF2-40B4-BE49-F238E27FC236}">
                  <a16:creationId xmlns:a16="http://schemas.microsoft.com/office/drawing/2014/main" id="{60AFE6EE-5A0C-4ECF-84E6-A2A81C219D8D}"/>
                </a:ext>
              </a:extLst>
            </p:cNvPr>
            <p:cNvSpPr>
              <a:spLocks/>
            </p:cNvSpPr>
            <p:nvPr/>
          </p:nvSpPr>
          <p:spPr bwMode="auto">
            <a:xfrm>
              <a:off x="2256965" y="2174735"/>
              <a:ext cx="429837" cy="298769"/>
            </a:xfrm>
            <a:custGeom>
              <a:avLst/>
              <a:gdLst>
                <a:gd name="T0" fmla="*/ 0 w 135"/>
                <a:gd name="T1" fmla="*/ 94 h 94"/>
                <a:gd name="T2" fmla="*/ 135 w 135"/>
                <a:gd name="T3" fmla="*/ 0 h 94"/>
              </a:gdLst>
              <a:ahLst/>
              <a:cxnLst>
                <a:cxn ang="0">
                  <a:pos x="T0" y="T1"/>
                </a:cxn>
                <a:cxn ang="0">
                  <a:pos x="T2" y="T3"/>
                </a:cxn>
              </a:cxnLst>
              <a:rect l="0" t="0" r="r" b="b"/>
              <a:pathLst>
                <a:path w="135" h="94">
                  <a:moveTo>
                    <a:pt x="0" y="94"/>
                  </a:moveTo>
                  <a:cubicBezTo>
                    <a:pt x="21" y="39"/>
                    <a:pt x="73" y="0"/>
                    <a:pt x="135"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60" name="Freeform 11">
              <a:extLst>
                <a:ext uri="{FF2B5EF4-FFF2-40B4-BE49-F238E27FC236}">
                  <a16:creationId xmlns:a16="http://schemas.microsoft.com/office/drawing/2014/main" id="{52C803A9-D516-4910-8172-07E44CC8741E}"/>
                </a:ext>
              </a:extLst>
            </p:cNvPr>
            <p:cNvSpPr>
              <a:spLocks/>
            </p:cNvSpPr>
            <p:nvPr/>
          </p:nvSpPr>
          <p:spPr bwMode="auto">
            <a:xfrm>
              <a:off x="2234171" y="2712031"/>
              <a:ext cx="354127" cy="369594"/>
            </a:xfrm>
            <a:custGeom>
              <a:avLst/>
              <a:gdLst>
                <a:gd name="T0" fmla="*/ 111 w 111"/>
                <a:gd name="T1" fmla="*/ 116 h 116"/>
                <a:gd name="T2" fmla="*/ 0 w 111"/>
                <a:gd name="T3" fmla="*/ 0 h 116"/>
              </a:gdLst>
              <a:ahLst/>
              <a:cxnLst>
                <a:cxn ang="0">
                  <a:pos x="T0" y="T1"/>
                </a:cxn>
                <a:cxn ang="0">
                  <a:pos x="T2" y="T3"/>
                </a:cxn>
              </a:cxnLst>
              <a:rect l="0" t="0" r="r" b="b"/>
              <a:pathLst>
                <a:path w="111" h="116">
                  <a:moveTo>
                    <a:pt x="111" y="116"/>
                  </a:moveTo>
                  <a:cubicBezTo>
                    <a:pt x="55" y="104"/>
                    <a:pt x="10" y="58"/>
                    <a:pt x="0"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61" name="Freeform 12">
              <a:extLst>
                <a:ext uri="{FF2B5EF4-FFF2-40B4-BE49-F238E27FC236}">
                  <a16:creationId xmlns:a16="http://schemas.microsoft.com/office/drawing/2014/main" id="{CB6F0DC3-AC3D-4A0C-A75C-D0EEFC4DFC11}"/>
                </a:ext>
              </a:extLst>
            </p:cNvPr>
            <p:cNvSpPr>
              <a:spLocks/>
            </p:cNvSpPr>
            <p:nvPr/>
          </p:nvSpPr>
          <p:spPr bwMode="auto">
            <a:xfrm>
              <a:off x="2896836" y="2378256"/>
              <a:ext cx="251552" cy="665107"/>
            </a:xfrm>
            <a:custGeom>
              <a:avLst/>
              <a:gdLst>
                <a:gd name="T0" fmla="*/ 54 w 79"/>
                <a:gd name="T1" fmla="*/ 0 h 209"/>
                <a:gd name="T2" fmla="*/ 79 w 79"/>
                <a:gd name="T3" fmla="*/ 80 h 209"/>
                <a:gd name="T4" fmla="*/ 0 w 79"/>
                <a:gd name="T5" fmla="*/ 209 h 209"/>
              </a:gdLst>
              <a:ahLst/>
              <a:cxnLst>
                <a:cxn ang="0">
                  <a:pos x="T0" y="T1"/>
                </a:cxn>
                <a:cxn ang="0">
                  <a:pos x="T2" y="T3"/>
                </a:cxn>
                <a:cxn ang="0">
                  <a:pos x="T4" y="T5"/>
                </a:cxn>
              </a:cxnLst>
              <a:rect l="0" t="0" r="r" b="b"/>
              <a:pathLst>
                <a:path w="79" h="209">
                  <a:moveTo>
                    <a:pt x="54" y="0"/>
                  </a:moveTo>
                  <a:cubicBezTo>
                    <a:pt x="70" y="23"/>
                    <a:pt x="79" y="50"/>
                    <a:pt x="79" y="80"/>
                  </a:cubicBezTo>
                  <a:cubicBezTo>
                    <a:pt x="79" y="137"/>
                    <a:pt x="47" y="185"/>
                    <a:pt x="0" y="209"/>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62" name="Freeform 13">
              <a:extLst>
                <a:ext uri="{FF2B5EF4-FFF2-40B4-BE49-F238E27FC236}">
                  <a16:creationId xmlns:a16="http://schemas.microsoft.com/office/drawing/2014/main" id="{D87BF86D-7BD6-40CD-A285-5DF1EAD960B0}"/>
                </a:ext>
              </a:extLst>
            </p:cNvPr>
            <p:cNvSpPr>
              <a:spLocks/>
            </p:cNvSpPr>
            <p:nvPr/>
          </p:nvSpPr>
          <p:spPr bwMode="auto">
            <a:xfrm>
              <a:off x="2148692" y="2396980"/>
              <a:ext cx="56986" cy="334588"/>
            </a:xfrm>
            <a:custGeom>
              <a:avLst/>
              <a:gdLst>
                <a:gd name="T0" fmla="*/ 3 w 18"/>
                <a:gd name="T1" fmla="*/ 105 h 105"/>
                <a:gd name="T2" fmla="*/ 0 w 18"/>
                <a:gd name="T3" fmla="*/ 74 h 105"/>
                <a:gd name="T4" fmla="*/ 18 w 18"/>
                <a:gd name="T5" fmla="*/ 0 h 105"/>
              </a:gdLst>
              <a:ahLst/>
              <a:cxnLst>
                <a:cxn ang="0">
                  <a:pos x="T0" y="T1"/>
                </a:cxn>
                <a:cxn ang="0">
                  <a:pos x="T2" y="T3"/>
                </a:cxn>
                <a:cxn ang="0">
                  <a:pos x="T4" y="T5"/>
                </a:cxn>
              </a:cxnLst>
              <a:rect l="0" t="0" r="r" b="b"/>
              <a:pathLst>
                <a:path w="18" h="105">
                  <a:moveTo>
                    <a:pt x="3" y="105"/>
                  </a:moveTo>
                  <a:cubicBezTo>
                    <a:pt x="1" y="95"/>
                    <a:pt x="0" y="85"/>
                    <a:pt x="0" y="74"/>
                  </a:cubicBezTo>
                  <a:cubicBezTo>
                    <a:pt x="0" y="48"/>
                    <a:pt x="7" y="22"/>
                    <a:pt x="18"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63" name="Freeform 14">
              <a:extLst>
                <a:ext uri="{FF2B5EF4-FFF2-40B4-BE49-F238E27FC236}">
                  <a16:creationId xmlns:a16="http://schemas.microsoft.com/office/drawing/2014/main" id="{331F3BC6-989D-412C-9840-887282D1E445}"/>
                </a:ext>
              </a:extLst>
            </p:cNvPr>
            <p:cNvSpPr>
              <a:spLocks/>
            </p:cNvSpPr>
            <p:nvPr/>
          </p:nvSpPr>
          <p:spPr bwMode="auto">
            <a:xfrm>
              <a:off x="2537010" y="3088138"/>
              <a:ext cx="439606" cy="82222"/>
            </a:xfrm>
            <a:custGeom>
              <a:avLst/>
              <a:gdLst>
                <a:gd name="T0" fmla="*/ 138 w 138"/>
                <a:gd name="T1" fmla="*/ 0 h 26"/>
                <a:gd name="T2" fmla="*/ 47 w 138"/>
                <a:gd name="T3" fmla="*/ 26 h 26"/>
                <a:gd name="T4" fmla="*/ 0 w 138"/>
                <a:gd name="T5" fmla="*/ 20 h 26"/>
              </a:gdLst>
              <a:ahLst/>
              <a:cxnLst>
                <a:cxn ang="0">
                  <a:pos x="T0" y="T1"/>
                </a:cxn>
                <a:cxn ang="0">
                  <a:pos x="T2" y="T3"/>
                </a:cxn>
                <a:cxn ang="0">
                  <a:pos x="T4" y="T5"/>
                </a:cxn>
              </a:cxnLst>
              <a:rect l="0" t="0" r="r" b="b"/>
              <a:pathLst>
                <a:path w="138" h="26">
                  <a:moveTo>
                    <a:pt x="138" y="0"/>
                  </a:moveTo>
                  <a:cubicBezTo>
                    <a:pt x="112" y="17"/>
                    <a:pt x="81" y="26"/>
                    <a:pt x="47" y="26"/>
                  </a:cubicBezTo>
                  <a:cubicBezTo>
                    <a:pt x="31" y="26"/>
                    <a:pt x="15" y="24"/>
                    <a:pt x="0" y="2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64" name="Freeform 15">
              <a:extLst>
                <a:ext uri="{FF2B5EF4-FFF2-40B4-BE49-F238E27FC236}">
                  <a16:creationId xmlns:a16="http://schemas.microsoft.com/office/drawing/2014/main" id="{2188EBE9-DE05-4DB8-8322-840A0127486E}"/>
                </a:ext>
              </a:extLst>
            </p:cNvPr>
            <p:cNvSpPr>
              <a:spLocks/>
            </p:cNvSpPr>
            <p:nvPr/>
          </p:nvSpPr>
          <p:spPr bwMode="auto">
            <a:xfrm>
              <a:off x="2686802" y="2094955"/>
              <a:ext cx="503104" cy="340287"/>
            </a:xfrm>
            <a:custGeom>
              <a:avLst/>
              <a:gdLst>
                <a:gd name="T0" fmla="*/ 0 w 158"/>
                <a:gd name="T1" fmla="*/ 0 h 107"/>
                <a:gd name="T2" fmla="*/ 158 w 158"/>
                <a:gd name="T3" fmla="*/ 107 h 107"/>
              </a:gdLst>
              <a:ahLst/>
              <a:cxnLst>
                <a:cxn ang="0">
                  <a:pos x="T0" y="T1"/>
                </a:cxn>
                <a:cxn ang="0">
                  <a:pos x="T2" y="T3"/>
                </a:cxn>
              </a:cxnLst>
              <a:rect l="0" t="0" r="r" b="b"/>
              <a:pathLst>
                <a:path w="158" h="107">
                  <a:moveTo>
                    <a:pt x="0" y="0"/>
                  </a:moveTo>
                  <a:cubicBezTo>
                    <a:pt x="72" y="0"/>
                    <a:pt x="133" y="45"/>
                    <a:pt x="158" y="107"/>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
        <p:nvSpPr>
          <p:cNvPr id="165" name="TextBox 164">
            <a:extLst>
              <a:ext uri="{FF2B5EF4-FFF2-40B4-BE49-F238E27FC236}">
                <a16:creationId xmlns:a16="http://schemas.microsoft.com/office/drawing/2014/main" id="{1FD77BC8-54D2-4E57-9510-530EA4FF222F}"/>
              </a:ext>
            </a:extLst>
          </p:cNvPr>
          <p:cNvSpPr txBox="1"/>
          <p:nvPr/>
        </p:nvSpPr>
        <p:spPr>
          <a:xfrm>
            <a:off x="837215" y="3886692"/>
            <a:ext cx="2110774" cy="1725395"/>
          </a:xfrm>
          <a:prstGeom prst="rect">
            <a:avLst/>
          </a:prstGeom>
          <a:noFill/>
        </p:spPr>
        <p:txBody>
          <a:bodyPr wrap="square" lIns="0" tIns="0" rIns="0" bIns="0" rtlCol="0" anchor="t">
            <a:noAutofit/>
          </a:bodyPr>
          <a:lstStyle/>
          <a:p>
            <a:pPr algn="just"/>
            <a:r>
              <a:rPr lang="en-US" sz="800" kern="0" dirty="0">
                <a:solidFill>
                  <a:schemeClr val="bg1"/>
                </a:solidFill>
                <a:latin typeface="Segoe UI" panose="020B0502040204020203" pitchFamily="34" charset="0"/>
                <a:ea typeface="Calibri Light" charset="0"/>
                <a:cs typeface="Segoe UI" panose="020B0502040204020203" pitchFamily="34" charset="0"/>
              </a:rPr>
              <a:t>For almost two decades, Peter ran Technology and Security Operation for one of the nation’s leading Insurance Brokerage providers, serving many of the world’s largest and most heavily regulated organizations. Prior to joining ABC, Peter held senior leadership roles at Aria Systems, Taleo, </a:t>
            </a:r>
            <a:r>
              <a:rPr lang="en-US" sz="800" kern="0" dirty="0" err="1">
                <a:solidFill>
                  <a:schemeClr val="bg1"/>
                </a:solidFill>
                <a:latin typeface="Segoe UI" panose="020B0502040204020203" pitchFamily="34" charset="0"/>
                <a:ea typeface="Calibri Light" charset="0"/>
                <a:cs typeface="Segoe UI" panose="020B0502040204020203" pitchFamily="34" charset="0"/>
              </a:rPr>
              <a:t>CoreCentive</a:t>
            </a:r>
            <a:r>
              <a:rPr lang="en-US" sz="800" kern="0" dirty="0">
                <a:solidFill>
                  <a:schemeClr val="bg1"/>
                </a:solidFill>
                <a:latin typeface="Segoe UI" panose="020B0502040204020203" pitchFamily="34" charset="0"/>
                <a:ea typeface="Calibri Light" charset="0"/>
                <a:cs typeface="Segoe UI" panose="020B0502040204020203" pitchFamily="34" charset="0"/>
              </a:rPr>
              <a:t> and Portal Software, helping to design and build the Cloud and SaaS software infrastructure that has become the de facto standard for application providers today.</a:t>
            </a:r>
          </a:p>
          <a:p>
            <a:pPr algn="just"/>
            <a:endParaRPr lang="en-US" sz="1400" kern="0" dirty="0">
              <a:solidFill>
                <a:schemeClr val="bg1"/>
              </a:solidFill>
              <a:latin typeface="Segoe UI" panose="020B0502040204020203" pitchFamily="34" charset="0"/>
              <a:ea typeface="Calibri Light" charset="0"/>
              <a:cs typeface="Segoe UI" panose="020B0502040204020203" pitchFamily="34" charset="0"/>
            </a:endParaRPr>
          </a:p>
        </p:txBody>
      </p:sp>
      <p:pic>
        <p:nvPicPr>
          <p:cNvPr id="8" name="Picture Placeholder 7" descr="A person and child in a room&#10;&#10;AI-generated content may be incorrect.">
            <a:extLst>
              <a:ext uri="{FF2B5EF4-FFF2-40B4-BE49-F238E27FC236}">
                <a16:creationId xmlns:a16="http://schemas.microsoft.com/office/drawing/2014/main" id="{E8D69101-C737-780B-D231-20DF22491059}"/>
              </a:ext>
            </a:extLst>
          </p:cNvPr>
          <p:cNvPicPr>
            <a:picLocks noGrp="1" noChangeAspect="1"/>
          </p:cNvPicPr>
          <p:nvPr>
            <p:ph type="pic" sz="quarter" idx="14"/>
          </p:nvPr>
        </p:nvPicPr>
        <p:blipFill>
          <a:blip r:embed="rId3"/>
          <a:srcRect l="3783" r="3783"/>
          <a:stretch>
            <a:fillRect/>
          </a:stretch>
        </p:blipFill>
        <p:spPr>
          <a:xfrm>
            <a:off x="1190054" y="1693536"/>
            <a:ext cx="1405096" cy="1404730"/>
          </a:xfrm>
        </p:spPr>
      </p:pic>
      <p:sp>
        <p:nvSpPr>
          <p:cNvPr id="144" name="TextBox 143">
            <a:extLst>
              <a:ext uri="{FF2B5EF4-FFF2-40B4-BE49-F238E27FC236}">
                <a16:creationId xmlns:a16="http://schemas.microsoft.com/office/drawing/2014/main" id="{019DC0D3-2E49-4B32-8A1F-D4BD84A5CC78}"/>
              </a:ext>
            </a:extLst>
          </p:cNvPr>
          <p:cNvSpPr txBox="1"/>
          <p:nvPr/>
        </p:nvSpPr>
        <p:spPr>
          <a:xfrm>
            <a:off x="838115" y="3253160"/>
            <a:ext cx="2108974" cy="215444"/>
          </a:xfrm>
          <a:prstGeom prst="rect">
            <a:avLst/>
          </a:prstGeom>
          <a:noFill/>
        </p:spPr>
        <p:txBody>
          <a:bodyPr wrap="square" lIns="0" tIns="0" rIns="0" bIns="0" rtlCol="0" anchor="b">
            <a:spAutoFit/>
          </a:bodyPr>
          <a:lstStyle/>
          <a:p>
            <a:pPr algn="ctr"/>
            <a:r>
              <a:rPr lang="en-US" sz="1400" b="1" kern="0" dirty="0">
                <a:solidFill>
                  <a:schemeClr val="bg1"/>
                </a:solidFill>
                <a:latin typeface="Arial Hebrew Scholar" pitchFamily="2" charset="-79"/>
                <a:ea typeface="Calibri Light" charset="0"/>
                <a:cs typeface="Arial Hebrew Scholar" pitchFamily="2" charset="-79"/>
              </a:rPr>
              <a:t>Peter J Worth Jr</a:t>
            </a:r>
            <a:endParaRPr lang="en-US" sz="1400" b="1" dirty="0">
              <a:solidFill>
                <a:schemeClr val="bg1"/>
              </a:solidFill>
              <a:latin typeface="Arial Hebrew Scholar" pitchFamily="2" charset="-79"/>
              <a:ea typeface="Calibri Light" charset="0"/>
              <a:cs typeface="Arial Hebrew Scholar" pitchFamily="2" charset="-79"/>
            </a:endParaRPr>
          </a:p>
        </p:txBody>
      </p:sp>
      <p:pic>
        <p:nvPicPr>
          <p:cNvPr id="13" name="Picture Placeholder 12" descr="A close-up of a person&#10;&#10;AI-generated content may be incorrect.">
            <a:extLst>
              <a:ext uri="{FF2B5EF4-FFF2-40B4-BE49-F238E27FC236}">
                <a16:creationId xmlns:a16="http://schemas.microsoft.com/office/drawing/2014/main" id="{8020F4B5-EB01-E2E0-3CAE-59BB776D554D}"/>
              </a:ext>
            </a:extLst>
          </p:cNvPr>
          <p:cNvPicPr>
            <a:picLocks noGrp="1" noChangeAspect="1"/>
          </p:cNvPicPr>
          <p:nvPr>
            <p:ph type="pic" sz="quarter" idx="15"/>
          </p:nvPr>
        </p:nvPicPr>
        <p:blipFill>
          <a:blip r:embed="rId4"/>
          <a:srcRect t="12891" b="12891"/>
          <a:stretch>
            <a:fillRect/>
          </a:stretch>
        </p:blipFill>
        <p:spPr>
          <a:xfrm>
            <a:off x="3992319" y="1712391"/>
            <a:ext cx="1405096" cy="1404730"/>
          </a:xfrm>
        </p:spPr>
      </p:pic>
      <p:sp>
        <p:nvSpPr>
          <p:cNvPr id="14" name="TextBox 13">
            <a:extLst>
              <a:ext uri="{FF2B5EF4-FFF2-40B4-BE49-F238E27FC236}">
                <a16:creationId xmlns:a16="http://schemas.microsoft.com/office/drawing/2014/main" id="{5BC1DAE2-6296-9938-49A4-39A73EA1BB81}"/>
              </a:ext>
            </a:extLst>
          </p:cNvPr>
          <p:cNvSpPr txBox="1"/>
          <p:nvPr/>
        </p:nvSpPr>
        <p:spPr>
          <a:xfrm>
            <a:off x="3640380" y="3519957"/>
            <a:ext cx="2108974" cy="169277"/>
          </a:xfrm>
          <a:prstGeom prst="rect">
            <a:avLst/>
          </a:prstGeom>
          <a:noFill/>
        </p:spPr>
        <p:txBody>
          <a:bodyPr wrap="square" lIns="0" tIns="0" rIns="0" bIns="0" rtlCol="0" anchor="b">
            <a:spAutoFit/>
          </a:bodyPr>
          <a:lstStyle/>
          <a:p>
            <a:pPr algn="ctr"/>
            <a:r>
              <a:rPr lang="en-US" sz="1100" kern="0" dirty="0">
                <a:solidFill>
                  <a:schemeClr val="bg1">
                    <a:lumMod val="85000"/>
                  </a:schemeClr>
                </a:solidFill>
                <a:ea typeface="Calibri Light" charset="0"/>
                <a:cs typeface="Segoe UI" panose="020B0502040204020203" pitchFamily="34" charset="0"/>
              </a:rPr>
              <a:t>Founder, CMO</a:t>
            </a:r>
            <a:endParaRPr lang="en-US" sz="1100" dirty="0">
              <a:solidFill>
                <a:schemeClr val="bg1">
                  <a:lumMod val="85000"/>
                </a:schemeClr>
              </a:solidFill>
              <a:ea typeface="Calibri Light" charset="0"/>
              <a:cs typeface="Segoe UI" panose="020B0502040204020203" pitchFamily="34" charset="0"/>
            </a:endParaRPr>
          </a:p>
        </p:txBody>
      </p:sp>
      <p:sp>
        <p:nvSpPr>
          <p:cNvPr id="15" name="TextBox 14">
            <a:extLst>
              <a:ext uri="{FF2B5EF4-FFF2-40B4-BE49-F238E27FC236}">
                <a16:creationId xmlns:a16="http://schemas.microsoft.com/office/drawing/2014/main" id="{C1E27C94-C64E-23C7-215D-D515B5A901B1}"/>
              </a:ext>
            </a:extLst>
          </p:cNvPr>
          <p:cNvSpPr txBox="1"/>
          <p:nvPr/>
        </p:nvSpPr>
        <p:spPr>
          <a:xfrm>
            <a:off x="3639480" y="3886692"/>
            <a:ext cx="2110774" cy="1725395"/>
          </a:xfrm>
          <a:prstGeom prst="rect">
            <a:avLst/>
          </a:prstGeom>
          <a:noFill/>
        </p:spPr>
        <p:txBody>
          <a:bodyPr wrap="square" lIns="0" tIns="0" rIns="0" bIns="0" rtlCol="0" anchor="t">
            <a:noAutofit/>
          </a:bodyPr>
          <a:lstStyle/>
          <a:p>
            <a:pPr algn="just"/>
            <a:r>
              <a:rPr lang="en-US" sz="800" kern="0" dirty="0">
                <a:solidFill>
                  <a:schemeClr val="bg1"/>
                </a:solidFill>
                <a:latin typeface="Segoe UI" panose="020B0502040204020203" pitchFamily="34" charset="0"/>
                <a:ea typeface="Calibri Light" charset="0"/>
                <a:cs typeface="Segoe UI" panose="020B0502040204020203" pitchFamily="34" charset="0"/>
              </a:rPr>
              <a:t>Michelle Robson Worth is a successful entrepreneur and advocate for women’s health, founding </a:t>
            </a:r>
            <a:r>
              <a:rPr lang="en-US" sz="800" kern="0" dirty="0" err="1">
                <a:solidFill>
                  <a:schemeClr val="bg1"/>
                </a:solidFill>
                <a:latin typeface="Segoe UI" panose="020B0502040204020203" pitchFamily="34" charset="0"/>
                <a:ea typeface="Calibri Light" charset="0"/>
                <a:cs typeface="Segoe UI" panose="020B0502040204020203" pitchFamily="34" charset="0"/>
              </a:rPr>
              <a:t>EmpowHER.com</a:t>
            </a:r>
            <a:r>
              <a:rPr lang="en-US" sz="800" kern="0" dirty="0">
                <a:solidFill>
                  <a:schemeClr val="bg1"/>
                </a:solidFill>
                <a:latin typeface="Segoe UI" panose="020B0502040204020203" pitchFamily="34" charset="0"/>
                <a:ea typeface="Calibri Light" charset="0"/>
                <a:cs typeface="Segoe UI" panose="020B0502040204020203" pitchFamily="34" charset="0"/>
              </a:rPr>
              <a:t> in 2008 and </a:t>
            </a:r>
            <a:r>
              <a:rPr lang="en-US" sz="800" kern="0" dirty="0" err="1">
                <a:solidFill>
                  <a:schemeClr val="bg1"/>
                </a:solidFill>
                <a:latin typeface="Segoe UI" panose="020B0502040204020203" pitchFamily="34" charset="0"/>
                <a:ea typeface="Calibri Light" charset="0"/>
                <a:cs typeface="Segoe UI" panose="020B0502040204020203" pitchFamily="34" charset="0"/>
              </a:rPr>
              <a:t>SkinSAFE</a:t>
            </a:r>
            <a:r>
              <a:rPr lang="en-US" sz="800" kern="0" dirty="0">
                <a:solidFill>
                  <a:schemeClr val="bg1"/>
                </a:solidFill>
                <a:latin typeface="Segoe UI" panose="020B0502040204020203" pitchFamily="34" charset="0"/>
                <a:ea typeface="Calibri Light" charset="0"/>
                <a:cs typeface="Segoe UI" panose="020B0502040204020203" pitchFamily="34" charset="0"/>
              </a:rPr>
              <a:t> in 2015, establishing tools and resources for women to take control of their health &amp; wellness. In addition to her entrepreneurial activities, Michelle actively participates in philanthropy and advocacy for women's health issues around the world and brings with her a wealth of experience in building successful platforms that drive social change.</a:t>
            </a:r>
          </a:p>
          <a:p>
            <a:pPr algn="just"/>
            <a:endParaRPr lang="en-US" sz="800" kern="0" dirty="0">
              <a:solidFill>
                <a:schemeClr val="bg1"/>
              </a:solidFill>
              <a:latin typeface="Segoe UI" panose="020B0502040204020203" pitchFamily="34" charset="0"/>
              <a:ea typeface="Calibri Light" charset="0"/>
              <a:cs typeface="Segoe UI" panose="020B0502040204020203" pitchFamily="34" charset="0"/>
            </a:endParaRPr>
          </a:p>
          <a:p>
            <a:pPr algn="just"/>
            <a:endParaRPr lang="en-US" sz="1400" kern="0" dirty="0">
              <a:solidFill>
                <a:schemeClr val="bg1"/>
              </a:solidFill>
              <a:latin typeface="Segoe UI" panose="020B0502040204020203" pitchFamily="34" charset="0"/>
              <a:ea typeface="Calibri Light" charset="0"/>
              <a:cs typeface="Segoe UI" panose="020B0502040204020203" pitchFamily="34" charset="0"/>
            </a:endParaRPr>
          </a:p>
        </p:txBody>
      </p:sp>
      <p:sp>
        <p:nvSpPr>
          <p:cNvPr id="16" name="TextBox 15">
            <a:extLst>
              <a:ext uri="{FF2B5EF4-FFF2-40B4-BE49-F238E27FC236}">
                <a16:creationId xmlns:a16="http://schemas.microsoft.com/office/drawing/2014/main" id="{FBF6B0D0-4FC6-6F56-AC63-7D3DAE924D8A}"/>
              </a:ext>
            </a:extLst>
          </p:cNvPr>
          <p:cNvSpPr txBox="1"/>
          <p:nvPr/>
        </p:nvSpPr>
        <p:spPr>
          <a:xfrm>
            <a:off x="3640380" y="3253160"/>
            <a:ext cx="2108974" cy="215444"/>
          </a:xfrm>
          <a:prstGeom prst="rect">
            <a:avLst/>
          </a:prstGeom>
          <a:noFill/>
        </p:spPr>
        <p:txBody>
          <a:bodyPr wrap="square" lIns="0" tIns="0" rIns="0" bIns="0" rtlCol="0" anchor="b">
            <a:spAutoFit/>
          </a:bodyPr>
          <a:lstStyle/>
          <a:p>
            <a:pPr algn="ctr"/>
            <a:r>
              <a:rPr lang="en-US" sz="1400" b="1" kern="0" dirty="0">
                <a:solidFill>
                  <a:schemeClr val="bg1"/>
                </a:solidFill>
                <a:latin typeface="Arial Hebrew Scholar" pitchFamily="2" charset="-79"/>
                <a:ea typeface="Calibri Light" charset="0"/>
                <a:cs typeface="Arial Hebrew Scholar" pitchFamily="2" charset="-79"/>
              </a:rPr>
              <a:t>Michelle Robson Worth</a:t>
            </a:r>
            <a:endParaRPr lang="en-US" sz="1400" b="1" dirty="0">
              <a:solidFill>
                <a:schemeClr val="bg1"/>
              </a:solidFill>
              <a:latin typeface="Arial Hebrew Scholar" pitchFamily="2" charset="-79"/>
              <a:ea typeface="Calibri Light" charset="0"/>
              <a:cs typeface="Arial Hebrew Scholar" pitchFamily="2" charset="-79"/>
            </a:endParaRPr>
          </a:p>
        </p:txBody>
      </p:sp>
      <p:pic>
        <p:nvPicPr>
          <p:cNvPr id="20" name="Picture Placeholder 19" descr="A person with sunglasses on his head&#10;&#10;AI-generated content may be incorrect.">
            <a:extLst>
              <a:ext uri="{FF2B5EF4-FFF2-40B4-BE49-F238E27FC236}">
                <a16:creationId xmlns:a16="http://schemas.microsoft.com/office/drawing/2014/main" id="{4C1B5F82-8B91-29A0-340D-501FB768C598}"/>
              </a:ext>
            </a:extLst>
          </p:cNvPr>
          <p:cNvPicPr>
            <a:picLocks noGrp="1" noChangeAspect="1"/>
          </p:cNvPicPr>
          <p:nvPr>
            <p:ph type="pic" sz="quarter" idx="16"/>
          </p:nvPr>
        </p:nvPicPr>
        <p:blipFill>
          <a:blip r:embed="rId5"/>
          <a:srcRect t="16129" b="16129"/>
          <a:stretch>
            <a:fillRect/>
          </a:stretch>
        </p:blipFill>
        <p:spPr>
          <a:xfrm>
            <a:off x="6793650" y="1712392"/>
            <a:ext cx="1405096" cy="1404730"/>
          </a:xfrm>
        </p:spPr>
      </p:pic>
      <p:sp>
        <p:nvSpPr>
          <p:cNvPr id="22" name="TextBox 21">
            <a:extLst>
              <a:ext uri="{FF2B5EF4-FFF2-40B4-BE49-F238E27FC236}">
                <a16:creationId xmlns:a16="http://schemas.microsoft.com/office/drawing/2014/main" id="{46FEEAB3-B812-9D0D-0CCC-28BBBD2E0CA2}"/>
              </a:ext>
            </a:extLst>
          </p:cNvPr>
          <p:cNvSpPr txBox="1"/>
          <p:nvPr/>
        </p:nvSpPr>
        <p:spPr>
          <a:xfrm>
            <a:off x="6441711" y="3519957"/>
            <a:ext cx="2108974" cy="169277"/>
          </a:xfrm>
          <a:prstGeom prst="rect">
            <a:avLst/>
          </a:prstGeom>
          <a:noFill/>
        </p:spPr>
        <p:txBody>
          <a:bodyPr wrap="square" lIns="0" tIns="0" rIns="0" bIns="0" rtlCol="0" anchor="b">
            <a:spAutoFit/>
          </a:bodyPr>
          <a:lstStyle/>
          <a:p>
            <a:pPr algn="ctr"/>
            <a:r>
              <a:rPr lang="en-US" sz="1100" kern="0" dirty="0">
                <a:solidFill>
                  <a:schemeClr val="bg1">
                    <a:lumMod val="85000"/>
                  </a:schemeClr>
                </a:solidFill>
                <a:ea typeface="Calibri Light" charset="0"/>
                <a:cs typeface="Segoe UI" panose="020B0502040204020203" pitchFamily="34" charset="0"/>
              </a:rPr>
              <a:t>Chief Scientist</a:t>
            </a:r>
            <a:endParaRPr lang="en-US" sz="1100" dirty="0">
              <a:solidFill>
                <a:schemeClr val="bg1">
                  <a:lumMod val="85000"/>
                </a:schemeClr>
              </a:solidFill>
              <a:ea typeface="Calibri Light" charset="0"/>
              <a:cs typeface="Segoe UI" panose="020B0502040204020203" pitchFamily="34" charset="0"/>
            </a:endParaRPr>
          </a:p>
        </p:txBody>
      </p:sp>
      <p:sp>
        <p:nvSpPr>
          <p:cNvPr id="23" name="TextBox 22">
            <a:extLst>
              <a:ext uri="{FF2B5EF4-FFF2-40B4-BE49-F238E27FC236}">
                <a16:creationId xmlns:a16="http://schemas.microsoft.com/office/drawing/2014/main" id="{9C7B1CCC-C7A5-FCC6-4750-9155CF9A4D3F}"/>
              </a:ext>
            </a:extLst>
          </p:cNvPr>
          <p:cNvSpPr txBox="1"/>
          <p:nvPr/>
        </p:nvSpPr>
        <p:spPr>
          <a:xfrm>
            <a:off x="6440811" y="3886692"/>
            <a:ext cx="2110774" cy="1725395"/>
          </a:xfrm>
          <a:prstGeom prst="rect">
            <a:avLst/>
          </a:prstGeom>
          <a:noFill/>
        </p:spPr>
        <p:txBody>
          <a:bodyPr wrap="square" lIns="0" tIns="0" rIns="0" bIns="0" rtlCol="0" anchor="t">
            <a:noAutofit/>
          </a:bodyPr>
          <a:lstStyle/>
          <a:p>
            <a:pPr algn="just"/>
            <a:r>
              <a:rPr lang="en-US" sz="800" kern="0" dirty="0">
                <a:solidFill>
                  <a:schemeClr val="bg1"/>
                </a:solidFill>
                <a:latin typeface="Segoe UI" panose="020B0502040204020203" pitchFamily="34" charset="0"/>
                <a:ea typeface="Calibri Light" charset="0"/>
                <a:cs typeface="Segoe UI" panose="020B0502040204020203" pitchFamily="34" charset="0"/>
              </a:rPr>
              <a:t>Dr. Ionut Cardei is a distinguished Professor and researcher in the Department of Electrical Engineering and Computer Science at Florida Atlantic University (FAU) and has published meaningful research in the area of wireless networking, graph theory, resource management and fault tolerant systems. Before joining FAU, Dr. Cardei was a Senior Research Scientist at Honeywell Labs in Minneapolis working with NASA and the FAA on dynamic policy management systems and aeronautical wireless networks and is currently the leader of the Athena Cyber Security lab at FAU in their Boca Raton Campus.</a:t>
            </a:r>
          </a:p>
          <a:p>
            <a:pPr algn="just"/>
            <a:endParaRPr lang="en-US" sz="800" kern="0" dirty="0">
              <a:solidFill>
                <a:schemeClr val="bg1"/>
              </a:solidFill>
              <a:latin typeface="Segoe UI" panose="020B0502040204020203" pitchFamily="34" charset="0"/>
              <a:ea typeface="Calibri Light" charset="0"/>
              <a:cs typeface="Segoe UI" panose="020B0502040204020203" pitchFamily="34" charset="0"/>
            </a:endParaRPr>
          </a:p>
          <a:p>
            <a:pPr algn="just"/>
            <a:endParaRPr lang="en-US" sz="800" kern="0" dirty="0">
              <a:solidFill>
                <a:schemeClr val="bg1"/>
              </a:solidFill>
              <a:latin typeface="Segoe UI" panose="020B0502040204020203" pitchFamily="34" charset="0"/>
              <a:ea typeface="Calibri Light" charset="0"/>
              <a:cs typeface="Segoe UI" panose="020B0502040204020203" pitchFamily="34" charset="0"/>
            </a:endParaRPr>
          </a:p>
          <a:p>
            <a:pPr algn="just"/>
            <a:endParaRPr lang="en-US" sz="1400" kern="0" dirty="0">
              <a:solidFill>
                <a:schemeClr val="bg1"/>
              </a:solidFill>
              <a:latin typeface="Segoe UI" panose="020B0502040204020203" pitchFamily="34" charset="0"/>
              <a:ea typeface="Calibri Light" charset="0"/>
              <a:cs typeface="Segoe UI" panose="020B0502040204020203" pitchFamily="34" charset="0"/>
            </a:endParaRPr>
          </a:p>
        </p:txBody>
      </p:sp>
      <p:sp>
        <p:nvSpPr>
          <p:cNvPr id="24" name="TextBox 23">
            <a:extLst>
              <a:ext uri="{FF2B5EF4-FFF2-40B4-BE49-F238E27FC236}">
                <a16:creationId xmlns:a16="http://schemas.microsoft.com/office/drawing/2014/main" id="{3C7A18A0-8A3A-A53E-F793-08234727DD30}"/>
              </a:ext>
            </a:extLst>
          </p:cNvPr>
          <p:cNvSpPr txBox="1"/>
          <p:nvPr/>
        </p:nvSpPr>
        <p:spPr>
          <a:xfrm>
            <a:off x="6441711" y="3253160"/>
            <a:ext cx="2108974" cy="215444"/>
          </a:xfrm>
          <a:prstGeom prst="rect">
            <a:avLst/>
          </a:prstGeom>
          <a:noFill/>
        </p:spPr>
        <p:txBody>
          <a:bodyPr wrap="square" lIns="0" tIns="0" rIns="0" bIns="0" rtlCol="0" anchor="b">
            <a:spAutoFit/>
          </a:bodyPr>
          <a:lstStyle/>
          <a:p>
            <a:pPr algn="ctr"/>
            <a:r>
              <a:rPr lang="en-US" sz="1400" b="1" kern="0" dirty="0">
                <a:solidFill>
                  <a:schemeClr val="bg1"/>
                </a:solidFill>
                <a:latin typeface="Arial Hebrew Scholar" pitchFamily="2" charset="-79"/>
                <a:ea typeface="Calibri Light" charset="0"/>
                <a:cs typeface="Arial Hebrew Scholar" pitchFamily="2" charset="-79"/>
              </a:rPr>
              <a:t>Dr. Ionut Cardei</a:t>
            </a:r>
            <a:endParaRPr lang="en-US" sz="1400" b="1" dirty="0">
              <a:solidFill>
                <a:schemeClr val="bg1"/>
              </a:solidFill>
              <a:latin typeface="Arial Hebrew Scholar" pitchFamily="2" charset="-79"/>
              <a:ea typeface="Calibri Light" charset="0"/>
              <a:cs typeface="Arial Hebrew Scholar" pitchFamily="2" charset="-79"/>
            </a:endParaRPr>
          </a:p>
        </p:txBody>
      </p:sp>
      <p:pic>
        <p:nvPicPr>
          <p:cNvPr id="31" name="Picture Placeholder 30" descr="A person in a suit and tie&#10;&#10;AI-generated content may be incorrect.">
            <a:extLst>
              <a:ext uri="{FF2B5EF4-FFF2-40B4-BE49-F238E27FC236}">
                <a16:creationId xmlns:a16="http://schemas.microsoft.com/office/drawing/2014/main" id="{D7A5A952-66C5-474F-E65C-196E7213F720}"/>
              </a:ext>
            </a:extLst>
          </p:cNvPr>
          <p:cNvPicPr>
            <a:picLocks noGrp="1" noChangeAspect="1"/>
          </p:cNvPicPr>
          <p:nvPr>
            <p:ph type="pic" sz="quarter" idx="17"/>
          </p:nvPr>
        </p:nvPicPr>
        <p:blipFill>
          <a:blip r:embed="rId6"/>
          <a:srcRect t="472" b="472"/>
          <a:stretch>
            <a:fillRect/>
          </a:stretch>
        </p:blipFill>
        <p:spPr>
          <a:xfrm>
            <a:off x="9594982" y="1712393"/>
            <a:ext cx="1405096" cy="1404730"/>
          </a:xfrm>
        </p:spPr>
      </p:pic>
      <p:sp>
        <p:nvSpPr>
          <p:cNvPr id="34" name="TextBox 33">
            <a:extLst>
              <a:ext uri="{FF2B5EF4-FFF2-40B4-BE49-F238E27FC236}">
                <a16:creationId xmlns:a16="http://schemas.microsoft.com/office/drawing/2014/main" id="{46EBC1A1-036B-7E1B-8530-1C25B2A1D718}"/>
              </a:ext>
            </a:extLst>
          </p:cNvPr>
          <p:cNvSpPr txBox="1"/>
          <p:nvPr/>
        </p:nvSpPr>
        <p:spPr>
          <a:xfrm>
            <a:off x="9243043" y="3519957"/>
            <a:ext cx="2108974" cy="169277"/>
          </a:xfrm>
          <a:prstGeom prst="rect">
            <a:avLst/>
          </a:prstGeom>
          <a:noFill/>
        </p:spPr>
        <p:txBody>
          <a:bodyPr wrap="square" lIns="0" tIns="0" rIns="0" bIns="0" rtlCol="0" anchor="b">
            <a:spAutoFit/>
          </a:bodyPr>
          <a:lstStyle/>
          <a:p>
            <a:pPr algn="ctr"/>
            <a:r>
              <a:rPr lang="en-US" sz="1100" kern="0" dirty="0">
                <a:solidFill>
                  <a:schemeClr val="bg1">
                    <a:lumMod val="85000"/>
                  </a:schemeClr>
                </a:solidFill>
                <a:ea typeface="Calibri Light" charset="0"/>
                <a:cs typeface="Segoe UI" panose="020B0502040204020203" pitchFamily="34" charset="0"/>
              </a:rPr>
              <a:t>Chief Legal Counsel</a:t>
            </a:r>
            <a:endParaRPr lang="en-US" sz="1100" dirty="0">
              <a:solidFill>
                <a:schemeClr val="bg1">
                  <a:lumMod val="85000"/>
                </a:schemeClr>
              </a:solidFill>
              <a:ea typeface="Calibri Light" charset="0"/>
              <a:cs typeface="Segoe UI" panose="020B0502040204020203" pitchFamily="34" charset="0"/>
            </a:endParaRPr>
          </a:p>
        </p:txBody>
      </p:sp>
      <p:sp>
        <p:nvSpPr>
          <p:cNvPr id="35" name="TextBox 34">
            <a:extLst>
              <a:ext uri="{FF2B5EF4-FFF2-40B4-BE49-F238E27FC236}">
                <a16:creationId xmlns:a16="http://schemas.microsoft.com/office/drawing/2014/main" id="{D71D1D59-EAC2-44EF-2251-9053B838CE5D}"/>
              </a:ext>
            </a:extLst>
          </p:cNvPr>
          <p:cNvSpPr txBox="1"/>
          <p:nvPr/>
        </p:nvSpPr>
        <p:spPr>
          <a:xfrm>
            <a:off x="9242143" y="3886692"/>
            <a:ext cx="2110774" cy="1725395"/>
          </a:xfrm>
          <a:prstGeom prst="rect">
            <a:avLst/>
          </a:prstGeom>
          <a:noFill/>
        </p:spPr>
        <p:txBody>
          <a:bodyPr wrap="square" lIns="0" tIns="0" rIns="0" bIns="0" rtlCol="0" anchor="t">
            <a:noAutofit/>
          </a:bodyPr>
          <a:lstStyle/>
          <a:p>
            <a:pPr algn="just"/>
            <a:r>
              <a:rPr lang="en-US" sz="800" kern="0" dirty="0">
                <a:solidFill>
                  <a:schemeClr val="bg1"/>
                </a:solidFill>
                <a:latin typeface="Segoe UI" panose="020B0502040204020203" pitchFamily="34" charset="0"/>
                <a:ea typeface="Calibri Light" charset="0"/>
                <a:cs typeface="Segoe UI" panose="020B0502040204020203" pitchFamily="34" charset="0"/>
              </a:rPr>
              <a:t>A graduate of the University of Virginia School of Law, John has been practicing in New York and Italy for over twenty-five years. John has held senior leadership positions in both the private and public sector in New York, representing both the city of New York City as well as some of the most well know brands in the world from an IP perspective. He earned his Masters in Intellectual Property Law at </a:t>
            </a:r>
            <a:r>
              <a:rPr lang="en-US" sz="800" kern="0" dirty="0" err="1">
                <a:solidFill>
                  <a:schemeClr val="bg1"/>
                </a:solidFill>
                <a:latin typeface="Segoe UI" panose="020B0502040204020203" pitchFamily="34" charset="0"/>
                <a:ea typeface="Calibri Light" charset="0"/>
                <a:cs typeface="Segoe UI" panose="020B0502040204020203" pitchFamily="34" charset="0"/>
              </a:rPr>
              <a:t>L'Università</a:t>
            </a:r>
            <a:r>
              <a:rPr lang="en-US" sz="800" kern="0" dirty="0">
                <a:solidFill>
                  <a:schemeClr val="bg1"/>
                </a:solidFill>
                <a:latin typeface="Segoe UI" panose="020B0502040204020203" pitchFamily="34" charset="0"/>
                <a:ea typeface="Calibri Light" charset="0"/>
                <a:cs typeface="Segoe UI" panose="020B0502040204020203" pitchFamily="34" charset="0"/>
              </a:rPr>
              <a:t> di Torino and also served as External General Counsel for a healthcare technology company where he practiced and managed the full spectrum of business law.</a:t>
            </a:r>
          </a:p>
          <a:p>
            <a:pPr algn="just"/>
            <a:endParaRPr lang="en-US" sz="800" kern="0" dirty="0">
              <a:solidFill>
                <a:schemeClr val="bg1"/>
              </a:solidFill>
              <a:latin typeface="Segoe UI" panose="020B0502040204020203" pitchFamily="34" charset="0"/>
              <a:ea typeface="Calibri Light" charset="0"/>
              <a:cs typeface="Segoe UI" panose="020B0502040204020203" pitchFamily="34" charset="0"/>
            </a:endParaRPr>
          </a:p>
          <a:p>
            <a:pPr algn="just"/>
            <a:endParaRPr lang="en-US" sz="1400" kern="0" dirty="0">
              <a:solidFill>
                <a:schemeClr val="bg1"/>
              </a:solidFill>
              <a:latin typeface="Segoe UI" panose="020B0502040204020203" pitchFamily="34" charset="0"/>
              <a:ea typeface="Calibri Light" charset="0"/>
              <a:cs typeface="Segoe UI" panose="020B0502040204020203" pitchFamily="34" charset="0"/>
            </a:endParaRPr>
          </a:p>
        </p:txBody>
      </p:sp>
      <p:sp>
        <p:nvSpPr>
          <p:cNvPr id="36" name="TextBox 35">
            <a:extLst>
              <a:ext uri="{FF2B5EF4-FFF2-40B4-BE49-F238E27FC236}">
                <a16:creationId xmlns:a16="http://schemas.microsoft.com/office/drawing/2014/main" id="{5BA1FF1A-0B7F-A13A-9321-34756B51CCB5}"/>
              </a:ext>
            </a:extLst>
          </p:cNvPr>
          <p:cNvSpPr txBox="1"/>
          <p:nvPr/>
        </p:nvSpPr>
        <p:spPr>
          <a:xfrm>
            <a:off x="9243043" y="3253160"/>
            <a:ext cx="2108974" cy="215444"/>
          </a:xfrm>
          <a:prstGeom prst="rect">
            <a:avLst/>
          </a:prstGeom>
          <a:noFill/>
        </p:spPr>
        <p:txBody>
          <a:bodyPr wrap="square" lIns="0" tIns="0" rIns="0" bIns="0" rtlCol="0" anchor="b">
            <a:spAutoFit/>
          </a:bodyPr>
          <a:lstStyle/>
          <a:p>
            <a:pPr algn="ctr"/>
            <a:r>
              <a:rPr lang="en-US" sz="1400" b="1" kern="0" dirty="0">
                <a:solidFill>
                  <a:schemeClr val="bg1"/>
                </a:solidFill>
                <a:latin typeface="Arial Hebrew Scholar" pitchFamily="2" charset="-79"/>
                <a:ea typeface="Calibri Light" charset="0"/>
                <a:cs typeface="Arial Hebrew Scholar" pitchFamily="2" charset="-79"/>
              </a:rPr>
              <a:t>John Graziadie, Esq</a:t>
            </a:r>
            <a:endParaRPr lang="en-US" sz="1400" b="1" dirty="0">
              <a:solidFill>
                <a:schemeClr val="bg1"/>
              </a:solidFill>
              <a:latin typeface="Arial Hebrew Scholar" pitchFamily="2" charset="-79"/>
              <a:ea typeface="Calibri Light" charset="0"/>
              <a:cs typeface="Arial Hebrew Scholar" pitchFamily="2" charset="-79"/>
            </a:endParaRPr>
          </a:p>
        </p:txBody>
      </p:sp>
    </p:spTree>
    <p:extLst>
      <p:ext uri="{BB962C8B-B14F-4D97-AF65-F5344CB8AC3E}">
        <p14:creationId xmlns:p14="http://schemas.microsoft.com/office/powerpoint/2010/main" val="28246995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6503EB0F-2257-4A3E-A73B-E1DE769B45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9" name="Rectangle 8">
              <a:extLst>
                <a:ext uri="{FF2B5EF4-FFF2-40B4-BE49-F238E27FC236}">
                  <a16:creationId xmlns:a16="http://schemas.microsoft.com/office/drawing/2014/main" id="{77012B2A-0D78-433A-8C68-8889D3DCD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Freeform 5">
              <a:extLst>
                <a:ext uri="{FF2B5EF4-FFF2-40B4-BE49-F238E27FC236}">
                  <a16:creationId xmlns:a16="http://schemas.microsoft.com/office/drawing/2014/main" id="{119D0202-ED3F-47CC-90E9-4E963BCDAB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12" name="Rectangle 11">
            <a:extLst>
              <a:ext uri="{FF2B5EF4-FFF2-40B4-BE49-F238E27FC236}">
                <a16:creationId xmlns:a16="http://schemas.microsoft.com/office/drawing/2014/main" id="{670D6F2B-93AF-47D6-9378-5E54BE0AC6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79586CC5-C17B-2334-C285-C3AB6BE7ECC4}"/>
              </a:ext>
            </a:extLst>
          </p:cNvPr>
          <p:cNvSpPr>
            <a:spLocks noGrp="1"/>
          </p:cNvSpPr>
          <p:nvPr>
            <p:ph type="title"/>
          </p:nvPr>
        </p:nvSpPr>
        <p:spPr>
          <a:xfrm>
            <a:off x="5695061" y="1241266"/>
            <a:ext cx="5428551" cy="3153753"/>
          </a:xfrm>
        </p:spPr>
        <p:txBody>
          <a:bodyPr vert="horz" lIns="91440" tIns="45720" rIns="91440" bIns="45720" rtlCol="0" anchor="b">
            <a:normAutofit/>
          </a:bodyPr>
          <a:lstStyle/>
          <a:p>
            <a:r>
              <a:rPr lang="en-US" sz="5400"/>
              <a:t>Financial Model (3 Year)</a:t>
            </a:r>
          </a:p>
        </p:txBody>
      </p:sp>
      <p:grpSp>
        <p:nvGrpSpPr>
          <p:cNvPr id="14" name="Group 13">
            <a:extLst>
              <a:ext uri="{FF2B5EF4-FFF2-40B4-BE49-F238E27FC236}">
                <a16:creationId xmlns:a16="http://schemas.microsoft.com/office/drawing/2014/main" id="{F374EBD7-1B46-4ED9-90D6-A1B39FF264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23335" y="396836"/>
            <a:ext cx="4992157" cy="6058999"/>
            <a:chOff x="6776508" y="396836"/>
            <a:chExt cx="4992157" cy="6058999"/>
          </a:xfrm>
        </p:grpSpPr>
        <p:sp>
          <p:nvSpPr>
            <p:cNvPr id="15" name="Rectangle 14">
              <a:extLst>
                <a:ext uri="{FF2B5EF4-FFF2-40B4-BE49-F238E27FC236}">
                  <a16:creationId xmlns:a16="http://schemas.microsoft.com/office/drawing/2014/main" id="{D82EB7D3-3AD8-4ED1-9E1A-2906E14635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7FB59AF4-ED1B-4D96-A1A9-AF52B02AC8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4436158"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7" name="Freeform 5">
              <a:extLst>
                <a:ext uri="{FF2B5EF4-FFF2-40B4-BE49-F238E27FC236}">
                  <a16:creationId xmlns:a16="http://schemas.microsoft.com/office/drawing/2014/main" id="{2D529E20-662F-4915-ACD7-970C026FDB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5347266"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grpSp>
      <p:pic>
        <p:nvPicPr>
          <p:cNvPr id="4" name="Picture 3">
            <a:extLst>
              <a:ext uri="{FF2B5EF4-FFF2-40B4-BE49-F238E27FC236}">
                <a16:creationId xmlns:a16="http://schemas.microsoft.com/office/drawing/2014/main" id="{4E6D85D5-672D-8603-83EB-D1FA6FF00187}"/>
              </a:ext>
            </a:extLst>
          </p:cNvPr>
          <p:cNvPicPr>
            <a:picLocks noChangeAspect="1"/>
          </p:cNvPicPr>
          <p:nvPr/>
        </p:nvPicPr>
        <p:blipFill>
          <a:blip r:embed="rId3"/>
          <a:srcRect/>
          <a:stretch/>
        </p:blipFill>
        <p:spPr>
          <a:xfrm>
            <a:off x="351899" y="402165"/>
            <a:ext cx="4561796" cy="6141561"/>
          </a:xfrm>
          <a:prstGeom prst="rect">
            <a:avLst/>
          </a:prstGeom>
        </p:spPr>
      </p:pic>
    </p:spTree>
    <p:extLst>
      <p:ext uri="{BB962C8B-B14F-4D97-AF65-F5344CB8AC3E}">
        <p14:creationId xmlns:p14="http://schemas.microsoft.com/office/powerpoint/2010/main" val="2744837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937DE4-D372-E9AC-4B63-F0CA7F85CED7}"/>
            </a:ext>
          </a:extLst>
        </p:cNvPr>
        <p:cNvGrpSpPr/>
        <p:nvPr/>
      </p:nvGrpSpPr>
      <p:grpSpPr>
        <a:xfrm>
          <a:off x="0" y="0"/>
          <a:ext cx="0" cy="0"/>
          <a:chOff x="0" y="0"/>
          <a:chExt cx="0" cy="0"/>
        </a:xfrm>
      </p:grpSpPr>
      <p:sp>
        <p:nvSpPr>
          <p:cNvPr id="22" name="Freeform 5">
            <a:extLst>
              <a:ext uri="{FF2B5EF4-FFF2-40B4-BE49-F238E27FC236}">
                <a16:creationId xmlns:a16="http://schemas.microsoft.com/office/drawing/2014/main" id="{11CAC6F2-0806-417B-BF5D-5AEF6195FA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3" name="Rectangle 22">
            <a:extLst>
              <a:ext uri="{FF2B5EF4-FFF2-40B4-BE49-F238E27FC236}">
                <a16:creationId xmlns:a16="http://schemas.microsoft.com/office/drawing/2014/main" id="{D4723B02-0AAB-4F6E-BA41-8ED99D559D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0E89FA57-33AB-B508-4C3E-FBCC5D7B09BC}"/>
              </a:ext>
            </a:extLst>
          </p:cNvPr>
          <p:cNvSpPr>
            <a:spLocks noGrp="1"/>
          </p:cNvSpPr>
          <p:nvPr>
            <p:ph type="ctrTitle"/>
          </p:nvPr>
        </p:nvSpPr>
        <p:spPr>
          <a:xfrm>
            <a:off x="8160773" y="1113062"/>
            <a:ext cx="3382297" cy="3281957"/>
          </a:xfrm>
        </p:spPr>
        <p:txBody>
          <a:bodyPr>
            <a:normAutofit/>
          </a:bodyPr>
          <a:lstStyle/>
          <a:p>
            <a:r>
              <a:rPr lang="en-US">
                <a:solidFill>
                  <a:srgbClr val="EBEBEB"/>
                </a:solidFill>
              </a:rPr>
              <a:t>Athena Software Group</a:t>
            </a:r>
          </a:p>
        </p:txBody>
      </p:sp>
      <p:sp>
        <p:nvSpPr>
          <p:cNvPr id="3" name="Subtitle 2">
            <a:extLst>
              <a:ext uri="{FF2B5EF4-FFF2-40B4-BE49-F238E27FC236}">
                <a16:creationId xmlns:a16="http://schemas.microsoft.com/office/drawing/2014/main" id="{4E92CDE8-CD60-CA2E-223F-76A53504251D}"/>
              </a:ext>
            </a:extLst>
          </p:cNvPr>
          <p:cNvSpPr>
            <a:spLocks noGrp="1"/>
          </p:cNvSpPr>
          <p:nvPr>
            <p:ph type="subTitle" idx="1"/>
          </p:nvPr>
        </p:nvSpPr>
        <p:spPr>
          <a:xfrm>
            <a:off x="8160773" y="4591665"/>
            <a:ext cx="3382298" cy="1150156"/>
          </a:xfrm>
        </p:spPr>
        <p:txBody>
          <a:bodyPr>
            <a:normAutofit/>
          </a:bodyPr>
          <a:lstStyle/>
          <a:p>
            <a:pPr>
              <a:lnSpc>
                <a:spcPct val="90000"/>
              </a:lnSpc>
            </a:pPr>
            <a:r>
              <a:rPr lang="en-US" i="1" dirty="0"/>
              <a:t>Best in Class, AI Enabled, security solutions for Enterprise application providers.</a:t>
            </a:r>
            <a:endParaRPr lang="en-US" i="1"/>
          </a:p>
        </p:txBody>
      </p:sp>
      <p:pic>
        <p:nvPicPr>
          <p:cNvPr id="5" name="Picture 4">
            <a:extLst>
              <a:ext uri="{FF2B5EF4-FFF2-40B4-BE49-F238E27FC236}">
                <a16:creationId xmlns:a16="http://schemas.microsoft.com/office/drawing/2014/main" id="{97678170-9CB9-9E3B-855F-C3C5DAE8265B}"/>
              </a:ext>
            </a:extLst>
          </p:cNvPr>
          <p:cNvPicPr>
            <a:picLocks noChangeAspect="1"/>
          </p:cNvPicPr>
          <p:nvPr/>
        </p:nvPicPr>
        <p:blipFill>
          <a:blip r:embed="rId2"/>
          <a:stretch>
            <a:fillRect/>
          </a:stretch>
        </p:blipFill>
        <p:spPr>
          <a:xfrm>
            <a:off x="1109763" y="1316544"/>
            <a:ext cx="6470907" cy="4221795"/>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893412626"/>
      </p:ext>
    </p:extLst>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6417</TotalTime>
  <Words>1475</Words>
  <Application>Microsoft Macintosh PowerPoint</Application>
  <PresentationFormat>Widescreen</PresentationFormat>
  <Paragraphs>118</Paragraphs>
  <Slides>14</Slides>
  <Notes>4</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14</vt:i4>
      </vt:variant>
    </vt:vector>
  </HeadingPairs>
  <TitlesOfParts>
    <vt:vector size="28" baseType="lpstr">
      <vt:lpstr>-apple-system-font</vt:lpstr>
      <vt:lpstr>Aptos</vt:lpstr>
      <vt:lpstr>Arial</vt:lpstr>
      <vt:lpstr>Arial Hebrew Scholar</vt:lpstr>
      <vt:lpstr>Calibri Light</vt:lpstr>
      <vt:lpstr>Century Gothic</vt:lpstr>
      <vt:lpstr>Open Sans</vt:lpstr>
      <vt:lpstr>Optima</vt:lpstr>
      <vt:lpstr>Segoe UI</vt:lpstr>
      <vt:lpstr>Segoe UI Black</vt:lpstr>
      <vt:lpstr>System Font Regular</vt:lpstr>
      <vt:lpstr>Wingdings</vt:lpstr>
      <vt:lpstr>Wingdings 3</vt:lpstr>
      <vt:lpstr>Ion Boardroom</vt:lpstr>
      <vt:lpstr>Athena Software Group</vt:lpstr>
      <vt:lpstr>PowerPoint Presentation</vt:lpstr>
      <vt:lpstr>Mission Statement</vt:lpstr>
      <vt:lpstr>Cloud Solution Providers</vt:lpstr>
      <vt:lpstr>Fragmentation and Time to Resolution</vt:lpstr>
      <vt:lpstr>Market Opportunity</vt:lpstr>
      <vt:lpstr>Athena &amp; ASG</vt:lpstr>
      <vt:lpstr>Who we are what we do</vt:lpstr>
      <vt:lpstr>Athena the Product</vt:lpstr>
      <vt:lpstr>PowerPoint Presentation</vt:lpstr>
      <vt:lpstr>Product Roadmap &amp; Go to Market Timeline</vt:lpstr>
      <vt:lpstr>PowerPoint Presentation</vt:lpstr>
      <vt:lpstr>Financial Model (3 Year)</vt:lpstr>
      <vt:lpstr>Athena Software Group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Worth</dc:creator>
  <cp:lastModifiedBy>Peter Worth</cp:lastModifiedBy>
  <cp:revision>37</cp:revision>
  <dcterms:created xsi:type="dcterms:W3CDTF">2025-02-21T13:12:15Z</dcterms:created>
  <dcterms:modified xsi:type="dcterms:W3CDTF">2025-04-18T10:57:29Z</dcterms:modified>
</cp:coreProperties>
</file>