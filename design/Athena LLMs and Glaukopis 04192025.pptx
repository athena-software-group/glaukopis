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3" r:id="rId1"/>
  </p:sldMasterIdLst>
  <p:notesMasterIdLst>
    <p:notesMasterId r:id="rId11"/>
  </p:notesMasterIdLst>
  <p:handoutMasterIdLst>
    <p:handoutMasterId r:id="rId12"/>
  </p:handoutMasterIdLst>
  <p:sldIdLst>
    <p:sldId id="256" r:id="rId2"/>
    <p:sldId id="303" r:id="rId3"/>
    <p:sldId id="281" r:id="rId4"/>
    <p:sldId id="288" r:id="rId5"/>
    <p:sldId id="284" r:id="rId6"/>
    <p:sldId id="299" r:id="rId7"/>
    <p:sldId id="300" r:id="rId8"/>
    <p:sldId id="304" r:id="rId9"/>
    <p:sldId id="297"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17"/>
    <p:restoredTop sz="86395"/>
  </p:normalViewPr>
  <p:slideViewPr>
    <p:cSldViewPr snapToGrid="0">
      <p:cViewPr varScale="1">
        <p:scale>
          <a:sx n="110" d="100"/>
          <a:sy n="110" d="100"/>
        </p:scale>
        <p:origin x="1240" y="16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97" d="100"/>
          <a:sy n="97" d="100"/>
        </p:scale>
        <p:origin x="3120"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E03BD63-559D-3A65-C2E2-3094AF2A0E2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94C289E-5B77-7C7F-C72B-0A38A48D009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0B60C55-DA89-A743-AEC4-D5CDB8585989}" type="datetimeFigureOut">
              <a:rPr lang="en-US" smtClean="0"/>
              <a:t>4/18/25</a:t>
            </a:fld>
            <a:endParaRPr lang="en-US"/>
          </a:p>
        </p:txBody>
      </p:sp>
      <p:sp>
        <p:nvSpPr>
          <p:cNvPr id="4" name="Footer Placeholder 3">
            <a:extLst>
              <a:ext uri="{FF2B5EF4-FFF2-40B4-BE49-F238E27FC236}">
                <a16:creationId xmlns:a16="http://schemas.microsoft.com/office/drawing/2014/main" id="{FB6BFC54-C61F-FE63-C261-7099469BB19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C750CD4-05D6-B8E6-8E90-0C212549E79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107E640-CE89-B54B-9586-B6FC8349755D}" type="slidenum">
              <a:rPr lang="en-US" smtClean="0"/>
              <a:t>‹#›</a:t>
            </a:fld>
            <a:endParaRPr lang="en-US"/>
          </a:p>
        </p:txBody>
      </p:sp>
    </p:spTree>
    <p:extLst>
      <p:ext uri="{BB962C8B-B14F-4D97-AF65-F5344CB8AC3E}">
        <p14:creationId xmlns:p14="http://schemas.microsoft.com/office/powerpoint/2010/main" val="37574412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7691A4-062C-1345-8352-2ABD21CF9B05}" type="datetimeFigureOut">
              <a:rPr lang="en-US" smtClean="0"/>
              <a:t>4/18/25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881564-0C77-C641-92EE-90D8B4FBB46A}" type="slidenum">
              <a:rPr lang="en-US" smtClean="0"/>
              <a:t>‹#›</a:t>
            </a:fld>
            <a:endParaRPr lang="en-US"/>
          </a:p>
        </p:txBody>
      </p:sp>
    </p:spTree>
    <p:extLst>
      <p:ext uri="{BB962C8B-B14F-4D97-AF65-F5344CB8AC3E}">
        <p14:creationId xmlns:p14="http://schemas.microsoft.com/office/powerpoint/2010/main" val="34379057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6" name="Footer Placeholder 4">
            <a:extLst>
              <a:ext uri="{FF2B5EF4-FFF2-40B4-BE49-F238E27FC236}">
                <a16:creationId xmlns:a16="http://schemas.microsoft.com/office/drawing/2014/main" id="{6DFBC61A-8090-8168-6EF9-E0CF502CAD3B}"/>
              </a:ext>
            </a:extLst>
          </p:cNvPr>
          <p:cNvSpPr txBox="1">
            <a:spLocks/>
          </p:cNvSpPr>
          <p:nvPr userDrawn="1"/>
        </p:nvSpPr>
        <p:spPr>
          <a:xfrm rot="16200000">
            <a:off x="9909463" y="3000157"/>
            <a:ext cx="4219278"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i="1" dirty="0"/>
              <a:t>© 2025 Athena Software Group. Confidential &amp; Proprietary. Do not distribute.</a:t>
            </a:r>
          </a:p>
        </p:txBody>
      </p:sp>
    </p:spTree>
    <p:extLst>
      <p:ext uri="{BB962C8B-B14F-4D97-AF65-F5344CB8AC3E}">
        <p14:creationId xmlns:p14="http://schemas.microsoft.com/office/powerpoint/2010/main" val="18943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454648" y="6312298"/>
            <a:ext cx="990599" cy="304799"/>
          </a:xfrm>
          <a:prstGeom prst="rect">
            <a:avLst/>
          </a:prstGeom>
        </p:spPr>
        <p:txBody>
          <a:bodyPr/>
          <a:lstStyle/>
          <a:p>
            <a:fld id="{B61BEF0D-F0BB-DE4B-95CE-6DB70DBA9567}" type="datetimeFigureOut">
              <a:rPr lang="en-US" smtClean="0"/>
              <a:pPr/>
              <a:t>4/18/25</a:t>
            </a:fld>
            <a:endParaRPr lang="en-US" dirty="0"/>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12090095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454648" y="6312298"/>
            <a:ext cx="990599" cy="304799"/>
          </a:xfrm>
          <a:prstGeom prst="rect">
            <a:avLst/>
          </a:prstGeom>
        </p:spPr>
        <p:txBody>
          <a:bodyPr/>
          <a:lstStyle/>
          <a:p>
            <a:fld id="{B61BEF0D-F0BB-DE4B-95CE-6DB70DBA9567}" type="datetimeFigureOut">
              <a:rPr lang="en-US" smtClean="0"/>
              <a:pPr/>
              <a:t>4/18/25</a:t>
            </a:fld>
            <a:endParaRPr lang="en-US" dirty="0"/>
          </a:p>
        </p:txBody>
      </p:sp>
      <p:sp>
        <p:nvSpPr>
          <p:cNvPr id="5" name="Footer Placeholder 4"/>
          <p:cNvSpPr>
            <a:spLocks noGrp="1"/>
          </p:cNvSpPr>
          <p:nvPr>
            <p:ph type="ftr" sz="quarter" idx="11"/>
          </p:nvPr>
        </p:nvSpPr>
        <p:spPr/>
        <p:txBody>
          <a:bodyPr/>
          <a:lstStyle/>
          <a:p>
            <a:r>
              <a:rPr lang="en-US"/>
              <a:t>© 2025 Athena Software Group. Confidential &amp; Proprietary. Do not distribute.</a:t>
            </a:r>
            <a:endParaRPr lang="en-US" dirty="0"/>
          </a:p>
        </p:txBody>
      </p:sp>
      <p:sp>
        <p:nvSpPr>
          <p:cNvPr id="7" name="Footer Placeholder 4">
            <a:extLst>
              <a:ext uri="{FF2B5EF4-FFF2-40B4-BE49-F238E27FC236}">
                <a16:creationId xmlns:a16="http://schemas.microsoft.com/office/drawing/2014/main" id="{49D9D5FB-CA2B-2D18-2B72-547EB4A5DC3D}"/>
              </a:ext>
            </a:extLst>
          </p:cNvPr>
          <p:cNvSpPr txBox="1">
            <a:spLocks/>
          </p:cNvSpPr>
          <p:nvPr userDrawn="1"/>
        </p:nvSpPr>
        <p:spPr>
          <a:xfrm rot="16200000">
            <a:off x="10066385" y="2882004"/>
            <a:ext cx="3982972"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i="1" dirty="0"/>
              <a:t>© 2025 Athena Software Group. Confidential &amp; Proprietary. Do not distribute.</a:t>
            </a:r>
          </a:p>
        </p:txBody>
      </p:sp>
    </p:spTree>
    <p:extLst>
      <p:ext uri="{BB962C8B-B14F-4D97-AF65-F5344CB8AC3E}">
        <p14:creationId xmlns:p14="http://schemas.microsoft.com/office/powerpoint/2010/main" val="3209623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8454648" y="6312298"/>
            <a:ext cx="990599" cy="304799"/>
          </a:xfrm>
          <a:prstGeom prst="rect">
            <a:avLst/>
          </a:prstGeom>
        </p:spPr>
        <p:txBody>
          <a:bodyPr/>
          <a:lstStyle/>
          <a:p>
            <a:fld id="{B61BEF0D-F0BB-DE4B-95CE-6DB70DBA9567}" type="datetimeFigureOut">
              <a:rPr lang="en-US" smtClean="0"/>
              <a:pPr/>
              <a:t>4/18/25</a:t>
            </a:fld>
            <a:endParaRPr lang="en-US" dirty="0"/>
          </a:p>
        </p:txBody>
      </p:sp>
      <p:sp>
        <p:nvSpPr>
          <p:cNvPr id="6" name="Footer Placeholder 5"/>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162027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8454648" y="6312298"/>
            <a:ext cx="990599" cy="304799"/>
          </a:xfrm>
          <a:prstGeom prst="rect">
            <a:avLst/>
          </a:prstGeom>
        </p:spPr>
        <p:txBody>
          <a:bodyPr/>
          <a:lstStyle/>
          <a:p>
            <a:fld id="{B61BEF0D-F0BB-DE4B-95CE-6DB70DBA9567}" type="datetimeFigureOut">
              <a:rPr lang="en-US" smtClean="0"/>
              <a:pPr/>
              <a:t>4/18/25</a:t>
            </a:fld>
            <a:endParaRPr lang="en-US" dirty="0"/>
          </a:p>
        </p:txBody>
      </p:sp>
      <p:sp>
        <p:nvSpPr>
          <p:cNvPr id="8" name="Footer Placeholder 7"/>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564078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a:xfrm>
            <a:off x="8454648" y="6312298"/>
            <a:ext cx="990599" cy="304799"/>
          </a:xfrm>
          <a:prstGeom prst="rect">
            <a:avLst/>
          </a:prstGeom>
        </p:spPr>
        <p:txBody>
          <a:bodyPr/>
          <a:lstStyle/>
          <a:p>
            <a:fld id="{B61BEF0D-F0BB-DE4B-95CE-6DB70DBA9567}" type="datetimeFigureOut">
              <a:rPr lang="en-US" smtClean="0"/>
              <a:pPr/>
              <a:t>4/18/25</a:t>
            </a:fld>
            <a:endParaRPr lang="en-US" dirty="0"/>
          </a:p>
        </p:txBody>
      </p:sp>
      <p:sp>
        <p:nvSpPr>
          <p:cNvPr id="4" name="Footer Placeholder 3"/>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1597469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454648" y="6312298"/>
            <a:ext cx="990599" cy="304799"/>
          </a:xfrm>
          <a:prstGeom prst="rect">
            <a:avLst/>
          </a:prstGeom>
        </p:spPr>
        <p:txBody>
          <a:bodyPr/>
          <a:lstStyle/>
          <a:p>
            <a:fld id="{B61BEF0D-F0BB-DE4B-95CE-6DB70DBA9567}" type="datetimeFigureOut">
              <a:rPr lang="en-US" smtClean="0"/>
              <a:pPr/>
              <a:t>4/18/25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ooter Placeholder 4">
            <a:extLst>
              <a:ext uri="{FF2B5EF4-FFF2-40B4-BE49-F238E27FC236}">
                <a16:creationId xmlns:a16="http://schemas.microsoft.com/office/drawing/2014/main" id="{1C26F73B-B6F2-FB00-404E-311A788B1854}"/>
              </a:ext>
            </a:extLst>
          </p:cNvPr>
          <p:cNvSpPr txBox="1">
            <a:spLocks/>
          </p:cNvSpPr>
          <p:nvPr userDrawn="1"/>
        </p:nvSpPr>
        <p:spPr>
          <a:xfrm rot="16200000">
            <a:off x="9956981" y="3032223"/>
            <a:ext cx="4124242"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i="1" dirty="0"/>
              <a:t>© 2025 Athena Software Group. Confidential &amp; Proprietary. Do not distribute.</a:t>
            </a:r>
          </a:p>
        </p:txBody>
      </p:sp>
    </p:spTree>
    <p:extLst>
      <p:ext uri="{BB962C8B-B14F-4D97-AF65-F5344CB8AC3E}">
        <p14:creationId xmlns:p14="http://schemas.microsoft.com/office/powerpoint/2010/main" val="3226582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8454648" y="6312298"/>
            <a:ext cx="990599" cy="304799"/>
          </a:xfrm>
          <a:prstGeom prst="rect">
            <a:avLst/>
          </a:prstGeom>
        </p:spPr>
        <p:txBody>
          <a:bodyPr/>
          <a:lstStyle/>
          <a:p>
            <a:fld id="{B61BEF0D-F0BB-DE4B-95CE-6DB70DBA9567}" type="datetimeFigureOut">
              <a:rPr lang="en-US" smtClean="0"/>
              <a:pPr/>
              <a:t>4/18/25</a:t>
            </a:fld>
            <a:endParaRPr lang="en-US" dirty="0"/>
          </a:p>
        </p:txBody>
      </p:sp>
      <p:sp>
        <p:nvSpPr>
          <p:cNvPr id="10" name="Footer Placeholder 4">
            <a:extLst>
              <a:ext uri="{FF2B5EF4-FFF2-40B4-BE49-F238E27FC236}">
                <a16:creationId xmlns:a16="http://schemas.microsoft.com/office/drawing/2014/main" id="{B17411E9-B4DB-4663-AF2A-AFC3CE7427E3}"/>
              </a:ext>
            </a:extLst>
          </p:cNvPr>
          <p:cNvSpPr txBox="1">
            <a:spLocks/>
          </p:cNvSpPr>
          <p:nvPr userDrawn="1"/>
        </p:nvSpPr>
        <p:spPr>
          <a:xfrm rot="16200000">
            <a:off x="9880107" y="3236888"/>
            <a:ext cx="4228772"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i="1" dirty="0"/>
              <a:t>© 2025 Athena Software Group. Confidential &amp; Proprietary. Do not distribute.</a:t>
            </a:r>
          </a:p>
        </p:txBody>
      </p:sp>
    </p:spTree>
    <p:extLst>
      <p:ext uri="{BB962C8B-B14F-4D97-AF65-F5344CB8AC3E}">
        <p14:creationId xmlns:p14="http://schemas.microsoft.com/office/powerpoint/2010/main" val="932320774"/>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8454648" y="6312298"/>
            <a:ext cx="990599" cy="304799"/>
          </a:xfrm>
          <a:prstGeom prst="rect">
            <a:avLst/>
          </a:prstGeom>
        </p:spPr>
        <p:txBody>
          <a:bodyPr/>
          <a:lstStyle/>
          <a:p>
            <a:fld id="{B61BEF0D-F0BB-DE4B-95CE-6DB70DBA9567}" type="datetimeFigureOut">
              <a:rPr lang="en-US" smtClean="0"/>
              <a:pPr/>
              <a:t>4/18/25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3" name="Footer Placeholder 4">
            <a:extLst>
              <a:ext uri="{FF2B5EF4-FFF2-40B4-BE49-F238E27FC236}">
                <a16:creationId xmlns:a16="http://schemas.microsoft.com/office/drawing/2014/main" id="{5B3ECF7A-537F-4FB8-9C02-07AD5BF4EC79}"/>
              </a:ext>
            </a:extLst>
          </p:cNvPr>
          <p:cNvSpPr txBox="1">
            <a:spLocks/>
          </p:cNvSpPr>
          <p:nvPr userDrawn="1"/>
        </p:nvSpPr>
        <p:spPr>
          <a:xfrm rot="16200000">
            <a:off x="9840128" y="3256102"/>
            <a:ext cx="4338362"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i="1" dirty="0"/>
              <a:t>© 2025 Athena Software Group. Confidential &amp; Proprietary. Do not distribute.</a:t>
            </a:r>
          </a:p>
        </p:txBody>
      </p:sp>
    </p:spTree>
    <p:extLst>
      <p:ext uri="{BB962C8B-B14F-4D97-AF65-F5344CB8AC3E}">
        <p14:creationId xmlns:p14="http://schemas.microsoft.com/office/powerpoint/2010/main" val="3995883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8454648" y="6312298"/>
            <a:ext cx="990599" cy="304799"/>
          </a:xfrm>
          <a:prstGeom prst="rect">
            <a:avLst/>
          </a:prstGeom>
        </p:spPr>
        <p:txBody>
          <a:bodyPr/>
          <a:lstStyle/>
          <a:p>
            <a:fld id="{B61BEF0D-F0BB-DE4B-95CE-6DB70DBA9567}" type="datetimeFigureOut">
              <a:rPr lang="en-US" smtClean="0"/>
              <a:pPr/>
              <a:t>4/18/25</a:t>
            </a:fld>
            <a:endParaRPr lang="en-US" dirty="0"/>
          </a:p>
        </p:txBody>
      </p:sp>
      <p:sp>
        <p:nvSpPr>
          <p:cNvPr id="6" name="Footer Placeholder 5"/>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4135788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a:xfrm>
            <a:off x="8454648" y="6312298"/>
            <a:ext cx="990599" cy="304799"/>
          </a:xfrm>
          <a:prstGeom prst="rect">
            <a:avLst/>
          </a:prstGeom>
        </p:spPr>
        <p:txBody>
          <a:bodyPr/>
          <a:lstStyle/>
          <a:p>
            <a:fld id="{B61BEF0D-F0BB-DE4B-95CE-6DB70DBA9567}" type="datetimeFigureOut">
              <a:rPr lang="en-US" smtClean="0"/>
              <a:pPr/>
              <a:t>4/18/25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3" name="Footer Placeholder 4">
            <a:extLst>
              <a:ext uri="{FF2B5EF4-FFF2-40B4-BE49-F238E27FC236}">
                <a16:creationId xmlns:a16="http://schemas.microsoft.com/office/drawing/2014/main" id="{F13FF7D5-9B46-53AC-2744-779E3A0BDD6A}"/>
              </a:ext>
            </a:extLst>
          </p:cNvPr>
          <p:cNvSpPr txBox="1">
            <a:spLocks/>
          </p:cNvSpPr>
          <p:nvPr userDrawn="1"/>
        </p:nvSpPr>
        <p:spPr>
          <a:xfrm rot="16200000">
            <a:off x="9803953" y="3256102"/>
            <a:ext cx="4476132"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i="1" dirty="0"/>
              <a:t>© 2025 Athena Software Group. Confidential &amp; Proprietary. Do not distribute.</a:t>
            </a:r>
          </a:p>
        </p:txBody>
      </p:sp>
    </p:spTree>
    <p:extLst>
      <p:ext uri="{BB962C8B-B14F-4D97-AF65-F5344CB8AC3E}">
        <p14:creationId xmlns:p14="http://schemas.microsoft.com/office/powerpoint/2010/main" val="36710325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a:xfrm>
            <a:off x="8454648" y="6312298"/>
            <a:ext cx="990599" cy="304799"/>
          </a:xfrm>
          <a:prstGeom prst="rect">
            <a:avLst/>
          </a:prstGeom>
        </p:spPr>
        <p:txBody>
          <a:bodyPr/>
          <a:lstStyle/>
          <a:p>
            <a:fld id="{B61BEF0D-F0BB-DE4B-95CE-6DB70DBA9567}" type="datetimeFigureOut">
              <a:rPr lang="en-US" smtClean="0"/>
              <a:pPr/>
              <a:t>4/18/25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ooter Placeholder 4">
            <a:extLst>
              <a:ext uri="{FF2B5EF4-FFF2-40B4-BE49-F238E27FC236}">
                <a16:creationId xmlns:a16="http://schemas.microsoft.com/office/drawing/2014/main" id="{5664145B-19FD-AD77-4870-A755C975D17D}"/>
              </a:ext>
            </a:extLst>
          </p:cNvPr>
          <p:cNvSpPr txBox="1">
            <a:spLocks/>
          </p:cNvSpPr>
          <p:nvPr userDrawn="1"/>
        </p:nvSpPr>
        <p:spPr>
          <a:xfrm rot="16200000">
            <a:off x="10020469" y="3733748"/>
            <a:ext cx="4002360"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i="1" dirty="0"/>
              <a:t>© 2025 Athena Software Group. Confidential &amp; Proprietary. Do not distribute.</a:t>
            </a:r>
          </a:p>
        </p:txBody>
      </p:sp>
    </p:spTree>
    <p:extLst>
      <p:ext uri="{BB962C8B-B14F-4D97-AF65-F5344CB8AC3E}">
        <p14:creationId xmlns:p14="http://schemas.microsoft.com/office/powerpoint/2010/main" val="29897695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2182"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454648" y="6312298"/>
            <a:ext cx="990599" cy="304799"/>
          </a:xfrm>
          <a:prstGeom prst="rect">
            <a:avLst/>
          </a:prstGeom>
        </p:spPr>
        <p:txBody>
          <a:bodyPr/>
          <a:lstStyle/>
          <a:p>
            <a:fld id="{B61BEF0D-F0BB-DE4B-95CE-6DB70DBA9567}" type="datetimeFigureOut">
              <a:rPr lang="en-US" smtClean="0"/>
              <a:pPr/>
              <a:t>4/18/25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ooter Placeholder 4">
            <a:extLst>
              <a:ext uri="{FF2B5EF4-FFF2-40B4-BE49-F238E27FC236}">
                <a16:creationId xmlns:a16="http://schemas.microsoft.com/office/drawing/2014/main" id="{7C033ECB-BE15-8E71-E72D-C0C1597B1866}"/>
              </a:ext>
            </a:extLst>
          </p:cNvPr>
          <p:cNvSpPr txBox="1">
            <a:spLocks/>
          </p:cNvSpPr>
          <p:nvPr userDrawn="1"/>
        </p:nvSpPr>
        <p:spPr>
          <a:xfrm rot="16200000">
            <a:off x="9653605" y="2928235"/>
            <a:ext cx="4846078"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i="1" dirty="0"/>
              <a:t>© 2025 Athena Software Group. Confidential &amp; Proprietary. Do not distribute.</a:t>
            </a:r>
          </a:p>
        </p:txBody>
      </p:sp>
    </p:spTree>
    <p:extLst>
      <p:ext uri="{BB962C8B-B14F-4D97-AF65-F5344CB8AC3E}">
        <p14:creationId xmlns:p14="http://schemas.microsoft.com/office/powerpoint/2010/main" val="4098764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a:xfrm>
            <a:off x="8454648" y="6312298"/>
            <a:ext cx="990599" cy="304799"/>
          </a:xfrm>
          <a:prstGeom prst="rect">
            <a:avLst/>
          </a:prstGeom>
        </p:spPr>
        <p:txBody>
          <a:bodyPr/>
          <a:lstStyle/>
          <a:p>
            <a:fld id="{B61BEF0D-F0BB-DE4B-95CE-6DB70DBA9567}" type="datetimeFigureOut">
              <a:rPr lang="en-US" smtClean="0"/>
              <a:pPr/>
              <a:t>4/18/25</a:t>
            </a:fld>
            <a:endParaRPr lang="en-US" dirty="0"/>
          </a:p>
        </p:txBody>
      </p:sp>
      <p:sp>
        <p:nvSpPr>
          <p:cNvPr id="8" name="Footer Placeholder 7"/>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25104105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a:xfrm>
            <a:off x="8454648" y="6312298"/>
            <a:ext cx="990599" cy="304799"/>
          </a:xfrm>
          <a:prstGeom prst="rect">
            <a:avLst/>
          </a:prstGeom>
        </p:spPr>
        <p:txBody>
          <a:bodyPr/>
          <a:lstStyle/>
          <a:p>
            <a:fld id="{B61BEF0D-F0BB-DE4B-95CE-6DB70DBA9567}" type="datetimeFigureOut">
              <a:rPr lang="en-US" smtClean="0"/>
              <a:pPr/>
              <a:t>4/18/25</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Tree>
    <p:extLst>
      <p:ext uri="{BB962C8B-B14F-4D97-AF65-F5344CB8AC3E}">
        <p14:creationId xmlns:p14="http://schemas.microsoft.com/office/powerpoint/2010/main" val="20221143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a:prstGeom prst="rect">
            <a:avLst/>
          </a:prstGeom>
        </p:spPr>
        <p:txBody>
          <a:bodyPr/>
          <a:lstStyle/>
          <a:p>
            <a:fld id="{B61BEF0D-F0BB-DE4B-95CE-6DB70DBA9567}" type="datetimeFigureOut">
              <a:rPr lang="en-US" smtClean="0"/>
              <a:pPr/>
              <a:t>4/18/25</a:t>
            </a:fld>
            <a:endParaRPr lang="en-US" dirty="0"/>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39542044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a:prstGeom prst="rect">
            <a:avLst/>
          </a:prstGeom>
        </p:spPr>
        <p:txBody>
          <a:bodyPr/>
          <a:lstStyle/>
          <a:p>
            <a:fld id="{B61BEF0D-F0BB-DE4B-95CE-6DB70DBA9567}" type="datetimeFigureOut">
              <a:rPr lang="en-US" smtClean="0"/>
              <a:pPr/>
              <a:t>4/18/25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ooter Placeholder 4">
            <a:extLst>
              <a:ext uri="{FF2B5EF4-FFF2-40B4-BE49-F238E27FC236}">
                <a16:creationId xmlns:a16="http://schemas.microsoft.com/office/drawing/2014/main" id="{6F1740BF-5AE9-E944-D85C-62E2CE23F1FE}"/>
              </a:ext>
            </a:extLst>
          </p:cNvPr>
          <p:cNvSpPr txBox="1">
            <a:spLocks/>
          </p:cNvSpPr>
          <p:nvPr userDrawn="1"/>
        </p:nvSpPr>
        <p:spPr>
          <a:xfrm rot="16200000">
            <a:off x="10035981" y="3078004"/>
            <a:ext cx="4013795"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i="1" dirty="0"/>
              <a:t>© 2025 Athena Software Group. Confidential &amp; Proprietary. Do not distribute.</a:t>
            </a:r>
          </a:p>
        </p:txBody>
      </p:sp>
    </p:spTree>
    <p:extLst>
      <p:ext uri="{BB962C8B-B14F-4D97-AF65-F5344CB8AC3E}">
        <p14:creationId xmlns:p14="http://schemas.microsoft.com/office/powerpoint/2010/main" val="6610962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Service">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9219973" y="6356352"/>
            <a:ext cx="2365444" cy="365125"/>
          </a:xfrm>
        </p:spPr>
        <p:txBody>
          <a:bodyPr/>
          <a:lstStyle>
            <a:lvl1pPr algn="r">
              <a:defRPr>
                <a:solidFill>
                  <a:schemeClr val="tx1">
                    <a:lumMod val="50000"/>
                    <a:lumOff val="50000"/>
                  </a:schemeClr>
                </a:solidFill>
              </a:defRPr>
            </a:lvl1pPr>
          </a:lstStyle>
          <a:p>
            <a:endParaRPr lang="en-US" dirty="0"/>
          </a:p>
        </p:txBody>
      </p:sp>
      <p:sp>
        <p:nvSpPr>
          <p:cNvPr id="5" name="Slide Number Placeholder 4"/>
          <p:cNvSpPr>
            <a:spLocks noGrp="1"/>
          </p:cNvSpPr>
          <p:nvPr>
            <p:ph type="sldNum" sz="quarter" idx="12"/>
          </p:nvPr>
        </p:nvSpPr>
        <p:spPr>
          <a:xfrm>
            <a:off x="339609" y="6356352"/>
            <a:ext cx="786545" cy="365125"/>
          </a:xfrm>
          <a:prstGeom prst="rect">
            <a:avLst/>
          </a:prstGeom>
        </p:spPr>
        <p:txBody>
          <a:bodyPr/>
          <a:lstStyle>
            <a:lvl1pPr algn="l">
              <a:defRPr sz="3200" b="1">
                <a:solidFill>
                  <a:schemeClr val="tx2"/>
                </a:solidFill>
                <a:latin typeface="Segoe UI Black" panose="020B0A02040204020203" pitchFamily="34" charset="0"/>
                <a:ea typeface="Segoe UI Black" panose="020B0A02040204020203" pitchFamily="34" charset="0"/>
              </a:defRPr>
            </a:lvl1pPr>
          </a:lstStyle>
          <a:p>
            <a:fld id="{96E69268-9C8B-4EBF-A9EE-DC5DC2D48DC3}" type="slidenum">
              <a:rPr lang="en-US" smtClean="0"/>
              <a:pPr/>
              <a:t>‹#›</a:t>
            </a:fld>
            <a:endParaRPr lang="en-US"/>
          </a:p>
        </p:txBody>
      </p:sp>
      <p:sp>
        <p:nvSpPr>
          <p:cNvPr id="8" name="Freeform: Shape 7">
            <a:extLst>
              <a:ext uri="{FF2B5EF4-FFF2-40B4-BE49-F238E27FC236}">
                <a16:creationId xmlns:a16="http://schemas.microsoft.com/office/drawing/2014/main" id="{8BEA795B-86DE-7FDD-829C-72225EB12DE5}"/>
              </a:ext>
            </a:extLst>
          </p:cNvPr>
          <p:cNvSpPr/>
          <p:nvPr/>
        </p:nvSpPr>
        <p:spPr>
          <a:xfrm>
            <a:off x="339609" y="306153"/>
            <a:ext cx="1259209" cy="1258881"/>
          </a:xfrm>
          <a:custGeom>
            <a:avLst/>
            <a:gdLst>
              <a:gd name="connsiteX0" fmla="*/ 0 w 2866967"/>
              <a:gd name="connsiteY0" fmla="*/ 0 h 2866967"/>
              <a:gd name="connsiteX1" fmla="*/ 2866967 w 2866967"/>
              <a:gd name="connsiteY1" fmla="*/ 0 h 2866967"/>
              <a:gd name="connsiteX2" fmla="*/ 2866967 w 2866967"/>
              <a:gd name="connsiteY2" fmla="*/ 1175489 h 2866967"/>
              <a:gd name="connsiteX3" fmla="*/ 742122 w 2866967"/>
              <a:gd name="connsiteY3" fmla="*/ 1175489 h 2866967"/>
              <a:gd name="connsiteX4" fmla="*/ 742122 w 2866967"/>
              <a:gd name="connsiteY4" fmla="*/ 2866967 h 2866967"/>
              <a:gd name="connsiteX5" fmla="*/ 0 w 2866967"/>
              <a:gd name="connsiteY5" fmla="*/ 2866967 h 2866967"/>
              <a:gd name="connsiteX6" fmla="*/ 0 w 2866967"/>
              <a:gd name="connsiteY6" fmla="*/ 0 h 2866967"/>
              <a:gd name="connsiteX0" fmla="*/ 742122 w 2866967"/>
              <a:gd name="connsiteY0" fmla="*/ 1175489 h 2866967"/>
              <a:gd name="connsiteX1" fmla="*/ 742122 w 2866967"/>
              <a:gd name="connsiteY1" fmla="*/ 2866967 h 2866967"/>
              <a:gd name="connsiteX2" fmla="*/ 0 w 2866967"/>
              <a:gd name="connsiteY2" fmla="*/ 2866967 h 2866967"/>
              <a:gd name="connsiteX3" fmla="*/ 0 w 2866967"/>
              <a:gd name="connsiteY3" fmla="*/ 0 h 2866967"/>
              <a:gd name="connsiteX4" fmla="*/ 2866967 w 2866967"/>
              <a:gd name="connsiteY4" fmla="*/ 0 h 2866967"/>
              <a:gd name="connsiteX5" fmla="*/ 2866967 w 2866967"/>
              <a:gd name="connsiteY5" fmla="*/ 1175489 h 2866967"/>
              <a:gd name="connsiteX6" fmla="*/ 833562 w 2866967"/>
              <a:gd name="connsiteY6" fmla="*/ 1266929 h 2866967"/>
              <a:gd name="connsiteX0" fmla="*/ 742122 w 2866967"/>
              <a:gd name="connsiteY0" fmla="*/ 1175489 h 2866967"/>
              <a:gd name="connsiteX1" fmla="*/ 742122 w 2866967"/>
              <a:gd name="connsiteY1" fmla="*/ 2866967 h 2866967"/>
              <a:gd name="connsiteX2" fmla="*/ 0 w 2866967"/>
              <a:gd name="connsiteY2" fmla="*/ 2866967 h 2866967"/>
              <a:gd name="connsiteX3" fmla="*/ 0 w 2866967"/>
              <a:gd name="connsiteY3" fmla="*/ 0 h 2866967"/>
              <a:gd name="connsiteX4" fmla="*/ 2866967 w 2866967"/>
              <a:gd name="connsiteY4" fmla="*/ 0 h 2866967"/>
              <a:gd name="connsiteX5" fmla="*/ 2866967 w 2866967"/>
              <a:gd name="connsiteY5" fmla="*/ 1175489 h 2866967"/>
              <a:gd name="connsiteX0" fmla="*/ 742122 w 2866967"/>
              <a:gd name="connsiteY0" fmla="*/ 2866967 h 2866967"/>
              <a:gd name="connsiteX1" fmla="*/ 0 w 2866967"/>
              <a:gd name="connsiteY1" fmla="*/ 2866967 h 2866967"/>
              <a:gd name="connsiteX2" fmla="*/ 0 w 2866967"/>
              <a:gd name="connsiteY2" fmla="*/ 0 h 2866967"/>
              <a:gd name="connsiteX3" fmla="*/ 2866967 w 2866967"/>
              <a:gd name="connsiteY3" fmla="*/ 0 h 2866967"/>
              <a:gd name="connsiteX4" fmla="*/ 2866967 w 2866967"/>
              <a:gd name="connsiteY4" fmla="*/ 1175489 h 28669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6967" h="2866967">
                <a:moveTo>
                  <a:pt x="742122" y="2866967"/>
                </a:moveTo>
                <a:lnTo>
                  <a:pt x="0" y="2866967"/>
                </a:lnTo>
                <a:lnTo>
                  <a:pt x="0" y="0"/>
                </a:lnTo>
                <a:lnTo>
                  <a:pt x="2866967" y="0"/>
                </a:lnTo>
                <a:lnTo>
                  <a:pt x="2866967" y="1175489"/>
                </a:lnTo>
              </a:path>
            </a:pathLst>
          </a:custGeom>
          <a:noFill/>
          <a:ln w="50800">
            <a:solidFill>
              <a:schemeClr val="accent1"/>
            </a:solidFill>
            <a:miter lim="800000"/>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9" name="Title 1">
            <a:extLst>
              <a:ext uri="{FF2B5EF4-FFF2-40B4-BE49-F238E27FC236}">
                <a16:creationId xmlns:a16="http://schemas.microsoft.com/office/drawing/2014/main" id="{6E8A15B2-F404-5D92-2136-F7B935BA6D8C}"/>
              </a:ext>
            </a:extLst>
          </p:cNvPr>
          <p:cNvSpPr>
            <a:spLocks noGrp="1"/>
          </p:cNvSpPr>
          <p:nvPr>
            <p:ph type="title" hasCustomPrompt="1"/>
          </p:nvPr>
        </p:nvSpPr>
        <p:spPr>
          <a:xfrm>
            <a:off x="676037" y="791474"/>
            <a:ext cx="4195508" cy="711081"/>
          </a:xfrm>
        </p:spPr>
        <p:txBody>
          <a:bodyPr>
            <a:noAutofit/>
          </a:bodyPr>
          <a:lstStyle>
            <a:lvl1pPr>
              <a:defRPr sz="4000" b="1">
                <a:solidFill>
                  <a:schemeClr val="tx2"/>
                </a:solidFill>
                <a:latin typeface="Segoe UI Black" panose="020B0A02040204020203" pitchFamily="34" charset="0"/>
                <a:ea typeface="Segoe UI Black" panose="020B0A02040204020203" pitchFamily="34" charset="0"/>
              </a:defRPr>
            </a:lvl1pPr>
          </a:lstStyle>
          <a:p>
            <a:r>
              <a:rPr lang="en-US" dirty="0"/>
              <a:t>CLICK TO EDIT</a:t>
            </a:r>
          </a:p>
        </p:txBody>
      </p:sp>
      <p:cxnSp>
        <p:nvCxnSpPr>
          <p:cNvPr id="16" name="Straight Connector 15">
            <a:extLst>
              <a:ext uri="{FF2B5EF4-FFF2-40B4-BE49-F238E27FC236}">
                <a16:creationId xmlns:a16="http://schemas.microsoft.com/office/drawing/2014/main" id="{814364D7-4C11-26C8-59DC-C326E807CD28}"/>
              </a:ext>
            </a:extLst>
          </p:cNvPr>
          <p:cNvCxnSpPr>
            <a:cxnSpLocks/>
          </p:cNvCxnSpPr>
          <p:nvPr userDrawn="1"/>
        </p:nvCxnSpPr>
        <p:spPr>
          <a:xfrm>
            <a:off x="1082848" y="6538913"/>
            <a:ext cx="813712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Picture Placeholder 6">
            <a:extLst>
              <a:ext uri="{FF2B5EF4-FFF2-40B4-BE49-F238E27FC236}">
                <a16:creationId xmlns:a16="http://schemas.microsoft.com/office/drawing/2014/main" id="{7C58743F-E9A9-C70F-8F6C-F1974B02D3BF}"/>
              </a:ext>
            </a:extLst>
          </p:cNvPr>
          <p:cNvSpPr>
            <a:spLocks noGrp="1"/>
          </p:cNvSpPr>
          <p:nvPr>
            <p:ph type="pic" sz="quarter" idx="13"/>
          </p:nvPr>
        </p:nvSpPr>
        <p:spPr>
          <a:xfrm>
            <a:off x="3349572" y="4071450"/>
            <a:ext cx="2422109" cy="2786550"/>
          </a:xfrm>
          <a:custGeom>
            <a:avLst/>
            <a:gdLst>
              <a:gd name="connsiteX0" fmla="*/ 0 w 2421478"/>
              <a:gd name="connsiteY0" fmla="*/ 0 h 2786550"/>
              <a:gd name="connsiteX1" fmla="*/ 2421478 w 2421478"/>
              <a:gd name="connsiteY1" fmla="*/ 0 h 2786550"/>
              <a:gd name="connsiteX2" fmla="*/ 2421478 w 2421478"/>
              <a:gd name="connsiteY2" fmla="*/ 2786550 h 2786550"/>
              <a:gd name="connsiteX3" fmla="*/ 0 w 2421478"/>
              <a:gd name="connsiteY3" fmla="*/ 2786550 h 2786550"/>
            </a:gdLst>
            <a:ahLst/>
            <a:cxnLst>
              <a:cxn ang="0">
                <a:pos x="connsiteX0" y="connsiteY0"/>
              </a:cxn>
              <a:cxn ang="0">
                <a:pos x="connsiteX1" y="connsiteY1"/>
              </a:cxn>
              <a:cxn ang="0">
                <a:pos x="connsiteX2" y="connsiteY2"/>
              </a:cxn>
              <a:cxn ang="0">
                <a:pos x="connsiteX3" y="connsiteY3"/>
              </a:cxn>
            </a:cxnLst>
            <a:rect l="l" t="t" r="r" b="b"/>
            <a:pathLst>
              <a:path w="2421478" h="2786550">
                <a:moveTo>
                  <a:pt x="0" y="0"/>
                </a:moveTo>
                <a:lnTo>
                  <a:pt x="2421478" y="0"/>
                </a:lnTo>
                <a:lnTo>
                  <a:pt x="2421478" y="2786550"/>
                </a:lnTo>
                <a:lnTo>
                  <a:pt x="0" y="2786550"/>
                </a:lnTo>
                <a:close/>
              </a:path>
            </a:pathLst>
          </a:custGeom>
        </p:spPr>
        <p:txBody>
          <a:bodyPr wrap="square" anchor="ctr">
            <a:noAutofit/>
          </a:bodyPr>
          <a:lstStyle>
            <a:lvl1pPr marL="0" indent="0" algn="ctr">
              <a:buFontTx/>
              <a:buNone/>
              <a:defRPr sz="2400"/>
            </a:lvl1pPr>
          </a:lstStyle>
          <a:p>
            <a:endParaRPr lang="en-US"/>
          </a:p>
        </p:txBody>
      </p:sp>
    </p:spTree>
    <p:extLst>
      <p:ext uri="{BB962C8B-B14F-4D97-AF65-F5344CB8AC3E}">
        <p14:creationId xmlns:p14="http://schemas.microsoft.com/office/powerpoint/2010/main" val="22487286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Departments And Teams">
    <p:spTree>
      <p:nvGrpSpPr>
        <p:cNvPr id="1" name=""/>
        <p:cNvGrpSpPr/>
        <p:nvPr/>
      </p:nvGrpSpPr>
      <p:grpSpPr>
        <a:xfrm>
          <a:off x="0" y="0"/>
          <a:ext cx="0" cy="0"/>
          <a:chOff x="0" y="0"/>
          <a:chExt cx="0" cy="0"/>
        </a:xfrm>
      </p:grpSpPr>
      <p:sp>
        <p:nvSpPr>
          <p:cNvPr id="2" name="Title 1"/>
          <p:cNvSpPr>
            <a:spLocks noGrp="1"/>
          </p:cNvSpPr>
          <p:nvPr>
            <p:ph type="title"/>
          </p:nvPr>
        </p:nvSpPr>
        <p:spPr>
          <a:xfrm>
            <a:off x="609600" y="235728"/>
            <a:ext cx="10972801" cy="711081"/>
          </a:xfrm>
        </p:spPr>
        <p:txBody>
          <a:bodyPr>
            <a:noAutofit/>
          </a:bodyPr>
          <a:lstStyle>
            <a:lvl1pPr>
              <a:defRPr sz="3200"/>
            </a:lvl1pPr>
          </a:lstStyle>
          <a:p>
            <a:r>
              <a:rPr lang="en-US" dirty="0"/>
              <a:t>Click to edit Master title style</a:t>
            </a:r>
          </a:p>
        </p:txBody>
      </p:sp>
      <p:sp>
        <p:nvSpPr>
          <p:cNvPr id="4" name="Footer Placeholder 3"/>
          <p:cNvSpPr>
            <a:spLocks noGrp="1"/>
          </p:cNvSpPr>
          <p:nvPr>
            <p:ph type="ftr" sz="quarter" idx="11"/>
          </p:nvPr>
        </p:nvSpPr>
        <p:spPr>
          <a:xfrm>
            <a:off x="609600" y="6208887"/>
            <a:ext cx="3037490" cy="365125"/>
          </a:xfrm>
        </p:spPr>
        <p:txBody>
          <a:bodyPr/>
          <a:lstStyle>
            <a:lvl1pPr algn="l">
              <a:defRPr sz="1400">
                <a:latin typeface="Open Sans"/>
              </a:defRPr>
            </a:lvl1pPr>
          </a:lstStyle>
          <a:p>
            <a:r>
              <a:rPr lang="en-US" dirty="0"/>
              <a:t>Companyname.com</a:t>
            </a:r>
          </a:p>
        </p:txBody>
      </p:sp>
      <p:cxnSp>
        <p:nvCxnSpPr>
          <p:cNvPr id="7" name="Straight Connector 6">
            <a:extLst>
              <a:ext uri="{FF2B5EF4-FFF2-40B4-BE49-F238E27FC236}">
                <a16:creationId xmlns:a16="http://schemas.microsoft.com/office/drawing/2014/main" id="{F9A6E2B6-6789-47DF-A542-D3F307E792A0}"/>
              </a:ext>
            </a:extLst>
          </p:cNvPr>
          <p:cNvCxnSpPr>
            <a:cxnSpLocks/>
          </p:cNvCxnSpPr>
          <p:nvPr userDrawn="1"/>
        </p:nvCxnSpPr>
        <p:spPr>
          <a:xfrm flipH="1">
            <a:off x="2782769" y="6391488"/>
            <a:ext cx="8243703"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3BC1952-E550-45B7-BB6B-1FB5F22535EE}"/>
              </a:ext>
            </a:extLst>
          </p:cNvPr>
          <p:cNvCxnSpPr>
            <a:cxnSpLocks/>
          </p:cNvCxnSpPr>
          <p:nvPr userDrawn="1"/>
        </p:nvCxnSpPr>
        <p:spPr>
          <a:xfrm>
            <a:off x="755507" y="1007522"/>
            <a:ext cx="1440535"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32219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userDrawn="1"/>
        </p:nvGrpSpPr>
        <p:grpSpPr>
          <a:xfrm>
            <a:off x="270811" y="0"/>
            <a:ext cx="12192000" cy="6858000"/>
            <a:chOff x="0" y="0"/>
            <a:chExt cx="12192000" cy="6858000"/>
          </a:xfrm>
        </p:grpSpPr>
        <p:sp>
          <p:nvSpPr>
            <p:cNvPr id="7" name="Rectangle 6"/>
            <p:cNvSpPr/>
            <p:nvPr/>
          </p:nvSpPr>
          <p:spPr>
            <a:xfrm>
              <a:off x="0" y="0"/>
              <a:ext cx="12192000" cy="6858000"/>
            </a:xfrm>
            <a:prstGeom prst="rect">
              <a:avLst/>
            </a:prstGeom>
            <a:blipFill>
              <a:blip r:embed="rId21">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10" name="Footer Placeholder 4">
            <a:extLst>
              <a:ext uri="{FF2B5EF4-FFF2-40B4-BE49-F238E27FC236}">
                <a16:creationId xmlns:a16="http://schemas.microsoft.com/office/drawing/2014/main" id="{19C13D6A-A08A-DE54-94B2-23085A7AAC05}"/>
              </a:ext>
            </a:extLst>
          </p:cNvPr>
          <p:cNvSpPr txBox="1">
            <a:spLocks/>
          </p:cNvSpPr>
          <p:nvPr userDrawn="1"/>
        </p:nvSpPr>
        <p:spPr>
          <a:xfrm rot="16200000">
            <a:off x="10306025" y="3591356"/>
            <a:ext cx="3795698"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700" i="1" dirty="0"/>
              <a:t>© 2025 Athena Software Group. Confidential &amp; Proprietary. Do not distribute.</a:t>
            </a:r>
          </a:p>
        </p:txBody>
      </p:sp>
      <p:sp>
        <p:nvSpPr>
          <p:cNvPr id="9" name="Slide Number Placeholder 4">
            <a:extLst>
              <a:ext uri="{FF2B5EF4-FFF2-40B4-BE49-F238E27FC236}">
                <a16:creationId xmlns:a16="http://schemas.microsoft.com/office/drawing/2014/main" id="{3D3DB650-F079-6BD3-52E4-637F33258678}"/>
              </a:ext>
            </a:extLst>
          </p:cNvPr>
          <p:cNvSpPr>
            <a:spLocks noGrp="1"/>
          </p:cNvSpPr>
          <p:nvPr>
            <p:ph type="sldNum" sz="quarter" idx="4"/>
          </p:nvPr>
        </p:nvSpPr>
        <p:spPr>
          <a:xfrm>
            <a:off x="11921189" y="6318094"/>
            <a:ext cx="445212" cy="452288"/>
          </a:xfrm>
          <a:prstGeom prst="diamond">
            <a:avLst/>
          </a:prstGeom>
          <a:solidFill>
            <a:schemeClr val="accent4"/>
          </a:solidFill>
        </p:spPr>
        <p:txBody>
          <a:bodyPr lIns="0" tIns="0" rIns="0" bIns="0"/>
          <a:lstStyle>
            <a:lvl1pPr algn="ctr">
              <a:defRPr sz="900">
                <a:solidFill>
                  <a:schemeClr val="bg1"/>
                </a:solidFill>
                <a:latin typeface="Open Sans"/>
              </a:defRPr>
            </a:lvl1pPr>
          </a:lstStyle>
          <a:p>
            <a:fld id="{96E69268-9C8B-4EBF-A9EE-DC5DC2D48DC3}" type="slidenum">
              <a:rPr lang="en-US" smtClean="0"/>
              <a:pPr/>
              <a:t>‹#›</a:t>
            </a:fld>
            <a:endParaRPr lang="en-US" dirty="0"/>
          </a:p>
        </p:txBody>
      </p:sp>
    </p:spTree>
    <p:extLst>
      <p:ext uri="{BB962C8B-B14F-4D97-AF65-F5344CB8AC3E}">
        <p14:creationId xmlns:p14="http://schemas.microsoft.com/office/powerpoint/2010/main" val="1962655418"/>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 id="2147483717" r:id="rId14"/>
    <p:sldLayoutId id="2147483718" r:id="rId15"/>
    <p:sldLayoutId id="2147483719" r:id="rId16"/>
    <p:sldLayoutId id="2147483720" r:id="rId17"/>
    <p:sldLayoutId id="2147483724" r:id="rId18"/>
    <p:sldLayoutId id="2147483725" r:id="rId19"/>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 name="Freeform 5">
            <a:extLst>
              <a:ext uri="{FF2B5EF4-FFF2-40B4-BE49-F238E27FC236}">
                <a16:creationId xmlns:a16="http://schemas.microsoft.com/office/drawing/2014/main" id="{6E63ADD0-4837-4506-8B81-1076581AF2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2" name="Title 1">
            <a:extLst>
              <a:ext uri="{FF2B5EF4-FFF2-40B4-BE49-F238E27FC236}">
                <a16:creationId xmlns:a16="http://schemas.microsoft.com/office/drawing/2014/main" id="{4EF3BC5C-3B03-FB0A-4D57-59B23F3427A3}"/>
              </a:ext>
            </a:extLst>
          </p:cNvPr>
          <p:cNvSpPr>
            <a:spLocks noGrp="1"/>
          </p:cNvSpPr>
          <p:nvPr>
            <p:ph type="ctrTitle"/>
          </p:nvPr>
        </p:nvSpPr>
        <p:spPr>
          <a:xfrm>
            <a:off x="4662332" y="2099733"/>
            <a:ext cx="6553535" cy="2677648"/>
          </a:xfrm>
        </p:spPr>
        <p:txBody>
          <a:bodyPr>
            <a:normAutofit/>
          </a:bodyPr>
          <a:lstStyle/>
          <a:p>
            <a:r>
              <a:rPr lang="en-US" sz="4000" dirty="0">
                <a:solidFill>
                  <a:srgbClr val="EBEBEB"/>
                </a:solidFill>
              </a:rPr>
              <a:t>Athena Software Group</a:t>
            </a:r>
          </a:p>
        </p:txBody>
      </p:sp>
      <p:sp>
        <p:nvSpPr>
          <p:cNvPr id="3" name="Subtitle 2">
            <a:extLst>
              <a:ext uri="{FF2B5EF4-FFF2-40B4-BE49-F238E27FC236}">
                <a16:creationId xmlns:a16="http://schemas.microsoft.com/office/drawing/2014/main" id="{FF623A66-3031-3E4C-8E63-A83084317564}"/>
              </a:ext>
            </a:extLst>
          </p:cNvPr>
          <p:cNvSpPr>
            <a:spLocks noGrp="1"/>
          </p:cNvSpPr>
          <p:nvPr>
            <p:ph type="subTitle" idx="1"/>
          </p:nvPr>
        </p:nvSpPr>
        <p:spPr>
          <a:xfrm>
            <a:off x="4662333" y="4777380"/>
            <a:ext cx="5730960" cy="861420"/>
          </a:xfrm>
        </p:spPr>
        <p:txBody>
          <a:bodyPr>
            <a:normAutofit/>
          </a:bodyPr>
          <a:lstStyle/>
          <a:p>
            <a:r>
              <a:rPr lang="en-US" i="1" dirty="0"/>
              <a:t>ASG Cyber LLM Specs [Glaukopis]</a:t>
            </a:r>
          </a:p>
        </p:txBody>
      </p:sp>
      <p:sp>
        <p:nvSpPr>
          <p:cNvPr id="63" name="Rectangle 62">
            <a:extLst>
              <a:ext uri="{FF2B5EF4-FFF2-40B4-BE49-F238E27FC236}">
                <a16:creationId xmlns:a16="http://schemas.microsoft.com/office/drawing/2014/main" id="{AFECA4B5-4C84-4095-B8D3-EFC5B41789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5" name="Picture 4" descr="A close up of a logo&#10;&#10;AI-generated content may be incorrect.">
            <a:extLst>
              <a:ext uri="{FF2B5EF4-FFF2-40B4-BE49-F238E27FC236}">
                <a16:creationId xmlns:a16="http://schemas.microsoft.com/office/drawing/2014/main" id="{DFC25AA7-5A01-6B6F-9CE4-6911E96B10D2}"/>
              </a:ext>
            </a:extLst>
          </p:cNvPr>
          <p:cNvPicPr>
            <a:picLocks noChangeAspect="1"/>
          </p:cNvPicPr>
          <p:nvPr/>
        </p:nvPicPr>
        <p:blipFill>
          <a:blip r:embed="rId2"/>
          <a:stretch>
            <a:fillRect/>
          </a:stretch>
        </p:blipFill>
        <p:spPr>
          <a:xfrm>
            <a:off x="1206249" y="3191108"/>
            <a:ext cx="2956448" cy="966800"/>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294720208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9334C-CDDD-E6A7-E166-3719B482A9A1}"/>
              </a:ext>
            </a:extLst>
          </p:cNvPr>
          <p:cNvSpPr>
            <a:spLocks noGrp="1"/>
          </p:cNvSpPr>
          <p:nvPr>
            <p:ph type="title"/>
          </p:nvPr>
        </p:nvSpPr>
        <p:spPr>
          <a:xfrm>
            <a:off x="1154954" y="565484"/>
            <a:ext cx="8761413" cy="1115148"/>
          </a:xfrm>
        </p:spPr>
        <p:txBody>
          <a:bodyPr/>
          <a:lstStyle/>
          <a:p>
            <a:r>
              <a:rPr lang="en-US" i="1" dirty="0"/>
              <a:t>Glaukopis (</a:t>
            </a:r>
            <a:r>
              <a:rPr lang="el-GR" i="1" dirty="0"/>
              <a:t>γλαυκῶπις</a:t>
            </a:r>
            <a:r>
              <a:rPr lang="en-US" i="1" dirty="0"/>
              <a:t>)</a:t>
            </a:r>
            <a:br>
              <a:rPr lang="en-US" dirty="0"/>
            </a:br>
            <a:r>
              <a:rPr lang="en-US" sz="2800" i="1" dirty="0"/>
              <a:t>the “grey eyed one”</a:t>
            </a:r>
            <a:endParaRPr lang="en-US" i="1" dirty="0"/>
          </a:p>
        </p:txBody>
      </p:sp>
      <p:pic>
        <p:nvPicPr>
          <p:cNvPr id="5" name="Picture 4">
            <a:extLst>
              <a:ext uri="{FF2B5EF4-FFF2-40B4-BE49-F238E27FC236}">
                <a16:creationId xmlns:a16="http://schemas.microsoft.com/office/drawing/2014/main" id="{A8A1A29D-4D1D-485F-7E7A-6DA6F40E0B31}"/>
              </a:ext>
            </a:extLst>
          </p:cNvPr>
          <p:cNvPicPr>
            <a:picLocks noChangeAspect="1"/>
          </p:cNvPicPr>
          <p:nvPr/>
        </p:nvPicPr>
        <p:blipFill>
          <a:blip r:embed="rId2"/>
          <a:stretch>
            <a:fillRect/>
          </a:stretch>
        </p:blipFill>
        <p:spPr>
          <a:xfrm>
            <a:off x="5426242" y="1959942"/>
            <a:ext cx="6468978" cy="4777742"/>
          </a:xfrm>
          <a:prstGeom prst="rect">
            <a:avLst/>
          </a:prstGeom>
        </p:spPr>
      </p:pic>
      <p:pic>
        <p:nvPicPr>
          <p:cNvPr id="1026" name="Picture 2" descr="In Homer's 'Odyssey,' what is the meaning behind Athena being referred to  as “gray-eyed” and “owl-eyed” at different points? - Quora">
            <a:extLst>
              <a:ext uri="{FF2B5EF4-FFF2-40B4-BE49-F238E27FC236}">
                <a16:creationId xmlns:a16="http://schemas.microsoft.com/office/drawing/2014/main" id="{2E3F3C76-2F4A-85D1-1ABE-EA3BC81A09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4954" y="1959942"/>
            <a:ext cx="3721735" cy="45315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41717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CE0DFFE-C716-4CB4-3208-782BF398E2C1}"/>
              </a:ext>
            </a:extLst>
          </p:cNvPr>
          <p:cNvPicPr>
            <a:picLocks noChangeAspect="1"/>
          </p:cNvPicPr>
          <p:nvPr/>
        </p:nvPicPr>
        <p:blipFill>
          <a:blip r:embed="rId2"/>
          <a:stretch>
            <a:fillRect/>
          </a:stretch>
        </p:blipFill>
        <p:spPr>
          <a:xfrm>
            <a:off x="111670" y="44467"/>
            <a:ext cx="3271143" cy="1150402"/>
          </a:xfrm>
          <a:prstGeom prst="rect">
            <a:avLst/>
          </a:prstGeom>
        </p:spPr>
      </p:pic>
      <p:sp>
        <p:nvSpPr>
          <p:cNvPr id="2" name="Oval 12">
            <a:extLst>
              <a:ext uri="{FF2B5EF4-FFF2-40B4-BE49-F238E27FC236}">
                <a16:creationId xmlns:a16="http://schemas.microsoft.com/office/drawing/2014/main" id="{7655BD9F-B36B-4F0C-9F56-0C8056B0D244}"/>
              </a:ext>
            </a:extLst>
          </p:cNvPr>
          <p:cNvSpPr>
            <a:spLocks noChangeArrowheads="1"/>
          </p:cNvSpPr>
          <p:nvPr/>
        </p:nvSpPr>
        <p:spPr bwMode="auto">
          <a:xfrm>
            <a:off x="1674936" y="2148096"/>
            <a:ext cx="2548856" cy="2548852"/>
          </a:xfrm>
          <a:prstGeom prst="ellipse">
            <a:avLst/>
          </a:prstGeom>
          <a:noFill/>
          <a:ln w="9525">
            <a:solidFill>
              <a:schemeClr val="tx1">
                <a:lumMod val="50000"/>
                <a:lumOff val="50000"/>
              </a:schemeClr>
            </a:solidFill>
            <a:round/>
            <a:headEnd/>
            <a:tailEnd/>
          </a:ln>
        </p:spPr>
        <p:txBody>
          <a:bodyPr vert="horz" wrap="square" lIns="91440" tIns="45720" rIns="91440" bIns="45720" numCol="1" anchor="ctr" anchorCtr="0" compatLnSpc="1">
            <a:prstTxWarp prst="textNoShape">
              <a:avLst/>
            </a:prstTxWarp>
          </a:bodyPr>
          <a:lstStyle/>
          <a:p>
            <a:pPr algn="ctr"/>
            <a:endParaRPr lang="en-IN" sz="20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3" name="Freeform 5">
            <a:extLst>
              <a:ext uri="{FF2B5EF4-FFF2-40B4-BE49-F238E27FC236}">
                <a16:creationId xmlns:a16="http://schemas.microsoft.com/office/drawing/2014/main" id="{D9BD4A1E-6E49-47EB-88D9-732C03332CC4}"/>
              </a:ext>
            </a:extLst>
          </p:cNvPr>
          <p:cNvSpPr>
            <a:spLocks/>
          </p:cNvSpPr>
          <p:nvPr/>
        </p:nvSpPr>
        <p:spPr bwMode="auto">
          <a:xfrm rot="2261061">
            <a:off x="3194443" y="2701345"/>
            <a:ext cx="1001569" cy="1152143"/>
          </a:xfrm>
          <a:custGeom>
            <a:avLst/>
            <a:gdLst>
              <a:gd name="T0" fmla="*/ 298 w 298"/>
              <a:gd name="T1" fmla="*/ 106 h 343"/>
              <a:gd name="T2" fmla="*/ 165 w 298"/>
              <a:gd name="T3" fmla="*/ 0 h 343"/>
              <a:gd name="T4" fmla="*/ 0 w 298"/>
              <a:gd name="T5" fmla="*/ 343 h 343"/>
              <a:gd name="T6" fmla="*/ 298 w 298"/>
              <a:gd name="T7" fmla="*/ 106 h 343"/>
            </a:gdLst>
            <a:ahLst/>
            <a:cxnLst>
              <a:cxn ang="0">
                <a:pos x="T0" y="T1"/>
              </a:cxn>
              <a:cxn ang="0">
                <a:pos x="T2" y="T3"/>
              </a:cxn>
              <a:cxn ang="0">
                <a:pos x="T4" y="T5"/>
              </a:cxn>
              <a:cxn ang="0">
                <a:pos x="T6" y="T7"/>
              </a:cxn>
            </a:cxnLst>
            <a:rect l="0" t="0" r="r" b="b"/>
            <a:pathLst>
              <a:path w="298" h="343">
                <a:moveTo>
                  <a:pt x="298" y="106"/>
                </a:moveTo>
                <a:cubicBezTo>
                  <a:pt x="262" y="62"/>
                  <a:pt x="217" y="25"/>
                  <a:pt x="165" y="0"/>
                </a:cubicBezTo>
                <a:cubicBezTo>
                  <a:pt x="0" y="343"/>
                  <a:pt x="0" y="343"/>
                  <a:pt x="0" y="343"/>
                </a:cubicBezTo>
                <a:lnTo>
                  <a:pt x="298" y="106"/>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134" name="Freeform 6">
            <a:extLst>
              <a:ext uri="{FF2B5EF4-FFF2-40B4-BE49-F238E27FC236}">
                <a16:creationId xmlns:a16="http://schemas.microsoft.com/office/drawing/2014/main" id="{C712740F-CBAC-4743-B203-D004D23395FB}"/>
              </a:ext>
            </a:extLst>
          </p:cNvPr>
          <p:cNvSpPr>
            <a:spLocks/>
          </p:cNvSpPr>
          <p:nvPr/>
        </p:nvSpPr>
        <p:spPr bwMode="auto">
          <a:xfrm rot="2261061">
            <a:off x="2811452" y="3534360"/>
            <a:ext cx="1277339" cy="571842"/>
          </a:xfrm>
          <a:custGeom>
            <a:avLst/>
            <a:gdLst>
              <a:gd name="T0" fmla="*/ 371 w 380"/>
              <a:gd name="T1" fmla="*/ 0 h 170"/>
              <a:gd name="T2" fmla="*/ 0 w 380"/>
              <a:gd name="T3" fmla="*/ 84 h 170"/>
              <a:gd name="T4" fmla="*/ 371 w 380"/>
              <a:gd name="T5" fmla="*/ 170 h 170"/>
              <a:gd name="T6" fmla="*/ 380 w 380"/>
              <a:gd name="T7" fmla="*/ 84 h 170"/>
              <a:gd name="T8" fmla="*/ 371 w 380"/>
              <a:gd name="T9" fmla="*/ 0 h 170"/>
            </a:gdLst>
            <a:ahLst/>
            <a:cxnLst>
              <a:cxn ang="0">
                <a:pos x="T0" y="T1"/>
              </a:cxn>
              <a:cxn ang="0">
                <a:pos x="T2" y="T3"/>
              </a:cxn>
              <a:cxn ang="0">
                <a:pos x="T4" y="T5"/>
              </a:cxn>
              <a:cxn ang="0">
                <a:pos x="T6" y="T7"/>
              </a:cxn>
              <a:cxn ang="0">
                <a:pos x="T8" y="T9"/>
              </a:cxn>
            </a:cxnLst>
            <a:rect l="0" t="0" r="r" b="b"/>
            <a:pathLst>
              <a:path w="380" h="170">
                <a:moveTo>
                  <a:pt x="371" y="0"/>
                </a:moveTo>
                <a:cubicBezTo>
                  <a:pt x="0" y="84"/>
                  <a:pt x="0" y="84"/>
                  <a:pt x="0" y="84"/>
                </a:cubicBezTo>
                <a:cubicBezTo>
                  <a:pt x="371" y="170"/>
                  <a:pt x="371" y="170"/>
                  <a:pt x="371" y="170"/>
                </a:cubicBezTo>
                <a:cubicBezTo>
                  <a:pt x="377" y="143"/>
                  <a:pt x="380" y="114"/>
                  <a:pt x="380" y="84"/>
                </a:cubicBezTo>
                <a:cubicBezTo>
                  <a:pt x="380" y="55"/>
                  <a:pt x="377" y="27"/>
                  <a:pt x="371" y="0"/>
                </a:cubicBezTo>
                <a:close/>
              </a:path>
            </a:pathLst>
          </a:custGeom>
          <a:solidFill>
            <a:schemeClr val="accent6"/>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135" name="Freeform 7">
            <a:extLst>
              <a:ext uri="{FF2B5EF4-FFF2-40B4-BE49-F238E27FC236}">
                <a16:creationId xmlns:a16="http://schemas.microsoft.com/office/drawing/2014/main" id="{E095438A-5B82-4532-A41C-EA0F13EEEDEF}"/>
              </a:ext>
            </a:extLst>
          </p:cNvPr>
          <p:cNvSpPr>
            <a:spLocks/>
          </p:cNvSpPr>
          <p:nvPr/>
        </p:nvSpPr>
        <p:spPr bwMode="auto">
          <a:xfrm rot="2261061">
            <a:off x="3280331" y="2449657"/>
            <a:ext cx="554923" cy="1280723"/>
          </a:xfrm>
          <a:custGeom>
            <a:avLst/>
            <a:gdLst>
              <a:gd name="T0" fmla="*/ 165 w 165"/>
              <a:gd name="T1" fmla="*/ 38 h 381"/>
              <a:gd name="T2" fmla="*/ 0 w 165"/>
              <a:gd name="T3" fmla="*/ 0 h 381"/>
              <a:gd name="T4" fmla="*/ 0 w 165"/>
              <a:gd name="T5" fmla="*/ 0 h 381"/>
              <a:gd name="T6" fmla="*/ 0 w 165"/>
              <a:gd name="T7" fmla="*/ 381 h 381"/>
              <a:gd name="T8" fmla="*/ 165 w 165"/>
              <a:gd name="T9" fmla="*/ 38 h 381"/>
            </a:gdLst>
            <a:ahLst/>
            <a:cxnLst>
              <a:cxn ang="0">
                <a:pos x="T0" y="T1"/>
              </a:cxn>
              <a:cxn ang="0">
                <a:pos x="T2" y="T3"/>
              </a:cxn>
              <a:cxn ang="0">
                <a:pos x="T4" y="T5"/>
              </a:cxn>
              <a:cxn ang="0">
                <a:pos x="T6" y="T7"/>
              </a:cxn>
              <a:cxn ang="0">
                <a:pos x="T8" y="T9"/>
              </a:cxn>
            </a:cxnLst>
            <a:rect l="0" t="0" r="r" b="b"/>
            <a:pathLst>
              <a:path w="165" h="381">
                <a:moveTo>
                  <a:pt x="165" y="38"/>
                </a:moveTo>
                <a:cubicBezTo>
                  <a:pt x="115" y="14"/>
                  <a:pt x="59" y="0"/>
                  <a:pt x="0" y="0"/>
                </a:cubicBezTo>
                <a:cubicBezTo>
                  <a:pt x="0" y="0"/>
                  <a:pt x="0" y="0"/>
                  <a:pt x="0" y="0"/>
                </a:cubicBezTo>
                <a:cubicBezTo>
                  <a:pt x="0" y="381"/>
                  <a:pt x="0" y="381"/>
                  <a:pt x="0" y="381"/>
                </a:cubicBezTo>
                <a:lnTo>
                  <a:pt x="165" y="38"/>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136" name="Freeform 8">
            <a:extLst>
              <a:ext uri="{FF2B5EF4-FFF2-40B4-BE49-F238E27FC236}">
                <a16:creationId xmlns:a16="http://schemas.microsoft.com/office/drawing/2014/main" id="{4081E9E4-75E2-44F7-B61E-73B749A357EB}"/>
              </a:ext>
            </a:extLst>
          </p:cNvPr>
          <p:cNvSpPr>
            <a:spLocks/>
          </p:cNvSpPr>
          <p:nvPr/>
        </p:nvSpPr>
        <p:spPr bwMode="auto">
          <a:xfrm rot="2261061">
            <a:off x="3060259" y="3094556"/>
            <a:ext cx="1246886" cy="796857"/>
          </a:xfrm>
          <a:custGeom>
            <a:avLst/>
            <a:gdLst>
              <a:gd name="T0" fmla="*/ 371 w 371"/>
              <a:gd name="T1" fmla="*/ 153 h 237"/>
              <a:gd name="T2" fmla="*/ 298 w 371"/>
              <a:gd name="T3" fmla="*/ 0 h 237"/>
              <a:gd name="T4" fmla="*/ 0 w 371"/>
              <a:gd name="T5" fmla="*/ 237 h 237"/>
              <a:gd name="T6" fmla="*/ 371 w 371"/>
              <a:gd name="T7" fmla="*/ 153 h 237"/>
            </a:gdLst>
            <a:ahLst/>
            <a:cxnLst>
              <a:cxn ang="0">
                <a:pos x="T0" y="T1"/>
              </a:cxn>
              <a:cxn ang="0">
                <a:pos x="T2" y="T3"/>
              </a:cxn>
              <a:cxn ang="0">
                <a:pos x="T4" y="T5"/>
              </a:cxn>
              <a:cxn ang="0">
                <a:pos x="T6" y="T7"/>
              </a:cxn>
            </a:cxnLst>
            <a:rect l="0" t="0" r="r" b="b"/>
            <a:pathLst>
              <a:path w="371" h="237">
                <a:moveTo>
                  <a:pt x="371" y="153"/>
                </a:moveTo>
                <a:cubicBezTo>
                  <a:pt x="358" y="96"/>
                  <a:pt x="333" y="44"/>
                  <a:pt x="298" y="0"/>
                </a:cubicBezTo>
                <a:cubicBezTo>
                  <a:pt x="0" y="237"/>
                  <a:pt x="0" y="237"/>
                  <a:pt x="0" y="237"/>
                </a:cubicBezTo>
                <a:lnTo>
                  <a:pt x="371" y="153"/>
                </a:lnTo>
                <a:close/>
              </a:path>
            </a:pathLst>
          </a:custGeom>
          <a:solidFill>
            <a:schemeClr val="accent4"/>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138" name="Freeform 10">
            <a:extLst>
              <a:ext uri="{FF2B5EF4-FFF2-40B4-BE49-F238E27FC236}">
                <a16:creationId xmlns:a16="http://schemas.microsoft.com/office/drawing/2014/main" id="{F184C038-5A3D-49E8-8595-8BF7B41BAD8D}"/>
              </a:ext>
            </a:extLst>
          </p:cNvPr>
          <p:cNvSpPr>
            <a:spLocks/>
          </p:cNvSpPr>
          <p:nvPr/>
        </p:nvSpPr>
        <p:spPr bwMode="auto">
          <a:xfrm rot="2261061">
            <a:off x="2571063" y="3724474"/>
            <a:ext cx="1246886" cy="803624"/>
          </a:xfrm>
          <a:custGeom>
            <a:avLst/>
            <a:gdLst>
              <a:gd name="T0" fmla="*/ 296 w 371"/>
              <a:gd name="T1" fmla="*/ 239 h 239"/>
              <a:gd name="T2" fmla="*/ 371 w 371"/>
              <a:gd name="T3" fmla="*/ 86 h 239"/>
              <a:gd name="T4" fmla="*/ 0 w 371"/>
              <a:gd name="T5" fmla="*/ 0 h 239"/>
              <a:gd name="T6" fmla="*/ 296 w 371"/>
              <a:gd name="T7" fmla="*/ 239 h 239"/>
            </a:gdLst>
            <a:ahLst/>
            <a:cxnLst>
              <a:cxn ang="0">
                <a:pos x="T0" y="T1"/>
              </a:cxn>
              <a:cxn ang="0">
                <a:pos x="T2" y="T3"/>
              </a:cxn>
              <a:cxn ang="0">
                <a:pos x="T4" y="T5"/>
              </a:cxn>
              <a:cxn ang="0">
                <a:pos x="T6" y="T7"/>
              </a:cxn>
            </a:cxnLst>
            <a:rect l="0" t="0" r="r" b="b"/>
            <a:pathLst>
              <a:path w="371" h="239">
                <a:moveTo>
                  <a:pt x="296" y="239"/>
                </a:moveTo>
                <a:cubicBezTo>
                  <a:pt x="332" y="195"/>
                  <a:pt x="358" y="143"/>
                  <a:pt x="371" y="86"/>
                </a:cubicBezTo>
                <a:cubicBezTo>
                  <a:pt x="0" y="0"/>
                  <a:pt x="0" y="0"/>
                  <a:pt x="0" y="0"/>
                </a:cubicBezTo>
                <a:lnTo>
                  <a:pt x="296" y="239"/>
                </a:lnTo>
                <a:close/>
              </a:path>
            </a:pathLst>
          </a:custGeom>
          <a:solidFill>
            <a:schemeClr val="accent1">
              <a:lumMod val="7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143" name="Freeform 7">
            <a:extLst>
              <a:ext uri="{FF2B5EF4-FFF2-40B4-BE49-F238E27FC236}">
                <a16:creationId xmlns:a16="http://schemas.microsoft.com/office/drawing/2014/main" id="{FB37BA1B-93DF-428F-AB76-37145143F7B4}"/>
              </a:ext>
            </a:extLst>
          </p:cNvPr>
          <p:cNvSpPr>
            <a:spLocks/>
          </p:cNvSpPr>
          <p:nvPr/>
        </p:nvSpPr>
        <p:spPr bwMode="auto">
          <a:xfrm rot="2261061" flipH="1">
            <a:off x="2842959" y="2113434"/>
            <a:ext cx="554923" cy="1280723"/>
          </a:xfrm>
          <a:custGeom>
            <a:avLst/>
            <a:gdLst>
              <a:gd name="T0" fmla="*/ 165 w 165"/>
              <a:gd name="T1" fmla="*/ 38 h 381"/>
              <a:gd name="T2" fmla="*/ 0 w 165"/>
              <a:gd name="T3" fmla="*/ 0 h 381"/>
              <a:gd name="T4" fmla="*/ 0 w 165"/>
              <a:gd name="T5" fmla="*/ 0 h 381"/>
              <a:gd name="T6" fmla="*/ 0 w 165"/>
              <a:gd name="T7" fmla="*/ 381 h 381"/>
              <a:gd name="T8" fmla="*/ 165 w 165"/>
              <a:gd name="T9" fmla="*/ 38 h 381"/>
            </a:gdLst>
            <a:ahLst/>
            <a:cxnLst>
              <a:cxn ang="0">
                <a:pos x="T0" y="T1"/>
              </a:cxn>
              <a:cxn ang="0">
                <a:pos x="T2" y="T3"/>
              </a:cxn>
              <a:cxn ang="0">
                <a:pos x="T4" y="T5"/>
              </a:cxn>
              <a:cxn ang="0">
                <a:pos x="T6" y="T7"/>
              </a:cxn>
              <a:cxn ang="0">
                <a:pos x="T8" y="T9"/>
              </a:cxn>
            </a:cxnLst>
            <a:rect l="0" t="0" r="r" b="b"/>
            <a:pathLst>
              <a:path w="165" h="381">
                <a:moveTo>
                  <a:pt x="165" y="38"/>
                </a:moveTo>
                <a:cubicBezTo>
                  <a:pt x="115" y="14"/>
                  <a:pt x="59" y="0"/>
                  <a:pt x="0" y="0"/>
                </a:cubicBezTo>
                <a:cubicBezTo>
                  <a:pt x="0" y="0"/>
                  <a:pt x="0" y="0"/>
                  <a:pt x="0" y="0"/>
                </a:cubicBezTo>
                <a:cubicBezTo>
                  <a:pt x="0" y="381"/>
                  <a:pt x="0" y="381"/>
                  <a:pt x="0" y="381"/>
                </a:cubicBezTo>
                <a:lnTo>
                  <a:pt x="165" y="38"/>
                </a:lnTo>
                <a:close/>
              </a:path>
            </a:pathLst>
          </a:custGeom>
          <a:solidFill>
            <a:schemeClr val="accent3"/>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cxnSp>
        <p:nvCxnSpPr>
          <p:cNvPr id="129" name="Straight Connector 128">
            <a:extLst>
              <a:ext uri="{FF2B5EF4-FFF2-40B4-BE49-F238E27FC236}">
                <a16:creationId xmlns:a16="http://schemas.microsoft.com/office/drawing/2014/main" id="{84605042-82B0-42B8-B4EC-23B0E26D09E7}"/>
              </a:ext>
            </a:extLst>
          </p:cNvPr>
          <p:cNvCxnSpPr>
            <a:cxnSpLocks/>
          </p:cNvCxnSpPr>
          <p:nvPr/>
        </p:nvCxnSpPr>
        <p:spPr>
          <a:xfrm flipV="1">
            <a:off x="3713864" y="1034728"/>
            <a:ext cx="765600" cy="420031"/>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02FF61DF-7940-41F0-95AE-635092261ECE}"/>
              </a:ext>
            </a:extLst>
          </p:cNvPr>
          <p:cNvCxnSpPr>
            <a:cxnSpLocks/>
          </p:cNvCxnSpPr>
          <p:nvPr/>
        </p:nvCxnSpPr>
        <p:spPr>
          <a:xfrm flipH="1" flipV="1">
            <a:off x="4951116" y="3934618"/>
            <a:ext cx="818792" cy="4903"/>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78342B87-5447-4E36-8316-556570096E54}"/>
              </a:ext>
            </a:extLst>
          </p:cNvPr>
          <p:cNvCxnSpPr>
            <a:cxnSpLocks/>
          </p:cNvCxnSpPr>
          <p:nvPr/>
        </p:nvCxnSpPr>
        <p:spPr>
          <a:xfrm flipV="1">
            <a:off x="4509465" y="1949381"/>
            <a:ext cx="787605" cy="118197"/>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B549150-63D2-40DC-8DE2-F3EA303D5929}"/>
              </a:ext>
            </a:extLst>
          </p:cNvPr>
          <p:cNvCxnSpPr>
            <a:cxnSpLocks/>
          </p:cNvCxnSpPr>
          <p:nvPr/>
        </p:nvCxnSpPr>
        <p:spPr>
          <a:xfrm flipV="1">
            <a:off x="4956018" y="2936867"/>
            <a:ext cx="804084" cy="51481"/>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CB16BC8-4B77-4A9C-909E-2ABC367A12D5}"/>
              </a:ext>
            </a:extLst>
          </p:cNvPr>
          <p:cNvCxnSpPr>
            <a:cxnSpLocks/>
          </p:cNvCxnSpPr>
          <p:nvPr/>
        </p:nvCxnSpPr>
        <p:spPr>
          <a:xfrm>
            <a:off x="4518827" y="4762826"/>
            <a:ext cx="760787" cy="125415"/>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B36A4A06-6FE1-47B6-B9A8-A537BE880531}"/>
              </a:ext>
            </a:extLst>
          </p:cNvPr>
          <p:cNvCxnSpPr>
            <a:cxnSpLocks/>
          </p:cNvCxnSpPr>
          <p:nvPr/>
        </p:nvCxnSpPr>
        <p:spPr>
          <a:xfrm>
            <a:off x="3707520" y="5381389"/>
            <a:ext cx="794350" cy="400846"/>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7658948B-6400-4947-A46E-AE5C146E965E}"/>
              </a:ext>
            </a:extLst>
          </p:cNvPr>
          <p:cNvSpPr/>
          <p:nvPr/>
        </p:nvSpPr>
        <p:spPr>
          <a:xfrm>
            <a:off x="2910883" y="1330669"/>
            <a:ext cx="2094438" cy="4188876"/>
          </a:xfrm>
          <a:custGeom>
            <a:avLst/>
            <a:gdLst>
              <a:gd name="connsiteX0" fmla="*/ 0 w 4850078"/>
              <a:gd name="connsiteY0" fmla="*/ 2425039 h 4850078"/>
              <a:gd name="connsiteX1" fmla="*/ 2425039 w 4850078"/>
              <a:gd name="connsiteY1" fmla="*/ 0 h 4850078"/>
              <a:gd name="connsiteX2" fmla="*/ 4850078 w 4850078"/>
              <a:gd name="connsiteY2" fmla="*/ 2425039 h 4850078"/>
              <a:gd name="connsiteX3" fmla="*/ 2425039 w 4850078"/>
              <a:gd name="connsiteY3" fmla="*/ 4850078 h 4850078"/>
              <a:gd name="connsiteX4" fmla="*/ 0 w 4850078"/>
              <a:gd name="connsiteY4" fmla="*/ 2425039 h 4850078"/>
              <a:gd name="connsiteX0" fmla="*/ 0 w 4850078"/>
              <a:gd name="connsiteY0" fmla="*/ 2425039 h 4850078"/>
              <a:gd name="connsiteX1" fmla="*/ 2425039 w 4850078"/>
              <a:gd name="connsiteY1" fmla="*/ 0 h 4850078"/>
              <a:gd name="connsiteX2" fmla="*/ 4850078 w 4850078"/>
              <a:gd name="connsiteY2" fmla="*/ 2425039 h 4850078"/>
              <a:gd name="connsiteX3" fmla="*/ 2425039 w 4850078"/>
              <a:gd name="connsiteY3" fmla="*/ 4850078 h 4850078"/>
              <a:gd name="connsiteX4" fmla="*/ 91440 w 4850078"/>
              <a:gd name="connsiteY4" fmla="*/ 2516479 h 4850078"/>
              <a:gd name="connsiteX0" fmla="*/ 0 w 4850078"/>
              <a:gd name="connsiteY0" fmla="*/ 2425039 h 4850078"/>
              <a:gd name="connsiteX1" fmla="*/ 2425039 w 4850078"/>
              <a:gd name="connsiteY1" fmla="*/ 0 h 4850078"/>
              <a:gd name="connsiteX2" fmla="*/ 4850078 w 4850078"/>
              <a:gd name="connsiteY2" fmla="*/ 2425039 h 4850078"/>
              <a:gd name="connsiteX3" fmla="*/ 2425039 w 4850078"/>
              <a:gd name="connsiteY3" fmla="*/ 4850078 h 4850078"/>
              <a:gd name="connsiteX0" fmla="*/ 0 w 2425039"/>
              <a:gd name="connsiteY0" fmla="*/ 0 h 4850078"/>
              <a:gd name="connsiteX1" fmla="*/ 2425039 w 2425039"/>
              <a:gd name="connsiteY1" fmla="*/ 2425039 h 4850078"/>
              <a:gd name="connsiteX2" fmla="*/ 0 w 2425039"/>
              <a:gd name="connsiteY2" fmla="*/ 4850078 h 4850078"/>
            </a:gdLst>
            <a:ahLst/>
            <a:cxnLst>
              <a:cxn ang="0">
                <a:pos x="connsiteX0" y="connsiteY0"/>
              </a:cxn>
              <a:cxn ang="0">
                <a:pos x="connsiteX1" y="connsiteY1"/>
              </a:cxn>
              <a:cxn ang="0">
                <a:pos x="connsiteX2" y="connsiteY2"/>
              </a:cxn>
            </a:cxnLst>
            <a:rect l="l" t="t" r="r" b="b"/>
            <a:pathLst>
              <a:path w="2425039" h="4850078">
                <a:moveTo>
                  <a:pt x="0" y="0"/>
                </a:moveTo>
                <a:cubicBezTo>
                  <a:pt x="1339312" y="0"/>
                  <a:pt x="2425039" y="1085727"/>
                  <a:pt x="2425039" y="2425039"/>
                </a:cubicBezTo>
                <a:cubicBezTo>
                  <a:pt x="2425039" y="3764351"/>
                  <a:pt x="1339312" y="4850078"/>
                  <a:pt x="0" y="4850078"/>
                </a:cubicBezTo>
              </a:path>
            </a:pathLst>
          </a:custGeom>
          <a:noFill/>
          <a:ln w="38100" cap="rnd">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id="{FC513F39-9800-4013-904F-FAA76DB47329}"/>
              </a:ext>
            </a:extLst>
          </p:cNvPr>
          <p:cNvSpPr/>
          <p:nvPr/>
        </p:nvSpPr>
        <p:spPr>
          <a:xfrm>
            <a:off x="2858448" y="1280161"/>
            <a:ext cx="104870" cy="104871"/>
          </a:xfrm>
          <a:prstGeom prst="ellipse">
            <a:avLst/>
          </a:prstGeom>
          <a:solidFill>
            <a:schemeClr val="bg1"/>
          </a:solidFill>
          <a:ln>
            <a:no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Oval 27">
            <a:extLst>
              <a:ext uri="{FF2B5EF4-FFF2-40B4-BE49-F238E27FC236}">
                <a16:creationId xmlns:a16="http://schemas.microsoft.com/office/drawing/2014/main" id="{081FD6DC-DF1E-4423-B649-2BC02C0084ED}"/>
              </a:ext>
            </a:extLst>
          </p:cNvPr>
          <p:cNvSpPr/>
          <p:nvPr/>
        </p:nvSpPr>
        <p:spPr>
          <a:xfrm>
            <a:off x="2858448" y="5472970"/>
            <a:ext cx="104870" cy="104871"/>
          </a:xfrm>
          <a:prstGeom prst="ellipse">
            <a:avLst/>
          </a:prstGeom>
          <a:solidFill>
            <a:schemeClr val="bg1"/>
          </a:solidFill>
          <a:ln>
            <a:no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6" name="Oval 75">
            <a:extLst>
              <a:ext uri="{FF2B5EF4-FFF2-40B4-BE49-F238E27FC236}">
                <a16:creationId xmlns:a16="http://schemas.microsoft.com/office/drawing/2014/main" id="{E6694893-FADB-4772-A629-12F924D02B89}"/>
              </a:ext>
            </a:extLst>
          </p:cNvPr>
          <p:cNvSpPr/>
          <p:nvPr/>
        </p:nvSpPr>
        <p:spPr>
          <a:xfrm>
            <a:off x="4441949" y="1995876"/>
            <a:ext cx="150046" cy="150046"/>
          </a:xfrm>
          <a:prstGeom prst="ellipse">
            <a:avLst/>
          </a:prstGeom>
          <a:solidFill>
            <a:schemeClr val="accent2"/>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7" name="Oval 76">
            <a:extLst>
              <a:ext uri="{FF2B5EF4-FFF2-40B4-BE49-F238E27FC236}">
                <a16:creationId xmlns:a16="http://schemas.microsoft.com/office/drawing/2014/main" id="{B8776F7B-C4BF-4922-9A1A-0DA071E42B76}"/>
              </a:ext>
            </a:extLst>
          </p:cNvPr>
          <p:cNvSpPr/>
          <p:nvPr/>
        </p:nvSpPr>
        <p:spPr>
          <a:xfrm>
            <a:off x="4878376" y="2912535"/>
            <a:ext cx="150046" cy="150046"/>
          </a:xfrm>
          <a:prstGeom prst="ellipse">
            <a:avLst/>
          </a:prstGeom>
          <a:solidFill>
            <a:schemeClr val="accent1"/>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8" name="Oval 77">
            <a:extLst>
              <a:ext uri="{FF2B5EF4-FFF2-40B4-BE49-F238E27FC236}">
                <a16:creationId xmlns:a16="http://schemas.microsoft.com/office/drawing/2014/main" id="{F98D58A9-2446-4E46-B138-733C736F4DAA}"/>
              </a:ext>
            </a:extLst>
          </p:cNvPr>
          <p:cNvSpPr/>
          <p:nvPr/>
        </p:nvSpPr>
        <p:spPr>
          <a:xfrm>
            <a:off x="4878376" y="3859351"/>
            <a:ext cx="150046" cy="150046"/>
          </a:xfrm>
          <a:prstGeom prst="ellipse">
            <a:avLst/>
          </a:prstGeom>
          <a:solidFill>
            <a:schemeClr val="accent4"/>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9" name="Rectangle: Rounded Corners 78">
            <a:extLst>
              <a:ext uri="{FF2B5EF4-FFF2-40B4-BE49-F238E27FC236}">
                <a16:creationId xmlns:a16="http://schemas.microsoft.com/office/drawing/2014/main" id="{A8275473-0AD5-45D3-8F04-91E6E7367348}"/>
              </a:ext>
            </a:extLst>
          </p:cNvPr>
          <p:cNvSpPr/>
          <p:nvPr/>
        </p:nvSpPr>
        <p:spPr>
          <a:xfrm>
            <a:off x="5616629" y="1489228"/>
            <a:ext cx="4645018" cy="847295"/>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0" name="Oval 79">
            <a:extLst>
              <a:ext uri="{FF2B5EF4-FFF2-40B4-BE49-F238E27FC236}">
                <a16:creationId xmlns:a16="http://schemas.microsoft.com/office/drawing/2014/main" id="{C6F9BE63-7DC9-4D8F-A65E-6E5F01FDEE5D}"/>
              </a:ext>
            </a:extLst>
          </p:cNvPr>
          <p:cNvSpPr/>
          <p:nvPr/>
        </p:nvSpPr>
        <p:spPr>
          <a:xfrm>
            <a:off x="5245484" y="1571923"/>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2"/>
                </a:solidFill>
              </a:rPr>
              <a:t>02</a:t>
            </a:r>
          </a:p>
        </p:txBody>
      </p:sp>
      <p:sp>
        <p:nvSpPr>
          <p:cNvPr id="81" name="Rectangle 80">
            <a:extLst>
              <a:ext uri="{FF2B5EF4-FFF2-40B4-BE49-F238E27FC236}">
                <a16:creationId xmlns:a16="http://schemas.microsoft.com/office/drawing/2014/main" id="{CC1884A0-B60E-41E3-A429-6A19DA69FB51}"/>
              </a:ext>
            </a:extLst>
          </p:cNvPr>
          <p:cNvSpPr/>
          <p:nvPr/>
        </p:nvSpPr>
        <p:spPr>
          <a:xfrm>
            <a:off x="6258437" y="1800824"/>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Market Opportunity</a:t>
            </a:r>
          </a:p>
        </p:txBody>
      </p:sp>
      <p:sp>
        <p:nvSpPr>
          <p:cNvPr id="66" name="Rectangle: Rounded Corners 65">
            <a:extLst>
              <a:ext uri="{FF2B5EF4-FFF2-40B4-BE49-F238E27FC236}">
                <a16:creationId xmlns:a16="http://schemas.microsoft.com/office/drawing/2014/main" id="{D783ED81-DA3A-4051-BA58-100A2C62427C}"/>
              </a:ext>
            </a:extLst>
          </p:cNvPr>
          <p:cNvSpPr/>
          <p:nvPr/>
        </p:nvSpPr>
        <p:spPr>
          <a:xfrm>
            <a:off x="6120685" y="2499978"/>
            <a:ext cx="4645018" cy="847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7" name="Oval 66">
            <a:extLst>
              <a:ext uri="{FF2B5EF4-FFF2-40B4-BE49-F238E27FC236}">
                <a16:creationId xmlns:a16="http://schemas.microsoft.com/office/drawing/2014/main" id="{2718954B-DF3D-422F-B68B-5EF30C982594}"/>
              </a:ext>
            </a:extLst>
          </p:cNvPr>
          <p:cNvSpPr/>
          <p:nvPr/>
        </p:nvSpPr>
        <p:spPr>
          <a:xfrm>
            <a:off x="5728084" y="2582673"/>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1"/>
                </a:solidFill>
              </a:rPr>
              <a:t>03</a:t>
            </a:r>
          </a:p>
        </p:txBody>
      </p:sp>
      <p:sp>
        <p:nvSpPr>
          <p:cNvPr id="68" name="Rectangle 67">
            <a:extLst>
              <a:ext uri="{FF2B5EF4-FFF2-40B4-BE49-F238E27FC236}">
                <a16:creationId xmlns:a16="http://schemas.microsoft.com/office/drawing/2014/main" id="{17653028-981F-444D-995E-282124D87E96}"/>
              </a:ext>
            </a:extLst>
          </p:cNvPr>
          <p:cNvSpPr/>
          <p:nvPr/>
        </p:nvSpPr>
        <p:spPr>
          <a:xfrm>
            <a:off x="6766437" y="2811574"/>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Who we are and what we do</a:t>
            </a:r>
          </a:p>
        </p:txBody>
      </p:sp>
      <p:sp>
        <p:nvSpPr>
          <p:cNvPr id="82" name="Rectangle: Rounded Corners 81">
            <a:extLst>
              <a:ext uri="{FF2B5EF4-FFF2-40B4-BE49-F238E27FC236}">
                <a16:creationId xmlns:a16="http://schemas.microsoft.com/office/drawing/2014/main" id="{55061DC2-6177-4AF2-B8D7-0C8A62DA27F0}"/>
              </a:ext>
            </a:extLst>
          </p:cNvPr>
          <p:cNvSpPr/>
          <p:nvPr/>
        </p:nvSpPr>
        <p:spPr>
          <a:xfrm>
            <a:off x="5616629" y="4521478"/>
            <a:ext cx="4645018" cy="847295"/>
          </a:xfrm>
          <a:prstGeom prst="roundRect">
            <a:avLst>
              <a:gd name="adj" fmla="val 5000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3" name="Oval 82">
            <a:extLst>
              <a:ext uri="{FF2B5EF4-FFF2-40B4-BE49-F238E27FC236}">
                <a16:creationId xmlns:a16="http://schemas.microsoft.com/office/drawing/2014/main" id="{C1AC8196-0264-4A2A-85C7-BB7D511208BF}"/>
              </a:ext>
            </a:extLst>
          </p:cNvPr>
          <p:cNvSpPr/>
          <p:nvPr/>
        </p:nvSpPr>
        <p:spPr>
          <a:xfrm>
            <a:off x="5245484" y="4604173"/>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2"/>
                </a:solidFill>
              </a:rPr>
              <a:t>05</a:t>
            </a:r>
          </a:p>
        </p:txBody>
      </p:sp>
      <p:sp>
        <p:nvSpPr>
          <p:cNvPr id="84" name="Rectangle 83">
            <a:extLst>
              <a:ext uri="{FF2B5EF4-FFF2-40B4-BE49-F238E27FC236}">
                <a16:creationId xmlns:a16="http://schemas.microsoft.com/office/drawing/2014/main" id="{750A0077-20AA-410E-A8F3-11DFE80EE8E2}"/>
              </a:ext>
            </a:extLst>
          </p:cNvPr>
          <p:cNvSpPr/>
          <p:nvPr/>
        </p:nvSpPr>
        <p:spPr>
          <a:xfrm>
            <a:off x="6258437" y="4833074"/>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Leadership Team</a:t>
            </a:r>
          </a:p>
        </p:txBody>
      </p:sp>
      <p:sp>
        <p:nvSpPr>
          <p:cNvPr id="69" name="Rectangle: Rounded Corners 68">
            <a:extLst>
              <a:ext uri="{FF2B5EF4-FFF2-40B4-BE49-F238E27FC236}">
                <a16:creationId xmlns:a16="http://schemas.microsoft.com/office/drawing/2014/main" id="{EFC2BB35-1826-496F-8822-3AA9ACFC6444}"/>
              </a:ext>
            </a:extLst>
          </p:cNvPr>
          <p:cNvSpPr/>
          <p:nvPr/>
        </p:nvSpPr>
        <p:spPr>
          <a:xfrm>
            <a:off x="6118291" y="3510728"/>
            <a:ext cx="4645018" cy="847295"/>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0" name="Oval 69">
            <a:extLst>
              <a:ext uri="{FF2B5EF4-FFF2-40B4-BE49-F238E27FC236}">
                <a16:creationId xmlns:a16="http://schemas.microsoft.com/office/drawing/2014/main" id="{510DBCB6-18CE-4E19-97F9-A009EE99D3BE}"/>
              </a:ext>
            </a:extLst>
          </p:cNvPr>
          <p:cNvSpPr/>
          <p:nvPr/>
        </p:nvSpPr>
        <p:spPr>
          <a:xfrm>
            <a:off x="5728084" y="3593423"/>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4"/>
                </a:solidFill>
              </a:rPr>
              <a:t>04</a:t>
            </a:r>
          </a:p>
        </p:txBody>
      </p:sp>
      <p:sp>
        <p:nvSpPr>
          <p:cNvPr id="72" name="Rectangle 71">
            <a:extLst>
              <a:ext uri="{FF2B5EF4-FFF2-40B4-BE49-F238E27FC236}">
                <a16:creationId xmlns:a16="http://schemas.microsoft.com/office/drawing/2014/main" id="{BCF47C04-A4AA-4FCE-B920-DC082893104D}"/>
              </a:ext>
            </a:extLst>
          </p:cNvPr>
          <p:cNvSpPr/>
          <p:nvPr/>
        </p:nvSpPr>
        <p:spPr>
          <a:xfrm>
            <a:off x="6787146" y="3822324"/>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Products &amp; Services</a:t>
            </a:r>
          </a:p>
        </p:txBody>
      </p:sp>
      <p:sp>
        <p:nvSpPr>
          <p:cNvPr id="102" name="Oval 101">
            <a:extLst>
              <a:ext uri="{FF2B5EF4-FFF2-40B4-BE49-F238E27FC236}">
                <a16:creationId xmlns:a16="http://schemas.microsoft.com/office/drawing/2014/main" id="{D14BEA8A-8B9C-4589-8558-51BCD94F2F71}"/>
              </a:ext>
            </a:extLst>
          </p:cNvPr>
          <p:cNvSpPr/>
          <p:nvPr/>
        </p:nvSpPr>
        <p:spPr>
          <a:xfrm>
            <a:off x="3626332" y="1399106"/>
            <a:ext cx="150046" cy="150046"/>
          </a:xfrm>
          <a:prstGeom prst="ellipse">
            <a:avLst/>
          </a:prstGeom>
          <a:solidFill>
            <a:schemeClr val="accent3"/>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 name="Oval 103">
            <a:extLst>
              <a:ext uri="{FF2B5EF4-FFF2-40B4-BE49-F238E27FC236}">
                <a16:creationId xmlns:a16="http://schemas.microsoft.com/office/drawing/2014/main" id="{7CD62A60-BC6A-48AA-BE79-FD4F3D51882F}"/>
              </a:ext>
            </a:extLst>
          </p:cNvPr>
          <p:cNvSpPr/>
          <p:nvPr/>
        </p:nvSpPr>
        <p:spPr>
          <a:xfrm>
            <a:off x="3621850" y="5297321"/>
            <a:ext cx="150046" cy="150046"/>
          </a:xfrm>
          <a:prstGeom prst="ellipse">
            <a:avLst/>
          </a:prstGeom>
          <a:solidFill>
            <a:schemeClr val="accent1">
              <a:lumMod val="75000"/>
            </a:schemeClr>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6" name="Rectangle: Rounded Corners 105">
            <a:extLst>
              <a:ext uri="{FF2B5EF4-FFF2-40B4-BE49-F238E27FC236}">
                <a16:creationId xmlns:a16="http://schemas.microsoft.com/office/drawing/2014/main" id="{137C3552-BD4B-4981-A137-7E046C8EFB5C}"/>
              </a:ext>
            </a:extLst>
          </p:cNvPr>
          <p:cNvSpPr/>
          <p:nvPr/>
        </p:nvSpPr>
        <p:spPr>
          <a:xfrm>
            <a:off x="4777643" y="478478"/>
            <a:ext cx="4645018" cy="847295"/>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7" name="Oval 106">
            <a:extLst>
              <a:ext uri="{FF2B5EF4-FFF2-40B4-BE49-F238E27FC236}">
                <a16:creationId xmlns:a16="http://schemas.microsoft.com/office/drawing/2014/main" id="{C9224741-E84A-4B1D-9E88-3030E148EF9A}"/>
              </a:ext>
            </a:extLst>
          </p:cNvPr>
          <p:cNvSpPr/>
          <p:nvPr/>
        </p:nvSpPr>
        <p:spPr>
          <a:xfrm>
            <a:off x="4406498" y="561173"/>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3"/>
                </a:solidFill>
              </a:rPr>
              <a:t>01</a:t>
            </a:r>
          </a:p>
        </p:txBody>
      </p:sp>
      <p:sp>
        <p:nvSpPr>
          <p:cNvPr id="112" name="Rectangle 111">
            <a:extLst>
              <a:ext uri="{FF2B5EF4-FFF2-40B4-BE49-F238E27FC236}">
                <a16:creationId xmlns:a16="http://schemas.microsoft.com/office/drawing/2014/main" id="{47141795-FDA6-41DE-ACC9-EE0799026F7A}"/>
              </a:ext>
            </a:extLst>
          </p:cNvPr>
          <p:cNvSpPr/>
          <p:nvPr/>
        </p:nvSpPr>
        <p:spPr>
          <a:xfrm>
            <a:off x="5419451" y="790074"/>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Mission Statement</a:t>
            </a:r>
          </a:p>
        </p:txBody>
      </p:sp>
      <p:sp>
        <p:nvSpPr>
          <p:cNvPr id="115" name="Rectangle: Rounded Corners 114">
            <a:extLst>
              <a:ext uri="{FF2B5EF4-FFF2-40B4-BE49-F238E27FC236}">
                <a16:creationId xmlns:a16="http://schemas.microsoft.com/office/drawing/2014/main" id="{46739440-8D8D-4B2C-A77F-6669E6B0C777}"/>
              </a:ext>
            </a:extLst>
          </p:cNvPr>
          <p:cNvSpPr/>
          <p:nvPr/>
        </p:nvSpPr>
        <p:spPr>
          <a:xfrm>
            <a:off x="4777643" y="5532230"/>
            <a:ext cx="4645018" cy="847295"/>
          </a:xfrm>
          <a:prstGeom prst="roundRect">
            <a:avLst>
              <a:gd name="adj" fmla="val 50000"/>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6" name="Oval 125">
            <a:extLst>
              <a:ext uri="{FF2B5EF4-FFF2-40B4-BE49-F238E27FC236}">
                <a16:creationId xmlns:a16="http://schemas.microsoft.com/office/drawing/2014/main" id="{4C64F813-2C29-4816-B7D8-C70E19301B91}"/>
              </a:ext>
            </a:extLst>
          </p:cNvPr>
          <p:cNvSpPr/>
          <p:nvPr/>
        </p:nvSpPr>
        <p:spPr>
          <a:xfrm>
            <a:off x="4406498" y="5614925"/>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dirty="0">
                <a:solidFill>
                  <a:schemeClr val="accent1">
                    <a:lumMod val="75000"/>
                  </a:schemeClr>
                </a:solidFill>
              </a:rPr>
              <a:t>06</a:t>
            </a:r>
          </a:p>
        </p:txBody>
      </p:sp>
      <p:sp>
        <p:nvSpPr>
          <p:cNvPr id="127" name="Rectangle 126">
            <a:extLst>
              <a:ext uri="{FF2B5EF4-FFF2-40B4-BE49-F238E27FC236}">
                <a16:creationId xmlns:a16="http://schemas.microsoft.com/office/drawing/2014/main" id="{D003E9EE-EB5D-4D2B-8B08-24B04CA6B3D2}"/>
              </a:ext>
            </a:extLst>
          </p:cNvPr>
          <p:cNvSpPr/>
          <p:nvPr/>
        </p:nvSpPr>
        <p:spPr>
          <a:xfrm>
            <a:off x="5419451" y="5843826"/>
            <a:ext cx="3440155" cy="224100"/>
          </a:xfrm>
          <a:prstGeom prst="rect">
            <a:avLst/>
          </a:prstGeom>
        </p:spPr>
        <p:txBody>
          <a:bodyPr wrap="square" lIns="0" tIns="0" rIns="0" bIns="0" anchor="ctr">
            <a:spAutoFit/>
          </a:bodyPr>
          <a:lstStyle/>
          <a:p>
            <a:pPr>
              <a:lnSpc>
                <a:spcPct val="110000"/>
              </a:lnSpc>
            </a:pPr>
            <a:r>
              <a:rPr lang="en-IN" sz="1400" dirty="0">
                <a:solidFill>
                  <a:schemeClr val="bg1"/>
                </a:solidFill>
                <a:latin typeface="Open Sans" panose="020B0606030504020204" pitchFamily="34" charset="0"/>
                <a:ea typeface="Open Sans" panose="020B0606030504020204" pitchFamily="34" charset="0"/>
                <a:cs typeface="Open Sans" panose="020B0606030504020204" pitchFamily="34" charset="0"/>
              </a:rPr>
              <a:t>Financial Model</a:t>
            </a:r>
          </a:p>
        </p:txBody>
      </p:sp>
      <p:sp>
        <p:nvSpPr>
          <p:cNvPr id="130" name="Oval 129">
            <a:extLst>
              <a:ext uri="{FF2B5EF4-FFF2-40B4-BE49-F238E27FC236}">
                <a16:creationId xmlns:a16="http://schemas.microsoft.com/office/drawing/2014/main" id="{1AC223FA-CFF8-4492-B789-F3A297D04866}"/>
              </a:ext>
            </a:extLst>
          </p:cNvPr>
          <p:cNvSpPr/>
          <p:nvPr/>
        </p:nvSpPr>
        <p:spPr>
          <a:xfrm>
            <a:off x="4441949" y="4689199"/>
            <a:ext cx="150046" cy="150046"/>
          </a:xfrm>
          <a:prstGeom prst="ellipse">
            <a:avLst/>
          </a:prstGeom>
          <a:solidFill>
            <a:schemeClr val="accent6"/>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Oval 12">
            <a:extLst>
              <a:ext uri="{FF2B5EF4-FFF2-40B4-BE49-F238E27FC236}">
                <a16:creationId xmlns:a16="http://schemas.microsoft.com/office/drawing/2014/main" id="{F77421BA-406B-4452-83AE-424049E3B4BC}"/>
              </a:ext>
            </a:extLst>
          </p:cNvPr>
          <p:cNvSpPr>
            <a:spLocks noChangeArrowheads="1"/>
          </p:cNvSpPr>
          <p:nvPr/>
        </p:nvSpPr>
        <p:spPr bwMode="auto">
          <a:xfrm>
            <a:off x="1821269" y="2304504"/>
            <a:ext cx="2248995" cy="2248992"/>
          </a:xfrm>
          <a:prstGeom prst="ellipse">
            <a:avLst/>
          </a:prstGeom>
          <a:solidFill>
            <a:schemeClr val="bg1"/>
          </a:solidFill>
          <a:ln w="9525">
            <a:noFill/>
            <a:round/>
            <a:headEnd/>
            <a:tailEnd/>
          </a:ln>
        </p:spPr>
        <p:txBody>
          <a:bodyPr vert="horz" wrap="square" lIns="91440" tIns="45720" rIns="91440" bIns="45720" numCol="1" anchor="ctr" anchorCtr="0" compatLnSpc="1">
            <a:prstTxWarp prst="textNoShape">
              <a:avLst/>
            </a:prstTxWarp>
          </a:bodyPr>
          <a:lstStyle/>
          <a:p>
            <a:pPr algn="ctr"/>
            <a:r>
              <a:rPr lang="en-IN" sz="2000" dirty="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ASG Overview</a:t>
            </a:r>
          </a:p>
        </p:txBody>
      </p:sp>
    </p:spTree>
    <p:extLst>
      <p:ext uri="{BB962C8B-B14F-4D97-AF65-F5344CB8AC3E}">
        <p14:creationId xmlns:p14="http://schemas.microsoft.com/office/powerpoint/2010/main" val="8373953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C94A2-B12D-0FC3-CDF7-B7315B5904AB}"/>
              </a:ext>
            </a:extLst>
          </p:cNvPr>
          <p:cNvSpPr>
            <a:spLocks noGrp="1"/>
          </p:cNvSpPr>
          <p:nvPr>
            <p:ph type="title"/>
          </p:nvPr>
        </p:nvSpPr>
        <p:spPr>
          <a:xfrm>
            <a:off x="1154954" y="857921"/>
            <a:ext cx="8761413" cy="706964"/>
          </a:xfrm>
        </p:spPr>
        <p:txBody>
          <a:bodyPr/>
          <a:lstStyle/>
          <a:p>
            <a:r>
              <a:rPr lang="en-US" sz="4000" dirty="0"/>
              <a:t>Who we are what we do</a:t>
            </a:r>
          </a:p>
        </p:txBody>
      </p:sp>
      <p:sp>
        <p:nvSpPr>
          <p:cNvPr id="3" name="Content Placeholder 2">
            <a:extLst>
              <a:ext uri="{FF2B5EF4-FFF2-40B4-BE49-F238E27FC236}">
                <a16:creationId xmlns:a16="http://schemas.microsoft.com/office/drawing/2014/main" id="{8F26F023-E979-BF7F-8669-50610F99DF69}"/>
              </a:ext>
            </a:extLst>
          </p:cNvPr>
          <p:cNvSpPr>
            <a:spLocks noGrp="1"/>
          </p:cNvSpPr>
          <p:nvPr>
            <p:ph idx="1"/>
          </p:nvPr>
        </p:nvSpPr>
        <p:spPr>
          <a:xfrm>
            <a:off x="1857080" y="2933298"/>
            <a:ext cx="9087679" cy="2871324"/>
          </a:xfrm>
        </p:spPr>
        <p:txBody>
          <a:bodyPr>
            <a:normAutofit lnSpcReduction="10000"/>
          </a:bodyPr>
          <a:lstStyle/>
          <a:p>
            <a:pPr marL="0" indent="0" algn="ctr">
              <a:buNone/>
            </a:pPr>
            <a:r>
              <a:rPr lang="en-US" sz="2400" b="0" i="1" u="none" strike="noStrike" dirty="0">
                <a:effectLst/>
                <a:latin typeface="-apple-system-font"/>
              </a:rPr>
              <a:t>Athena Software Group brings together some of the best minds in computer science, cyber defense and SaaS to design solutions </a:t>
            </a:r>
            <a:r>
              <a:rPr lang="en-US" sz="2400" i="1" dirty="0">
                <a:latin typeface="-apple-system-font"/>
              </a:rPr>
              <a:t>specifically </a:t>
            </a:r>
            <a:r>
              <a:rPr lang="en-US" sz="2400" b="0" i="1" u="none" strike="noStrike" dirty="0">
                <a:effectLst/>
                <a:latin typeface="-apple-system-font"/>
              </a:rPr>
              <a:t>for application service providers to provide a single, integrated, intuitive cyber defense system that spans the entire application, system and network ecosystem within which the application resides, facilitating better, faster and more informed outcomes with respect to threat and anomaly detection, response management, vulnerability management and compliance.</a:t>
            </a:r>
          </a:p>
        </p:txBody>
      </p:sp>
    </p:spTree>
    <p:extLst>
      <p:ext uri="{BB962C8B-B14F-4D97-AF65-F5344CB8AC3E}">
        <p14:creationId xmlns:p14="http://schemas.microsoft.com/office/powerpoint/2010/main" val="1122794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D19285-5CB1-0934-603E-12C5550073DF}"/>
              </a:ext>
            </a:extLst>
          </p:cNvPr>
          <p:cNvSpPr>
            <a:spLocks noGrp="1"/>
          </p:cNvSpPr>
          <p:nvPr>
            <p:ph type="title"/>
          </p:nvPr>
        </p:nvSpPr>
        <p:spPr/>
        <p:txBody>
          <a:bodyPr/>
          <a:lstStyle/>
          <a:p>
            <a:r>
              <a:rPr lang="en-US" dirty="0"/>
              <a:t>Athena Mission Statement</a:t>
            </a:r>
          </a:p>
        </p:txBody>
      </p:sp>
      <p:sp>
        <p:nvSpPr>
          <p:cNvPr id="3" name="Content Placeholder 2">
            <a:extLst>
              <a:ext uri="{FF2B5EF4-FFF2-40B4-BE49-F238E27FC236}">
                <a16:creationId xmlns:a16="http://schemas.microsoft.com/office/drawing/2014/main" id="{CBBC4F52-0568-38CA-1EC4-D1F87F978082}"/>
              </a:ext>
            </a:extLst>
          </p:cNvPr>
          <p:cNvSpPr>
            <a:spLocks noGrp="1"/>
          </p:cNvSpPr>
          <p:nvPr>
            <p:ph idx="1"/>
          </p:nvPr>
        </p:nvSpPr>
        <p:spPr>
          <a:xfrm>
            <a:off x="1857882" y="3134332"/>
            <a:ext cx="9103488" cy="1723418"/>
          </a:xfrm>
        </p:spPr>
        <p:txBody>
          <a:bodyPr>
            <a:normAutofit/>
          </a:bodyPr>
          <a:lstStyle/>
          <a:p>
            <a:pPr marL="0" indent="0" algn="ctr">
              <a:buNone/>
            </a:pPr>
            <a:r>
              <a:rPr lang="en-US" sz="3200" i="1" dirty="0">
                <a:latin typeface="Optima" panose="02000503060000020004" pitchFamily="2" charset="0"/>
              </a:rPr>
              <a:t>To provide enterprise application providers with a fully integrated and best in class set of tools for application security, availability and compliance.</a:t>
            </a:r>
          </a:p>
          <a:p>
            <a:pPr algn="ctr"/>
            <a:endParaRPr lang="en-US" sz="3200" dirty="0">
              <a:latin typeface="Optima" panose="02000503060000020004" pitchFamily="2" charset="0"/>
            </a:endParaRPr>
          </a:p>
        </p:txBody>
      </p:sp>
    </p:spTree>
    <p:extLst>
      <p:ext uri="{BB962C8B-B14F-4D97-AF65-F5344CB8AC3E}">
        <p14:creationId xmlns:p14="http://schemas.microsoft.com/office/powerpoint/2010/main" val="20154134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060419A-272E-0C4C-8867-D4DE03482DA5}"/>
              </a:ext>
            </a:extLst>
          </p:cNvPr>
          <p:cNvPicPr>
            <a:picLocks noChangeAspect="1"/>
          </p:cNvPicPr>
          <p:nvPr/>
        </p:nvPicPr>
        <p:blipFill>
          <a:blip r:embed="rId2"/>
          <a:stretch>
            <a:fillRect/>
          </a:stretch>
        </p:blipFill>
        <p:spPr>
          <a:xfrm>
            <a:off x="4519416" y="2352485"/>
            <a:ext cx="7231589" cy="4485190"/>
          </a:xfrm>
          <a:prstGeom prst="rect">
            <a:avLst/>
          </a:prstGeom>
        </p:spPr>
      </p:pic>
      <p:sp>
        <p:nvSpPr>
          <p:cNvPr id="2" name="Title 1">
            <a:extLst>
              <a:ext uri="{FF2B5EF4-FFF2-40B4-BE49-F238E27FC236}">
                <a16:creationId xmlns:a16="http://schemas.microsoft.com/office/drawing/2014/main" id="{B37EE78C-2D44-6A2A-4FB0-074F01DA3A50}"/>
              </a:ext>
            </a:extLst>
          </p:cNvPr>
          <p:cNvSpPr>
            <a:spLocks noGrp="1"/>
          </p:cNvSpPr>
          <p:nvPr>
            <p:ph type="title"/>
          </p:nvPr>
        </p:nvSpPr>
        <p:spPr>
          <a:xfrm>
            <a:off x="981960" y="570566"/>
            <a:ext cx="8761413" cy="706964"/>
          </a:xfrm>
        </p:spPr>
        <p:txBody>
          <a:bodyPr vert="horz" lIns="91440" tIns="45720" rIns="91440" bIns="45720" rtlCol="0" anchor="ctr">
            <a:normAutofit/>
          </a:bodyPr>
          <a:lstStyle/>
          <a:p>
            <a:r>
              <a:rPr lang="en-US" dirty="0"/>
              <a:t>Market Opportunity</a:t>
            </a:r>
          </a:p>
        </p:txBody>
      </p:sp>
      <p:sp>
        <p:nvSpPr>
          <p:cNvPr id="5" name="Text Placeholder 5">
            <a:extLst>
              <a:ext uri="{FF2B5EF4-FFF2-40B4-BE49-F238E27FC236}">
                <a16:creationId xmlns:a16="http://schemas.microsoft.com/office/drawing/2014/main" id="{D6265DBC-FAAF-58EC-25B4-8A0D0DF4E0E2}"/>
              </a:ext>
            </a:extLst>
          </p:cNvPr>
          <p:cNvSpPr txBox="1">
            <a:spLocks/>
          </p:cNvSpPr>
          <p:nvPr/>
        </p:nvSpPr>
        <p:spPr>
          <a:xfrm>
            <a:off x="440995" y="2155788"/>
            <a:ext cx="3911315" cy="4485189"/>
          </a:xfrm>
          <a:prstGeom prst="rect">
            <a:avLst/>
          </a:prstGeom>
        </p:spPr>
        <p:txBody>
          <a:bodyPr vert="horz" lIns="91440" tIns="45720" rIns="91440" bIns="45720" rtlCol="0" anchor="ctr">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a:lnSpc>
                <a:spcPct val="90000"/>
              </a:lnSpc>
              <a:buFont typeface="System Font Regular"/>
              <a:buChar char="⎼"/>
            </a:pPr>
            <a:r>
              <a:rPr lang="en-US" sz="1600" i="1" dirty="0">
                <a:latin typeface="Arial Hebrew Scholar" pitchFamily="2" charset="-79"/>
                <a:cs typeface="Arial Hebrew Scholar" pitchFamily="2" charset="-79"/>
              </a:rPr>
              <a:t>Cost of breaches continues to soar, as does Cyber Insurance costs, driving up spend on Cyber Security</a:t>
            </a:r>
          </a:p>
          <a:p>
            <a:pPr>
              <a:buFont typeface="System Font Regular"/>
              <a:buChar char="⎼"/>
            </a:pPr>
            <a:r>
              <a:rPr lang="en-US" sz="1600" i="1" dirty="0">
                <a:solidFill>
                  <a:schemeClr val="tx1"/>
                </a:solidFill>
                <a:latin typeface="Arial Hebrew Scholar" pitchFamily="2" charset="-79"/>
                <a:cs typeface="Arial Hebrew Scholar" pitchFamily="2" charset="-79"/>
              </a:rPr>
              <a:t>LLM adoption in Cyber is just getting started. Bad actors are getting more sophisticated, leveraging AI technologies, platforms distribution models</a:t>
            </a:r>
          </a:p>
          <a:p>
            <a:pPr>
              <a:buFont typeface="System Font Regular"/>
              <a:buChar char="⎼"/>
            </a:pPr>
            <a:r>
              <a:rPr lang="en-US" sz="1600" i="1" dirty="0">
                <a:solidFill>
                  <a:schemeClr val="tx1"/>
                </a:solidFill>
                <a:latin typeface="Arial Hebrew Scholar" pitchFamily="2" charset="-79"/>
                <a:cs typeface="Arial Hebrew Scholar" pitchFamily="2" charset="-79"/>
              </a:rPr>
              <a:t>Compliance continues to become more complex as the legislative landscape continues to evolve both in the US at the federal and state levels and in the EU, UK, ASPAC</a:t>
            </a:r>
          </a:p>
        </p:txBody>
      </p:sp>
    </p:spTree>
    <p:extLst>
      <p:ext uri="{BB962C8B-B14F-4D97-AF65-F5344CB8AC3E}">
        <p14:creationId xmlns:p14="http://schemas.microsoft.com/office/powerpoint/2010/main" val="13158524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9801DC0-D082-912F-3F54-3BC6ABB3C442}"/>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6981798-4550-46DA-9172-4846E2FB66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82EB7D3-3AD8-4ED1-9E1A-2906E14635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flipH="1">
            <a:off x="423335" y="404829"/>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589F8FAB-F64B-EB62-E009-DC0DC24F5CAD}"/>
              </a:ext>
            </a:extLst>
          </p:cNvPr>
          <p:cNvSpPr>
            <a:spLocks noGrp="1"/>
          </p:cNvSpPr>
          <p:nvPr>
            <p:ph type="title"/>
          </p:nvPr>
        </p:nvSpPr>
        <p:spPr>
          <a:xfrm>
            <a:off x="423335" y="240450"/>
            <a:ext cx="11047176" cy="673948"/>
          </a:xfrm>
        </p:spPr>
        <p:txBody>
          <a:bodyPr vert="horz" lIns="91440" tIns="45720" rIns="91440" bIns="45720" rtlCol="0" anchor="ctr">
            <a:normAutofit fontScale="90000"/>
          </a:bodyPr>
          <a:lstStyle/>
          <a:p>
            <a:pPr>
              <a:lnSpc>
                <a:spcPct val="150000"/>
              </a:lnSpc>
              <a:spcAft>
                <a:spcPts val="600"/>
              </a:spcAft>
            </a:pPr>
            <a:r>
              <a:rPr lang="en-US" sz="3300" dirty="0">
                <a:solidFill>
                  <a:schemeClr val="tx2"/>
                </a:solidFill>
              </a:rPr>
              <a:t>CyberPal.AI (IBM)</a:t>
            </a:r>
          </a:p>
        </p:txBody>
      </p:sp>
      <p:sp>
        <p:nvSpPr>
          <p:cNvPr id="5" name="Text Placeholder 5">
            <a:extLst>
              <a:ext uri="{FF2B5EF4-FFF2-40B4-BE49-F238E27FC236}">
                <a16:creationId xmlns:a16="http://schemas.microsoft.com/office/drawing/2014/main" id="{EF02A928-8089-277B-F5E0-9CAFFA540CF0}"/>
              </a:ext>
            </a:extLst>
          </p:cNvPr>
          <p:cNvSpPr txBox="1">
            <a:spLocks/>
          </p:cNvSpPr>
          <p:nvPr/>
        </p:nvSpPr>
        <p:spPr>
          <a:xfrm>
            <a:off x="423335" y="1287355"/>
            <a:ext cx="11047176" cy="4737797"/>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a:lnSpc>
                <a:spcPct val="90000"/>
              </a:lnSpc>
              <a:buFont typeface="System Font Regular"/>
              <a:buChar char="⎼"/>
            </a:pPr>
            <a:r>
              <a:rPr lang="en-US" sz="1200" i="1" dirty="0"/>
              <a:t>SecKnowledge is a domain-knowledge-driven cyber-security instruction dataset, meticulously designed using years of accumulated expert knowledge in the domain through a multi-phase generation process</a:t>
            </a:r>
          </a:p>
          <a:p>
            <a:pPr>
              <a:lnSpc>
                <a:spcPct val="90000"/>
              </a:lnSpc>
              <a:buFont typeface="System Font Regular"/>
              <a:buChar char="⎼"/>
            </a:pPr>
            <a:r>
              <a:rPr lang="en-US" sz="1200" i="1" dirty="0"/>
              <a:t>Base Model: Open-source LLMs (specific base model not specified).​</a:t>
            </a:r>
          </a:p>
          <a:p>
            <a:pPr>
              <a:lnSpc>
                <a:spcPct val="90000"/>
              </a:lnSpc>
              <a:buFont typeface="System Font Regular"/>
              <a:buChar char="⎼"/>
            </a:pPr>
            <a:endParaRPr lang="en-US" sz="1200" i="1" dirty="0"/>
          </a:p>
          <a:p>
            <a:pPr>
              <a:lnSpc>
                <a:spcPct val="90000"/>
              </a:lnSpc>
              <a:buFont typeface="System Font Regular"/>
              <a:buChar char="⎼"/>
            </a:pPr>
            <a:r>
              <a:rPr lang="en-US" sz="1200" i="1" dirty="0"/>
              <a:t>Training Methodology: </a:t>
            </a:r>
          </a:p>
          <a:p>
            <a:pPr lvl="1">
              <a:lnSpc>
                <a:spcPct val="90000"/>
              </a:lnSpc>
              <a:buFont typeface="System Font Regular"/>
              <a:buChar char="⎼"/>
            </a:pPr>
            <a:r>
              <a:rPr lang="en-US" sz="1100" i="1" dirty="0"/>
              <a:t>Instruction Tuning: Utilizes SecKnowledge dataset, created through a two-step process involving expert-defined schemas and hybrid synthetic content generation.​</a:t>
            </a:r>
          </a:p>
          <a:p>
            <a:pPr lvl="1">
              <a:lnSpc>
                <a:spcPct val="90000"/>
              </a:lnSpc>
              <a:buFont typeface="System Font Regular"/>
              <a:buChar char="⎼"/>
            </a:pPr>
            <a:r>
              <a:rPr lang="en-US" sz="1100" i="1" dirty="0"/>
              <a:t>SecKnowledge: A domain-specific instruction dataset encompassing various cybersecurity topics.</a:t>
            </a:r>
          </a:p>
          <a:p>
            <a:pPr lvl="1">
              <a:lnSpc>
                <a:spcPct val="90000"/>
              </a:lnSpc>
              <a:buFont typeface="System Font Regular"/>
              <a:buChar char="⎼"/>
            </a:pPr>
            <a:r>
              <a:rPr lang="en-US" sz="1100" i="1" dirty="0"/>
              <a:t>SecKnowledge-Eval: An evaluation suite designed to assess LLMs on complex cybersecurity tasks.​</a:t>
            </a:r>
          </a:p>
          <a:p>
            <a:pPr>
              <a:lnSpc>
                <a:spcPct val="90000"/>
              </a:lnSpc>
              <a:buFont typeface="System Font Regular"/>
              <a:buChar char="⎼"/>
            </a:pPr>
            <a:endParaRPr lang="en-US" sz="1200" i="1" dirty="0"/>
          </a:p>
          <a:p>
            <a:pPr>
              <a:lnSpc>
                <a:spcPct val="90000"/>
              </a:lnSpc>
              <a:buFont typeface="System Font Regular"/>
              <a:buChar char="⎼"/>
            </a:pPr>
            <a:r>
              <a:rPr lang="en-US" sz="1200" i="1" dirty="0"/>
              <a:t>Benchmark Performance:</a:t>
            </a:r>
          </a:p>
          <a:p>
            <a:pPr lvl="1">
              <a:lnSpc>
                <a:spcPct val="90000"/>
              </a:lnSpc>
              <a:buFont typeface="System Font Regular"/>
              <a:buChar char="⎼"/>
            </a:pPr>
            <a:r>
              <a:rPr lang="en-US" sz="1100" i="1" dirty="0"/>
              <a:t>Training-Aligned Tasks: Up to 24% improvement over baseline models.</a:t>
            </a:r>
          </a:p>
          <a:p>
            <a:pPr lvl="1">
              <a:lnSpc>
                <a:spcPct val="90000"/>
              </a:lnSpc>
              <a:buFont typeface="System Font Regular"/>
              <a:buChar char="⎼"/>
            </a:pPr>
            <a:r>
              <a:rPr lang="en-US" sz="1100" i="1" dirty="0"/>
              <a:t>Public Cybersecurity Benchmarks: Up to 10% improvement.</a:t>
            </a:r>
          </a:p>
          <a:p>
            <a:pPr lvl="1">
              <a:lnSpc>
                <a:spcPct val="90000"/>
              </a:lnSpc>
              <a:buFont typeface="System Font Regular"/>
              <a:buChar char="⎼"/>
            </a:pPr>
            <a:r>
              <a:rPr lang="en-US" sz="1100" i="1" dirty="0"/>
              <a:t>Specific Task Improvements:</a:t>
            </a:r>
          </a:p>
          <a:p>
            <a:pPr lvl="2">
              <a:lnSpc>
                <a:spcPct val="90000"/>
              </a:lnSpc>
              <a:buFont typeface="System Font Regular"/>
              <a:buChar char="⎼"/>
            </a:pPr>
            <a:r>
              <a:rPr lang="en-US" sz="1100" i="1" dirty="0"/>
              <a:t>CTI Detection and Mitigation: Up to 26% improvement.</a:t>
            </a:r>
          </a:p>
          <a:p>
            <a:pPr lvl="2">
              <a:lnSpc>
                <a:spcPct val="90000"/>
              </a:lnSpc>
              <a:buFont typeface="System Font Regular"/>
              <a:buChar char="⎼"/>
            </a:pPr>
            <a:r>
              <a:rPr lang="en-US" sz="1100" i="1" dirty="0"/>
              <a:t>SIEM Rule TTP Mapping: Up to 17% improvement.</a:t>
            </a:r>
          </a:p>
          <a:p>
            <a:pPr lvl="2">
              <a:lnSpc>
                <a:spcPct val="90000"/>
              </a:lnSpc>
              <a:buFont typeface="System Font Regular"/>
              <a:buChar char="⎼"/>
            </a:pPr>
            <a:r>
              <a:rPr lang="en-US" sz="1100" i="1" dirty="0"/>
              <a:t>CWE Summarization: Up to 35% improvement.</a:t>
            </a:r>
          </a:p>
          <a:p>
            <a:pPr lvl="2">
              <a:lnSpc>
                <a:spcPct val="90000"/>
              </a:lnSpc>
              <a:buFont typeface="System Font Regular"/>
              <a:buChar char="⎼"/>
            </a:pPr>
            <a:r>
              <a:rPr lang="en-US" sz="1100" i="1" dirty="0"/>
              <a:t>CWE Technical Impact Mapping: Up to 11% improvement.</a:t>
            </a:r>
            <a:endParaRPr lang="en-US" i="1" dirty="0"/>
          </a:p>
        </p:txBody>
      </p:sp>
      <p:sp>
        <p:nvSpPr>
          <p:cNvPr id="14" name="Freeform 5">
            <a:extLst>
              <a:ext uri="{FF2B5EF4-FFF2-40B4-BE49-F238E27FC236}">
                <a16:creationId xmlns:a16="http://schemas.microsoft.com/office/drawing/2014/main" id="{2D529E20-662F-4915-ACD7-970C026FDB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5677511" flipH="1">
            <a:off x="3545327" y="190332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6" name="TextBox 5">
            <a:extLst>
              <a:ext uri="{FF2B5EF4-FFF2-40B4-BE49-F238E27FC236}">
                <a16:creationId xmlns:a16="http://schemas.microsoft.com/office/drawing/2014/main" id="{AC1B298E-BE90-7016-2C09-D1F3B9A9D9AC}"/>
              </a:ext>
            </a:extLst>
          </p:cNvPr>
          <p:cNvSpPr txBox="1"/>
          <p:nvPr/>
        </p:nvSpPr>
        <p:spPr>
          <a:xfrm>
            <a:off x="3009418" y="6528675"/>
            <a:ext cx="10131705" cy="230832"/>
          </a:xfrm>
          <a:prstGeom prst="rect">
            <a:avLst/>
          </a:prstGeom>
          <a:noFill/>
        </p:spPr>
        <p:txBody>
          <a:bodyPr wrap="square" rtlCol="0">
            <a:spAutoFit/>
          </a:bodyPr>
          <a:lstStyle/>
          <a:p>
            <a:r>
              <a:rPr lang="en-US" sz="900" b="0" i="0" dirty="0">
                <a:solidFill>
                  <a:srgbClr val="2E414F"/>
                </a:solidFill>
                <a:effectLst/>
                <a:latin typeface="Roboto" panose="02000000000000000000" pitchFamily="2" charset="0"/>
              </a:rPr>
              <a:t>Levi, Matan et al. “CyberPal.AI: Empowering LLMs with Expert-Driven Cybersecurity Instructions.” </a:t>
            </a:r>
            <a:r>
              <a:rPr lang="en-US" sz="900" b="0" i="1" dirty="0">
                <a:solidFill>
                  <a:srgbClr val="2E414F"/>
                </a:solidFill>
                <a:effectLst/>
                <a:latin typeface="Roboto" panose="02000000000000000000" pitchFamily="2" charset="0"/>
              </a:rPr>
              <a:t>ArXiv</a:t>
            </a:r>
            <a:r>
              <a:rPr lang="en-US" sz="900" b="0" i="0" dirty="0">
                <a:solidFill>
                  <a:srgbClr val="2E414F"/>
                </a:solidFill>
                <a:effectLst/>
                <a:latin typeface="Roboto" panose="02000000000000000000" pitchFamily="2" charset="0"/>
              </a:rPr>
              <a:t> abs/2408.09304 (Aug. 2024): https://</a:t>
            </a:r>
            <a:r>
              <a:rPr lang="en-US" sz="900" b="0" i="0" dirty="0" err="1">
                <a:solidFill>
                  <a:srgbClr val="2E414F"/>
                </a:solidFill>
                <a:effectLst/>
                <a:latin typeface="Roboto" panose="02000000000000000000" pitchFamily="2" charset="0"/>
              </a:rPr>
              <a:t>doi.org</a:t>
            </a:r>
            <a:r>
              <a:rPr lang="en-US" sz="900" b="0" i="0" dirty="0">
                <a:solidFill>
                  <a:srgbClr val="2E414F"/>
                </a:solidFill>
                <a:effectLst/>
                <a:latin typeface="Roboto" panose="02000000000000000000" pitchFamily="2" charset="0"/>
              </a:rPr>
              <a:t>/10.48550/arXiv.2408.09304</a:t>
            </a:r>
            <a:endParaRPr lang="en-US" sz="900" dirty="0"/>
          </a:p>
        </p:txBody>
      </p:sp>
    </p:spTree>
    <p:extLst>
      <p:ext uri="{BB962C8B-B14F-4D97-AF65-F5344CB8AC3E}">
        <p14:creationId xmlns:p14="http://schemas.microsoft.com/office/powerpoint/2010/main" val="42357328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17539" y="467397"/>
            <a:ext cx="695829"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12" name="Group 11">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a:solidFill>
            <a:srgbClr val="FFFFFF"/>
          </a:solidFill>
        </p:grpSpPr>
        <p:sp>
          <p:nvSpPr>
            <p:cNvPr id="13" name="Rectangle 12">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2" name="Title 1">
            <a:extLst>
              <a:ext uri="{FF2B5EF4-FFF2-40B4-BE49-F238E27FC236}">
                <a16:creationId xmlns:a16="http://schemas.microsoft.com/office/drawing/2014/main" id="{1AF486E7-C0A7-0DFE-69C7-97CAC99F747D}"/>
              </a:ext>
            </a:extLst>
          </p:cNvPr>
          <p:cNvSpPr>
            <a:spLocks noGrp="1"/>
          </p:cNvSpPr>
          <p:nvPr>
            <p:ph type="title"/>
          </p:nvPr>
        </p:nvSpPr>
        <p:spPr>
          <a:xfrm>
            <a:off x="1000372" y="1209957"/>
            <a:ext cx="3034580" cy="4438087"/>
          </a:xfrm>
        </p:spPr>
        <p:txBody>
          <a:bodyPr anchor="ctr">
            <a:normAutofit/>
          </a:bodyPr>
          <a:lstStyle/>
          <a:p>
            <a:pPr algn="r"/>
            <a:r>
              <a:rPr lang="en-US" sz="3200" dirty="0">
                <a:solidFill>
                  <a:schemeClr val="tx1"/>
                </a:solidFill>
              </a:rPr>
              <a:t>Survey Research Literature in Cyber Security</a:t>
            </a:r>
          </a:p>
        </p:txBody>
      </p:sp>
      <p:cxnSp>
        <p:nvCxnSpPr>
          <p:cNvPr id="16" name="Straight Connector 15">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56687" y="1930986"/>
            <a:ext cx="0" cy="3200400"/>
          </a:xfrm>
          <a:prstGeom prst="line">
            <a:avLst/>
          </a:prstGeom>
          <a:ln w="15875" cap="sq">
            <a:solidFill>
              <a:schemeClr val="tx2"/>
            </a:solidFill>
            <a:miter lim="800000"/>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77330A60-904F-A8BB-3692-2324A79CEE29}"/>
              </a:ext>
            </a:extLst>
          </p:cNvPr>
          <p:cNvPicPr>
            <a:picLocks noChangeAspect="1"/>
          </p:cNvPicPr>
          <p:nvPr/>
        </p:nvPicPr>
        <p:blipFill>
          <a:blip r:embed="rId2"/>
          <a:stretch>
            <a:fillRect/>
          </a:stretch>
        </p:blipFill>
        <p:spPr>
          <a:xfrm>
            <a:off x="5035324" y="573446"/>
            <a:ext cx="5039212" cy="5711107"/>
          </a:xfrm>
          <a:prstGeom prst="rect">
            <a:avLst/>
          </a:prstGeom>
        </p:spPr>
      </p:pic>
    </p:spTree>
    <p:extLst>
      <p:ext uri="{BB962C8B-B14F-4D97-AF65-F5344CB8AC3E}">
        <p14:creationId xmlns:p14="http://schemas.microsoft.com/office/powerpoint/2010/main" val="15797771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2937DE4-D372-E9AC-4B63-F0CA7F85CED7}"/>
            </a:ext>
          </a:extLst>
        </p:cNvPr>
        <p:cNvGrpSpPr/>
        <p:nvPr/>
      </p:nvGrpSpPr>
      <p:grpSpPr>
        <a:xfrm>
          <a:off x="0" y="0"/>
          <a:ext cx="0" cy="0"/>
          <a:chOff x="0" y="0"/>
          <a:chExt cx="0" cy="0"/>
        </a:xfrm>
      </p:grpSpPr>
      <p:sp>
        <p:nvSpPr>
          <p:cNvPr id="22" name="Freeform 5">
            <a:extLst>
              <a:ext uri="{FF2B5EF4-FFF2-40B4-BE49-F238E27FC236}">
                <a16:creationId xmlns:a16="http://schemas.microsoft.com/office/drawing/2014/main" id="{11CAC6F2-0806-417B-BF5D-5AEF6195FA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23" name="Rectangle 22">
            <a:extLst>
              <a:ext uri="{FF2B5EF4-FFF2-40B4-BE49-F238E27FC236}">
                <a16:creationId xmlns:a16="http://schemas.microsoft.com/office/drawing/2014/main" id="{D4723B02-0AAB-4F6E-BA41-8ED99D559D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0E89FA57-33AB-B508-4C3E-FBCC5D7B09BC}"/>
              </a:ext>
            </a:extLst>
          </p:cNvPr>
          <p:cNvSpPr>
            <a:spLocks noGrp="1"/>
          </p:cNvSpPr>
          <p:nvPr>
            <p:ph type="ctrTitle"/>
          </p:nvPr>
        </p:nvSpPr>
        <p:spPr>
          <a:xfrm>
            <a:off x="8160773" y="1113062"/>
            <a:ext cx="3382297" cy="3281957"/>
          </a:xfrm>
        </p:spPr>
        <p:txBody>
          <a:bodyPr>
            <a:normAutofit/>
          </a:bodyPr>
          <a:lstStyle/>
          <a:p>
            <a:r>
              <a:rPr lang="en-US">
                <a:solidFill>
                  <a:srgbClr val="EBEBEB"/>
                </a:solidFill>
              </a:rPr>
              <a:t>Athena Software Group</a:t>
            </a:r>
          </a:p>
        </p:txBody>
      </p:sp>
      <p:sp>
        <p:nvSpPr>
          <p:cNvPr id="3" name="Subtitle 2">
            <a:extLst>
              <a:ext uri="{FF2B5EF4-FFF2-40B4-BE49-F238E27FC236}">
                <a16:creationId xmlns:a16="http://schemas.microsoft.com/office/drawing/2014/main" id="{4E92CDE8-CD60-CA2E-223F-76A53504251D}"/>
              </a:ext>
            </a:extLst>
          </p:cNvPr>
          <p:cNvSpPr>
            <a:spLocks noGrp="1"/>
          </p:cNvSpPr>
          <p:nvPr>
            <p:ph type="subTitle" idx="1"/>
          </p:nvPr>
        </p:nvSpPr>
        <p:spPr>
          <a:xfrm>
            <a:off x="8160773" y="4591665"/>
            <a:ext cx="3382298" cy="1150156"/>
          </a:xfrm>
        </p:spPr>
        <p:txBody>
          <a:bodyPr>
            <a:normAutofit/>
          </a:bodyPr>
          <a:lstStyle/>
          <a:p>
            <a:pPr>
              <a:lnSpc>
                <a:spcPct val="90000"/>
              </a:lnSpc>
            </a:pPr>
            <a:r>
              <a:rPr lang="en-US" i="1" dirty="0"/>
              <a:t>Best in Class, AI Enabled, security solutions for Enterprise application providers.</a:t>
            </a:r>
            <a:endParaRPr lang="en-US" i="1"/>
          </a:p>
        </p:txBody>
      </p:sp>
      <p:pic>
        <p:nvPicPr>
          <p:cNvPr id="5" name="Picture 4">
            <a:extLst>
              <a:ext uri="{FF2B5EF4-FFF2-40B4-BE49-F238E27FC236}">
                <a16:creationId xmlns:a16="http://schemas.microsoft.com/office/drawing/2014/main" id="{97678170-9CB9-9E3B-855F-C3C5DAE8265B}"/>
              </a:ext>
            </a:extLst>
          </p:cNvPr>
          <p:cNvPicPr>
            <a:picLocks noChangeAspect="1"/>
          </p:cNvPicPr>
          <p:nvPr/>
        </p:nvPicPr>
        <p:blipFill>
          <a:blip r:embed="rId2"/>
          <a:stretch>
            <a:fillRect/>
          </a:stretch>
        </p:blipFill>
        <p:spPr>
          <a:xfrm>
            <a:off x="1109763" y="1316544"/>
            <a:ext cx="6470907" cy="4221795"/>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893412626"/>
      </p:ext>
    </p:extLst>
  </p:cSld>
  <p:clrMapOvr>
    <a:overrideClrMapping bg1="dk1" tx1="lt1" bg2="dk2" tx2="lt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 Boardroom</Template>
  <TotalTime>7957</TotalTime>
  <Words>455</Words>
  <Application>Microsoft Macintosh PowerPoint</Application>
  <PresentationFormat>Widescreen</PresentationFormat>
  <Paragraphs>45</Paragraphs>
  <Slides>9</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9</vt:i4>
      </vt:variant>
    </vt:vector>
  </HeadingPairs>
  <TitlesOfParts>
    <vt:vector size="21" baseType="lpstr">
      <vt:lpstr>-apple-system-font</vt:lpstr>
      <vt:lpstr>Aptos</vt:lpstr>
      <vt:lpstr>Arial</vt:lpstr>
      <vt:lpstr>Arial Hebrew Scholar</vt:lpstr>
      <vt:lpstr>Century Gothic</vt:lpstr>
      <vt:lpstr>Open Sans</vt:lpstr>
      <vt:lpstr>Optima</vt:lpstr>
      <vt:lpstr>Roboto</vt:lpstr>
      <vt:lpstr>Segoe UI Black</vt:lpstr>
      <vt:lpstr>System Font Regular</vt:lpstr>
      <vt:lpstr>Wingdings 3</vt:lpstr>
      <vt:lpstr>Ion Boardroom</vt:lpstr>
      <vt:lpstr>Athena Software Group</vt:lpstr>
      <vt:lpstr>Glaukopis (γλαυκῶπις) the “grey eyed one”</vt:lpstr>
      <vt:lpstr>PowerPoint Presentation</vt:lpstr>
      <vt:lpstr>Who we are what we do</vt:lpstr>
      <vt:lpstr>Athena Mission Statement</vt:lpstr>
      <vt:lpstr>Market Opportunity</vt:lpstr>
      <vt:lpstr>CyberPal.AI (IBM)</vt:lpstr>
      <vt:lpstr>Survey Research Literature in Cyber Security</vt:lpstr>
      <vt:lpstr>Athena Software Group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Peter Worth</dc:creator>
  <cp:lastModifiedBy>Peter Worth</cp:lastModifiedBy>
  <cp:revision>39</cp:revision>
  <dcterms:created xsi:type="dcterms:W3CDTF">2025-02-21T13:12:15Z</dcterms:created>
  <dcterms:modified xsi:type="dcterms:W3CDTF">2025-04-19T12:37:34Z</dcterms:modified>
</cp:coreProperties>
</file>