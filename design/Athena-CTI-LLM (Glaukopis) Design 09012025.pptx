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03" r:id="rId1"/>
  </p:sldMasterIdLst>
  <p:notesMasterIdLst>
    <p:notesMasterId r:id="rId33"/>
  </p:notesMasterIdLst>
  <p:handoutMasterIdLst>
    <p:handoutMasterId r:id="rId34"/>
  </p:handoutMasterIdLst>
  <p:sldIdLst>
    <p:sldId id="256" r:id="rId2"/>
    <p:sldId id="532" r:id="rId3"/>
    <p:sldId id="512" r:id="rId4"/>
    <p:sldId id="288" r:id="rId5"/>
    <p:sldId id="514" r:id="rId6"/>
    <p:sldId id="260" r:id="rId7"/>
    <p:sldId id="517" r:id="rId8"/>
    <p:sldId id="259" r:id="rId9"/>
    <p:sldId id="528" r:id="rId10"/>
    <p:sldId id="332" r:id="rId11"/>
    <p:sldId id="518" r:id="rId12"/>
    <p:sldId id="291" r:id="rId13"/>
    <p:sldId id="529" r:id="rId14"/>
    <p:sldId id="305" r:id="rId15"/>
    <p:sldId id="310" r:id="rId16"/>
    <p:sldId id="308" r:id="rId17"/>
    <p:sldId id="339" r:id="rId18"/>
    <p:sldId id="506" r:id="rId19"/>
    <p:sldId id="531" r:id="rId20"/>
    <p:sldId id="360" r:id="rId21"/>
    <p:sldId id="277" r:id="rId22"/>
    <p:sldId id="530" r:id="rId23"/>
    <p:sldId id="317" r:id="rId24"/>
    <p:sldId id="299" r:id="rId25"/>
    <p:sldId id="366" r:id="rId26"/>
    <p:sldId id="367" r:id="rId27"/>
    <p:sldId id="364" r:id="rId28"/>
    <p:sldId id="534" r:id="rId29"/>
    <p:sldId id="535" r:id="rId30"/>
    <p:sldId id="520" r:id="rId31"/>
    <p:sldId id="297" r:id="rId3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44C09936-B9DD-1741-BD59-CD77E0F6213E}">
          <p14:sldIdLst>
            <p14:sldId id="256"/>
            <p14:sldId id="532"/>
            <p14:sldId id="512"/>
            <p14:sldId id="288"/>
            <p14:sldId id="514"/>
            <p14:sldId id="260"/>
            <p14:sldId id="517"/>
            <p14:sldId id="259"/>
            <p14:sldId id="528"/>
            <p14:sldId id="332"/>
            <p14:sldId id="518"/>
            <p14:sldId id="291"/>
          </p14:sldIdLst>
        </p14:section>
        <p14:section name="Athena-CTI-LLM Design" id="{64A7240C-4846-1542-A48D-2ABAD5A888B8}">
          <p14:sldIdLst>
            <p14:sldId id="529"/>
            <p14:sldId id="305"/>
            <p14:sldId id="310"/>
            <p14:sldId id="308"/>
            <p14:sldId id="339"/>
            <p14:sldId id="506"/>
            <p14:sldId id="531"/>
            <p14:sldId id="360"/>
            <p14:sldId id="277"/>
            <p14:sldId id="530"/>
          </p14:sldIdLst>
        </p14:section>
        <p14:section name="LLM Testing and Lifecycle Management" id="{CD741BDB-3A0C-5544-8E6D-157B57AFB996}">
          <p14:sldIdLst>
            <p14:sldId id="317"/>
            <p14:sldId id="299"/>
            <p14:sldId id="366"/>
            <p14:sldId id="367"/>
            <p14:sldId id="364"/>
            <p14:sldId id="534"/>
            <p14:sldId id="535"/>
          </p14:sldIdLst>
        </p14:section>
        <p14:section name="Summary" id="{420E750F-CE44-B842-81C7-69DE9F0F5EEB}">
          <p14:sldIdLst>
            <p14:sldId id="520"/>
            <p14:sldId id="297"/>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148"/>
    <p:restoredTop sz="94607"/>
  </p:normalViewPr>
  <p:slideViewPr>
    <p:cSldViewPr snapToGrid="0">
      <p:cViewPr>
        <p:scale>
          <a:sx n="114" d="100"/>
          <a:sy n="114" d="100"/>
        </p:scale>
        <p:origin x="800" y="912"/>
      </p:cViewPr>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E03BD63-559D-3A65-C2E2-3094AF2A0E2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194C289E-5B77-7C7F-C72B-0A38A48D009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0B60C55-DA89-A743-AEC4-D5CDB8585989}" type="datetimeFigureOut">
              <a:rPr lang="en-US" smtClean="0"/>
              <a:t>8/29/25</a:t>
            </a:fld>
            <a:endParaRPr lang="en-US"/>
          </a:p>
        </p:txBody>
      </p:sp>
      <p:sp>
        <p:nvSpPr>
          <p:cNvPr id="4" name="Footer Placeholder 3">
            <a:extLst>
              <a:ext uri="{FF2B5EF4-FFF2-40B4-BE49-F238E27FC236}">
                <a16:creationId xmlns:a16="http://schemas.microsoft.com/office/drawing/2014/main" id="{FB6BFC54-C61F-FE63-C261-7099469BB19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7C750CD4-05D6-B8E6-8E90-0C212549E79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107E640-CE89-B54B-9586-B6FC8349755D}" type="slidenum">
              <a:rPr lang="en-US" smtClean="0"/>
              <a:t>‹#›</a:t>
            </a:fld>
            <a:endParaRPr lang="en-US"/>
          </a:p>
        </p:txBody>
      </p:sp>
    </p:spTree>
    <p:extLst>
      <p:ext uri="{BB962C8B-B14F-4D97-AF65-F5344CB8AC3E}">
        <p14:creationId xmlns:p14="http://schemas.microsoft.com/office/powerpoint/2010/main" val="375744124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27691A4-062C-1345-8352-2ABD21CF9B05}" type="datetimeFigureOut">
              <a:rPr lang="en-US" smtClean="0"/>
              <a:t>8/29/25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5881564-0C77-C641-92EE-90D8B4FBB46A}" type="slidenum">
              <a:rPr lang="en-US" smtClean="0"/>
              <a:t>‹#›</a:t>
            </a:fld>
            <a:endParaRPr lang="en-US"/>
          </a:p>
        </p:txBody>
      </p:sp>
    </p:spTree>
    <p:extLst>
      <p:ext uri="{BB962C8B-B14F-4D97-AF65-F5344CB8AC3E}">
        <p14:creationId xmlns:p14="http://schemas.microsoft.com/office/powerpoint/2010/main" val="34379057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
        <p:cNvGrpSpPr/>
        <p:nvPr/>
      </p:nvGrpSpPr>
      <p:grpSpPr>
        <a:xfrm>
          <a:off x="0" y="0"/>
          <a:ext cx="0" cy="0"/>
          <a:chOff x="0" y="0"/>
          <a:chExt cx="0" cy="0"/>
        </a:xfrm>
      </p:grpSpPr>
      <p:sp>
        <p:nvSpPr>
          <p:cNvPr id="21" name="Google Shape;21;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 name="Google Shape;22;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 name="Google Shape;23;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extLst>
      <p:ext uri="{BB962C8B-B14F-4D97-AF65-F5344CB8AC3E}">
        <p14:creationId xmlns:p14="http://schemas.microsoft.com/office/powerpoint/2010/main" val="36397571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 name="Google Shape;94;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5" name="Google Shape;95;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extLst>
      <p:ext uri="{BB962C8B-B14F-4D97-AF65-F5344CB8AC3E}">
        <p14:creationId xmlns:p14="http://schemas.microsoft.com/office/powerpoint/2010/main" val="13596402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1" name="Google Shape;71;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2" name="Google Shape;72;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extLst>
      <p:ext uri="{BB962C8B-B14F-4D97-AF65-F5344CB8AC3E}">
        <p14:creationId xmlns:p14="http://schemas.microsoft.com/office/powerpoint/2010/main" val="29237282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21525963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9020763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IN" dirty="0"/>
              <a:t>https://pixabay.com/en/entrepreneur-startup-start-up-man-593377/</a:t>
            </a:r>
          </a:p>
        </p:txBody>
      </p:sp>
      <p:sp>
        <p:nvSpPr>
          <p:cNvPr id="4" name="Slide Number Placeholder 3"/>
          <p:cNvSpPr>
            <a:spLocks noGrp="1"/>
          </p:cNvSpPr>
          <p:nvPr>
            <p:ph type="sldNum" sz="quarter" idx="5"/>
          </p:nvPr>
        </p:nvSpPr>
        <p:spPr/>
        <p:txBody>
          <a:bodyPr/>
          <a:lstStyle/>
          <a:p>
            <a:fld id="{CA2D21D1-52E2-420B-B491-CFF6D7BB79FB}" type="slidenum">
              <a:rPr lang="en-US" smtClean="0"/>
              <a:pPr/>
              <a:t>12</a:t>
            </a:fld>
            <a:endParaRPr lang="en-US"/>
          </a:p>
        </p:txBody>
      </p:sp>
    </p:spTree>
    <p:extLst>
      <p:ext uri="{BB962C8B-B14F-4D97-AF65-F5344CB8AC3E}">
        <p14:creationId xmlns:p14="http://schemas.microsoft.com/office/powerpoint/2010/main" val="199403176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BB66AB-72B5-E2D5-EA1E-09E38A2EE2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39FF38-3DB1-5234-F578-36A197F928C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67E72FB-010B-368E-121A-A08B5FF9E8C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999E405-C778-1998-7749-12911EC0CF14}"/>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202829347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3544625-0ADF-4414-89A2-9E135F0C849F}" type="slidenum">
              <a:rPr lang="en-US" smtClean="0"/>
              <a:t>20</a:t>
            </a:fld>
            <a:endParaRPr lang="en-US" dirty="0"/>
          </a:p>
        </p:txBody>
      </p:sp>
    </p:spTree>
    <p:extLst>
      <p:ext uri="{BB962C8B-B14F-4D97-AF65-F5344CB8AC3E}">
        <p14:creationId xmlns:p14="http://schemas.microsoft.com/office/powerpoint/2010/main" val="1730103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44B03E-6095-02D4-67F3-30C7D84D27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AA3DD3-915D-6BD2-EEF8-FCD8212C114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E620F31F-B564-4F13-A5AA-0999CABEF1B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0A9F613-F527-E582-E5B2-E8543A1F89E7}"/>
              </a:ext>
            </a:extLst>
          </p:cNvPr>
          <p:cNvSpPr>
            <a:spLocks noGrp="1"/>
          </p:cNvSpPr>
          <p:nvPr>
            <p:ph type="sldNum" sz="quarter" idx="5"/>
          </p:nvPr>
        </p:nvSpPr>
        <p:spPr/>
        <p:txBody>
          <a:bodyPr/>
          <a:lstStyle/>
          <a:p>
            <a:fld id="{F3544625-0ADF-4414-89A2-9E135F0C849F}" type="slidenum">
              <a:rPr lang="en-US" smtClean="0"/>
              <a:t>21</a:t>
            </a:fld>
            <a:endParaRPr lang="en-US" dirty="0"/>
          </a:p>
        </p:txBody>
      </p:sp>
    </p:spTree>
    <p:extLst>
      <p:ext uri="{BB962C8B-B14F-4D97-AF65-F5344CB8AC3E}">
        <p14:creationId xmlns:p14="http://schemas.microsoft.com/office/powerpoint/2010/main" val="170649511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6374461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5881564-0C77-C641-92EE-90D8B4FBB46A}" type="slidenum">
              <a:rPr lang="en-US" smtClean="0"/>
              <a:t>31</a:t>
            </a:fld>
            <a:endParaRPr lang="en-US"/>
          </a:p>
        </p:txBody>
      </p:sp>
    </p:spTree>
    <p:extLst>
      <p:ext uri="{BB962C8B-B14F-4D97-AF65-F5344CB8AC3E}">
        <p14:creationId xmlns:p14="http://schemas.microsoft.com/office/powerpoint/2010/main" val="420827469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Footer Placeholder 4">
            <a:extLst>
              <a:ext uri="{FF2B5EF4-FFF2-40B4-BE49-F238E27FC236}">
                <a16:creationId xmlns:a16="http://schemas.microsoft.com/office/drawing/2014/main" id="{5E45AD0F-4E17-69EF-FFEF-5A27BE10EFD0}"/>
              </a:ext>
            </a:extLst>
          </p:cNvPr>
          <p:cNvSpPr txBox="1">
            <a:spLocks/>
          </p:cNvSpPr>
          <p:nvPr userDrawn="1"/>
        </p:nvSpPr>
        <p:spPr>
          <a:xfrm rot="16200000">
            <a:off x="9214810" y="2913201"/>
            <a:ext cx="5447499" cy="345796"/>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700" b="1" i="1"/>
              <a:t>© 2025 Athena Software Group Inc. Confidential &amp; Proprietary. Do not distribute without express permission.</a:t>
            </a:r>
          </a:p>
        </p:txBody>
      </p:sp>
    </p:spTree>
    <p:extLst>
      <p:ext uri="{BB962C8B-B14F-4D97-AF65-F5344CB8AC3E}">
        <p14:creationId xmlns:p14="http://schemas.microsoft.com/office/powerpoint/2010/main" val="189436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761549" y="1497713"/>
            <a:ext cx="10264414" cy="47754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a:xfrm>
            <a:off x="8205920" y="6495651"/>
            <a:ext cx="3859795" cy="304801"/>
          </a:xfrm>
        </p:spPr>
        <p:txBody>
          <a:bodyPr/>
          <a:lstStyle/>
          <a:p>
            <a:pPr algn="r"/>
            <a:fld id="{9C4FC681-3263-2441-8D4E-1B966C167F1A}" type="slidenum">
              <a:rPr lang="en-US" smtClean="0"/>
              <a:pPr algn="r"/>
              <a:t>‹#›</a:t>
            </a:fld>
            <a:endParaRPr lang="en-US"/>
          </a:p>
        </p:txBody>
      </p:sp>
    </p:spTree>
    <p:extLst>
      <p:ext uri="{BB962C8B-B14F-4D97-AF65-F5344CB8AC3E}">
        <p14:creationId xmlns:p14="http://schemas.microsoft.com/office/powerpoint/2010/main" val="12090095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userDrawn="1"/>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10989733" y="6425608"/>
            <a:ext cx="990599" cy="304799"/>
          </a:xfrm>
          <a:prstGeom prst="rect">
            <a:avLst/>
          </a:prstGeom>
        </p:spPr>
        <p:txBody>
          <a:bodyPr/>
          <a:lstStyle>
            <a:lvl1pPr algn="r">
              <a:defRPr sz="900" i="1"/>
            </a:lvl1pPr>
          </a:lstStyle>
          <a:p>
            <a:fld id="{F7BBDEBC-094A-3E44-A10F-D4B92F503C5D}" type="slidenum">
              <a:rPr lang="en-US" smtClean="0"/>
              <a:pPr/>
              <a:t>‹#›</a:t>
            </a:fld>
            <a:endParaRPr lang="en-US"/>
          </a:p>
        </p:txBody>
      </p:sp>
      <p:sp>
        <p:nvSpPr>
          <p:cNvPr id="6" name="Footer Placeholder 4">
            <a:extLst>
              <a:ext uri="{FF2B5EF4-FFF2-40B4-BE49-F238E27FC236}">
                <a16:creationId xmlns:a16="http://schemas.microsoft.com/office/drawing/2014/main" id="{B6D4F4C4-A7D4-7CE9-F738-F8C153960C3F}"/>
              </a:ext>
            </a:extLst>
          </p:cNvPr>
          <p:cNvSpPr txBox="1">
            <a:spLocks/>
          </p:cNvSpPr>
          <p:nvPr userDrawn="1"/>
        </p:nvSpPr>
        <p:spPr>
          <a:xfrm rot="16200000">
            <a:off x="9246707" y="2913201"/>
            <a:ext cx="5447499" cy="345796"/>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700" b="1" i="1"/>
              <a:t>© 2025 Athena Software Group Inc. Confidential &amp; Proprietary. Do not distribute without express permission.</a:t>
            </a:r>
          </a:p>
        </p:txBody>
      </p:sp>
    </p:spTree>
    <p:extLst>
      <p:ext uri="{BB962C8B-B14F-4D97-AF65-F5344CB8AC3E}">
        <p14:creationId xmlns:p14="http://schemas.microsoft.com/office/powerpoint/2010/main" val="32096234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772180" y="1561512"/>
            <a:ext cx="5168126" cy="4328926"/>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51244" y="1561511"/>
            <a:ext cx="5168127" cy="4328925"/>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11"/>
          </p:nvPr>
        </p:nvSpPr>
        <p:spPr>
          <a:xfrm>
            <a:off x="10334847" y="6394937"/>
            <a:ext cx="1518217" cy="304801"/>
          </a:xfrm>
        </p:spPr>
        <p:txBody>
          <a:bodyPr/>
          <a:lstStyle/>
          <a:p>
            <a:pPr algn="r"/>
            <a:fld id="{1C9CC63D-7044-BB42-81DD-D2F8934B041B}" type="slidenum">
              <a:rPr lang="en-US" smtClean="0"/>
              <a:pPr algn="r"/>
              <a:t>‹#›</a:t>
            </a:fld>
            <a:endParaRPr lang="en-US"/>
          </a:p>
        </p:txBody>
      </p:sp>
    </p:spTree>
    <p:extLst>
      <p:ext uri="{BB962C8B-B14F-4D97-AF65-F5344CB8AC3E}">
        <p14:creationId xmlns:p14="http://schemas.microsoft.com/office/powerpoint/2010/main" val="16202743"/>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740282" y="1476445"/>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740281" y="2052707"/>
            <a:ext cx="5072431" cy="3901526"/>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081121" y="1476445"/>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081121" y="2052707"/>
            <a:ext cx="5072432" cy="3901526"/>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p:cNvSpPr>
            <a:spLocks noGrp="1"/>
          </p:cNvSpPr>
          <p:nvPr>
            <p:ph type="ftr" sz="quarter" idx="11"/>
          </p:nvPr>
        </p:nvSpPr>
        <p:spPr/>
        <p:txBody>
          <a:bodyPr/>
          <a:lstStyle/>
          <a:p>
            <a:pPr algn="r"/>
            <a:fld id="{B3C9BB79-FD74-4C49-A196-2BEE401B79B8}" type="slidenum">
              <a:rPr lang="en-US" smtClean="0"/>
              <a:pPr algn="r"/>
              <a:t>‹#›</a:t>
            </a:fld>
            <a:endParaRPr lang="en-US"/>
          </a:p>
        </p:txBody>
      </p:sp>
    </p:spTree>
    <p:extLst>
      <p:ext uri="{BB962C8B-B14F-4D97-AF65-F5344CB8AC3E}">
        <p14:creationId xmlns:p14="http://schemas.microsoft.com/office/powerpoint/2010/main" val="5640784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761548" y="293183"/>
            <a:ext cx="8761413" cy="706964"/>
          </a:xfrm>
        </p:spPr>
        <p:txBody>
          <a:bodyPr/>
          <a:lstStyle>
            <a:lvl1pPr>
              <a:defRPr/>
            </a:lvl1pPr>
          </a:lstStyle>
          <a:p>
            <a:r>
              <a:rPr lang="en-US"/>
              <a:t>Click to edit Master title style</a:t>
            </a:r>
          </a:p>
        </p:txBody>
      </p:sp>
      <p:sp>
        <p:nvSpPr>
          <p:cNvPr id="4" name="Footer Placeholder 3"/>
          <p:cNvSpPr>
            <a:spLocks noGrp="1"/>
          </p:cNvSpPr>
          <p:nvPr>
            <p:ph type="ftr" sz="quarter" idx="11"/>
          </p:nvPr>
        </p:nvSpPr>
        <p:spPr/>
        <p:txBody>
          <a:bodyPr/>
          <a:lstStyle/>
          <a:p>
            <a:pPr algn="r"/>
            <a:fld id="{B5C64A5F-1F59-3C4E-89E0-4BD8C4499B92}" type="slidenum">
              <a:rPr lang="en-US" smtClean="0"/>
              <a:pPr algn="r"/>
              <a:t>‹#›</a:t>
            </a:fld>
            <a:endParaRPr lang="en-US"/>
          </a:p>
        </p:txBody>
      </p:sp>
    </p:spTree>
    <p:extLst>
      <p:ext uri="{BB962C8B-B14F-4D97-AF65-F5344CB8AC3E}">
        <p14:creationId xmlns:p14="http://schemas.microsoft.com/office/powerpoint/2010/main" val="15974696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pPr algn="r"/>
            <a:fld id="{EA810688-59B9-8947-83B3-402BE705B2AB}" type="slidenum">
              <a:rPr lang="en-US" smtClean="0"/>
              <a:pPr algn="r"/>
              <a:t>‹#›</a:t>
            </a:fld>
            <a:endParaRPr lang="en-US"/>
          </a:p>
        </p:txBody>
      </p:sp>
      <p:sp>
        <p:nvSpPr>
          <p:cNvPr id="4" name="Footer Placeholder 4">
            <a:extLst>
              <a:ext uri="{FF2B5EF4-FFF2-40B4-BE49-F238E27FC236}">
                <a16:creationId xmlns:a16="http://schemas.microsoft.com/office/drawing/2014/main" id="{309F5638-830F-4095-4730-FC2AF7CB5628}"/>
              </a:ext>
            </a:extLst>
          </p:cNvPr>
          <p:cNvSpPr txBox="1">
            <a:spLocks/>
          </p:cNvSpPr>
          <p:nvPr userDrawn="1"/>
        </p:nvSpPr>
        <p:spPr>
          <a:xfrm rot="16200000">
            <a:off x="9295353" y="2934466"/>
            <a:ext cx="5447499" cy="345796"/>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700" b="1" i="1"/>
              <a:t>© 2025 Athena Software Group Inc. Confidential &amp; Proprietary. Do not distribute without express permission.</a:t>
            </a:r>
          </a:p>
        </p:txBody>
      </p:sp>
      <p:pic>
        <p:nvPicPr>
          <p:cNvPr id="5" name="Picture 4">
            <a:extLst>
              <a:ext uri="{FF2B5EF4-FFF2-40B4-BE49-F238E27FC236}">
                <a16:creationId xmlns:a16="http://schemas.microsoft.com/office/drawing/2014/main" id="{FE857522-7A0E-871F-1012-E443B74AC09B}"/>
              </a:ext>
            </a:extLst>
          </p:cNvPr>
          <p:cNvPicPr>
            <a:picLocks noChangeAspect="1"/>
          </p:cNvPicPr>
          <p:nvPr userDrawn="1"/>
        </p:nvPicPr>
        <p:blipFill>
          <a:blip r:embed="rId2"/>
          <a:stretch>
            <a:fillRect/>
          </a:stretch>
        </p:blipFill>
        <p:spPr>
          <a:xfrm>
            <a:off x="76049" y="6368544"/>
            <a:ext cx="1048663" cy="368796"/>
          </a:xfrm>
          <a:prstGeom prst="rect">
            <a:avLst/>
          </a:prstGeom>
        </p:spPr>
      </p:pic>
    </p:spTree>
    <p:extLst>
      <p:ext uri="{BB962C8B-B14F-4D97-AF65-F5344CB8AC3E}">
        <p14:creationId xmlns:p14="http://schemas.microsoft.com/office/powerpoint/2010/main" val="32265828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10870287" y="6385780"/>
            <a:ext cx="1254558" cy="217039"/>
          </a:xfrm>
          <a:prstGeom prst="rect">
            <a:avLst/>
          </a:prstGeom>
        </p:spPr>
        <p:txBody>
          <a:bodyPr/>
          <a:lstStyle>
            <a:lvl1pPr algn="r">
              <a:defRPr sz="900" i="1"/>
            </a:lvl1pPr>
          </a:lstStyle>
          <a:p>
            <a:fld id="{C4ACEAA9-3A0B-3642-9455-D05A4C65DD03}" type="slidenum">
              <a:rPr lang="en-US" smtClean="0"/>
              <a:pPr/>
              <a:t>‹#›</a:t>
            </a:fld>
            <a:endParaRPr lang="en-US"/>
          </a:p>
        </p:txBody>
      </p:sp>
      <p:sp>
        <p:nvSpPr>
          <p:cNvPr id="6" name="Footer Placeholder 4">
            <a:extLst>
              <a:ext uri="{FF2B5EF4-FFF2-40B4-BE49-F238E27FC236}">
                <a16:creationId xmlns:a16="http://schemas.microsoft.com/office/drawing/2014/main" id="{743B1D88-2AB0-D058-7545-1123638EAF59}"/>
              </a:ext>
            </a:extLst>
          </p:cNvPr>
          <p:cNvSpPr txBox="1">
            <a:spLocks/>
          </p:cNvSpPr>
          <p:nvPr userDrawn="1"/>
        </p:nvSpPr>
        <p:spPr>
          <a:xfrm rot="16200000">
            <a:off x="9295353" y="2913201"/>
            <a:ext cx="5447499" cy="345796"/>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700" b="1" i="1"/>
              <a:t>© 2025 Athena Software Group Inc. Confidential &amp; Proprietary. Do not distribute without express permission.</a:t>
            </a:r>
          </a:p>
        </p:txBody>
      </p:sp>
    </p:spTree>
    <p:extLst>
      <p:ext uri="{BB962C8B-B14F-4D97-AF65-F5344CB8AC3E}">
        <p14:creationId xmlns:p14="http://schemas.microsoft.com/office/powerpoint/2010/main" val="932320774"/>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9793" y="0"/>
            <a:ext cx="12268200" cy="6864877"/>
            <a:chOff x="0" y="0"/>
            <a:chExt cx="12268200" cy="6864877"/>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76200" y="8464"/>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pPr algn="r"/>
            <a:fld id="{10B50D97-ADDF-3D43-906B-48D9973569F9}" type="slidenum">
              <a:rPr lang="en-US" smtClean="0"/>
              <a:pPr algn="r"/>
              <a:t>‹#›</a:t>
            </a:fld>
            <a:endParaRPr lang="en-US"/>
          </a:p>
        </p:txBody>
      </p:sp>
      <p:sp>
        <p:nvSpPr>
          <p:cNvPr id="7" name="Footer Placeholder 4">
            <a:extLst>
              <a:ext uri="{FF2B5EF4-FFF2-40B4-BE49-F238E27FC236}">
                <a16:creationId xmlns:a16="http://schemas.microsoft.com/office/drawing/2014/main" id="{17AE52F1-D969-AAD5-8463-35F5D60A997B}"/>
              </a:ext>
            </a:extLst>
          </p:cNvPr>
          <p:cNvSpPr txBox="1">
            <a:spLocks/>
          </p:cNvSpPr>
          <p:nvPr userDrawn="1"/>
        </p:nvSpPr>
        <p:spPr>
          <a:xfrm rot="16200000">
            <a:off x="9266377" y="2913201"/>
            <a:ext cx="5447499" cy="345796"/>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700" b="1" i="1"/>
              <a:t>© 2025 Athena Software Group Inc. Confidential &amp; Proprietary. Do not distribute without express permission.</a:t>
            </a:r>
          </a:p>
        </p:txBody>
      </p:sp>
    </p:spTree>
    <p:extLst>
      <p:ext uri="{BB962C8B-B14F-4D97-AF65-F5344CB8AC3E}">
        <p14:creationId xmlns:p14="http://schemas.microsoft.com/office/powerpoint/2010/main" val="39958833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pPr algn="r"/>
            <a:fld id="{45889B20-706B-AB40-B6C3-4ABCE1FF1F4F}" type="slidenum">
              <a:rPr lang="en-US" smtClean="0"/>
              <a:pPr algn="r"/>
              <a:t>‹#›</a:t>
            </a:fld>
            <a:endParaRPr lang="en-US"/>
          </a:p>
        </p:txBody>
      </p:sp>
    </p:spTree>
    <p:extLst>
      <p:ext uri="{BB962C8B-B14F-4D97-AF65-F5344CB8AC3E}">
        <p14:creationId xmlns:p14="http://schemas.microsoft.com/office/powerpoint/2010/main" val="41357885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Footer Placeholder 4"/>
          <p:cNvSpPr>
            <a:spLocks noGrp="1"/>
          </p:cNvSpPr>
          <p:nvPr>
            <p:ph type="ftr" sz="quarter" idx="11"/>
          </p:nvPr>
        </p:nvSpPr>
        <p:spPr/>
        <p:txBody>
          <a:bodyPr/>
          <a:lstStyle/>
          <a:p>
            <a:pPr algn="r"/>
            <a:fld id="{9D43E63A-512E-8940-A727-CCEAF33A22F7}" type="slidenum">
              <a:rPr lang="en-US" smtClean="0"/>
              <a:pPr algn="r"/>
              <a:t>‹#›</a:t>
            </a:fld>
            <a:endParaRPr lang="en-US"/>
          </a:p>
        </p:txBody>
      </p:sp>
      <p:sp>
        <p:nvSpPr>
          <p:cNvPr id="6" name="Footer Placeholder 4">
            <a:extLst>
              <a:ext uri="{FF2B5EF4-FFF2-40B4-BE49-F238E27FC236}">
                <a16:creationId xmlns:a16="http://schemas.microsoft.com/office/drawing/2014/main" id="{1372A244-1032-9CDF-176A-9A61E28A1ED3}"/>
              </a:ext>
            </a:extLst>
          </p:cNvPr>
          <p:cNvSpPr txBox="1">
            <a:spLocks/>
          </p:cNvSpPr>
          <p:nvPr userDrawn="1"/>
        </p:nvSpPr>
        <p:spPr>
          <a:xfrm rot="16200000">
            <a:off x="9330634" y="2913201"/>
            <a:ext cx="5447499" cy="345796"/>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700" b="1" i="1"/>
              <a:t>© 2025 Athena Software Group Inc. Confidential &amp; Proprietary. Do not distribute without express permission.</a:t>
            </a:r>
          </a:p>
        </p:txBody>
      </p:sp>
    </p:spTree>
    <p:extLst>
      <p:ext uri="{BB962C8B-B14F-4D97-AF65-F5344CB8AC3E}">
        <p14:creationId xmlns:p14="http://schemas.microsoft.com/office/powerpoint/2010/main" val="36710325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Footer Placeholder 4"/>
          <p:cNvSpPr>
            <a:spLocks noGrp="1"/>
          </p:cNvSpPr>
          <p:nvPr>
            <p:ph type="ftr" sz="quarter" idx="11"/>
          </p:nvPr>
        </p:nvSpPr>
        <p:spPr/>
        <p:txBody>
          <a:bodyPr/>
          <a:lstStyle>
            <a:lvl1pPr algn="r">
              <a:defRPr/>
            </a:lvl1pPr>
          </a:lstStyle>
          <a:p>
            <a:fld id="{A274A649-B3F2-9E4B-BDA8-A9B0A7DCA3B1}" type="slidenum">
              <a:rPr lang="en-US" smtClean="0"/>
              <a:pPr/>
              <a:t>‹#›</a:t>
            </a:fld>
            <a:endParaRPr lang="en-US"/>
          </a:p>
        </p:txBody>
      </p:sp>
      <p:sp>
        <p:nvSpPr>
          <p:cNvPr id="6" name="Footer Placeholder 4">
            <a:extLst>
              <a:ext uri="{FF2B5EF4-FFF2-40B4-BE49-F238E27FC236}">
                <a16:creationId xmlns:a16="http://schemas.microsoft.com/office/drawing/2014/main" id="{D6AC0054-AD44-A4AB-4C9F-91885597AB4B}"/>
              </a:ext>
            </a:extLst>
          </p:cNvPr>
          <p:cNvSpPr txBox="1">
            <a:spLocks/>
          </p:cNvSpPr>
          <p:nvPr userDrawn="1"/>
        </p:nvSpPr>
        <p:spPr>
          <a:xfrm rot="16200000">
            <a:off x="9295353" y="2970752"/>
            <a:ext cx="5447499" cy="345796"/>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700" b="1" i="1"/>
              <a:t>© 2025 Athena Software Group Inc. Confidential &amp; Proprietary. Do not distribute without express permission.</a:t>
            </a:r>
          </a:p>
        </p:txBody>
      </p:sp>
    </p:spTree>
    <p:extLst>
      <p:ext uri="{BB962C8B-B14F-4D97-AF65-F5344CB8AC3E}">
        <p14:creationId xmlns:p14="http://schemas.microsoft.com/office/powerpoint/2010/main" val="298976956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2182"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5" name="Footer Placeholder 4"/>
          <p:cNvSpPr>
            <a:spLocks noGrp="1"/>
          </p:cNvSpPr>
          <p:nvPr>
            <p:ph type="ftr" sz="quarter" idx="11"/>
          </p:nvPr>
        </p:nvSpPr>
        <p:spPr/>
        <p:txBody>
          <a:bodyPr/>
          <a:lstStyle/>
          <a:p>
            <a:pPr algn="r"/>
            <a:fld id="{919DD00B-78BB-A446-B130-0D7CB0629925}" type="slidenum">
              <a:rPr lang="en-US" smtClean="0"/>
              <a:pPr algn="r"/>
              <a:t>‹#›</a:t>
            </a:fld>
            <a:endParaRPr lang="en-US"/>
          </a:p>
        </p:txBody>
      </p:sp>
      <p:sp>
        <p:nvSpPr>
          <p:cNvPr id="6" name="Footer Placeholder 4">
            <a:extLst>
              <a:ext uri="{FF2B5EF4-FFF2-40B4-BE49-F238E27FC236}">
                <a16:creationId xmlns:a16="http://schemas.microsoft.com/office/drawing/2014/main" id="{A02A7EC0-02E6-77E2-C80D-BDA4D58801DB}"/>
              </a:ext>
            </a:extLst>
          </p:cNvPr>
          <p:cNvSpPr txBox="1">
            <a:spLocks/>
          </p:cNvSpPr>
          <p:nvPr userDrawn="1"/>
        </p:nvSpPr>
        <p:spPr>
          <a:xfrm rot="16200000">
            <a:off x="9295353" y="2913201"/>
            <a:ext cx="5447499" cy="345796"/>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700" b="1" i="1"/>
              <a:t>© 2025 Athena Software Group Inc. Confidential &amp; Proprietary. Do not distribute without express permission.</a:t>
            </a:r>
          </a:p>
        </p:txBody>
      </p:sp>
    </p:spTree>
    <p:extLst>
      <p:ext uri="{BB962C8B-B14F-4D97-AF65-F5344CB8AC3E}">
        <p14:creationId xmlns:p14="http://schemas.microsoft.com/office/powerpoint/2010/main" val="40987649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761545" y="420771"/>
            <a:ext cx="8825659" cy="706964"/>
          </a:xfrm>
        </p:spPr>
        <p:txBody>
          <a:bodyPr/>
          <a:lstStyle>
            <a:lvl1pPr>
              <a:defRPr sz="3600"/>
            </a:lvl1pPr>
          </a:lstStyle>
          <a:p>
            <a:r>
              <a:rPr lang="en-US"/>
              <a:t>Click to edit Master title style</a:t>
            </a:r>
          </a:p>
        </p:txBody>
      </p:sp>
      <p:sp>
        <p:nvSpPr>
          <p:cNvPr id="3" name="Text Placeholder 2"/>
          <p:cNvSpPr>
            <a:spLocks noGrp="1"/>
          </p:cNvSpPr>
          <p:nvPr>
            <p:ph type="body" idx="1"/>
          </p:nvPr>
        </p:nvSpPr>
        <p:spPr>
          <a:xfrm>
            <a:off x="804078" y="1604038"/>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804077" y="2180300"/>
            <a:ext cx="3141879" cy="36782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268175" y="1604036"/>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268175" y="2180299"/>
            <a:ext cx="3147009" cy="36782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749919" y="1604037"/>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750113" y="2180298"/>
            <a:ext cx="3145536" cy="36782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116893" y="1570169"/>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581016" y="1570169"/>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8" name="Footer Placeholder 7"/>
          <p:cNvSpPr>
            <a:spLocks noGrp="1"/>
          </p:cNvSpPr>
          <p:nvPr>
            <p:ph type="ftr" sz="quarter" idx="11"/>
          </p:nvPr>
        </p:nvSpPr>
        <p:spPr/>
        <p:txBody>
          <a:bodyPr/>
          <a:lstStyle>
            <a:lvl1pPr algn="r">
              <a:defRPr/>
            </a:lvl1pPr>
          </a:lstStyle>
          <a:p>
            <a:fld id="{E9DC7B75-34B3-9E4F-948B-B421779104D5}" type="slidenum">
              <a:rPr lang="en-US" smtClean="0"/>
              <a:pPr/>
              <a:t>‹#›</a:t>
            </a:fld>
            <a:endParaRPr lang="en-US"/>
          </a:p>
        </p:txBody>
      </p:sp>
    </p:spTree>
    <p:extLst>
      <p:ext uri="{BB962C8B-B14F-4D97-AF65-F5344CB8AC3E}">
        <p14:creationId xmlns:p14="http://schemas.microsoft.com/office/powerpoint/2010/main" val="251041058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772177" y="367610"/>
            <a:ext cx="8825659" cy="706964"/>
          </a:xfrm>
        </p:spPr>
        <p:txBody>
          <a:bodyPr/>
          <a:lstStyle>
            <a:lvl1pPr>
              <a:defRPr sz="3600"/>
            </a:lvl1pPr>
          </a:lstStyle>
          <a:p>
            <a:r>
              <a:rPr lang="en-US"/>
              <a:t>Click to edit Master title style</a:t>
            </a:r>
          </a:p>
        </p:txBody>
      </p:sp>
      <p:sp>
        <p:nvSpPr>
          <p:cNvPr id="3" name="Text Placeholder 2"/>
          <p:cNvSpPr>
            <a:spLocks noGrp="1"/>
          </p:cNvSpPr>
          <p:nvPr>
            <p:ph type="body" idx="1"/>
          </p:nvPr>
        </p:nvSpPr>
        <p:spPr>
          <a:xfrm>
            <a:off x="846612" y="3809832"/>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026211" y="1880488"/>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22" name="Text Placeholder 3"/>
          <p:cNvSpPr>
            <a:spLocks noGrp="1"/>
          </p:cNvSpPr>
          <p:nvPr>
            <p:ph type="body" sz="half" idx="18"/>
          </p:nvPr>
        </p:nvSpPr>
        <p:spPr>
          <a:xfrm>
            <a:off x="846612" y="4386094"/>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260523" y="3809832"/>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440120" y="1880488"/>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23" name="Text Placeholder 3"/>
          <p:cNvSpPr>
            <a:spLocks noGrp="1"/>
          </p:cNvSpPr>
          <p:nvPr>
            <p:ph type="body" sz="half" idx="19"/>
          </p:nvPr>
        </p:nvSpPr>
        <p:spPr>
          <a:xfrm>
            <a:off x="4261830" y="4386093"/>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674433" y="3809833"/>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7854689" y="1880488"/>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24" name="Text Placeholder 3"/>
          <p:cNvSpPr>
            <a:spLocks noGrp="1"/>
          </p:cNvSpPr>
          <p:nvPr>
            <p:ph type="body" sz="half" idx="20"/>
          </p:nvPr>
        </p:nvSpPr>
        <p:spPr>
          <a:xfrm>
            <a:off x="7674433" y="4386092"/>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086853" y="1952944"/>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478824" y="1952944"/>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8" name="Footer Placeholder 7"/>
          <p:cNvSpPr>
            <a:spLocks noGrp="1"/>
          </p:cNvSpPr>
          <p:nvPr>
            <p:ph type="ftr" sz="quarter" idx="11"/>
          </p:nvPr>
        </p:nvSpPr>
        <p:spPr>
          <a:xfrm>
            <a:off x="8301614" y="6413103"/>
            <a:ext cx="3644282" cy="304801"/>
          </a:xfrm>
        </p:spPr>
        <p:txBody>
          <a:bodyPr/>
          <a:lstStyle/>
          <a:p>
            <a:pPr algn="r"/>
            <a:fld id="{0FC58B0A-47B8-8447-86D0-77C22456110A}" type="slidenum">
              <a:rPr lang="en-US" smtClean="0"/>
              <a:pPr algn="r"/>
              <a:t>‹#›</a:t>
            </a:fld>
            <a:endParaRPr lang="en-US"/>
          </a:p>
        </p:txBody>
      </p:sp>
    </p:spTree>
    <p:extLst>
      <p:ext uri="{BB962C8B-B14F-4D97-AF65-F5344CB8AC3E}">
        <p14:creationId xmlns:p14="http://schemas.microsoft.com/office/powerpoint/2010/main" val="202211433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Service">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a:xfrm>
            <a:off x="9219973" y="6356352"/>
            <a:ext cx="2365444" cy="365125"/>
          </a:xfrm>
        </p:spPr>
        <p:txBody>
          <a:bodyPr/>
          <a:lstStyle>
            <a:lvl1pPr algn="r">
              <a:defRPr>
                <a:solidFill>
                  <a:schemeClr val="tx1">
                    <a:lumMod val="50000"/>
                    <a:lumOff val="50000"/>
                  </a:schemeClr>
                </a:solidFill>
              </a:defRPr>
            </a:lvl1pPr>
          </a:lstStyle>
          <a:p>
            <a:fld id="{5421F489-ECA4-1846-9337-5F636F2B499F}" type="slidenum">
              <a:rPr lang="en-US" smtClean="0"/>
              <a:pPr/>
              <a:t>‹#›</a:t>
            </a:fld>
            <a:endParaRPr lang="en-US"/>
          </a:p>
        </p:txBody>
      </p:sp>
      <p:sp>
        <p:nvSpPr>
          <p:cNvPr id="8" name="Freeform: Shape 7">
            <a:extLst>
              <a:ext uri="{FF2B5EF4-FFF2-40B4-BE49-F238E27FC236}">
                <a16:creationId xmlns:a16="http://schemas.microsoft.com/office/drawing/2014/main" id="{8BEA795B-86DE-7FDD-829C-72225EB12DE5}"/>
              </a:ext>
            </a:extLst>
          </p:cNvPr>
          <p:cNvSpPr/>
          <p:nvPr/>
        </p:nvSpPr>
        <p:spPr>
          <a:xfrm>
            <a:off x="339609" y="306153"/>
            <a:ext cx="1259209" cy="1258881"/>
          </a:xfrm>
          <a:custGeom>
            <a:avLst/>
            <a:gdLst>
              <a:gd name="connsiteX0" fmla="*/ 0 w 2866967"/>
              <a:gd name="connsiteY0" fmla="*/ 0 h 2866967"/>
              <a:gd name="connsiteX1" fmla="*/ 2866967 w 2866967"/>
              <a:gd name="connsiteY1" fmla="*/ 0 h 2866967"/>
              <a:gd name="connsiteX2" fmla="*/ 2866967 w 2866967"/>
              <a:gd name="connsiteY2" fmla="*/ 1175489 h 2866967"/>
              <a:gd name="connsiteX3" fmla="*/ 742122 w 2866967"/>
              <a:gd name="connsiteY3" fmla="*/ 1175489 h 2866967"/>
              <a:gd name="connsiteX4" fmla="*/ 742122 w 2866967"/>
              <a:gd name="connsiteY4" fmla="*/ 2866967 h 2866967"/>
              <a:gd name="connsiteX5" fmla="*/ 0 w 2866967"/>
              <a:gd name="connsiteY5" fmla="*/ 2866967 h 2866967"/>
              <a:gd name="connsiteX6" fmla="*/ 0 w 2866967"/>
              <a:gd name="connsiteY6" fmla="*/ 0 h 2866967"/>
              <a:gd name="connsiteX0" fmla="*/ 742122 w 2866967"/>
              <a:gd name="connsiteY0" fmla="*/ 1175489 h 2866967"/>
              <a:gd name="connsiteX1" fmla="*/ 742122 w 2866967"/>
              <a:gd name="connsiteY1" fmla="*/ 2866967 h 2866967"/>
              <a:gd name="connsiteX2" fmla="*/ 0 w 2866967"/>
              <a:gd name="connsiteY2" fmla="*/ 2866967 h 2866967"/>
              <a:gd name="connsiteX3" fmla="*/ 0 w 2866967"/>
              <a:gd name="connsiteY3" fmla="*/ 0 h 2866967"/>
              <a:gd name="connsiteX4" fmla="*/ 2866967 w 2866967"/>
              <a:gd name="connsiteY4" fmla="*/ 0 h 2866967"/>
              <a:gd name="connsiteX5" fmla="*/ 2866967 w 2866967"/>
              <a:gd name="connsiteY5" fmla="*/ 1175489 h 2866967"/>
              <a:gd name="connsiteX6" fmla="*/ 833562 w 2866967"/>
              <a:gd name="connsiteY6" fmla="*/ 1266929 h 2866967"/>
              <a:gd name="connsiteX0" fmla="*/ 742122 w 2866967"/>
              <a:gd name="connsiteY0" fmla="*/ 1175489 h 2866967"/>
              <a:gd name="connsiteX1" fmla="*/ 742122 w 2866967"/>
              <a:gd name="connsiteY1" fmla="*/ 2866967 h 2866967"/>
              <a:gd name="connsiteX2" fmla="*/ 0 w 2866967"/>
              <a:gd name="connsiteY2" fmla="*/ 2866967 h 2866967"/>
              <a:gd name="connsiteX3" fmla="*/ 0 w 2866967"/>
              <a:gd name="connsiteY3" fmla="*/ 0 h 2866967"/>
              <a:gd name="connsiteX4" fmla="*/ 2866967 w 2866967"/>
              <a:gd name="connsiteY4" fmla="*/ 0 h 2866967"/>
              <a:gd name="connsiteX5" fmla="*/ 2866967 w 2866967"/>
              <a:gd name="connsiteY5" fmla="*/ 1175489 h 2866967"/>
              <a:gd name="connsiteX0" fmla="*/ 742122 w 2866967"/>
              <a:gd name="connsiteY0" fmla="*/ 2866967 h 2866967"/>
              <a:gd name="connsiteX1" fmla="*/ 0 w 2866967"/>
              <a:gd name="connsiteY1" fmla="*/ 2866967 h 2866967"/>
              <a:gd name="connsiteX2" fmla="*/ 0 w 2866967"/>
              <a:gd name="connsiteY2" fmla="*/ 0 h 2866967"/>
              <a:gd name="connsiteX3" fmla="*/ 2866967 w 2866967"/>
              <a:gd name="connsiteY3" fmla="*/ 0 h 2866967"/>
              <a:gd name="connsiteX4" fmla="*/ 2866967 w 2866967"/>
              <a:gd name="connsiteY4" fmla="*/ 1175489 h 28669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66967" h="2866967">
                <a:moveTo>
                  <a:pt x="742122" y="2866967"/>
                </a:moveTo>
                <a:lnTo>
                  <a:pt x="0" y="2866967"/>
                </a:lnTo>
                <a:lnTo>
                  <a:pt x="0" y="0"/>
                </a:lnTo>
                <a:lnTo>
                  <a:pt x="2866967" y="0"/>
                </a:lnTo>
                <a:lnTo>
                  <a:pt x="2866967" y="1175489"/>
                </a:lnTo>
              </a:path>
            </a:pathLst>
          </a:custGeom>
          <a:noFill/>
          <a:ln w="50800">
            <a:solidFill>
              <a:schemeClr val="accent1"/>
            </a:solidFill>
            <a:miter lim="800000"/>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00"/>
          </a:p>
        </p:txBody>
      </p:sp>
      <p:sp>
        <p:nvSpPr>
          <p:cNvPr id="9" name="Title 1">
            <a:extLst>
              <a:ext uri="{FF2B5EF4-FFF2-40B4-BE49-F238E27FC236}">
                <a16:creationId xmlns:a16="http://schemas.microsoft.com/office/drawing/2014/main" id="{6E8A15B2-F404-5D92-2136-F7B935BA6D8C}"/>
              </a:ext>
            </a:extLst>
          </p:cNvPr>
          <p:cNvSpPr>
            <a:spLocks noGrp="1"/>
          </p:cNvSpPr>
          <p:nvPr>
            <p:ph type="title" hasCustomPrompt="1"/>
          </p:nvPr>
        </p:nvSpPr>
        <p:spPr>
          <a:xfrm>
            <a:off x="676037" y="791474"/>
            <a:ext cx="4195508" cy="711081"/>
          </a:xfrm>
        </p:spPr>
        <p:txBody>
          <a:bodyPr>
            <a:noAutofit/>
          </a:bodyPr>
          <a:lstStyle>
            <a:lvl1pPr>
              <a:defRPr sz="4000" b="1">
                <a:solidFill>
                  <a:schemeClr val="tx2"/>
                </a:solidFill>
                <a:latin typeface="Segoe UI Black" panose="020B0A02040204020203" pitchFamily="34" charset="0"/>
                <a:ea typeface="Segoe UI Black" panose="020B0A02040204020203" pitchFamily="34" charset="0"/>
              </a:defRPr>
            </a:lvl1pPr>
          </a:lstStyle>
          <a:p>
            <a:r>
              <a:rPr lang="en-US"/>
              <a:t>CLICK TO EDIT</a:t>
            </a:r>
          </a:p>
        </p:txBody>
      </p:sp>
      <p:cxnSp>
        <p:nvCxnSpPr>
          <p:cNvPr id="16" name="Straight Connector 15">
            <a:extLst>
              <a:ext uri="{FF2B5EF4-FFF2-40B4-BE49-F238E27FC236}">
                <a16:creationId xmlns:a16="http://schemas.microsoft.com/office/drawing/2014/main" id="{814364D7-4C11-26C8-59DC-C326E807CD28}"/>
              </a:ext>
            </a:extLst>
          </p:cNvPr>
          <p:cNvCxnSpPr>
            <a:cxnSpLocks/>
          </p:cNvCxnSpPr>
          <p:nvPr userDrawn="1"/>
        </p:nvCxnSpPr>
        <p:spPr>
          <a:xfrm>
            <a:off x="1082848" y="6538913"/>
            <a:ext cx="8137125"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 name="Picture Placeholder 6">
            <a:extLst>
              <a:ext uri="{FF2B5EF4-FFF2-40B4-BE49-F238E27FC236}">
                <a16:creationId xmlns:a16="http://schemas.microsoft.com/office/drawing/2014/main" id="{7C58743F-E9A9-C70F-8F6C-F1974B02D3BF}"/>
              </a:ext>
            </a:extLst>
          </p:cNvPr>
          <p:cNvSpPr>
            <a:spLocks noGrp="1"/>
          </p:cNvSpPr>
          <p:nvPr>
            <p:ph type="pic" sz="quarter" idx="13"/>
          </p:nvPr>
        </p:nvSpPr>
        <p:spPr>
          <a:xfrm>
            <a:off x="3572856" y="2189487"/>
            <a:ext cx="2422109" cy="2786550"/>
          </a:xfrm>
          <a:custGeom>
            <a:avLst/>
            <a:gdLst>
              <a:gd name="connsiteX0" fmla="*/ 0 w 2421478"/>
              <a:gd name="connsiteY0" fmla="*/ 0 h 2786550"/>
              <a:gd name="connsiteX1" fmla="*/ 2421478 w 2421478"/>
              <a:gd name="connsiteY1" fmla="*/ 0 h 2786550"/>
              <a:gd name="connsiteX2" fmla="*/ 2421478 w 2421478"/>
              <a:gd name="connsiteY2" fmla="*/ 2786550 h 2786550"/>
              <a:gd name="connsiteX3" fmla="*/ 0 w 2421478"/>
              <a:gd name="connsiteY3" fmla="*/ 2786550 h 2786550"/>
            </a:gdLst>
            <a:ahLst/>
            <a:cxnLst>
              <a:cxn ang="0">
                <a:pos x="connsiteX0" y="connsiteY0"/>
              </a:cxn>
              <a:cxn ang="0">
                <a:pos x="connsiteX1" y="connsiteY1"/>
              </a:cxn>
              <a:cxn ang="0">
                <a:pos x="connsiteX2" y="connsiteY2"/>
              </a:cxn>
              <a:cxn ang="0">
                <a:pos x="connsiteX3" y="connsiteY3"/>
              </a:cxn>
            </a:cxnLst>
            <a:rect l="l" t="t" r="r" b="b"/>
            <a:pathLst>
              <a:path w="2421478" h="2786550">
                <a:moveTo>
                  <a:pt x="0" y="0"/>
                </a:moveTo>
                <a:lnTo>
                  <a:pt x="2421478" y="0"/>
                </a:lnTo>
                <a:lnTo>
                  <a:pt x="2421478" y="2786550"/>
                </a:lnTo>
                <a:lnTo>
                  <a:pt x="0" y="2786550"/>
                </a:lnTo>
                <a:close/>
              </a:path>
            </a:pathLst>
          </a:custGeom>
        </p:spPr>
        <p:txBody>
          <a:bodyPr wrap="square" anchor="ctr">
            <a:noAutofit/>
          </a:bodyPr>
          <a:lstStyle>
            <a:lvl1pPr marL="0" indent="0" algn="ctr">
              <a:buFontTx/>
              <a:buNone/>
              <a:defRPr sz="2400"/>
            </a:lvl1pPr>
          </a:lstStyle>
          <a:p>
            <a:endParaRPr lang="en-US"/>
          </a:p>
        </p:txBody>
      </p:sp>
    </p:spTree>
    <p:extLst>
      <p:ext uri="{BB962C8B-B14F-4D97-AF65-F5344CB8AC3E}">
        <p14:creationId xmlns:p14="http://schemas.microsoft.com/office/powerpoint/2010/main" val="224872863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Departments And Teams">
    <p:spTree>
      <p:nvGrpSpPr>
        <p:cNvPr id="1" name=""/>
        <p:cNvGrpSpPr/>
        <p:nvPr/>
      </p:nvGrpSpPr>
      <p:grpSpPr>
        <a:xfrm>
          <a:off x="0" y="0"/>
          <a:ext cx="0" cy="0"/>
          <a:chOff x="0" y="0"/>
          <a:chExt cx="0" cy="0"/>
        </a:xfrm>
      </p:grpSpPr>
      <p:sp>
        <p:nvSpPr>
          <p:cNvPr id="2" name="Title 1"/>
          <p:cNvSpPr>
            <a:spLocks noGrp="1"/>
          </p:cNvSpPr>
          <p:nvPr>
            <p:ph type="title"/>
          </p:nvPr>
        </p:nvSpPr>
        <p:spPr>
          <a:xfrm>
            <a:off x="609600" y="235728"/>
            <a:ext cx="10972801" cy="711081"/>
          </a:xfrm>
        </p:spPr>
        <p:txBody>
          <a:bodyPr>
            <a:noAutofit/>
          </a:bodyPr>
          <a:lstStyle>
            <a:lvl1pPr>
              <a:defRPr sz="3200"/>
            </a:lvl1pPr>
          </a:lstStyle>
          <a:p>
            <a:r>
              <a:rPr lang="en-US"/>
              <a:t>Click to edit Master title style</a:t>
            </a:r>
          </a:p>
        </p:txBody>
      </p:sp>
      <p:cxnSp>
        <p:nvCxnSpPr>
          <p:cNvPr id="7" name="Straight Connector 6">
            <a:extLst>
              <a:ext uri="{FF2B5EF4-FFF2-40B4-BE49-F238E27FC236}">
                <a16:creationId xmlns:a16="http://schemas.microsoft.com/office/drawing/2014/main" id="{F9A6E2B6-6789-47DF-A542-D3F307E792A0}"/>
              </a:ext>
            </a:extLst>
          </p:cNvPr>
          <p:cNvCxnSpPr>
            <a:cxnSpLocks/>
          </p:cNvCxnSpPr>
          <p:nvPr userDrawn="1"/>
        </p:nvCxnSpPr>
        <p:spPr>
          <a:xfrm flipH="1">
            <a:off x="2782769" y="6391488"/>
            <a:ext cx="8243703" cy="0"/>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83BC1952-E550-45B7-BB6B-1FB5F22535EE}"/>
              </a:ext>
            </a:extLst>
          </p:cNvPr>
          <p:cNvCxnSpPr>
            <a:cxnSpLocks/>
          </p:cNvCxnSpPr>
          <p:nvPr userDrawn="1"/>
        </p:nvCxnSpPr>
        <p:spPr>
          <a:xfrm>
            <a:off x="755507" y="1007522"/>
            <a:ext cx="1440535" cy="0"/>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7322197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Standard 1">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8200" y="405446"/>
            <a:ext cx="6982915" cy="538696"/>
          </a:xfrm>
        </p:spPr>
        <p:txBody>
          <a:bodyPr anchor="t">
            <a:noAutofit/>
          </a:bodyPr>
          <a:lstStyle>
            <a:lvl1pPr algn="l">
              <a:defRPr sz="3200">
                <a:solidFill>
                  <a:schemeClr val="accent1"/>
                </a:solidFill>
              </a:defRPr>
            </a:lvl1pPr>
          </a:lstStyle>
          <a:p>
            <a:r>
              <a:rPr lang="vi-VN"/>
              <a:t>Main heading</a:t>
            </a:r>
            <a:endParaRPr lang="en-US"/>
          </a:p>
        </p:txBody>
      </p:sp>
      <p:sp>
        <p:nvSpPr>
          <p:cNvPr id="6" name="Text Placeholder 5">
            <a:extLst>
              <a:ext uri="{FF2B5EF4-FFF2-40B4-BE49-F238E27FC236}">
                <a16:creationId xmlns:a16="http://schemas.microsoft.com/office/drawing/2014/main" id="{54F74AEE-2FC4-3D4B-98F4-C618FA345DED}"/>
              </a:ext>
            </a:extLst>
          </p:cNvPr>
          <p:cNvSpPr>
            <a:spLocks noGrp="1"/>
          </p:cNvSpPr>
          <p:nvPr>
            <p:ph type="body" sz="quarter" idx="11"/>
          </p:nvPr>
        </p:nvSpPr>
        <p:spPr>
          <a:xfrm>
            <a:off x="838404" y="1884792"/>
            <a:ext cx="6983408" cy="4284662"/>
          </a:xfrm>
        </p:spPr>
        <p:txBody>
          <a:bodyPr>
            <a:normAutofit/>
          </a:bodyPr>
          <a:lstStyle>
            <a:lvl1pPr>
              <a:defRPr sz="1600">
                <a:solidFill>
                  <a:schemeClr val="bg2"/>
                </a:solidFill>
              </a:defRPr>
            </a:lvl1pPr>
            <a:lvl2pPr>
              <a:defRPr sz="1400">
                <a:solidFill>
                  <a:schemeClr val="bg2"/>
                </a:solidFill>
              </a:defRPr>
            </a:lvl2pPr>
            <a:lvl3pPr>
              <a:defRPr sz="1200">
                <a:solidFill>
                  <a:schemeClr val="bg2"/>
                </a:solidFill>
              </a:defRPr>
            </a:lvl3pPr>
            <a:lvl4pPr>
              <a:defRPr sz="1100">
                <a:solidFill>
                  <a:schemeClr val="bg2"/>
                </a:solidFill>
              </a:defRPr>
            </a:lvl4pPr>
            <a:lvl5pPr>
              <a:defRPr sz="1100">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Text Placeholder 3">
            <a:extLst>
              <a:ext uri="{FF2B5EF4-FFF2-40B4-BE49-F238E27FC236}">
                <a16:creationId xmlns:a16="http://schemas.microsoft.com/office/drawing/2014/main" id="{703DB645-A5D5-4BE5-ACAD-B90EEA6C4FF3}"/>
              </a:ext>
            </a:extLst>
          </p:cNvPr>
          <p:cNvSpPr>
            <a:spLocks noGrp="1"/>
          </p:cNvSpPr>
          <p:nvPr>
            <p:ph type="body" sz="quarter" idx="12" hasCustomPrompt="1"/>
          </p:nvPr>
        </p:nvSpPr>
        <p:spPr>
          <a:xfrm>
            <a:off x="838200" y="1290733"/>
            <a:ext cx="6982915" cy="485775"/>
          </a:xfrm>
        </p:spPr>
        <p:txBody>
          <a:bodyPr anchor="ctr">
            <a:normAutofit/>
          </a:bodyPr>
          <a:lstStyle>
            <a:lvl1pPr marL="0" indent="0">
              <a:buNone/>
              <a:defRPr sz="2000" b="1">
                <a:solidFill>
                  <a:schemeClr val="bg2"/>
                </a:solidFill>
              </a:defRPr>
            </a:lvl1pPr>
          </a:lstStyle>
          <a:p>
            <a:pPr lvl="0"/>
            <a:r>
              <a:rPr lang="en-US"/>
              <a:t>Sub-Heading Here</a:t>
            </a:r>
          </a:p>
        </p:txBody>
      </p:sp>
      <p:cxnSp>
        <p:nvCxnSpPr>
          <p:cNvPr id="9" name="Straight Connector 8">
            <a:extLst>
              <a:ext uri="{FF2B5EF4-FFF2-40B4-BE49-F238E27FC236}">
                <a16:creationId xmlns:a16="http://schemas.microsoft.com/office/drawing/2014/main" id="{2B7A87D9-F461-4214-89A2-5CC4233B821C}"/>
              </a:ext>
            </a:extLst>
          </p:cNvPr>
          <p:cNvCxnSpPr/>
          <p:nvPr userDrawn="1"/>
        </p:nvCxnSpPr>
        <p:spPr>
          <a:xfrm>
            <a:off x="10202779" y="0"/>
            <a:ext cx="0" cy="685800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7AE89F53-1788-4DED-9E50-73537512643B}"/>
              </a:ext>
            </a:extLst>
          </p:cNvPr>
          <p:cNvSpPr/>
          <p:nvPr userDrawn="1"/>
        </p:nvSpPr>
        <p:spPr>
          <a:xfrm>
            <a:off x="9360571" y="4785824"/>
            <a:ext cx="1383630" cy="1383630"/>
          </a:xfrm>
          <a:prstGeom prst="rect">
            <a:avLst/>
          </a:prstGeom>
          <a:solidFill>
            <a:srgbClr val="9E71AC"/>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A8B1D7B-0C32-4926-BA37-75EEF2940DDD}"/>
              </a:ext>
            </a:extLst>
          </p:cNvPr>
          <p:cNvSpPr/>
          <p:nvPr userDrawn="1"/>
        </p:nvSpPr>
        <p:spPr>
          <a:xfrm>
            <a:off x="9180097" y="4656221"/>
            <a:ext cx="1383630" cy="1383630"/>
          </a:xfrm>
          <a:prstGeom prst="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EF4B2A7-DFC8-4809-9584-8CD368862473}"/>
              </a:ext>
            </a:extLst>
          </p:cNvPr>
          <p:cNvSpPr/>
          <p:nvPr userDrawn="1"/>
        </p:nvSpPr>
        <p:spPr>
          <a:xfrm>
            <a:off x="11122186" y="1626113"/>
            <a:ext cx="517358" cy="517358"/>
          </a:xfrm>
          <a:prstGeom prst="rect">
            <a:avLst/>
          </a:prstGeom>
          <a:solidFill>
            <a:srgbClr val="E47E8D"/>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4FEA421C-6BDF-4636-BF53-9B729F0C10A7}"/>
              </a:ext>
            </a:extLst>
          </p:cNvPr>
          <p:cNvSpPr/>
          <p:nvPr userDrawn="1"/>
        </p:nvSpPr>
        <p:spPr>
          <a:xfrm>
            <a:off x="10941712" y="1776508"/>
            <a:ext cx="505599" cy="517358"/>
          </a:xfrm>
          <a:prstGeom prst="rect">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939AC2A3-9F1A-4A37-8128-D2327580C5AE}"/>
              </a:ext>
            </a:extLst>
          </p:cNvPr>
          <p:cNvSpPr/>
          <p:nvPr userDrawn="1"/>
        </p:nvSpPr>
        <p:spPr>
          <a:xfrm>
            <a:off x="8885196" y="2994326"/>
            <a:ext cx="434674" cy="434674"/>
          </a:xfrm>
          <a:prstGeom prst="rect">
            <a:avLst/>
          </a:prstGeom>
          <a:solidFill>
            <a:srgbClr val="E47E8D"/>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C38D9E1B-D1E5-4D9A-AE23-53A4E498A323}"/>
              </a:ext>
            </a:extLst>
          </p:cNvPr>
          <p:cNvSpPr/>
          <p:nvPr userDrawn="1"/>
        </p:nvSpPr>
        <p:spPr>
          <a:xfrm>
            <a:off x="8704723" y="3144721"/>
            <a:ext cx="424794" cy="434674"/>
          </a:xfrm>
          <a:prstGeom prst="rect">
            <a:avLst/>
          </a:prstGeom>
          <a:solidFill>
            <a:srgbClr val="9E71AC"/>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072905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Slide 5 master">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E6E2DB"/>
          </a:solidFill>
          <a:ln/>
        </p:spPr>
        <p:txBody>
          <a:bodyPr/>
          <a:lstStyle/>
          <a:p>
            <a:endParaRPr lang="en-US" sz="1500"/>
          </a:p>
        </p:txBody>
      </p:sp>
      <p:sp>
        <p:nvSpPr>
          <p:cNvPr id="3" name="Shape 1"/>
          <p:cNvSpPr/>
          <p:nvPr/>
        </p:nvSpPr>
        <p:spPr>
          <a:xfrm>
            <a:off x="0" y="0"/>
            <a:ext cx="12192000" cy="6858000"/>
          </a:xfrm>
          <a:prstGeom prst="rect">
            <a:avLst/>
          </a:prstGeom>
          <a:solidFill>
            <a:srgbClr val="F9F8F5"/>
          </a:solidFill>
          <a:ln/>
        </p:spPr>
        <p:txBody>
          <a:bodyPr/>
          <a:lstStyle/>
          <a:p>
            <a:endParaRPr lang="en-US" sz="1500"/>
          </a:p>
        </p:txBody>
      </p:sp>
    </p:spTree>
    <p:extLst>
      <p:ext uri="{BB962C8B-B14F-4D97-AF65-F5344CB8AC3E}">
        <p14:creationId xmlns:p14="http://schemas.microsoft.com/office/powerpoint/2010/main" val="314097613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Slide 4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2000" cy="6858000"/>
          </a:xfrm>
          <a:prstGeom prst="rect">
            <a:avLst/>
          </a:prstGeom>
        </p:spPr>
      </p:pic>
      <p:sp>
        <p:nvSpPr>
          <p:cNvPr id="3" name="Shape 0"/>
          <p:cNvSpPr/>
          <p:nvPr/>
        </p:nvSpPr>
        <p:spPr>
          <a:xfrm>
            <a:off x="0" y="0"/>
            <a:ext cx="12192000" cy="6858000"/>
          </a:xfrm>
          <a:prstGeom prst="rect">
            <a:avLst/>
          </a:prstGeom>
          <a:solidFill>
            <a:srgbClr val="FAFAFA">
              <a:alpha val="95000"/>
            </a:srgbClr>
          </a:solidFill>
          <a:ln/>
        </p:spPr>
      </p:sp>
    </p:spTree>
    <p:extLst>
      <p:ext uri="{BB962C8B-B14F-4D97-AF65-F5344CB8AC3E}">
        <p14:creationId xmlns:p14="http://schemas.microsoft.com/office/powerpoint/2010/main" val="132353391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Slide 3 master">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E6E2DB"/>
          </a:solidFill>
          <a:ln/>
        </p:spPr>
        <p:txBody>
          <a:bodyPr/>
          <a:lstStyle/>
          <a:p>
            <a:endParaRPr lang="en-US" sz="1500"/>
          </a:p>
        </p:txBody>
      </p:sp>
    </p:spTree>
    <p:extLst>
      <p:ext uri="{BB962C8B-B14F-4D97-AF65-F5344CB8AC3E}">
        <p14:creationId xmlns:p14="http://schemas.microsoft.com/office/powerpoint/2010/main" val="7703888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cSld name="Slide 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2000" cy="6858000"/>
          </a:xfrm>
          <a:prstGeom prst="rect">
            <a:avLst/>
          </a:prstGeom>
        </p:spPr>
      </p:pic>
      <p:sp>
        <p:nvSpPr>
          <p:cNvPr id="3" name="Shape 0"/>
          <p:cNvSpPr/>
          <p:nvPr/>
        </p:nvSpPr>
        <p:spPr>
          <a:xfrm>
            <a:off x="0" y="0"/>
            <a:ext cx="12192000" cy="6858000"/>
          </a:xfrm>
          <a:prstGeom prst="rect">
            <a:avLst/>
          </a:prstGeom>
          <a:solidFill>
            <a:srgbClr val="FAFAFA">
              <a:alpha val="95000"/>
            </a:srgbClr>
          </a:solidFill>
          <a:ln/>
        </p:spPr>
      </p:sp>
    </p:spTree>
    <p:extLst>
      <p:ext uri="{BB962C8B-B14F-4D97-AF65-F5344CB8AC3E}">
        <p14:creationId xmlns:p14="http://schemas.microsoft.com/office/powerpoint/2010/main" val="34240399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2.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bwMode="gray">
          <a:xfrm>
            <a:off x="761549" y="362349"/>
            <a:ext cx="8761413" cy="706964"/>
          </a:xfrm>
          <a:prstGeom prst="rect">
            <a:avLst/>
          </a:prstGeom>
        </p:spPr>
        <p:txBody>
          <a:bodyPr vert="horz" lIns="91440" tIns="45720" rIns="91440" bIns="45720" rtlCol="0" anchor="ctr">
            <a:noAutofit/>
          </a:bodyPr>
          <a:lstStyle/>
          <a:p>
            <a:r>
              <a:rPr lang="en-US"/>
              <a:t>Click to edit Master title style</a:t>
            </a:r>
          </a:p>
        </p:txBody>
      </p:sp>
      <p:sp>
        <p:nvSpPr>
          <p:cNvPr id="3" name="Text Placeholder 2"/>
          <p:cNvSpPr>
            <a:spLocks noGrp="1"/>
          </p:cNvSpPr>
          <p:nvPr>
            <p:ph type="body" idx="1"/>
          </p:nvPr>
        </p:nvSpPr>
        <p:spPr>
          <a:xfrm>
            <a:off x="761549" y="1424763"/>
            <a:ext cx="9637093" cy="451883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3"/>
          </p:nvPr>
        </p:nvSpPr>
        <p:spPr>
          <a:xfrm>
            <a:off x="8187871" y="6343250"/>
            <a:ext cx="3859795" cy="304801"/>
          </a:xfrm>
          <a:prstGeom prst="rect">
            <a:avLst/>
          </a:prstGeom>
        </p:spPr>
        <p:txBody>
          <a:bodyPr vert="horz" lIns="91440" tIns="45720" rIns="91440" bIns="45720" rtlCol="0" anchor="ctr"/>
          <a:lstStyle>
            <a:lvl1pPr algn="l">
              <a:defRPr sz="1000" b="1" i="0">
                <a:solidFill>
                  <a:schemeClr val="accent1"/>
                </a:solidFill>
              </a:defRPr>
            </a:lvl1pPr>
          </a:lstStyle>
          <a:p>
            <a:pPr algn="r"/>
            <a:fld id="{E3DCA0BB-AA62-BD48-9250-28200D5E50EA}" type="slidenum">
              <a:rPr lang="en-US" smtClean="0"/>
              <a:pPr algn="r"/>
              <a:t>‹#›</a:t>
            </a:fld>
            <a:endParaRPr lang="en-US"/>
          </a:p>
        </p:txBody>
      </p:sp>
      <p:sp>
        <p:nvSpPr>
          <p:cNvPr id="10" name="Footer Placeholder 4">
            <a:extLst>
              <a:ext uri="{FF2B5EF4-FFF2-40B4-BE49-F238E27FC236}">
                <a16:creationId xmlns:a16="http://schemas.microsoft.com/office/drawing/2014/main" id="{19C13D6A-A08A-DE54-94B2-23085A7AAC05}"/>
              </a:ext>
            </a:extLst>
          </p:cNvPr>
          <p:cNvSpPr txBox="1">
            <a:spLocks/>
          </p:cNvSpPr>
          <p:nvPr userDrawn="1"/>
        </p:nvSpPr>
        <p:spPr>
          <a:xfrm rot="16200000">
            <a:off x="9151018" y="2913201"/>
            <a:ext cx="5447499" cy="345796"/>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700" b="1" i="1"/>
              <a:t>© 2025 Athena Software Group Inc. Confidential &amp; Proprietary. Do not distribute without express permission.</a:t>
            </a:r>
          </a:p>
        </p:txBody>
      </p:sp>
      <p:cxnSp>
        <p:nvCxnSpPr>
          <p:cNvPr id="6" name="Straight Connector 5">
            <a:extLst>
              <a:ext uri="{FF2B5EF4-FFF2-40B4-BE49-F238E27FC236}">
                <a16:creationId xmlns:a16="http://schemas.microsoft.com/office/drawing/2014/main" id="{BFAA1BF0-B78D-DCA3-8948-9C8FD86AC674}"/>
              </a:ext>
            </a:extLst>
          </p:cNvPr>
          <p:cNvCxnSpPr/>
          <p:nvPr userDrawn="1"/>
        </p:nvCxnSpPr>
        <p:spPr>
          <a:xfrm>
            <a:off x="761549" y="1222744"/>
            <a:ext cx="8967242" cy="0"/>
          </a:xfrm>
          <a:prstGeom prst="line">
            <a:avLst/>
          </a:prstGeom>
          <a:ln>
            <a:solidFill>
              <a:schemeClr val="accent3"/>
            </a:solidFill>
          </a:ln>
          <a:effectLst>
            <a:outerShdw blurRad="50800" dist="38100" algn="l" rotWithShape="0">
              <a:prstClr val="black">
                <a:alpha val="40000"/>
              </a:prstClr>
            </a:outerShdw>
          </a:effectLst>
          <a:scene3d>
            <a:camera prst="perspectiveFront"/>
            <a:lightRig rig="threePt" dir="t"/>
          </a:scene3d>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751115A7-A2F8-56EA-CCAD-EB812257965E}"/>
              </a:ext>
            </a:extLst>
          </p:cNvPr>
          <p:cNvPicPr>
            <a:picLocks noChangeAspect="1"/>
          </p:cNvPicPr>
          <p:nvPr userDrawn="1"/>
        </p:nvPicPr>
        <p:blipFill>
          <a:blip r:embed="rId24"/>
          <a:stretch>
            <a:fillRect/>
          </a:stretch>
        </p:blipFill>
        <p:spPr>
          <a:xfrm>
            <a:off x="76049" y="6368544"/>
            <a:ext cx="1048663" cy="368796"/>
          </a:xfrm>
          <a:prstGeom prst="rect">
            <a:avLst/>
          </a:prstGeom>
        </p:spPr>
      </p:pic>
    </p:spTree>
    <p:extLst>
      <p:ext uri="{BB962C8B-B14F-4D97-AF65-F5344CB8AC3E}">
        <p14:creationId xmlns:p14="http://schemas.microsoft.com/office/powerpoint/2010/main" val="1962655418"/>
      </p:ext>
    </p:extLst>
  </p:cSld>
  <p:clrMap bg1="lt1" tx1="dk1" bg2="lt2" tx2="dk2" accent1="accent1" accent2="accent2" accent3="accent3" accent4="accent4" accent5="accent5" accent6="accent6" hlink="hlink" folHlink="folHlink"/>
  <p:sldLayoutIdLst>
    <p:sldLayoutId id="2147483704" r:id="rId1"/>
    <p:sldLayoutId id="2147483705" r:id="rId2"/>
    <p:sldLayoutId id="2147483706" r:id="rId3"/>
    <p:sldLayoutId id="2147483707" r:id="rId4"/>
    <p:sldLayoutId id="2147483708" r:id="rId5"/>
    <p:sldLayoutId id="2147483709" r:id="rId6"/>
    <p:sldLayoutId id="2147483710" r:id="rId7"/>
    <p:sldLayoutId id="2147483711" r:id="rId8"/>
    <p:sldLayoutId id="2147483712" r:id="rId9"/>
    <p:sldLayoutId id="2147483713" r:id="rId10"/>
    <p:sldLayoutId id="2147483714" r:id="rId11"/>
    <p:sldLayoutId id="2147483715" r:id="rId12"/>
    <p:sldLayoutId id="2147483716" r:id="rId13"/>
    <p:sldLayoutId id="2147483717" r:id="rId14"/>
    <p:sldLayoutId id="2147483718" r:id="rId15"/>
    <p:sldLayoutId id="2147483724" r:id="rId16"/>
    <p:sldLayoutId id="2147483725" r:id="rId17"/>
    <p:sldLayoutId id="2147483727" r:id="rId18"/>
    <p:sldLayoutId id="2147483748" r:id="rId19"/>
    <p:sldLayoutId id="2147483754" r:id="rId20"/>
    <p:sldLayoutId id="2147483756" r:id="rId21"/>
    <p:sldLayoutId id="2147483757" r:id="rId22"/>
  </p:sldLayoutIdLst>
  <p:txStyles>
    <p:titleStyle>
      <a:lvl1pPr algn="l" defTabSz="457200" rtl="0" eaLnBrk="1" latinLnBrk="0" hangingPunct="1">
        <a:spcBef>
          <a:spcPct val="0"/>
        </a:spcBef>
        <a:buNone/>
        <a:defRPr sz="3600" b="0" i="0" u="none"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19.xml"/><Relationship Id="rId5" Type="http://schemas.openxmlformats.org/officeDocument/2006/relationships/image" Target="../media/image12.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22.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7.xml"/><Relationship Id="rId1" Type="http://schemas.openxmlformats.org/officeDocument/2006/relationships/slideLayout" Target="../slideLayouts/slideLayout21.xml"/></Relationships>
</file>

<file path=ppt/slides/_rels/slide1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s://www.deepchecks.com/training-custom-large-language-models/" TargetMode="External"/><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0.xml"/></Relationships>
</file>

<file path=ppt/slides/_rels/slide2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91" name="Rectangle 2090">
            <a:extLst>
              <a:ext uri="{FF2B5EF4-FFF2-40B4-BE49-F238E27FC236}">
                <a16:creationId xmlns:a16="http://schemas.microsoft.com/office/drawing/2014/main" id="{2668F1A4-6DBB-4F0B-A679-6EE5483638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pic>
        <p:nvPicPr>
          <p:cNvPr id="2050" name="Picture 2" descr="Illustration representing cybersecurity.">
            <a:extLst>
              <a:ext uri="{FF2B5EF4-FFF2-40B4-BE49-F238E27FC236}">
                <a16:creationId xmlns:a16="http://schemas.microsoft.com/office/drawing/2014/main" id="{9725A72F-5946-0A38-DE0D-E61858027DC3}"/>
              </a:ext>
            </a:extLst>
          </p:cNvPr>
          <p:cNvPicPr>
            <a:picLocks noChangeAspect="1" noChangeArrowheads="1"/>
          </p:cNvPicPr>
          <p:nvPr/>
        </p:nvPicPr>
        <p:blipFill>
          <a:blip r:embed="rId2">
            <a:alphaModFix amt="35000"/>
            <a:extLst>
              <a:ext uri="{28A0092B-C50C-407E-A947-70E740481C1C}">
                <a14:useLocalDpi xmlns:a14="http://schemas.microsoft.com/office/drawing/2010/main" val="0"/>
              </a:ext>
            </a:extLst>
          </a:blip>
          <a:srcRect l="24133" r="22340" b="-2"/>
          <a:stretch/>
        </p:blipFill>
        <p:spPr bwMode="auto">
          <a:xfrm>
            <a:off x="6094307" y="471953"/>
            <a:ext cx="5623560" cy="5909733"/>
          </a:xfrm>
          <a:prstGeom prst="rect">
            <a:avLst/>
          </a:prstGeom>
          <a:noFill/>
          <a:extLst>
            <a:ext uri="{909E8E84-426E-40DD-AFC4-6F175D3DCCD1}">
              <a14:hiddenFill xmlns:a14="http://schemas.microsoft.com/office/drawing/2010/main">
                <a:solidFill>
                  <a:srgbClr val="FFFFFF"/>
                </a:solidFill>
              </a14:hiddenFill>
            </a:ext>
          </a:extLst>
        </p:spPr>
      </p:pic>
      <p:sp>
        <p:nvSpPr>
          <p:cNvPr id="2092" name="Freeform 5">
            <a:extLst>
              <a:ext uri="{FF2B5EF4-FFF2-40B4-BE49-F238E27FC236}">
                <a16:creationId xmlns:a16="http://schemas.microsoft.com/office/drawing/2014/main" id="{B8DBF1C0-B8F1-4AAC-8704-256BA0E9D6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794"/>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pic>
        <p:nvPicPr>
          <p:cNvPr id="5" name="Picture 4" descr="A close up of a logo&#10;&#10;AI-generated content may be incorrect.">
            <a:extLst>
              <a:ext uri="{FF2B5EF4-FFF2-40B4-BE49-F238E27FC236}">
                <a16:creationId xmlns:a16="http://schemas.microsoft.com/office/drawing/2014/main" id="{DFC25AA7-5A01-6B6F-9CE4-6911E96B10D2}"/>
              </a:ext>
            </a:extLst>
          </p:cNvPr>
          <p:cNvPicPr>
            <a:picLocks noChangeAspect="1"/>
          </p:cNvPicPr>
          <p:nvPr/>
        </p:nvPicPr>
        <p:blipFill>
          <a:blip r:embed="rId3">
            <a:alphaModFix amt="35000"/>
          </a:blip>
          <a:srcRect l="26067" r="42833" b="-2"/>
          <a:stretch/>
        </p:blipFill>
        <p:spPr>
          <a:xfrm>
            <a:off x="474133" y="474133"/>
            <a:ext cx="5620174" cy="5909733"/>
          </a:xfrm>
          <a:prstGeom prst="rect">
            <a:avLst/>
          </a:prstGeom>
        </p:spPr>
      </p:pic>
      <p:sp>
        <p:nvSpPr>
          <p:cNvPr id="2" name="Title 1">
            <a:extLst>
              <a:ext uri="{FF2B5EF4-FFF2-40B4-BE49-F238E27FC236}">
                <a16:creationId xmlns:a16="http://schemas.microsoft.com/office/drawing/2014/main" id="{4EF3BC5C-3B03-FB0A-4D57-59B23F3427A3}"/>
              </a:ext>
            </a:extLst>
          </p:cNvPr>
          <p:cNvSpPr>
            <a:spLocks noGrp="1"/>
          </p:cNvSpPr>
          <p:nvPr>
            <p:ph type="ctrTitle"/>
          </p:nvPr>
        </p:nvSpPr>
        <p:spPr>
          <a:xfrm>
            <a:off x="1148258" y="1521423"/>
            <a:ext cx="9395059" cy="2677648"/>
          </a:xfrm>
        </p:spPr>
        <p:txBody>
          <a:bodyPr>
            <a:normAutofit/>
          </a:bodyPr>
          <a:lstStyle/>
          <a:p>
            <a:r>
              <a:rPr lang="en-US" sz="4400" dirty="0">
                <a:solidFill>
                  <a:srgbClr val="FFFFFF"/>
                </a:solidFill>
                <a:latin typeface="+mn-lt"/>
              </a:rPr>
              <a:t>Athena-CTI-LLM Overview</a:t>
            </a:r>
            <a:br>
              <a:rPr lang="en-US" sz="4400" i="1" dirty="0">
                <a:solidFill>
                  <a:srgbClr val="FFFFFF"/>
                </a:solidFill>
                <a:latin typeface="+mn-lt"/>
              </a:rPr>
            </a:br>
            <a:r>
              <a:rPr lang="en-US" sz="2400" i="1" dirty="0">
                <a:solidFill>
                  <a:srgbClr val="FFFFFF"/>
                </a:solidFill>
                <a:latin typeface="+mn-lt"/>
              </a:rPr>
              <a:t>aka Glaukopis</a:t>
            </a:r>
            <a:br>
              <a:rPr lang="en-US" sz="4400" i="1" dirty="0">
                <a:solidFill>
                  <a:srgbClr val="FFFFFF"/>
                </a:solidFill>
              </a:rPr>
            </a:br>
            <a:br>
              <a:rPr lang="en-US" sz="4400" i="1" dirty="0">
                <a:solidFill>
                  <a:srgbClr val="FFFFFF"/>
                </a:solidFill>
              </a:rPr>
            </a:br>
            <a:r>
              <a:rPr lang="en-US" sz="2700" i="1" dirty="0">
                <a:solidFill>
                  <a:srgbClr val="FFFFFF"/>
                </a:solidFill>
              </a:rPr>
              <a:t>Foundational Cyber Threat Intelligence Language Model for the next generation SOC</a:t>
            </a:r>
          </a:p>
        </p:txBody>
      </p:sp>
      <p:sp>
        <p:nvSpPr>
          <p:cNvPr id="3" name="Subtitle 2">
            <a:extLst>
              <a:ext uri="{FF2B5EF4-FFF2-40B4-BE49-F238E27FC236}">
                <a16:creationId xmlns:a16="http://schemas.microsoft.com/office/drawing/2014/main" id="{FF623A66-3031-3E4C-8E63-A83084317564}"/>
              </a:ext>
            </a:extLst>
          </p:cNvPr>
          <p:cNvSpPr>
            <a:spLocks noGrp="1"/>
          </p:cNvSpPr>
          <p:nvPr>
            <p:ph type="subTitle" idx="1"/>
          </p:nvPr>
        </p:nvSpPr>
        <p:spPr>
          <a:xfrm>
            <a:off x="6568440" y="5248540"/>
            <a:ext cx="4939353" cy="918001"/>
          </a:xfrm>
        </p:spPr>
        <p:txBody>
          <a:bodyPr>
            <a:noAutofit/>
          </a:bodyPr>
          <a:lstStyle/>
          <a:p>
            <a:pPr algn="r"/>
            <a:r>
              <a:rPr lang="en-US" sz="900" i="1" dirty="0">
                <a:solidFill>
                  <a:srgbClr val="FFFFFF"/>
                </a:solidFill>
              </a:rPr>
              <a:t>By Peter J Worth Jr</a:t>
            </a:r>
          </a:p>
          <a:p>
            <a:pPr algn="r"/>
            <a:r>
              <a:rPr lang="en-US" sz="900" i="1" dirty="0">
                <a:solidFill>
                  <a:srgbClr val="FFFFFF"/>
                </a:solidFill>
              </a:rPr>
              <a:t>Founder, President &amp; CEO</a:t>
            </a:r>
          </a:p>
          <a:p>
            <a:pPr algn="r"/>
            <a:r>
              <a:rPr lang="en-US" sz="900" i="1" dirty="0">
                <a:solidFill>
                  <a:srgbClr val="FFFFFF"/>
                </a:solidFill>
              </a:rPr>
              <a:t>Athena Security Group LLC</a:t>
            </a:r>
          </a:p>
        </p:txBody>
      </p:sp>
      <p:sp>
        <p:nvSpPr>
          <p:cNvPr id="2090" name="Rectangle 2089">
            <a:extLst>
              <a:ext uri="{FF2B5EF4-FFF2-40B4-BE49-F238E27FC236}">
                <a16:creationId xmlns:a16="http://schemas.microsoft.com/office/drawing/2014/main" id="{B70F7E59-C971-4F55-8E3A-1E583B65FC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 name="Footer Placeholder 4">
            <a:extLst>
              <a:ext uri="{FF2B5EF4-FFF2-40B4-BE49-F238E27FC236}">
                <a16:creationId xmlns:a16="http://schemas.microsoft.com/office/drawing/2014/main" id="{8D5CDD25-9D5A-9FED-D197-1A0B1A4E93A8}"/>
              </a:ext>
            </a:extLst>
          </p:cNvPr>
          <p:cNvSpPr txBox="1">
            <a:spLocks/>
          </p:cNvSpPr>
          <p:nvPr/>
        </p:nvSpPr>
        <p:spPr>
          <a:xfrm rot="16200000">
            <a:off x="9246709" y="3125855"/>
            <a:ext cx="5447499" cy="345796"/>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700" i="1" dirty="0"/>
              <a:t>© 2025 Athena Software Group Inc. Confidential &amp; Proprietary. Do not distribute without express permission.</a:t>
            </a:r>
          </a:p>
        </p:txBody>
      </p:sp>
    </p:spTree>
    <p:extLst>
      <p:ext uri="{BB962C8B-B14F-4D97-AF65-F5344CB8AC3E}">
        <p14:creationId xmlns:p14="http://schemas.microsoft.com/office/powerpoint/2010/main" val="29472020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par>
                                <p:cTn id="11" presetID="10" presetClass="entr" presetSubtype="0" fill="hold" grpId="0" nodeType="withEffect">
                                  <p:stCondLst>
                                    <p:cond delay="1500"/>
                                  </p:stCondLst>
                                  <p:iterate>
                                    <p:tmPct val="10000"/>
                                  </p:iterate>
                                  <p:childTnLst>
                                    <p:set>
                                      <p:cBhvr>
                                        <p:cTn id="12" dur="1" fill="hold">
                                          <p:stCondLst>
                                            <p:cond delay="0"/>
                                          </p:stCondLst>
                                        </p:cTn>
                                        <p:tgtEl>
                                          <p:spTgt spid="3">
                                            <p:txEl>
                                              <p:pRg st="1" end="1"/>
                                            </p:txEl>
                                          </p:spTgt>
                                        </p:tgtEl>
                                        <p:attrNameLst>
                                          <p:attrName>style.visibility</p:attrName>
                                        </p:attrNameLst>
                                      </p:cBhvr>
                                      <p:to>
                                        <p:strVal val="visible"/>
                                      </p:to>
                                    </p:set>
                                    <p:animEffect transition="in" filter="fade">
                                      <p:cBhvr>
                                        <p:cTn id="13" dur="700"/>
                                        <p:tgtEl>
                                          <p:spTgt spid="3">
                                            <p:txEl>
                                              <p:pRg st="1" end="1"/>
                                            </p:txEl>
                                          </p:spTgt>
                                        </p:tgtEl>
                                      </p:cBhvr>
                                    </p:animEffect>
                                  </p:childTnLst>
                                </p:cTn>
                              </p:par>
                              <p:par>
                                <p:cTn id="14" presetID="10" presetClass="entr" presetSubtype="0" fill="hold" grpId="0" nodeType="withEffect">
                                  <p:stCondLst>
                                    <p:cond delay="1500"/>
                                  </p:stCondLst>
                                  <p:iterate>
                                    <p:tmPct val="10000"/>
                                  </p:iterate>
                                  <p:childTnLst>
                                    <p:set>
                                      <p:cBhvr>
                                        <p:cTn id="15" dur="1" fill="hold">
                                          <p:stCondLst>
                                            <p:cond delay="0"/>
                                          </p:stCondLst>
                                        </p:cTn>
                                        <p:tgtEl>
                                          <p:spTgt spid="3">
                                            <p:txEl>
                                              <p:pRg st="2" end="2"/>
                                            </p:txEl>
                                          </p:spTgt>
                                        </p:tgtEl>
                                        <p:attrNameLst>
                                          <p:attrName>style.visibility</p:attrName>
                                        </p:attrNameLst>
                                      </p:cBhvr>
                                      <p:to>
                                        <p:strVal val="visible"/>
                                      </p:to>
                                    </p:set>
                                    <p:animEffect transition="in" filter="fade">
                                      <p:cBhvr>
                                        <p:cTn id="16" dur="7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val 12">
            <a:extLst>
              <a:ext uri="{FF2B5EF4-FFF2-40B4-BE49-F238E27FC236}">
                <a16:creationId xmlns:a16="http://schemas.microsoft.com/office/drawing/2014/main" id="{1C0FEFBE-6899-481C-B846-FD4CE84B4D9F}"/>
              </a:ext>
            </a:extLst>
          </p:cNvPr>
          <p:cNvSpPr>
            <a:spLocks noChangeArrowheads="1"/>
          </p:cNvSpPr>
          <p:nvPr/>
        </p:nvSpPr>
        <p:spPr bwMode="auto">
          <a:xfrm>
            <a:off x="1752863" y="2078390"/>
            <a:ext cx="2548856" cy="2548852"/>
          </a:xfrm>
          <a:prstGeom prst="ellipse">
            <a:avLst/>
          </a:prstGeom>
          <a:noFill/>
          <a:ln w="9525">
            <a:solidFill>
              <a:schemeClr val="tx1">
                <a:lumMod val="50000"/>
                <a:lumOff val="50000"/>
              </a:schemeClr>
            </a:solidFill>
            <a:round/>
            <a:headEnd/>
            <a:tailEnd/>
          </a:ln>
        </p:spPr>
        <p:txBody>
          <a:bodyPr vert="horz" wrap="square" lIns="91440" tIns="45720" rIns="91440" bIns="45720" numCol="1" anchor="ctr" anchorCtr="0" compatLnSpc="1">
            <a:prstTxWarp prst="textNoShape">
              <a:avLst/>
            </a:prstTxWarp>
          </a:bodyPr>
          <a:lstStyle/>
          <a:p>
            <a:pPr algn="ctr"/>
            <a:endParaRPr lang="en-IN" sz="2000"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endParaRPr>
          </a:p>
        </p:txBody>
      </p:sp>
      <p:cxnSp>
        <p:nvCxnSpPr>
          <p:cNvPr id="73" name="Straight Connector 72">
            <a:extLst>
              <a:ext uri="{FF2B5EF4-FFF2-40B4-BE49-F238E27FC236}">
                <a16:creationId xmlns:a16="http://schemas.microsoft.com/office/drawing/2014/main" id="{71E328C2-3E31-4B1B-8535-694FF26A7A50}"/>
              </a:ext>
            </a:extLst>
          </p:cNvPr>
          <p:cNvCxnSpPr>
            <a:cxnSpLocks/>
          </p:cNvCxnSpPr>
          <p:nvPr/>
        </p:nvCxnSpPr>
        <p:spPr>
          <a:xfrm flipH="1" flipV="1">
            <a:off x="5008076" y="3932711"/>
            <a:ext cx="1151729" cy="60536"/>
          </a:xfrm>
          <a:prstGeom prst="line">
            <a:avLst/>
          </a:prstGeom>
          <a:ln w="28575">
            <a:solidFill>
              <a:schemeClr val="bg1"/>
            </a:solidFill>
          </a:ln>
          <a:effectLst>
            <a:outerShdw blurRad="50800" dist="63500" dir="2700000" algn="tl" rotWithShape="0">
              <a:prstClr val="black">
                <a:alpha val="10000"/>
              </a:prstClr>
            </a:outerShdw>
          </a:effectLst>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C88347E3-D28F-4631-8850-27E0A7D066BC}"/>
              </a:ext>
            </a:extLst>
          </p:cNvPr>
          <p:cNvCxnSpPr>
            <a:cxnSpLocks/>
          </p:cNvCxnSpPr>
          <p:nvPr/>
        </p:nvCxnSpPr>
        <p:spPr>
          <a:xfrm flipV="1">
            <a:off x="4557247" y="1438583"/>
            <a:ext cx="1121790" cy="509048"/>
          </a:xfrm>
          <a:prstGeom prst="line">
            <a:avLst/>
          </a:prstGeom>
          <a:ln w="28575">
            <a:solidFill>
              <a:schemeClr val="bg1"/>
            </a:solidFill>
          </a:ln>
          <a:effectLst>
            <a:outerShdw blurRad="50800" dist="63500" dir="2700000" algn="tl" rotWithShape="0">
              <a:prstClr val="black">
                <a:alpha val="10000"/>
              </a:prstClr>
            </a:outerShdw>
          </a:effectLst>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A65561FF-69B4-4280-B496-F8D3509EFB00}"/>
              </a:ext>
            </a:extLst>
          </p:cNvPr>
          <p:cNvCxnSpPr>
            <a:cxnSpLocks/>
          </p:cNvCxnSpPr>
          <p:nvPr/>
        </p:nvCxnSpPr>
        <p:spPr>
          <a:xfrm flipV="1">
            <a:off x="5019160" y="2739483"/>
            <a:ext cx="1140644" cy="37707"/>
          </a:xfrm>
          <a:prstGeom prst="line">
            <a:avLst/>
          </a:prstGeom>
          <a:ln w="28575">
            <a:solidFill>
              <a:schemeClr val="bg1"/>
            </a:solidFill>
          </a:ln>
          <a:effectLst>
            <a:outerShdw blurRad="50800" dist="63500" dir="2700000" algn="tl" rotWithShape="0">
              <a:prstClr val="black">
                <a:alpha val="10000"/>
              </a:prstClr>
            </a:outerShdw>
          </a:effectLst>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E87EC7F7-6E85-4074-9607-6CB908406337}"/>
              </a:ext>
            </a:extLst>
          </p:cNvPr>
          <p:cNvCxnSpPr>
            <a:cxnSpLocks/>
          </p:cNvCxnSpPr>
          <p:nvPr/>
        </p:nvCxnSpPr>
        <p:spPr>
          <a:xfrm>
            <a:off x="4557248" y="4785100"/>
            <a:ext cx="1112363" cy="471339"/>
          </a:xfrm>
          <a:prstGeom prst="line">
            <a:avLst/>
          </a:prstGeom>
          <a:ln w="28575">
            <a:solidFill>
              <a:schemeClr val="bg1"/>
            </a:solidFill>
          </a:ln>
          <a:effectLst>
            <a:outerShdw blurRad="50800" dist="63500" dir="2700000" algn="tl" rotWithShape="0">
              <a:prstClr val="black">
                <a:alpha val="10000"/>
              </a:prstClr>
            </a:outerShdw>
          </a:effectLst>
        </p:spPr>
        <p:style>
          <a:lnRef idx="1">
            <a:schemeClr val="accent1"/>
          </a:lnRef>
          <a:fillRef idx="0">
            <a:schemeClr val="accent1"/>
          </a:fillRef>
          <a:effectRef idx="0">
            <a:schemeClr val="accent1"/>
          </a:effectRef>
          <a:fontRef idx="minor">
            <a:schemeClr val="tx1"/>
          </a:fontRef>
        </p:style>
      </p:cxnSp>
      <p:sp>
        <p:nvSpPr>
          <p:cNvPr id="38" name="Rectangle: Rounded Corners 37">
            <a:extLst>
              <a:ext uri="{FF2B5EF4-FFF2-40B4-BE49-F238E27FC236}">
                <a16:creationId xmlns:a16="http://schemas.microsoft.com/office/drawing/2014/main" id="{E5291BEF-C843-469D-B463-CCD2D2AA7D42}"/>
              </a:ext>
            </a:extLst>
          </p:cNvPr>
          <p:cNvSpPr/>
          <p:nvPr/>
        </p:nvSpPr>
        <p:spPr>
          <a:xfrm>
            <a:off x="6198612" y="2297482"/>
            <a:ext cx="4645018" cy="847295"/>
          </a:xfrm>
          <a:prstGeom prst="roundRect">
            <a:avLst>
              <a:gd name="adj" fmla="val 5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2" name="Oval 51">
            <a:extLst>
              <a:ext uri="{FF2B5EF4-FFF2-40B4-BE49-F238E27FC236}">
                <a16:creationId xmlns:a16="http://schemas.microsoft.com/office/drawing/2014/main" id="{448D429D-E052-4EAA-8E9E-43E43D48062A}"/>
              </a:ext>
            </a:extLst>
          </p:cNvPr>
          <p:cNvSpPr/>
          <p:nvPr/>
        </p:nvSpPr>
        <p:spPr>
          <a:xfrm>
            <a:off x="5806011" y="2380177"/>
            <a:ext cx="681902" cy="681902"/>
          </a:xfrm>
          <a:prstGeom prst="ellipse">
            <a:avLst/>
          </a:prstGeom>
          <a:gradFill flip="none" rotWithShape="1">
            <a:gsLst>
              <a:gs pos="61000">
                <a:schemeClr val="bg1"/>
              </a:gs>
              <a:gs pos="100000">
                <a:schemeClr val="bg1">
                  <a:lumMod val="95000"/>
                </a:schemeClr>
              </a:gs>
            </a:gsLst>
            <a:lin ang="5400000" scaled="1"/>
            <a:tileRect/>
          </a:gradFill>
          <a:ln>
            <a:noFill/>
          </a:ln>
          <a:effectLst>
            <a:outerShdw blurRad="88900" dist="63500" algn="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dirty="0">
                <a:solidFill>
                  <a:schemeClr val="accent2"/>
                </a:solidFill>
              </a:rPr>
              <a:t>02</a:t>
            </a:r>
          </a:p>
        </p:txBody>
      </p:sp>
      <p:sp>
        <p:nvSpPr>
          <p:cNvPr id="58" name="Rectangle 57">
            <a:extLst>
              <a:ext uri="{FF2B5EF4-FFF2-40B4-BE49-F238E27FC236}">
                <a16:creationId xmlns:a16="http://schemas.microsoft.com/office/drawing/2014/main" id="{98CB7327-E8E0-483E-A1CF-8B6250262002}"/>
              </a:ext>
            </a:extLst>
          </p:cNvPr>
          <p:cNvSpPr/>
          <p:nvPr/>
        </p:nvSpPr>
        <p:spPr>
          <a:xfrm>
            <a:off x="6844364" y="2609078"/>
            <a:ext cx="3440155" cy="224100"/>
          </a:xfrm>
          <a:prstGeom prst="rect">
            <a:avLst/>
          </a:prstGeom>
        </p:spPr>
        <p:txBody>
          <a:bodyPr wrap="square" lIns="0" tIns="0" rIns="0" bIns="0" anchor="ctr">
            <a:spAutoFit/>
          </a:bodyPr>
          <a:lstStyle/>
          <a:p>
            <a:pPr>
              <a:lnSpc>
                <a:spcPct val="110000"/>
              </a:lnSpc>
            </a:pPr>
            <a:r>
              <a:rPr lang="en-IN" sz="1400" dirty="0">
                <a:solidFill>
                  <a:schemeClr val="bg1"/>
                </a:solidFill>
                <a:latin typeface="Open Sans" panose="020B0606030504020204" pitchFamily="34" charset="0"/>
                <a:ea typeface="Open Sans" panose="020B0606030504020204" pitchFamily="34" charset="0"/>
                <a:cs typeface="Open Sans" panose="020B0606030504020204" pitchFamily="34" charset="0"/>
              </a:rPr>
              <a:t>CTI-LLM Design: Instruction Finetuning</a:t>
            </a:r>
          </a:p>
        </p:txBody>
      </p:sp>
      <p:sp>
        <p:nvSpPr>
          <p:cNvPr id="39" name="Rectangle: Rounded Corners 38">
            <a:extLst>
              <a:ext uri="{FF2B5EF4-FFF2-40B4-BE49-F238E27FC236}">
                <a16:creationId xmlns:a16="http://schemas.microsoft.com/office/drawing/2014/main" id="{CA42E078-31DE-4B00-8572-E7FF75E1B754}"/>
              </a:ext>
            </a:extLst>
          </p:cNvPr>
          <p:cNvSpPr/>
          <p:nvPr/>
        </p:nvSpPr>
        <p:spPr>
          <a:xfrm>
            <a:off x="6196218" y="3573813"/>
            <a:ext cx="4645018" cy="847295"/>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4" name="Oval 53">
            <a:extLst>
              <a:ext uri="{FF2B5EF4-FFF2-40B4-BE49-F238E27FC236}">
                <a16:creationId xmlns:a16="http://schemas.microsoft.com/office/drawing/2014/main" id="{E3276214-0485-49E9-959A-71040A595F50}"/>
              </a:ext>
            </a:extLst>
          </p:cNvPr>
          <p:cNvSpPr/>
          <p:nvPr/>
        </p:nvSpPr>
        <p:spPr>
          <a:xfrm>
            <a:off x="5806011" y="3656508"/>
            <a:ext cx="681902" cy="681902"/>
          </a:xfrm>
          <a:prstGeom prst="ellipse">
            <a:avLst/>
          </a:prstGeom>
          <a:gradFill flip="none" rotWithShape="1">
            <a:gsLst>
              <a:gs pos="61000">
                <a:schemeClr val="bg1"/>
              </a:gs>
              <a:gs pos="100000">
                <a:schemeClr val="bg1">
                  <a:lumMod val="95000"/>
                </a:schemeClr>
              </a:gs>
            </a:gsLst>
            <a:lin ang="5400000" scaled="1"/>
            <a:tileRect/>
          </a:gradFill>
          <a:ln>
            <a:noFill/>
          </a:ln>
          <a:effectLst>
            <a:outerShdw blurRad="88900" dist="63500" algn="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dirty="0">
                <a:solidFill>
                  <a:schemeClr val="accent1"/>
                </a:solidFill>
              </a:rPr>
              <a:t>03</a:t>
            </a:r>
          </a:p>
        </p:txBody>
      </p:sp>
      <p:sp>
        <p:nvSpPr>
          <p:cNvPr id="59" name="Rectangle 58">
            <a:extLst>
              <a:ext uri="{FF2B5EF4-FFF2-40B4-BE49-F238E27FC236}">
                <a16:creationId xmlns:a16="http://schemas.microsoft.com/office/drawing/2014/main" id="{795C9383-3BEB-458E-A6E6-DB8FE4FF36F9}"/>
              </a:ext>
            </a:extLst>
          </p:cNvPr>
          <p:cNvSpPr/>
          <p:nvPr/>
        </p:nvSpPr>
        <p:spPr>
          <a:xfrm>
            <a:off x="6865073" y="3885409"/>
            <a:ext cx="3440155" cy="224100"/>
          </a:xfrm>
          <a:prstGeom prst="rect">
            <a:avLst/>
          </a:prstGeom>
        </p:spPr>
        <p:txBody>
          <a:bodyPr wrap="square" lIns="0" tIns="0" rIns="0" bIns="0" anchor="ctr">
            <a:spAutoFit/>
          </a:bodyPr>
          <a:lstStyle/>
          <a:p>
            <a:pPr>
              <a:lnSpc>
                <a:spcPct val="110000"/>
              </a:lnSpc>
            </a:pPr>
            <a:r>
              <a:rPr lang="en-IN" sz="1400" dirty="0">
                <a:solidFill>
                  <a:schemeClr val="bg1"/>
                </a:solidFill>
                <a:latin typeface="Open Sans" panose="020B0606030504020204" pitchFamily="34" charset="0"/>
                <a:ea typeface="Open Sans" panose="020B0606030504020204" pitchFamily="34" charset="0"/>
                <a:cs typeface="Open Sans" panose="020B0606030504020204" pitchFamily="34" charset="0"/>
              </a:rPr>
              <a:t>LLM Testing &amp; Lifecycle Management</a:t>
            </a:r>
          </a:p>
        </p:txBody>
      </p:sp>
      <p:sp>
        <p:nvSpPr>
          <p:cNvPr id="26" name="Oval 25">
            <a:extLst>
              <a:ext uri="{FF2B5EF4-FFF2-40B4-BE49-F238E27FC236}">
                <a16:creationId xmlns:a16="http://schemas.microsoft.com/office/drawing/2014/main" id="{7658948B-6400-4947-A46E-AE5C146E965E}"/>
              </a:ext>
            </a:extLst>
          </p:cNvPr>
          <p:cNvSpPr/>
          <p:nvPr/>
        </p:nvSpPr>
        <p:spPr>
          <a:xfrm>
            <a:off x="2988810" y="1260963"/>
            <a:ext cx="2094438" cy="4188876"/>
          </a:xfrm>
          <a:custGeom>
            <a:avLst/>
            <a:gdLst>
              <a:gd name="connsiteX0" fmla="*/ 0 w 4850078"/>
              <a:gd name="connsiteY0" fmla="*/ 2425039 h 4850078"/>
              <a:gd name="connsiteX1" fmla="*/ 2425039 w 4850078"/>
              <a:gd name="connsiteY1" fmla="*/ 0 h 4850078"/>
              <a:gd name="connsiteX2" fmla="*/ 4850078 w 4850078"/>
              <a:gd name="connsiteY2" fmla="*/ 2425039 h 4850078"/>
              <a:gd name="connsiteX3" fmla="*/ 2425039 w 4850078"/>
              <a:gd name="connsiteY3" fmla="*/ 4850078 h 4850078"/>
              <a:gd name="connsiteX4" fmla="*/ 0 w 4850078"/>
              <a:gd name="connsiteY4" fmla="*/ 2425039 h 4850078"/>
              <a:gd name="connsiteX0" fmla="*/ 0 w 4850078"/>
              <a:gd name="connsiteY0" fmla="*/ 2425039 h 4850078"/>
              <a:gd name="connsiteX1" fmla="*/ 2425039 w 4850078"/>
              <a:gd name="connsiteY1" fmla="*/ 0 h 4850078"/>
              <a:gd name="connsiteX2" fmla="*/ 4850078 w 4850078"/>
              <a:gd name="connsiteY2" fmla="*/ 2425039 h 4850078"/>
              <a:gd name="connsiteX3" fmla="*/ 2425039 w 4850078"/>
              <a:gd name="connsiteY3" fmla="*/ 4850078 h 4850078"/>
              <a:gd name="connsiteX4" fmla="*/ 91440 w 4850078"/>
              <a:gd name="connsiteY4" fmla="*/ 2516479 h 4850078"/>
              <a:gd name="connsiteX0" fmla="*/ 0 w 4850078"/>
              <a:gd name="connsiteY0" fmla="*/ 2425039 h 4850078"/>
              <a:gd name="connsiteX1" fmla="*/ 2425039 w 4850078"/>
              <a:gd name="connsiteY1" fmla="*/ 0 h 4850078"/>
              <a:gd name="connsiteX2" fmla="*/ 4850078 w 4850078"/>
              <a:gd name="connsiteY2" fmla="*/ 2425039 h 4850078"/>
              <a:gd name="connsiteX3" fmla="*/ 2425039 w 4850078"/>
              <a:gd name="connsiteY3" fmla="*/ 4850078 h 4850078"/>
              <a:gd name="connsiteX0" fmla="*/ 0 w 2425039"/>
              <a:gd name="connsiteY0" fmla="*/ 0 h 4850078"/>
              <a:gd name="connsiteX1" fmla="*/ 2425039 w 2425039"/>
              <a:gd name="connsiteY1" fmla="*/ 2425039 h 4850078"/>
              <a:gd name="connsiteX2" fmla="*/ 0 w 2425039"/>
              <a:gd name="connsiteY2" fmla="*/ 4850078 h 4850078"/>
            </a:gdLst>
            <a:ahLst/>
            <a:cxnLst>
              <a:cxn ang="0">
                <a:pos x="connsiteX0" y="connsiteY0"/>
              </a:cxn>
              <a:cxn ang="0">
                <a:pos x="connsiteX1" y="connsiteY1"/>
              </a:cxn>
              <a:cxn ang="0">
                <a:pos x="connsiteX2" y="connsiteY2"/>
              </a:cxn>
            </a:cxnLst>
            <a:rect l="l" t="t" r="r" b="b"/>
            <a:pathLst>
              <a:path w="2425039" h="4850078">
                <a:moveTo>
                  <a:pt x="0" y="0"/>
                </a:moveTo>
                <a:cubicBezTo>
                  <a:pt x="1339312" y="0"/>
                  <a:pt x="2425039" y="1085727"/>
                  <a:pt x="2425039" y="2425039"/>
                </a:cubicBezTo>
                <a:cubicBezTo>
                  <a:pt x="2425039" y="3764351"/>
                  <a:pt x="1339312" y="4850078"/>
                  <a:pt x="0" y="4850078"/>
                </a:cubicBezTo>
              </a:path>
            </a:pathLst>
          </a:custGeom>
          <a:noFill/>
          <a:ln w="38100" cap="rnd">
            <a:solidFill>
              <a:schemeClr val="bg1"/>
            </a:solidFill>
          </a:ln>
          <a:effectLst>
            <a:outerShdw blurRad="50800" dist="63500" dir="270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Oval 26">
            <a:extLst>
              <a:ext uri="{FF2B5EF4-FFF2-40B4-BE49-F238E27FC236}">
                <a16:creationId xmlns:a16="http://schemas.microsoft.com/office/drawing/2014/main" id="{FC513F39-9800-4013-904F-FAA76DB47329}"/>
              </a:ext>
            </a:extLst>
          </p:cNvPr>
          <p:cNvSpPr/>
          <p:nvPr/>
        </p:nvSpPr>
        <p:spPr>
          <a:xfrm>
            <a:off x="2936375" y="1210455"/>
            <a:ext cx="104870" cy="104871"/>
          </a:xfrm>
          <a:prstGeom prst="ellipse">
            <a:avLst/>
          </a:prstGeom>
          <a:solidFill>
            <a:schemeClr val="bg1"/>
          </a:solidFill>
          <a:ln>
            <a:noFill/>
          </a:ln>
          <a:effectLst>
            <a:outerShdw blurRad="50800" dist="63500" dir="270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8" name="Oval 27">
            <a:extLst>
              <a:ext uri="{FF2B5EF4-FFF2-40B4-BE49-F238E27FC236}">
                <a16:creationId xmlns:a16="http://schemas.microsoft.com/office/drawing/2014/main" id="{081FD6DC-DF1E-4423-B649-2BC02C0084ED}"/>
              </a:ext>
            </a:extLst>
          </p:cNvPr>
          <p:cNvSpPr/>
          <p:nvPr/>
        </p:nvSpPr>
        <p:spPr>
          <a:xfrm>
            <a:off x="2936375" y="5403264"/>
            <a:ext cx="104870" cy="104871"/>
          </a:xfrm>
          <a:prstGeom prst="ellipse">
            <a:avLst/>
          </a:prstGeom>
          <a:solidFill>
            <a:schemeClr val="bg1"/>
          </a:solidFill>
          <a:ln>
            <a:noFill/>
          </a:ln>
          <a:effectLst>
            <a:outerShdw blurRad="50800" dist="63500" dir="270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5" name="Oval 34">
            <a:extLst>
              <a:ext uri="{FF2B5EF4-FFF2-40B4-BE49-F238E27FC236}">
                <a16:creationId xmlns:a16="http://schemas.microsoft.com/office/drawing/2014/main" id="{1435A159-032C-4DEA-817C-4AAED3E59DA6}"/>
              </a:ext>
            </a:extLst>
          </p:cNvPr>
          <p:cNvSpPr/>
          <p:nvPr/>
        </p:nvSpPr>
        <p:spPr>
          <a:xfrm>
            <a:off x="4466132" y="4683355"/>
            <a:ext cx="175885" cy="175885"/>
          </a:xfrm>
          <a:prstGeom prst="ellipse">
            <a:avLst/>
          </a:prstGeom>
          <a:solidFill>
            <a:schemeClr val="accent4"/>
          </a:solidFill>
          <a:ln w="57150">
            <a:solidFill>
              <a:schemeClr val="bg1"/>
            </a:solidFill>
          </a:ln>
          <a:effectLst>
            <a:outerShdw blurRad="50800" dist="63500" dir="270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9" name="Oval 28">
            <a:extLst>
              <a:ext uri="{FF2B5EF4-FFF2-40B4-BE49-F238E27FC236}">
                <a16:creationId xmlns:a16="http://schemas.microsoft.com/office/drawing/2014/main" id="{F0D42A82-9055-4055-9ACC-4186E22809A9}"/>
              </a:ext>
            </a:extLst>
          </p:cNvPr>
          <p:cNvSpPr/>
          <p:nvPr/>
        </p:nvSpPr>
        <p:spPr>
          <a:xfrm>
            <a:off x="4479050" y="1875150"/>
            <a:ext cx="150046" cy="150046"/>
          </a:xfrm>
          <a:prstGeom prst="ellipse">
            <a:avLst/>
          </a:prstGeom>
          <a:solidFill>
            <a:schemeClr val="accent3"/>
          </a:solidFill>
          <a:ln w="38100">
            <a:solidFill>
              <a:schemeClr val="bg1"/>
            </a:solidFill>
          </a:ln>
          <a:effectLst>
            <a:outerShdw blurRad="50800" dist="63500" dir="270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2" name="Oval 31">
            <a:extLst>
              <a:ext uri="{FF2B5EF4-FFF2-40B4-BE49-F238E27FC236}">
                <a16:creationId xmlns:a16="http://schemas.microsoft.com/office/drawing/2014/main" id="{33382DD6-2C32-43C1-B0C7-28A6FCA1793A}"/>
              </a:ext>
            </a:extLst>
          </p:cNvPr>
          <p:cNvSpPr/>
          <p:nvPr/>
        </p:nvSpPr>
        <p:spPr>
          <a:xfrm>
            <a:off x="4933140" y="2702501"/>
            <a:ext cx="150046" cy="150046"/>
          </a:xfrm>
          <a:prstGeom prst="ellipse">
            <a:avLst/>
          </a:prstGeom>
          <a:solidFill>
            <a:schemeClr val="accent2"/>
          </a:solidFill>
          <a:ln w="38100">
            <a:solidFill>
              <a:schemeClr val="bg1"/>
            </a:solidFill>
          </a:ln>
          <a:effectLst>
            <a:outerShdw blurRad="50800" dist="63500" dir="270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2" name="Oval 41">
            <a:extLst>
              <a:ext uri="{FF2B5EF4-FFF2-40B4-BE49-F238E27FC236}">
                <a16:creationId xmlns:a16="http://schemas.microsoft.com/office/drawing/2014/main" id="{1537E82B-2882-48E3-85B7-A21577EA3C55}"/>
              </a:ext>
            </a:extLst>
          </p:cNvPr>
          <p:cNvSpPr/>
          <p:nvPr/>
        </p:nvSpPr>
        <p:spPr>
          <a:xfrm>
            <a:off x="4933140" y="3864564"/>
            <a:ext cx="150046" cy="150046"/>
          </a:xfrm>
          <a:prstGeom prst="ellipse">
            <a:avLst/>
          </a:prstGeom>
          <a:solidFill>
            <a:schemeClr val="accent1"/>
          </a:solidFill>
          <a:ln w="38100">
            <a:solidFill>
              <a:schemeClr val="bg1"/>
            </a:solidFill>
          </a:ln>
          <a:effectLst>
            <a:outerShdw blurRad="50800" dist="63500" dir="270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3" name="Rectangle: Rounded Corners 32">
            <a:extLst>
              <a:ext uri="{FF2B5EF4-FFF2-40B4-BE49-F238E27FC236}">
                <a16:creationId xmlns:a16="http://schemas.microsoft.com/office/drawing/2014/main" id="{FDC6F539-FB9B-4A07-B8C4-4EE1AD62329A}"/>
              </a:ext>
            </a:extLst>
          </p:cNvPr>
          <p:cNvSpPr/>
          <p:nvPr/>
        </p:nvSpPr>
        <p:spPr>
          <a:xfrm>
            <a:off x="5694556" y="1021151"/>
            <a:ext cx="4645018" cy="847295"/>
          </a:xfrm>
          <a:prstGeom prst="roundRect">
            <a:avLst>
              <a:gd name="adj"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1" name="Oval 50">
            <a:extLst>
              <a:ext uri="{FF2B5EF4-FFF2-40B4-BE49-F238E27FC236}">
                <a16:creationId xmlns:a16="http://schemas.microsoft.com/office/drawing/2014/main" id="{195EFC69-61B4-4807-8A33-42C11A5E9B87}"/>
              </a:ext>
            </a:extLst>
          </p:cNvPr>
          <p:cNvSpPr/>
          <p:nvPr/>
        </p:nvSpPr>
        <p:spPr>
          <a:xfrm>
            <a:off x="5323411" y="1103846"/>
            <a:ext cx="681902" cy="681902"/>
          </a:xfrm>
          <a:prstGeom prst="ellipse">
            <a:avLst/>
          </a:prstGeom>
          <a:gradFill flip="none" rotWithShape="1">
            <a:gsLst>
              <a:gs pos="61000">
                <a:schemeClr val="bg1"/>
              </a:gs>
              <a:gs pos="100000">
                <a:schemeClr val="bg1">
                  <a:lumMod val="95000"/>
                </a:schemeClr>
              </a:gs>
            </a:gsLst>
            <a:lin ang="5400000" scaled="1"/>
            <a:tileRect/>
          </a:gradFill>
          <a:ln>
            <a:noFill/>
          </a:ln>
          <a:effectLst>
            <a:outerShdw blurRad="88900" dist="63500" algn="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dirty="0">
                <a:solidFill>
                  <a:schemeClr val="accent3"/>
                </a:solidFill>
              </a:rPr>
              <a:t>01</a:t>
            </a:r>
          </a:p>
        </p:txBody>
      </p:sp>
      <p:sp>
        <p:nvSpPr>
          <p:cNvPr id="56" name="Rectangle 55">
            <a:extLst>
              <a:ext uri="{FF2B5EF4-FFF2-40B4-BE49-F238E27FC236}">
                <a16:creationId xmlns:a16="http://schemas.microsoft.com/office/drawing/2014/main" id="{ACD098C0-1942-4629-ACF1-E55D6E583B78}"/>
              </a:ext>
            </a:extLst>
          </p:cNvPr>
          <p:cNvSpPr/>
          <p:nvPr/>
        </p:nvSpPr>
        <p:spPr>
          <a:xfrm>
            <a:off x="6336364" y="1332747"/>
            <a:ext cx="3440155" cy="224100"/>
          </a:xfrm>
          <a:prstGeom prst="rect">
            <a:avLst/>
          </a:prstGeom>
        </p:spPr>
        <p:txBody>
          <a:bodyPr wrap="square" lIns="0" tIns="0" rIns="0" bIns="0" anchor="ctr">
            <a:spAutoFit/>
          </a:bodyPr>
          <a:lstStyle/>
          <a:p>
            <a:pPr>
              <a:lnSpc>
                <a:spcPct val="110000"/>
              </a:lnSpc>
            </a:pPr>
            <a:r>
              <a:rPr lang="en-IN" sz="1400" dirty="0">
                <a:solidFill>
                  <a:schemeClr val="bg1"/>
                </a:solidFill>
                <a:latin typeface="Open Sans" panose="020B0606030504020204" pitchFamily="34" charset="0"/>
                <a:ea typeface="Open Sans" panose="020B0606030504020204" pitchFamily="34" charset="0"/>
                <a:cs typeface="Open Sans" panose="020B0606030504020204" pitchFamily="34" charset="0"/>
              </a:rPr>
              <a:t>Introduction: On Athena</a:t>
            </a:r>
          </a:p>
        </p:txBody>
      </p:sp>
      <p:sp>
        <p:nvSpPr>
          <p:cNvPr id="48" name="Rectangle: Rounded Corners 47">
            <a:extLst>
              <a:ext uri="{FF2B5EF4-FFF2-40B4-BE49-F238E27FC236}">
                <a16:creationId xmlns:a16="http://schemas.microsoft.com/office/drawing/2014/main" id="{FE8E0F92-F750-40E7-831D-8D311D7283CA}"/>
              </a:ext>
            </a:extLst>
          </p:cNvPr>
          <p:cNvSpPr/>
          <p:nvPr/>
        </p:nvSpPr>
        <p:spPr>
          <a:xfrm>
            <a:off x="5694556" y="4850145"/>
            <a:ext cx="4645018" cy="847295"/>
          </a:xfrm>
          <a:prstGeom prst="roundRect">
            <a:avLst>
              <a:gd name="adj" fmla="val 5000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9" name="Oval 48">
            <a:extLst>
              <a:ext uri="{FF2B5EF4-FFF2-40B4-BE49-F238E27FC236}">
                <a16:creationId xmlns:a16="http://schemas.microsoft.com/office/drawing/2014/main" id="{2BB67A40-C33C-4539-865E-F5B5C0900BC0}"/>
              </a:ext>
            </a:extLst>
          </p:cNvPr>
          <p:cNvSpPr/>
          <p:nvPr/>
        </p:nvSpPr>
        <p:spPr>
          <a:xfrm>
            <a:off x="5323411" y="4932840"/>
            <a:ext cx="681902" cy="681902"/>
          </a:xfrm>
          <a:prstGeom prst="ellipse">
            <a:avLst/>
          </a:prstGeom>
          <a:gradFill flip="none" rotWithShape="1">
            <a:gsLst>
              <a:gs pos="61000">
                <a:schemeClr val="bg1"/>
              </a:gs>
              <a:gs pos="100000">
                <a:schemeClr val="bg1">
                  <a:lumMod val="95000"/>
                </a:schemeClr>
              </a:gs>
            </a:gsLst>
            <a:lin ang="5400000" scaled="1"/>
            <a:tileRect/>
          </a:gradFill>
          <a:ln>
            <a:noFill/>
          </a:ln>
          <a:effectLst>
            <a:outerShdw blurRad="88900" dist="63500" algn="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dirty="0">
                <a:solidFill>
                  <a:schemeClr val="accent4"/>
                </a:solidFill>
              </a:rPr>
              <a:t>04</a:t>
            </a:r>
          </a:p>
        </p:txBody>
      </p:sp>
      <p:sp>
        <p:nvSpPr>
          <p:cNvPr id="55" name="Rectangle 54">
            <a:extLst>
              <a:ext uri="{FF2B5EF4-FFF2-40B4-BE49-F238E27FC236}">
                <a16:creationId xmlns:a16="http://schemas.microsoft.com/office/drawing/2014/main" id="{DD6D5CEB-6E8A-4405-BE78-73BAE1C5A2C9}"/>
              </a:ext>
            </a:extLst>
          </p:cNvPr>
          <p:cNvSpPr/>
          <p:nvPr/>
        </p:nvSpPr>
        <p:spPr>
          <a:xfrm>
            <a:off x="6336364" y="5161741"/>
            <a:ext cx="3440155" cy="224100"/>
          </a:xfrm>
          <a:prstGeom prst="rect">
            <a:avLst/>
          </a:prstGeom>
        </p:spPr>
        <p:txBody>
          <a:bodyPr wrap="square" lIns="0" tIns="0" rIns="0" bIns="0" anchor="ctr">
            <a:spAutoFit/>
          </a:bodyPr>
          <a:lstStyle/>
          <a:p>
            <a:pPr>
              <a:lnSpc>
                <a:spcPct val="110000"/>
              </a:lnSpc>
            </a:pPr>
            <a:r>
              <a:rPr lang="en-IN" sz="1400" dirty="0">
                <a:solidFill>
                  <a:schemeClr val="bg1"/>
                </a:solidFill>
                <a:latin typeface="Open Sans" panose="020B0606030504020204" pitchFamily="34" charset="0"/>
                <a:ea typeface="Open Sans" panose="020B0606030504020204" pitchFamily="34" charset="0"/>
                <a:cs typeface="Open Sans" panose="020B0606030504020204" pitchFamily="34" charset="0"/>
              </a:rPr>
              <a:t>Summary</a:t>
            </a:r>
          </a:p>
        </p:txBody>
      </p:sp>
      <p:sp>
        <p:nvSpPr>
          <p:cNvPr id="2" name="Freeform 5">
            <a:extLst>
              <a:ext uri="{FF2B5EF4-FFF2-40B4-BE49-F238E27FC236}">
                <a16:creationId xmlns:a16="http://schemas.microsoft.com/office/drawing/2014/main" id="{F2A1C647-FB98-4D66-A22F-7F8B6451B132}"/>
              </a:ext>
            </a:extLst>
          </p:cNvPr>
          <p:cNvSpPr>
            <a:spLocks/>
          </p:cNvSpPr>
          <p:nvPr/>
        </p:nvSpPr>
        <p:spPr bwMode="auto">
          <a:xfrm rot="2261061">
            <a:off x="3272370" y="2631640"/>
            <a:ext cx="1001569" cy="1152143"/>
          </a:xfrm>
          <a:custGeom>
            <a:avLst/>
            <a:gdLst>
              <a:gd name="T0" fmla="*/ 298 w 298"/>
              <a:gd name="T1" fmla="*/ 106 h 343"/>
              <a:gd name="T2" fmla="*/ 165 w 298"/>
              <a:gd name="T3" fmla="*/ 0 h 343"/>
              <a:gd name="T4" fmla="*/ 0 w 298"/>
              <a:gd name="T5" fmla="*/ 343 h 343"/>
              <a:gd name="T6" fmla="*/ 298 w 298"/>
              <a:gd name="T7" fmla="*/ 106 h 343"/>
            </a:gdLst>
            <a:ahLst/>
            <a:cxnLst>
              <a:cxn ang="0">
                <a:pos x="T0" y="T1"/>
              </a:cxn>
              <a:cxn ang="0">
                <a:pos x="T2" y="T3"/>
              </a:cxn>
              <a:cxn ang="0">
                <a:pos x="T4" y="T5"/>
              </a:cxn>
              <a:cxn ang="0">
                <a:pos x="T6" y="T7"/>
              </a:cxn>
            </a:cxnLst>
            <a:rect l="0" t="0" r="r" b="b"/>
            <a:pathLst>
              <a:path w="298" h="343">
                <a:moveTo>
                  <a:pt x="298" y="106"/>
                </a:moveTo>
                <a:cubicBezTo>
                  <a:pt x="262" y="62"/>
                  <a:pt x="217" y="25"/>
                  <a:pt x="165" y="0"/>
                </a:cubicBezTo>
                <a:cubicBezTo>
                  <a:pt x="0" y="343"/>
                  <a:pt x="0" y="343"/>
                  <a:pt x="0" y="343"/>
                </a:cubicBezTo>
                <a:lnTo>
                  <a:pt x="298" y="106"/>
                </a:lnTo>
                <a:close/>
              </a:path>
            </a:pathLst>
          </a:custGeom>
          <a:solidFill>
            <a:schemeClr val="accent2"/>
          </a:solidFill>
          <a:ln w="9525">
            <a:noFill/>
            <a:round/>
            <a:headEnd/>
            <a:tailEnd/>
          </a:ln>
        </p:spPr>
        <p:txBody>
          <a:bodyPr vert="horz" wrap="square" lIns="91440" tIns="45720" rIns="91440" bIns="45720" numCol="1" anchor="t" anchorCtr="0" compatLnSpc="1">
            <a:prstTxWarp prst="textNoShape">
              <a:avLst/>
            </a:prstTxWarp>
          </a:bodyPr>
          <a:lstStyle/>
          <a:p>
            <a:endParaRPr lang="en-IN"/>
          </a:p>
        </p:txBody>
      </p:sp>
      <p:sp>
        <p:nvSpPr>
          <p:cNvPr id="3" name="Freeform 6">
            <a:extLst>
              <a:ext uri="{FF2B5EF4-FFF2-40B4-BE49-F238E27FC236}">
                <a16:creationId xmlns:a16="http://schemas.microsoft.com/office/drawing/2014/main" id="{9EDF4E97-3872-4B40-B132-75055EB6B7C9}"/>
              </a:ext>
            </a:extLst>
          </p:cNvPr>
          <p:cNvSpPr>
            <a:spLocks/>
          </p:cNvSpPr>
          <p:nvPr/>
        </p:nvSpPr>
        <p:spPr bwMode="auto">
          <a:xfrm rot="2261061">
            <a:off x="2889379" y="3464655"/>
            <a:ext cx="1277339" cy="571842"/>
          </a:xfrm>
          <a:custGeom>
            <a:avLst/>
            <a:gdLst>
              <a:gd name="T0" fmla="*/ 371 w 380"/>
              <a:gd name="T1" fmla="*/ 0 h 170"/>
              <a:gd name="T2" fmla="*/ 0 w 380"/>
              <a:gd name="T3" fmla="*/ 84 h 170"/>
              <a:gd name="T4" fmla="*/ 371 w 380"/>
              <a:gd name="T5" fmla="*/ 170 h 170"/>
              <a:gd name="T6" fmla="*/ 380 w 380"/>
              <a:gd name="T7" fmla="*/ 84 h 170"/>
              <a:gd name="T8" fmla="*/ 371 w 380"/>
              <a:gd name="T9" fmla="*/ 0 h 170"/>
            </a:gdLst>
            <a:ahLst/>
            <a:cxnLst>
              <a:cxn ang="0">
                <a:pos x="T0" y="T1"/>
              </a:cxn>
              <a:cxn ang="0">
                <a:pos x="T2" y="T3"/>
              </a:cxn>
              <a:cxn ang="0">
                <a:pos x="T4" y="T5"/>
              </a:cxn>
              <a:cxn ang="0">
                <a:pos x="T6" y="T7"/>
              </a:cxn>
              <a:cxn ang="0">
                <a:pos x="T8" y="T9"/>
              </a:cxn>
            </a:cxnLst>
            <a:rect l="0" t="0" r="r" b="b"/>
            <a:pathLst>
              <a:path w="380" h="170">
                <a:moveTo>
                  <a:pt x="371" y="0"/>
                </a:moveTo>
                <a:cubicBezTo>
                  <a:pt x="0" y="84"/>
                  <a:pt x="0" y="84"/>
                  <a:pt x="0" y="84"/>
                </a:cubicBezTo>
                <a:cubicBezTo>
                  <a:pt x="371" y="170"/>
                  <a:pt x="371" y="170"/>
                  <a:pt x="371" y="170"/>
                </a:cubicBezTo>
                <a:cubicBezTo>
                  <a:pt x="377" y="143"/>
                  <a:pt x="380" y="114"/>
                  <a:pt x="380" y="84"/>
                </a:cubicBezTo>
                <a:cubicBezTo>
                  <a:pt x="380" y="55"/>
                  <a:pt x="377" y="27"/>
                  <a:pt x="371" y="0"/>
                </a:cubicBezTo>
                <a:close/>
              </a:path>
            </a:pathLst>
          </a:custGeom>
          <a:solidFill>
            <a:schemeClr val="accent4"/>
          </a:solidFill>
          <a:ln w="9525">
            <a:noFill/>
            <a:round/>
            <a:headEnd/>
            <a:tailEnd/>
          </a:ln>
        </p:spPr>
        <p:txBody>
          <a:bodyPr vert="horz" wrap="square" lIns="91440" tIns="45720" rIns="91440" bIns="45720" numCol="1" anchor="t" anchorCtr="0" compatLnSpc="1">
            <a:prstTxWarp prst="textNoShape">
              <a:avLst/>
            </a:prstTxWarp>
          </a:bodyPr>
          <a:lstStyle/>
          <a:p>
            <a:endParaRPr lang="en-IN"/>
          </a:p>
        </p:txBody>
      </p:sp>
      <p:sp>
        <p:nvSpPr>
          <p:cNvPr id="4" name="Freeform 7">
            <a:extLst>
              <a:ext uri="{FF2B5EF4-FFF2-40B4-BE49-F238E27FC236}">
                <a16:creationId xmlns:a16="http://schemas.microsoft.com/office/drawing/2014/main" id="{740EB313-064E-4E7C-AD21-AD8FDAD1E228}"/>
              </a:ext>
            </a:extLst>
          </p:cNvPr>
          <p:cNvSpPr>
            <a:spLocks/>
          </p:cNvSpPr>
          <p:nvPr/>
        </p:nvSpPr>
        <p:spPr bwMode="auto">
          <a:xfrm rot="2261061">
            <a:off x="3358259" y="2379951"/>
            <a:ext cx="554923" cy="1280723"/>
          </a:xfrm>
          <a:custGeom>
            <a:avLst/>
            <a:gdLst>
              <a:gd name="T0" fmla="*/ 165 w 165"/>
              <a:gd name="T1" fmla="*/ 38 h 381"/>
              <a:gd name="T2" fmla="*/ 0 w 165"/>
              <a:gd name="T3" fmla="*/ 0 h 381"/>
              <a:gd name="T4" fmla="*/ 0 w 165"/>
              <a:gd name="T5" fmla="*/ 0 h 381"/>
              <a:gd name="T6" fmla="*/ 0 w 165"/>
              <a:gd name="T7" fmla="*/ 381 h 381"/>
              <a:gd name="T8" fmla="*/ 165 w 165"/>
              <a:gd name="T9" fmla="*/ 38 h 381"/>
            </a:gdLst>
            <a:ahLst/>
            <a:cxnLst>
              <a:cxn ang="0">
                <a:pos x="T0" y="T1"/>
              </a:cxn>
              <a:cxn ang="0">
                <a:pos x="T2" y="T3"/>
              </a:cxn>
              <a:cxn ang="0">
                <a:pos x="T4" y="T5"/>
              </a:cxn>
              <a:cxn ang="0">
                <a:pos x="T6" y="T7"/>
              </a:cxn>
              <a:cxn ang="0">
                <a:pos x="T8" y="T9"/>
              </a:cxn>
            </a:cxnLst>
            <a:rect l="0" t="0" r="r" b="b"/>
            <a:pathLst>
              <a:path w="165" h="381">
                <a:moveTo>
                  <a:pt x="165" y="38"/>
                </a:moveTo>
                <a:cubicBezTo>
                  <a:pt x="115" y="14"/>
                  <a:pt x="59" y="0"/>
                  <a:pt x="0" y="0"/>
                </a:cubicBezTo>
                <a:cubicBezTo>
                  <a:pt x="0" y="0"/>
                  <a:pt x="0" y="0"/>
                  <a:pt x="0" y="0"/>
                </a:cubicBezTo>
                <a:cubicBezTo>
                  <a:pt x="0" y="381"/>
                  <a:pt x="0" y="381"/>
                  <a:pt x="0" y="381"/>
                </a:cubicBezTo>
                <a:lnTo>
                  <a:pt x="165" y="38"/>
                </a:lnTo>
                <a:close/>
              </a:path>
            </a:pathLst>
          </a:custGeom>
          <a:solidFill>
            <a:schemeClr val="accent3"/>
          </a:solidFill>
          <a:ln w="9525">
            <a:noFill/>
            <a:round/>
            <a:headEnd/>
            <a:tailEnd/>
          </a:ln>
        </p:spPr>
        <p:txBody>
          <a:bodyPr vert="horz" wrap="square" lIns="91440" tIns="45720" rIns="91440" bIns="45720" numCol="1" anchor="t" anchorCtr="0" compatLnSpc="1">
            <a:prstTxWarp prst="textNoShape">
              <a:avLst/>
            </a:prstTxWarp>
          </a:bodyPr>
          <a:lstStyle/>
          <a:p>
            <a:endParaRPr lang="en-IN"/>
          </a:p>
        </p:txBody>
      </p:sp>
      <p:sp>
        <p:nvSpPr>
          <p:cNvPr id="5" name="Freeform 8">
            <a:extLst>
              <a:ext uri="{FF2B5EF4-FFF2-40B4-BE49-F238E27FC236}">
                <a16:creationId xmlns:a16="http://schemas.microsoft.com/office/drawing/2014/main" id="{B2D8AD34-3757-4821-9155-96B73E501570}"/>
              </a:ext>
            </a:extLst>
          </p:cNvPr>
          <p:cNvSpPr>
            <a:spLocks/>
          </p:cNvSpPr>
          <p:nvPr/>
        </p:nvSpPr>
        <p:spPr bwMode="auto">
          <a:xfrm rot="2261061">
            <a:off x="3138186" y="3024850"/>
            <a:ext cx="1246886" cy="796857"/>
          </a:xfrm>
          <a:custGeom>
            <a:avLst/>
            <a:gdLst>
              <a:gd name="T0" fmla="*/ 371 w 371"/>
              <a:gd name="T1" fmla="*/ 153 h 237"/>
              <a:gd name="T2" fmla="*/ 298 w 371"/>
              <a:gd name="T3" fmla="*/ 0 h 237"/>
              <a:gd name="T4" fmla="*/ 0 w 371"/>
              <a:gd name="T5" fmla="*/ 237 h 237"/>
              <a:gd name="T6" fmla="*/ 371 w 371"/>
              <a:gd name="T7" fmla="*/ 153 h 237"/>
            </a:gdLst>
            <a:ahLst/>
            <a:cxnLst>
              <a:cxn ang="0">
                <a:pos x="T0" y="T1"/>
              </a:cxn>
              <a:cxn ang="0">
                <a:pos x="T2" y="T3"/>
              </a:cxn>
              <a:cxn ang="0">
                <a:pos x="T4" y="T5"/>
              </a:cxn>
              <a:cxn ang="0">
                <a:pos x="T6" y="T7"/>
              </a:cxn>
            </a:cxnLst>
            <a:rect l="0" t="0" r="r" b="b"/>
            <a:pathLst>
              <a:path w="371" h="237">
                <a:moveTo>
                  <a:pt x="371" y="153"/>
                </a:moveTo>
                <a:cubicBezTo>
                  <a:pt x="358" y="96"/>
                  <a:pt x="333" y="44"/>
                  <a:pt x="298" y="0"/>
                </a:cubicBezTo>
                <a:cubicBezTo>
                  <a:pt x="0" y="237"/>
                  <a:pt x="0" y="237"/>
                  <a:pt x="0" y="237"/>
                </a:cubicBezTo>
                <a:lnTo>
                  <a:pt x="371" y="153"/>
                </a:lnTo>
                <a:close/>
              </a:path>
            </a:pathLst>
          </a:custGeom>
          <a:solidFill>
            <a:schemeClr val="accent1"/>
          </a:solidFill>
          <a:ln w="9525">
            <a:noFill/>
            <a:round/>
            <a:headEnd/>
            <a:tailEnd/>
          </a:ln>
        </p:spPr>
        <p:txBody>
          <a:bodyPr vert="horz" wrap="square" lIns="91440" tIns="45720" rIns="91440" bIns="45720" numCol="1" anchor="t" anchorCtr="0" compatLnSpc="1">
            <a:prstTxWarp prst="textNoShape">
              <a:avLst/>
            </a:prstTxWarp>
          </a:bodyPr>
          <a:lstStyle/>
          <a:p>
            <a:endParaRPr lang="en-IN" dirty="0"/>
          </a:p>
        </p:txBody>
      </p:sp>
      <p:sp>
        <p:nvSpPr>
          <p:cNvPr id="15" name="Oval 12">
            <a:extLst>
              <a:ext uri="{FF2B5EF4-FFF2-40B4-BE49-F238E27FC236}">
                <a16:creationId xmlns:a16="http://schemas.microsoft.com/office/drawing/2014/main" id="{99A2100A-62B7-4C3F-8592-7BD46F8C61F2}"/>
              </a:ext>
            </a:extLst>
          </p:cNvPr>
          <p:cNvSpPr>
            <a:spLocks noChangeArrowheads="1"/>
          </p:cNvSpPr>
          <p:nvPr/>
        </p:nvSpPr>
        <p:spPr bwMode="auto">
          <a:xfrm>
            <a:off x="1899196" y="2234798"/>
            <a:ext cx="2248995" cy="2248992"/>
          </a:xfrm>
          <a:prstGeom prst="ellipse">
            <a:avLst/>
          </a:prstGeom>
          <a:solidFill>
            <a:schemeClr val="bg1"/>
          </a:solidFill>
          <a:ln w="9525">
            <a:noFill/>
            <a:round/>
            <a:headEnd/>
            <a:tailEnd/>
          </a:ln>
        </p:spPr>
        <p:txBody>
          <a:bodyPr vert="horz" wrap="square" lIns="91440" tIns="45720" rIns="91440" bIns="45720" numCol="1" anchor="ctr" anchorCtr="0" compatLnSpc="1">
            <a:prstTxWarp prst="textNoShape">
              <a:avLst/>
            </a:prstTxWarp>
          </a:bodyPr>
          <a:lstStyle/>
          <a:p>
            <a:pPr algn="ctr"/>
            <a:r>
              <a:rPr lang="en-IN" sz="2000"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Athena CTI LLM Overview</a:t>
            </a:r>
          </a:p>
        </p:txBody>
      </p:sp>
    </p:spTree>
    <p:extLst>
      <p:ext uri="{BB962C8B-B14F-4D97-AF65-F5344CB8AC3E}">
        <p14:creationId xmlns:p14="http://schemas.microsoft.com/office/powerpoint/2010/main" val="5838752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AE36C0-3B66-C790-5048-83A3A7AD96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6D5EC0-DF35-F2A6-0FA0-D7254E9B06DA}"/>
              </a:ext>
            </a:extLst>
          </p:cNvPr>
          <p:cNvSpPr>
            <a:spLocks noGrp="1"/>
          </p:cNvSpPr>
          <p:nvPr>
            <p:ph type="title"/>
          </p:nvPr>
        </p:nvSpPr>
        <p:spPr/>
        <p:txBody>
          <a:bodyPr/>
          <a:lstStyle/>
          <a:p>
            <a:r>
              <a:rPr lang="en-US" dirty="0"/>
              <a:t>Athena Security Group</a:t>
            </a:r>
          </a:p>
        </p:txBody>
      </p:sp>
      <p:sp>
        <p:nvSpPr>
          <p:cNvPr id="3" name="Text Placeholder 2">
            <a:extLst>
              <a:ext uri="{FF2B5EF4-FFF2-40B4-BE49-F238E27FC236}">
                <a16:creationId xmlns:a16="http://schemas.microsoft.com/office/drawing/2014/main" id="{2C0A9480-0BED-319A-9F05-E2493ACA24D0}"/>
              </a:ext>
            </a:extLst>
          </p:cNvPr>
          <p:cNvSpPr>
            <a:spLocks noGrp="1"/>
          </p:cNvSpPr>
          <p:nvPr>
            <p:ph type="body" idx="1"/>
          </p:nvPr>
        </p:nvSpPr>
        <p:spPr/>
        <p:txBody>
          <a:bodyPr/>
          <a:lstStyle/>
          <a:p>
            <a:r>
              <a:rPr lang="en-US"/>
              <a:t>Who we are and why we are different</a:t>
            </a:r>
          </a:p>
        </p:txBody>
      </p:sp>
    </p:spTree>
    <p:extLst>
      <p:ext uri="{BB962C8B-B14F-4D97-AF65-F5344CB8AC3E}">
        <p14:creationId xmlns:p14="http://schemas.microsoft.com/office/powerpoint/2010/main" val="27604486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5C94A2-B12D-0FC3-CDF7-B7315B5904AB}"/>
              </a:ext>
            </a:extLst>
          </p:cNvPr>
          <p:cNvSpPr>
            <a:spLocks noGrp="1"/>
          </p:cNvSpPr>
          <p:nvPr>
            <p:ph type="title" idx="4294967295"/>
          </p:nvPr>
        </p:nvSpPr>
        <p:spPr>
          <a:xfrm>
            <a:off x="1000372" y="1209957"/>
            <a:ext cx="3034580" cy="4438087"/>
          </a:xfrm>
        </p:spPr>
        <p:txBody>
          <a:bodyPr vert="horz" lIns="91440" tIns="45720" rIns="91440" bIns="45720" rtlCol="0" anchor="ctr">
            <a:normAutofit/>
          </a:bodyPr>
          <a:lstStyle/>
          <a:p>
            <a:pPr algn="r"/>
            <a:r>
              <a:rPr lang="en-US" sz="3200" dirty="0"/>
              <a:t>Athena Security Group</a:t>
            </a:r>
          </a:p>
        </p:txBody>
      </p:sp>
      <p:sp>
        <p:nvSpPr>
          <p:cNvPr id="25" name="Content Placeholder 2">
            <a:extLst>
              <a:ext uri="{FF2B5EF4-FFF2-40B4-BE49-F238E27FC236}">
                <a16:creationId xmlns:a16="http://schemas.microsoft.com/office/drawing/2014/main" id="{8F26F023-E979-BF7F-8669-50610F99DF69}"/>
              </a:ext>
            </a:extLst>
          </p:cNvPr>
          <p:cNvSpPr>
            <a:spLocks noGrp="1"/>
          </p:cNvSpPr>
          <p:nvPr>
            <p:ph idx="4294967295"/>
          </p:nvPr>
        </p:nvSpPr>
        <p:spPr>
          <a:xfrm>
            <a:off x="4789943" y="474563"/>
            <a:ext cx="6652414" cy="6273478"/>
          </a:xfrm>
        </p:spPr>
        <p:txBody>
          <a:bodyPr vert="horz" lIns="91440" tIns="45720" rIns="91440" bIns="45720" rtlCol="0" anchor="ctr">
            <a:normAutofit/>
          </a:bodyPr>
          <a:lstStyle/>
          <a:p>
            <a:pPr marL="0" indent="0">
              <a:lnSpc>
                <a:spcPct val="90000"/>
              </a:lnSpc>
              <a:buNone/>
            </a:pPr>
            <a:r>
              <a:rPr lang="en-US" sz="1600" u="none" strike="noStrike" dirty="0">
                <a:solidFill>
                  <a:schemeClr val="tx1"/>
                </a:solidFill>
                <a:effectLst/>
              </a:rPr>
              <a:t>A company founded under the principles of integrating Cyber Security best practices, high end custom enterprise software and artificial intelligence (LLMs). </a:t>
            </a:r>
          </a:p>
          <a:p>
            <a:pPr marL="0" indent="0">
              <a:lnSpc>
                <a:spcPct val="90000"/>
              </a:lnSpc>
              <a:buNone/>
            </a:pPr>
            <a:r>
              <a:rPr lang="en-US" sz="1600" u="none" strike="noStrike" dirty="0">
                <a:solidFill>
                  <a:schemeClr val="tx1"/>
                </a:solidFill>
                <a:effectLst/>
              </a:rPr>
              <a:t>Athena Software Group brings together some of the best minds in computer science, cyber defense and SaaS to design solutions </a:t>
            </a:r>
            <a:r>
              <a:rPr lang="en-US" sz="1600" dirty="0">
                <a:solidFill>
                  <a:schemeClr val="tx1"/>
                </a:solidFill>
              </a:rPr>
              <a:t>specifically </a:t>
            </a:r>
            <a:r>
              <a:rPr lang="en-US" sz="1600" u="none" strike="noStrike" dirty="0">
                <a:solidFill>
                  <a:schemeClr val="tx1"/>
                </a:solidFill>
                <a:effectLst/>
              </a:rPr>
              <a:t>for application service providers. </a:t>
            </a:r>
          </a:p>
          <a:p>
            <a:pPr marL="0" indent="0">
              <a:lnSpc>
                <a:spcPct val="90000"/>
              </a:lnSpc>
              <a:buNone/>
            </a:pPr>
            <a:r>
              <a:rPr lang="en-US" sz="1600" u="none" strike="noStrike" dirty="0">
                <a:solidFill>
                  <a:schemeClr val="tx1"/>
                </a:solidFill>
                <a:effectLst/>
              </a:rPr>
              <a:t>We take a fully integrated and analytical approach to Cyber Security defense, knowing through experience that the best Cyber Defense strategies arise from providing the best analysts with the best tools from within a fully integrated cyber security infrastructure that is informed by the latest cyber and t</a:t>
            </a:r>
          </a:p>
          <a:p>
            <a:pPr marL="0" indent="0">
              <a:lnSpc>
                <a:spcPct val="90000"/>
              </a:lnSpc>
              <a:buNone/>
            </a:pPr>
            <a:r>
              <a:rPr lang="en-US" sz="1600" u="none" strike="noStrike" dirty="0">
                <a:solidFill>
                  <a:schemeClr val="tx1"/>
                </a:solidFill>
                <a:effectLst/>
              </a:rPr>
              <a:t>We intend to set a new bar in Cyber </a:t>
            </a:r>
            <a:r>
              <a:rPr lang="en-US" sz="1600" dirty="0">
                <a:solidFill>
                  <a:schemeClr val="tx1"/>
                </a:solidFill>
              </a:rPr>
              <a:t>defense by providing tools along the entire Cyber defense stack which are fully integrated with Cyber specific trained LLMs that both understand the global threat landscape AND are informed by the technical specifications which underpin the application specific infrastructure environment </a:t>
            </a:r>
            <a:r>
              <a:rPr lang="en-US" sz="1600" u="none" strike="noStrike" dirty="0">
                <a:solidFill>
                  <a:schemeClr val="tx1"/>
                </a:solidFill>
                <a:effectLst/>
              </a:rPr>
              <a:t>facilitating higher quality, more rapid and informed outcomes with respect to threat and anomaly detection, response management, vulnerability management and compliance.</a:t>
            </a:r>
          </a:p>
        </p:txBody>
      </p:sp>
    </p:spTree>
    <p:extLst>
      <p:ext uri="{BB962C8B-B14F-4D97-AF65-F5344CB8AC3E}">
        <p14:creationId xmlns:p14="http://schemas.microsoft.com/office/powerpoint/2010/main" val="29319415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4"/>
        <p:cNvGrpSpPr/>
        <p:nvPr/>
      </p:nvGrpSpPr>
      <p:grpSpPr>
        <a:xfrm>
          <a:off x="0" y="0"/>
          <a:ext cx="0" cy="0"/>
          <a:chOff x="0" y="0"/>
          <a:chExt cx="0" cy="0"/>
        </a:xfrm>
      </p:grpSpPr>
      <p:sp>
        <p:nvSpPr>
          <p:cNvPr id="25" name="Google Shape;25;p4"/>
          <p:cNvSpPr/>
          <p:nvPr/>
        </p:nvSpPr>
        <p:spPr>
          <a:xfrm>
            <a:off x="0" y="374060"/>
            <a:ext cx="12188952" cy="554246"/>
          </a:xfrm>
          <a:prstGeom prst="rect">
            <a:avLst/>
          </a:prstGeom>
          <a:noFill/>
          <a:ln>
            <a:noFill/>
          </a:ln>
        </p:spPr>
        <p:txBody>
          <a:bodyPr spcFirstLastPara="1" wrap="square" lIns="0" tIns="0" rIns="0" bIns="0" anchor="t" anchorCtr="0">
            <a:noAutofit/>
          </a:bodyPr>
          <a:lstStyle/>
          <a:p>
            <a:pPr marL="0" marR="0" lvl="0" indent="0" algn="ctr" rtl="0">
              <a:lnSpc>
                <a:spcPct val="116400"/>
              </a:lnSpc>
              <a:spcBef>
                <a:spcPts val="0"/>
              </a:spcBef>
              <a:spcAft>
                <a:spcPts val="0"/>
              </a:spcAft>
              <a:buClr>
                <a:srgbClr val="333333"/>
              </a:buClr>
              <a:buSzPts val="3750"/>
              <a:buFont typeface="Inter"/>
              <a:buNone/>
            </a:pPr>
            <a:r>
              <a:rPr lang="en-US" sz="3750" b="1" i="0" u="none" strike="noStrike" cap="none">
                <a:solidFill>
                  <a:srgbClr val="333333"/>
                </a:solidFill>
                <a:latin typeface="Inter"/>
                <a:ea typeface="Inter"/>
                <a:cs typeface="Inter"/>
                <a:sym typeface="Inter"/>
              </a:rPr>
              <a:t>The Cybersecurity Challenge</a:t>
            </a:r>
            <a:endParaRPr sz="1800" b="0" i="0" u="none" strike="noStrike" cap="none">
              <a:solidFill>
                <a:schemeClr val="dk1"/>
              </a:solidFill>
              <a:latin typeface="Arial"/>
              <a:ea typeface="Arial"/>
              <a:cs typeface="Arial"/>
              <a:sym typeface="Arial"/>
            </a:endParaRPr>
          </a:p>
        </p:txBody>
      </p:sp>
      <p:sp>
        <p:nvSpPr>
          <p:cNvPr id="26" name="Google Shape;26;p4"/>
          <p:cNvSpPr/>
          <p:nvPr/>
        </p:nvSpPr>
        <p:spPr>
          <a:xfrm>
            <a:off x="476131" y="1595039"/>
            <a:ext cx="714196" cy="714196"/>
          </a:xfrm>
          <a:prstGeom prst="ellipse">
            <a:avLst/>
          </a:prstGeom>
          <a:solidFill>
            <a:srgbClr val="22AA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7" name="Google Shape;27;p4"/>
          <p:cNvPicPr preferRelativeResize="0"/>
          <p:nvPr/>
        </p:nvPicPr>
        <p:blipFill rotWithShape="1">
          <a:blip r:embed="rId3">
            <a:alphaModFix/>
          </a:blip>
          <a:srcRect/>
          <a:stretch/>
        </p:blipFill>
        <p:spPr>
          <a:xfrm>
            <a:off x="664809" y="1780563"/>
            <a:ext cx="314246" cy="361860"/>
          </a:xfrm>
          <a:prstGeom prst="rect">
            <a:avLst/>
          </a:prstGeom>
          <a:noFill/>
          <a:ln>
            <a:noFill/>
          </a:ln>
        </p:spPr>
      </p:pic>
      <p:sp>
        <p:nvSpPr>
          <p:cNvPr id="28" name="Google Shape;28;p4"/>
          <p:cNvSpPr/>
          <p:nvPr/>
        </p:nvSpPr>
        <p:spPr>
          <a:xfrm>
            <a:off x="1380781" y="1546086"/>
            <a:ext cx="2385104" cy="532076"/>
          </a:xfrm>
          <a:prstGeom prst="rect">
            <a:avLst/>
          </a:prstGeom>
          <a:noFill/>
          <a:ln>
            <a:noFill/>
          </a:ln>
        </p:spPr>
        <p:txBody>
          <a:bodyPr spcFirstLastPara="1" wrap="square" lIns="0" tIns="0" rIns="0" bIns="0" anchor="t" anchorCtr="0">
            <a:noAutofit/>
          </a:bodyPr>
          <a:lstStyle/>
          <a:p>
            <a:pPr marL="0" marR="0" lvl="0" indent="0" algn="l" rtl="0">
              <a:lnSpc>
                <a:spcPct val="116444"/>
              </a:lnSpc>
              <a:spcBef>
                <a:spcPts val="0"/>
              </a:spcBef>
              <a:spcAft>
                <a:spcPts val="0"/>
              </a:spcAft>
              <a:buClr>
                <a:srgbClr val="333333"/>
              </a:buClr>
              <a:buSzPts val="1800"/>
              <a:buFont typeface="Inter"/>
              <a:buNone/>
            </a:pPr>
            <a:r>
              <a:rPr lang="en-US" b="1" i="0" u="none" strike="noStrike" cap="none">
                <a:solidFill>
                  <a:srgbClr val="333333"/>
                </a:solidFill>
                <a:latin typeface="Inter"/>
                <a:ea typeface="Inter"/>
                <a:cs typeface="Inter"/>
                <a:sym typeface="Inter"/>
              </a:rPr>
              <a:t>Proliferation of security tools</a:t>
            </a:r>
            <a:endParaRPr b="0" i="0" u="none" strike="noStrike" cap="none">
              <a:solidFill>
                <a:schemeClr val="dk1"/>
              </a:solidFill>
              <a:latin typeface="Arial"/>
              <a:ea typeface="Arial"/>
              <a:cs typeface="Arial"/>
              <a:sym typeface="Arial"/>
            </a:endParaRPr>
          </a:p>
        </p:txBody>
      </p:sp>
      <p:sp>
        <p:nvSpPr>
          <p:cNvPr id="29" name="Google Shape;29;p4"/>
          <p:cNvSpPr/>
          <p:nvPr/>
        </p:nvSpPr>
        <p:spPr>
          <a:xfrm>
            <a:off x="1380780" y="2204331"/>
            <a:ext cx="2775843" cy="2632111"/>
          </a:xfrm>
          <a:prstGeom prst="rect">
            <a:avLst/>
          </a:prstGeom>
          <a:noFill/>
          <a:ln>
            <a:noFill/>
          </a:ln>
        </p:spPr>
        <p:txBody>
          <a:bodyPr spcFirstLastPara="1" wrap="square" lIns="0" tIns="0" rIns="0" bIns="0" anchor="t" anchorCtr="0">
            <a:noAutofit/>
          </a:bodyPr>
          <a:lstStyle/>
          <a:p>
            <a:pPr marL="0" marR="0" lvl="0" indent="0" algn="l" rtl="0">
              <a:lnSpc>
                <a:spcPct val="138266"/>
              </a:lnSpc>
              <a:spcBef>
                <a:spcPts val="0"/>
              </a:spcBef>
              <a:spcAft>
                <a:spcPts val="0"/>
              </a:spcAft>
              <a:buClr>
                <a:srgbClr val="000000"/>
              </a:buClr>
              <a:buSzPts val="1500"/>
              <a:buFont typeface="Inter"/>
              <a:buNone/>
            </a:pPr>
            <a:r>
              <a:rPr lang="en-US" sz="1600" b="0" i="0" u="none" strike="noStrike" cap="none">
                <a:solidFill>
                  <a:srgbClr val="000000"/>
                </a:solidFill>
                <a:latin typeface="Inter"/>
                <a:ea typeface="Inter"/>
                <a:cs typeface="Inter"/>
                <a:sym typeface="Inter"/>
              </a:rPr>
              <a:t>Organizations employ a variety of security tools, such as firewalls, web application firewalls (WAFs), intrusion detection systems (IDS), and endpoint detection and response (EDR) solutions, leading to a complex and fragmented security landscape.</a:t>
            </a:r>
            <a:endParaRPr sz="1400" b="0" i="0" u="none" strike="noStrike" cap="none">
              <a:solidFill>
                <a:schemeClr val="dk1"/>
              </a:solidFill>
              <a:latin typeface="Arial"/>
              <a:ea typeface="Arial"/>
              <a:cs typeface="Arial"/>
              <a:sym typeface="Arial"/>
            </a:endParaRPr>
          </a:p>
        </p:txBody>
      </p:sp>
      <p:sp>
        <p:nvSpPr>
          <p:cNvPr id="30" name="Google Shape;30;p4"/>
          <p:cNvSpPr/>
          <p:nvPr/>
        </p:nvSpPr>
        <p:spPr>
          <a:xfrm>
            <a:off x="4380405" y="1595039"/>
            <a:ext cx="714196" cy="714196"/>
          </a:xfrm>
          <a:prstGeom prst="ellipse">
            <a:avLst/>
          </a:prstGeom>
          <a:solidFill>
            <a:srgbClr val="FFD9A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1" name="Google Shape;31;p4"/>
          <p:cNvPicPr preferRelativeResize="0"/>
          <p:nvPr/>
        </p:nvPicPr>
        <p:blipFill rotWithShape="1">
          <a:blip r:embed="rId4">
            <a:alphaModFix/>
          </a:blip>
          <a:srcRect/>
          <a:stretch/>
        </p:blipFill>
        <p:spPr>
          <a:xfrm>
            <a:off x="4557692" y="1788934"/>
            <a:ext cx="361860" cy="333292"/>
          </a:xfrm>
          <a:prstGeom prst="rect">
            <a:avLst/>
          </a:prstGeom>
          <a:noFill/>
          <a:ln>
            <a:noFill/>
          </a:ln>
        </p:spPr>
      </p:pic>
      <p:sp>
        <p:nvSpPr>
          <p:cNvPr id="32" name="Google Shape;32;p4"/>
          <p:cNvSpPr/>
          <p:nvPr/>
        </p:nvSpPr>
        <p:spPr>
          <a:xfrm>
            <a:off x="5285053" y="1546086"/>
            <a:ext cx="2775843" cy="532076"/>
          </a:xfrm>
          <a:prstGeom prst="rect">
            <a:avLst/>
          </a:prstGeom>
          <a:noFill/>
          <a:ln>
            <a:noFill/>
          </a:ln>
        </p:spPr>
        <p:txBody>
          <a:bodyPr spcFirstLastPara="1" wrap="square" lIns="0" tIns="0" rIns="0" bIns="0" anchor="t" anchorCtr="0">
            <a:noAutofit/>
          </a:bodyPr>
          <a:lstStyle/>
          <a:p>
            <a:pPr marL="0" marR="0" lvl="0" indent="0" algn="l" rtl="0">
              <a:lnSpc>
                <a:spcPct val="116444"/>
              </a:lnSpc>
              <a:spcBef>
                <a:spcPts val="0"/>
              </a:spcBef>
              <a:spcAft>
                <a:spcPts val="0"/>
              </a:spcAft>
              <a:buClr>
                <a:srgbClr val="333333"/>
              </a:buClr>
              <a:buSzPts val="1800"/>
              <a:buFont typeface="Inter"/>
              <a:buNone/>
            </a:pPr>
            <a:r>
              <a:rPr lang="en-US" b="1" i="0" u="none" strike="noStrike" cap="none">
                <a:solidFill>
                  <a:srgbClr val="333333"/>
                </a:solidFill>
                <a:latin typeface="Inter"/>
                <a:ea typeface="Inter"/>
                <a:cs typeface="Inter"/>
                <a:sym typeface="Inter"/>
              </a:rPr>
              <a:t>Siloed data and lack of integration</a:t>
            </a:r>
            <a:endParaRPr b="0" i="0" u="none" strike="noStrike" cap="none">
              <a:solidFill>
                <a:schemeClr val="dk1"/>
              </a:solidFill>
              <a:latin typeface="Arial"/>
              <a:ea typeface="Arial"/>
              <a:cs typeface="Arial"/>
              <a:sym typeface="Arial"/>
            </a:endParaRPr>
          </a:p>
        </p:txBody>
      </p:sp>
      <p:sp>
        <p:nvSpPr>
          <p:cNvPr id="33" name="Google Shape;33;p4"/>
          <p:cNvSpPr/>
          <p:nvPr/>
        </p:nvSpPr>
        <p:spPr>
          <a:xfrm>
            <a:off x="5285053" y="2204331"/>
            <a:ext cx="2775843" cy="1842478"/>
          </a:xfrm>
          <a:prstGeom prst="rect">
            <a:avLst/>
          </a:prstGeom>
          <a:noFill/>
          <a:ln>
            <a:noFill/>
          </a:ln>
        </p:spPr>
        <p:txBody>
          <a:bodyPr spcFirstLastPara="1" wrap="square" lIns="0" tIns="0" rIns="0" bIns="0" anchor="t" anchorCtr="0">
            <a:noAutofit/>
          </a:bodyPr>
          <a:lstStyle/>
          <a:p>
            <a:pPr marL="0" marR="0" lvl="0" indent="0" algn="l" rtl="0">
              <a:lnSpc>
                <a:spcPct val="138266"/>
              </a:lnSpc>
              <a:spcBef>
                <a:spcPts val="0"/>
              </a:spcBef>
              <a:spcAft>
                <a:spcPts val="0"/>
              </a:spcAft>
              <a:buClr>
                <a:srgbClr val="000000"/>
              </a:buClr>
              <a:buSzPts val="1500"/>
              <a:buFont typeface="Inter"/>
              <a:buNone/>
            </a:pPr>
            <a:r>
              <a:rPr lang="en-US" sz="1600" b="0" i="0" u="none" strike="noStrike" cap="none">
                <a:solidFill>
                  <a:srgbClr val="000000"/>
                </a:solidFill>
                <a:latin typeface="Inter"/>
                <a:ea typeface="Inter"/>
                <a:cs typeface="Inter"/>
                <a:sym typeface="Inter"/>
              </a:rPr>
              <a:t>Security data is often trapped in individual tools, making it difficult to gain a comprehensive view of the threat landscape and hindering effective threat detection and response.</a:t>
            </a:r>
            <a:endParaRPr sz="1400" b="0" i="0" u="none" strike="noStrike" cap="none">
              <a:solidFill>
                <a:schemeClr val="dk1"/>
              </a:solidFill>
              <a:latin typeface="Arial"/>
              <a:ea typeface="Arial"/>
              <a:cs typeface="Arial"/>
              <a:sym typeface="Arial"/>
            </a:endParaRPr>
          </a:p>
        </p:txBody>
      </p:sp>
      <p:sp>
        <p:nvSpPr>
          <p:cNvPr id="34" name="Google Shape;34;p4"/>
          <p:cNvSpPr/>
          <p:nvPr/>
        </p:nvSpPr>
        <p:spPr>
          <a:xfrm>
            <a:off x="8284678" y="1595039"/>
            <a:ext cx="714196" cy="714196"/>
          </a:xfrm>
          <a:prstGeom prst="ellipse">
            <a:avLst/>
          </a:prstGeom>
          <a:solidFill>
            <a:srgbClr val="FEC0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5" name="Google Shape;35;p4"/>
          <p:cNvPicPr preferRelativeResize="0"/>
          <p:nvPr/>
        </p:nvPicPr>
        <p:blipFill rotWithShape="1">
          <a:blip r:embed="rId5">
            <a:alphaModFix/>
          </a:blip>
          <a:srcRect/>
          <a:stretch/>
        </p:blipFill>
        <p:spPr>
          <a:xfrm>
            <a:off x="8461965" y="1784746"/>
            <a:ext cx="361860" cy="342814"/>
          </a:xfrm>
          <a:prstGeom prst="rect">
            <a:avLst/>
          </a:prstGeom>
          <a:noFill/>
          <a:ln>
            <a:noFill/>
          </a:ln>
        </p:spPr>
      </p:pic>
      <p:sp>
        <p:nvSpPr>
          <p:cNvPr id="36" name="Google Shape;36;p4"/>
          <p:cNvSpPr/>
          <p:nvPr/>
        </p:nvSpPr>
        <p:spPr>
          <a:xfrm>
            <a:off x="9189328" y="1546086"/>
            <a:ext cx="2337864" cy="532076"/>
          </a:xfrm>
          <a:prstGeom prst="rect">
            <a:avLst/>
          </a:prstGeom>
          <a:noFill/>
          <a:ln>
            <a:noFill/>
          </a:ln>
        </p:spPr>
        <p:txBody>
          <a:bodyPr spcFirstLastPara="1" wrap="square" lIns="0" tIns="0" rIns="0" bIns="0" anchor="t" anchorCtr="0">
            <a:noAutofit/>
          </a:bodyPr>
          <a:lstStyle/>
          <a:p>
            <a:pPr marL="0" marR="0" lvl="0" indent="0" algn="l" rtl="0">
              <a:lnSpc>
                <a:spcPct val="116444"/>
              </a:lnSpc>
              <a:spcBef>
                <a:spcPts val="0"/>
              </a:spcBef>
              <a:spcAft>
                <a:spcPts val="0"/>
              </a:spcAft>
              <a:buClr>
                <a:srgbClr val="333333"/>
              </a:buClr>
              <a:buSzPts val="1800"/>
              <a:buFont typeface="Inter"/>
              <a:buNone/>
            </a:pPr>
            <a:r>
              <a:rPr lang="en-US" b="1" i="0" u="none" strike="noStrike" cap="none">
                <a:solidFill>
                  <a:srgbClr val="333333"/>
                </a:solidFill>
                <a:latin typeface="Inter"/>
                <a:ea typeface="Inter"/>
                <a:cs typeface="Inter"/>
                <a:sym typeface="Inter"/>
              </a:rPr>
              <a:t>Overwhelmed security teams</a:t>
            </a:r>
            <a:endParaRPr b="0" i="0" u="none" strike="noStrike" cap="none">
              <a:solidFill>
                <a:schemeClr val="dk1"/>
              </a:solidFill>
              <a:latin typeface="Arial"/>
              <a:ea typeface="Arial"/>
              <a:cs typeface="Arial"/>
              <a:sym typeface="Arial"/>
            </a:endParaRPr>
          </a:p>
        </p:txBody>
      </p:sp>
      <p:sp>
        <p:nvSpPr>
          <p:cNvPr id="37" name="Google Shape;37;p4"/>
          <p:cNvSpPr/>
          <p:nvPr/>
        </p:nvSpPr>
        <p:spPr>
          <a:xfrm>
            <a:off x="9189327" y="2204331"/>
            <a:ext cx="2775843" cy="1842478"/>
          </a:xfrm>
          <a:prstGeom prst="rect">
            <a:avLst/>
          </a:prstGeom>
          <a:noFill/>
          <a:ln>
            <a:noFill/>
          </a:ln>
        </p:spPr>
        <p:txBody>
          <a:bodyPr spcFirstLastPara="1" wrap="square" lIns="0" tIns="0" rIns="0" bIns="0" anchor="t" anchorCtr="0">
            <a:noAutofit/>
          </a:bodyPr>
          <a:lstStyle/>
          <a:p>
            <a:pPr marL="0" marR="0" lvl="0" indent="0" algn="l" rtl="0">
              <a:lnSpc>
                <a:spcPct val="138266"/>
              </a:lnSpc>
              <a:spcBef>
                <a:spcPts val="0"/>
              </a:spcBef>
              <a:spcAft>
                <a:spcPts val="0"/>
              </a:spcAft>
              <a:buClr>
                <a:srgbClr val="000000"/>
              </a:buClr>
              <a:buSzPts val="1500"/>
              <a:buFont typeface="Inter"/>
              <a:buNone/>
            </a:pPr>
            <a:r>
              <a:rPr lang="en-US" sz="1600" b="0" i="0" u="none" strike="noStrike" cap="none">
                <a:solidFill>
                  <a:srgbClr val="000000"/>
                </a:solidFill>
                <a:latin typeface="Inter"/>
                <a:ea typeface="Inter"/>
                <a:cs typeface="Inter"/>
                <a:sym typeface="Inter"/>
              </a:rPr>
              <a:t>Security teams struggle to correlate and analyze data from multiple disparate tools, leading to increased workloads and delays in identifying and addressing security incidents.</a:t>
            </a:r>
            <a:endParaRPr sz="1400" b="0" i="0" u="none" strike="noStrike" cap="none">
              <a:solidFill>
                <a:schemeClr val="dk1"/>
              </a:solidFill>
              <a:latin typeface="Arial"/>
              <a:ea typeface="Arial"/>
              <a:cs typeface="Arial"/>
              <a:sym typeface="Arial"/>
            </a:endParaRPr>
          </a:p>
        </p:txBody>
      </p:sp>
      <p:sp>
        <p:nvSpPr>
          <p:cNvPr id="38" name="Google Shape;38;p4"/>
          <p:cNvSpPr/>
          <p:nvPr/>
        </p:nvSpPr>
        <p:spPr>
          <a:xfrm>
            <a:off x="0" y="5218395"/>
            <a:ext cx="12188952" cy="1637890"/>
          </a:xfrm>
          <a:prstGeom prst="rect">
            <a:avLst/>
          </a:prstGeom>
          <a:solidFill>
            <a:srgbClr val="FD86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4"/>
          <p:cNvSpPr/>
          <p:nvPr/>
        </p:nvSpPr>
        <p:spPr>
          <a:xfrm>
            <a:off x="664809" y="5538518"/>
            <a:ext cx="10936728" cy="997643"/>
          </a:xfrm>
          <a:prstGeom prst="rect">
            <a:avLst/>
          </a:prstGeom>
          <a:noFill/>
          <a:ln>
            <a:noFill/>
          </a:ln>
        </p:spPr>
        <p:txBody>
          <a:bodyPr spcFirstLastPara="1" wrap="square" lIns="0" tIns="0" rIns="0" bIns="0" anchor="ctr" anchorCtr="0">
            <a:noAutofit/>
          </a:bodyPr>
          <a:lstStyle/>
          <a:p>
            <a:pPr marL="0" marR="0" lvl="0" indent="0" algn="ctr" rtl="0">
              <a:lnSpc>
                <a:spcPct val="116400"/>
              </a:lnSpc>
              <a:spcBef>
                <a:spcPts val="0"/>
              </a:spcBef>
              <a:spcAft>
                <a:spcPts val="0"/>
              </a:spcAft>
              <a:buClr>
                <a:srgbClr val="333333"/>
              </a:buClr>
              <a:buSzPts val="2250"/>
              <a:buFont typeface="Inter"/>
              <a:buNone/>
            </a:pPr>
            <a:r>
              <a:rPr lang="en-US" sz="1800" b="1" i="1" u="none" strike="noStrike" cap="none">
                <a:solidFill>
                  <a:srgbClr val="333333"/>
                </a:solidFill>
                <a:latin typeface="Inter"/>
                <a:ea typeface="Inter"/>
                <a:cs typeface="Inter"/>
                <a:sym typeface="Inter"/>
              </a:rPr>
              <a:t>The fragmentation of security tools and siloed data across an organization's network infrastructure hinders the ability to detect, analyze, and respond to threats in a timely and effective manner, presenting a significant challenge in today's evolving cybersecurity landscape.</a:t>
            </a:r>
            <a:endParaRPr b="0" i="1"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1262736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Shape 96"/>
        <p:cNvGrpSpPr/>
        <p:nvPr/>
      </p:nvGrpSpPr>
      <p:grpSpPr>
        <a:xfrm>
          <a:off x="0" y="0"/>
          <a:ext cx="0" cy="0"/>
          <a:chOff x="0" y="0"/>
          <a:chExt cx="0" cy="0"/>
        </a:xfrm>
      </p:grpSpPr>
      <p:sp>
        <p:nvSpPr>
          <p:cNvPr id="97" name="Google Shape;97;p7"/>
          <p:cNvSpPr/>
          <p:nvPr/>
        </p:nvSpPr>
        <p:spPr>
          <a:xfrm>
            <a:off x="0" y="374060"/>
            <a:ext cx="12188952" cy="554246"/>
          </a:xfrm>
          <a:prstGeom prst="rect">
            <a:avLst/>
          </a:prstGeom>
          <a:noFill/>
          <a:ln>
            <a:noFill/>
          </a:ln>
        </p:spPr>
        <p:txBody>
          <a:bodyPr spcFirstLastPara="1" wrap="square" lIns="0" tIns="0" rIns="0" bIns="0" anchor="t" anchorCtr="0">
            <a:noAutofit/>
          </a:bodyPr>
          <a:lstStyle/>
          <a:p>
            <a:pPr marL="0" marR="0" lvl="0" indent="0" algn="ctr" rtl="0">
              <a:lnSpc>
                <a:spcPct val="116400"/>
              </a:lnSpc>
              <a:spcBef>
                <a:spcPts val="0"/>
              </a:spcBef>
              <a:spcAft>
                <a:spcPts val="0"/>
              </a:spcAft>
              <a:buClr>
                <a:srgbClr val="FFFFFF"/>
              </a:buClr>
              <a:buSzPts val="3750"/>
              <a:buFont typeface="Inter"/>
              <a:buNone/>
            </a:pPr>
            <a:r>
              <a:rPr lang="en-US" sz="2800" b="1" i="0" u="none" strike="noStrike" cap="none">
                <a:solidFill>
                  <a:srgbClr val="FFFFFF"/>
                </a:solidFill>
                <a:latin typeface="Inter"/>
                <a:ea typeface="Inter"/>
                <a:cs typeface="Inter"/>
                <a:sym typeface="Inter"/>
              </a:rPr>
              <a:t>Key Components of </a:t>
            </a:r>
            <a:r>
              <a:rPr lang="en-US" sz="2800" b="1">
                <a:solidFill>
                  <a:srgbClr val="FFFFFF"/>
                </a:solidFill>
                <a:latin typeface="Inter"/>
                <a:ea typeface="Inter"/>
                <a:cs typeface="Inter"/>
                <a:sym typeface="Inter"/>
              </a:rPr>
              <a:t>Athena’s Fully-</a:t>
            </a:r>
            <a:r>
              <a:rPr lang="en-US" sz="2800" b="1" i="0" u="none" strike="noStrike" cap="none">
                <a:solidFill>
                  <a:srgbClr val="FFFFFF"/>
                </a:solidFill>
                <a:latin typeface="Inter"/>
                <a:ea typeface="Inter"/>
                <a:cs typeface="Inter"/>
                <a:sym typeface="Inter"/>
              </a:rPr>
              <a:t>Integrated Cyber Defense Solution</a:t>
            </a:r>
            <a:endParaRPr sz="1200" b="0" i="0" u="none" strike="noStrike" cap="none">
              <a:solidFill>
                <a:schemeClr val="dk1"/>
              </a:solidFill>
              <a:latin typeface="Arial"/>
              <a:ea typeface="Arial"/>
              <a:cs typeface="Arial"/>
              <a:sym typeface="Arial"/>
            </a:endParaRPr>
          </a:p>
        </p:txBody>
      </p:sp>
      <p:sp>
        <p:nvSpPr>
          <p:cNvPr id="98" name="Google Shape;98;p7"/>
          <p:cNvSpPr/>
          <p:nvPr/>
        </p:nvSpPr>
        <p:spPr>
          <a:xfrm>
            <a:off x="670894" y="1604561"/>
            <a:ext cx="4780784" cy="4215321"/>
          </a:xfrm>
          <a:prstGeom prst="rect">
            <a:avLst/>
          </a:prstGeom>
          <a:noFill/>
          <a:ln>
            <a:noFill/>
          </a:ln>
        </p:spPr>
        <p:txBody>
          <a:bodyPr spcFirstLastPara="1" wrap="square" lIns="0" tIns="0" rIns="0" bIns="0" anchor="t" anchorCtr="0">
            <a:noAutofit/>
          </a:bodyPr>
          <a:lstStyle/>
          <a:p>
            <a:pPr marR="0" lvl="0" algn="l" rtl="0">
              <a:lnSpc>
                <a:spcPct val="116395"/>
              </a:lnSpc>
              <a:spcBef>
                <a:spcPts val="0"/>
              </a:spcBef>
              <a:spcAft>
                <a:spcPts val="0"/>
              </a:spcAft>
              <a:buClr>
                <a:srgbClr val="FFFFFF"/>
              </a:buClr>
              <a:buSzPts val="2025"/>
            </a:pPr>
            <a:r>
              <a:rPr lang="en-US" b="1" i="0" u="none" strike="noStrike" cap="none">
                <a:solidFill>
                  <a:srgbClr val="FFFFFF"/>
                </a:solidFill>
                <a:latin typeface="Inter"/>
                <a:ea typeface="Inter"/>
                <a:cs typeface="Inter"/>
                <a:sym typeface="Inter"/>
              </a:rPr>
              <a:t>Web Application Firewall (WAF)</a:t>
            </a:r>
            <a:endParaRPr sz="1100"/>
          </a:p>
          <a:p>
            <a:pPr marL="457200" marR="0" lvl="1" indent="0" algn="l" rtl="0">
              <a:lnSpc>
                <a:spcPct val="138253"/>
              </a:lnSpc>
              <a:spcBef>
                <a:spcPts val="252"/>
              </a:spcBef>
              <a:spcAft>
                <a:spcPts val="0"/>
              </a:spcAft>
              <a:buClr>
                <a:srgbClr val="FFFFFF"/>
              </a:buClr>
              <a:buSzPts val="1294"/>
              <a:buFont typeface="Inter"/>
              <a:buNone/>
            </a:pPr>
            <a:r>
              <a:rPr lang="en-US" sz="1100" b="0" i="0" u="none" strike="noStrike" cap="none">
                <a:solidFill>
                  <a:srgbClr val="FFFFFF"/>
                </a:solidFill>
                <a:latin typeface="Inter"/>
                <a:ea typeface="Inter"/>
                <a:cs typeface="Inter"/>
                <a:sym typeface="Inter"/>
              </a:rPr>
              <a:t>Protects web applications from common web-based attacks by inspecting and filtering incoming traffic, enforcing security policies, and detecting and mitigating threats such as SQL injection, cross-site scripting, and application-level DDoS attacks.</a:t>
            </a:r>
            <a:endParaRPr sz="1100"/>
          </a:p>
          <a:p>
            <a:pPr marR="0" lvl="0" algn="l" rtl="0">
              <a:lnSpc>
                <a:spcPct val="116395"/>
              </a:lnSpc>
              <a:spcBef>
                <a:spcPts val="1911"/>
              </a:spcBef>
              <a:spcAft>
                <a:spcPts val="0"/>
              </a:spcAft>
              <a:buClr>
                <a:srgbClr val="FFFFFF"/>
              </a:buClr>
              <a:buSzPts val="2025"/>
            </a:pPr>
            <a:r>
              <a:rPr lang="en-US" b="1" i="0" u="none" strike="noStrike" cap="none">
                <a:solidFill>
                  <a:srgbClr val="FFFFFF"/>
                </a:solidFill>
                <a:latin typeface="Inter"/>
                <a:ea typeface="Inter"/>
                <a:cs typeface="Inter"/>
                <a:sym typeface="Inter"/>
              </a:rPr>
              <a:t>Firewall</a:t>
            </a:r>
            <a:endParaRPr sz="1100"/>
          </a:p>
          <a:p>
            <a:pPr marL="457200" marR="0" lvl="1" indent="0" algn="l" rtl="0">
              <a:lnSpc>
                <a:spcPct val="138253"/>
              </a:lnSpc>
              <a:spcBef>
                <a:spcPts val="252"/>
              </a:spcBef>
              <a:spcAft>
                <a:spcPts val="0"/>
              </a:spcAft>
              <a:buClr>
                <a:srgbClr val="FFFFFF"/>
              </a:buClr>
              <a:buSzPts val="1294"/>
              <a:buFont typeface="Inter"/>
              <a:buNone/>
            </a:pPr>
            <a:r>
              <a:rPr lang="en-US" sz="1100" b="0" i="0" u="none" strike="noStrike" cap="none">
                <a:solidFill>
                  <a:srgbClr val="FFFFFF"/>
                </a:solidFill>
                <a:latin typeface="Inter"/>
                <a:ea typeface="Inter"/>
                <a:cs typeface="Inter"/>
                <a:sym typeface="Inter"/>
              </a:rPr>
              <a:t>Provides a perimeter defense by controlling and monitoring the incoming and outgoing network traffic based on predetermined security rules, protecting the network from unauthorized access and preventing the spread of malware and other threats.</a:t>
            </a:r>
            <a:endParaRPr sz="1100"/>
          </a:p>
          <a:p>
            <a:pPr marR="0" lvl="0" algn="l" rtl="0">
              <a:lnSpc>
                <a:spcPct val="116395"/>
              </a:lnSpc>
              <a:spcBef>
                <a:spcPts val="1911"/>
              </a:spcBef>
              <a:spcAft>
                <a:spcPts val="0"/>
              </a:spcAft>
              <a:buClr>
                <a:srgbClr val="FFFFFF"/>
              </a:buClr>
              <a:buSzPts val="2025"/>
            </a:pPr>
            <a:r>
              <a:rPr lang="en-US" b="1" i="0" u="none" strike="noStrike" cap="none">
                <a:solidFill>
                  <a:srgbClr val="FFFFFF"/>
                </a:solidFill>
                <a:latin typeface="Inter"/>
                <a:ea typeface="Inter"/>
                <a:cs typeface="Inter"/>
                <a:sym typeface="Inter"/>
              </a:rPr>
              <a:t>Network Intrusion Detection System (NIDS)</a:t>
            </a:r>
            <a:endParaRPr sz="1100"/>
          </a:p>
          <a:p>
            <a:pPr marL="457200" marR="0" lvl="1" indent="0" algn="l" rtl="0">
              <a:lnSpc>
                <a:spcPct val="138253"/>
              </a:lnSpc>
              <a:spcBef>
                <a:spcPts val="252"/>
              </a:spcBef>
              <a:spcAft>
                <a:spcPts val="0"/>
              </a:spcAft>
              <a:buClr>
                <a:srgbClr val="FFFFFF"/>
              </a:buClr>
              <a:buSzPts val="1294"/>
              <a:buFont typeface="Inter"/>
              <a:buNone/>
            </a:pPr>
            <a:r>
              <a:rPr lang="en-US" sz="1100" b="0" i="0" u="none" strike="noStrike" cap="none">
                <a:solidFill>
                  <a:srgbClr val="FFFFFF"/>
                </a:solidFill>
                <a:latin typeface="Inter"/>
                <a:ea typeface="Inter"/>
                <a:cs typeface="Inter"/>
                <a:sym typeface="Inter"/>
              </a:rPr>
              <a:t>Monitors network traffic for signs of malicious activity, such as unauthorized access attempts, network-based attacks, and suspicious data patterns, and alerts security teams to potential threats in real-time.</a:t>
            </a:r>
            <a:endParaRPr sz="1400" b="0" i="0" u="none" strike="noStrike" cap="none">
              <a:solidFill>
                <a:schemeClr val="dk1"/>
              </a:solidFill>
              <a:latin typeface="Arial"/>
              <a:ea typeface="Arial"/>
              <a:cs typeface="Arial"/>
              <a:sym typeface="Arial"/>
            </a:endParaRPr>
          </a:p>
        </p:txBody>
      </p:sp>
      <p:sp>
        <p:nvSpPr>
          <p:cNvPr id="99" name="Google Shape;99;p7"/>
          <p:cNvSpPr/>
          <p:nvPr/>
        </p:nvSpPr>
        <p:spPr>
          <a:xfrm>
            <a:off x="6304010" y="1915499"/>
            <a:ext cx="4888709" cy="3027002"/>
          </a:xfrm>
          <a:prstGeom prst="rect">
            <a:avLst/>
          </a:prstGeom>
          <a:noFill/>
          <a:ln>
            <a:noFill/>
          </a:ln>
        </p:spPr>
        <p:txBody>
          <a:bodyPr spcFirstLastPara="1" wrap="square" lIns="0" tIns="0" rIns="0" bIns="0" anchor="t" anchorCtr="0">
            <a:noAutofit/>
          </a:bodyPr>
          <a:lstStyle/>
          <a:p>
            <a:pPr marR="0" lvl="0" algn="l" rtl="0">
              <a:lnSpc>
                <a:spcPct val="116395"/>
              </a:lnSpc>
              <a:spcBef>
                <a:spcPts val="0"/>
              </a:spcBef>
              <a:spcAft>
                <a:spcPts val="0"/>
              </a:spcAft>
              <a:buClr>
                <a:srgbClr val="FFFFFF"/>
              </a:buClr>
              <a:buSzPts val="2025"/>
            </a:pPr>
            <a:r>
              <a:rPr lang="en-US" b="1" i="0" u="none" strike="noStrike" cap="none">
                <a:solidFill>
                  <a:srgbClr val="FFFFFF"/>
                </a:solidFill>
                <a:latin typeface="Inter"/>
                <a:ea typeface="Inter"/>
                <a:cs typeface="Inter"/>
                <a:sym typeface="Inter"/>
              </a:rPr>
              <a:t>Endpoint Detection and Response (EDR)</a:t>
            </a:r>
            <a:endParaRPr sz="1100"/>
          </a:p>
          <a:p>
            <a:pPr marL="457200" marR="0" lvl="1" indent="0" algn="l" rtl="0">
              <a:lnSpc>
                <a:spcPct val="138253"/>
              </a:lnSpc>
              <a:spcBef>
                <a:spcPts val="252"/>
              </a:spcBef>
              <a:spcAft>
                <a:spcPts val="0"/>
              </a:spcAft>
              <a:buClr>
                <a:srgbClr val="FFFFFF"/>
              </a:buClr>
              <a:buSzPts val="1294"/>
              <a:buFont typeface="Inter"/>
              <a:buNone/>
            </a:pPr>
            <a:r>
              <a:rPr lang="en-US" sz="1100" b="0" i="0" u="none" strike="noStrike" cap="none">
                <a:solidFill>
                  <a:srgbClr val="FFFFFF"/>
                </a:solidFill>
                <a:latin typeface="Inter"/>
                <a:ea typeface="Inter"/>
                <a:cs typeface="Inter"/>
                <a:sym typeface="Inter"/>
              </a:rPr>
              <a:t>Continuously monitors and analyzes activity on individual endpoints (e.g., laptops, desktops, servers) to detect, investigate, and respond to advanced threats, including malware, zero-day attacks, and suspicious user behavior.</a:t>
            </a:r>
            <a:endParaRPr lang="en-US" sz="1100"/>
          </a:p>
          <a:p>
            <a:pPr marR="0" lvl="0" algn="l" rtl="0">
              <a:lnSpc>
                <a:spcPct val="116395"/>
              </a:lnSpc>
              <a:spcBef>
                <a:spcPts val="1911"/>
              </a:spcBef>
              <a:spcAft>
                <a:spcPts val="0"/>
              </a:spcAft>
              <a:buClr>
                <a:srgbClr val="FFFFFF"/>
              </a:buClr>
              <a:buSzPts val="2025"/>
            </a:pPr>
            <a:r>
              <a:rPr lang="en-US" b="1" i="0" u="none" strike="noStrike" cap="none">
                <a:solidFill>
                  <a:srgbClr val="FFFFFF"/>
                </a:solidFill>
                <a:latin typeface="Inter"/>
                <a:ea typeface="Inter"/>
                <a:cs typeface="Inter"/>
                <a:sym typeface="Inter"/>
              </a:rPr>
              <a:t>Security Information and Event Management (SIEM)</a:t>
            </a:r>
            <a:endParaRPr lang="en-US" sz="1100"/>
          </a:p>
          <a:p>
            <a:pPr marL="457200" marR="0" lvl="1" indent="0" algn="l" rtl="0">
              <a:lnSpc>
                <a:spcPct val="138253"/>
              </a:lnSpc>
              <a:spcBef>
                <a:spcPts val="252"/>
              </a:spcBef>
              <a:spcAft>
                <a:spcPts val="0"/>
              </a:spcAft>
              <a:buClr>
                <a:srgbClr val="FFFFFF"/>
              </a:buClr>
              <a:buSzPts val="1294"/>
              <a:buFont typeface="Inter"/>
              <a:buNone/>
            </a:pPr>
            <a:r>
              <a:rPr lang="en-US" sz="1100" b="0" i="0" u="none" strike="noStrike" cap="none">
                <a:solidFill>
                  <a:srgbClr val="FFFFFF"/>
                </a:solidFill>
                <a:latin typeface="Inter"/>
                <a:ea typeface="Inter"/>
                <a:cs typeface="Inter"/>
                <a:sym typeface="Inter"/>
              </a:rPr>
              <a:t>Collects, analyzes, and correlates security-related data from various sources across the network, providing a centralized view of the organization's security posture and enabling faster detection, investigation, and response to security incidents.</a:t>
            </a:r>
            <a:endParaRPr sz="1400" b="0" i="0" u="none" strike="noStrike" cap="none">
              <a:solidFill>
                <a:schemeClr val="dk1"/>
              </a:solidFill>
              <a:latin typeface="Arial"/>
              <a:ea typeface="Arial"/>
              <a:cs typeface="Arial"/>
              <a:sym typeface="Arial"/>
            </a:endParaRPr>
          </a:p>
        </p:txBody>
      </p:sp>
      <p:sp>
        <p:nvSpPr>
          <p:cNvPr id="100" name="Google Shape;100;p7"/>
          <p:cNvSpPr/>
          <p:nvPr/>
        </p:nvSpPr>
        <p:spPr>
          <a:xfrm>
            <a:off x="11865183" y="6496137"/>
            <a:ext cx="133317" cy="236875"/>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7"/>
          <p:cNvSpPr txBox="1">
            <a:spLocks noGrp="1"/>
          </p:cNvSpPr>
          <p:nvPr>
            <p:ph type="sldNum" idx="12"/>
          </p:nvPr>
        </p:nvSpPr>
        <p:spPr>
          <a:xfrm>
            <a:off x="11826240" y="6515100"/>
            <a:ext cx="800000" cy="3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100" b="0" i="0" u="none" strike="noStrike" cap="none">
                <a:solidFill>
                  <a:schemeClr val="dk1"/>
                </a:solidFill>
                <a:latin typeface="Arial"/>
                <a:ea typeface="Arial"/>
                <a:cs typeface="Arial"/>
                <a:sym typeface="Arial"/>
              </a:rPr>
              <a:t>6</a:t>
            </a:fld>
            <a:endParaRPr sz="11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40027506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0DED300-3346-0A37-FF75-E0D35357C489}"/>
              </a:ext>
            </a:extLst>
          </p:cNvPr>
          <p:cNvSpPr txBox="1"/>
          <p:nvPr/>
        </p:nvSpPr>
        <p:spPr>
          <a:xfrm>
            <a:off x="833378" y="656694"/>
            <a:ext cx="4224759" cy="6001643"/>
          </a:xfrm>
          <a:prstGeom prst="rect">
            <a:avLst/>
          </a:prstGeom>
          <a:noFill/>
        </p:spPr>
        <p:txBody>
          <a:bodyPr wrap="square" rtlCol="0">
            <a:spAutoFit/>
          </a:bodyPr>
          <a:lstStyle/>
          <a:p>
            <a:r>
              <a:rPr lang="en-US" sz="2400"/>
              <a:t>We have potential threats originating from multiple systems, each of which requires its own identity management system (potentially integrated but not so simple), its own interface and analytics, and each of which requires in depth understanding of the system in question and the specific domain being protected.</a:t>
            </a:r>
          </a:p>
          <a:p>
            <a:endParaRPr lang="en-US" sz="2400"/>
          </a:p>
          <a:p>
            <a:endParaRPr lang="en-US" sz="2400"/>
          </a:p>
        </p:txBody>
      </p:sp>
      <p:pic>
        <p:nvPicPr>
          <p:cNvPr id="5" name="Picture 4">
            <a:extLst>
              <a:ext uri="{FF2B5EF4-FFF2-40B4-BE49-F238E27FC236}">
                <a16:creationId xmlns:a16="http://schemas.microsoft.com/office/drawing/2014/main" id="{59BED386-2284-5DD2-700C-23BC1889B519}"/>
              </a:ext>
            </a:extLst>
          </p:cNvPr>
          <p:cNvPicPr>
            <a:picLocks noChangeAspect="1"/>
          </p:cNvPicPr>
          <p:nvPr/>
        </p:nvPicPr>
        <p:blipFill>
          <a:blip r:embed="rId2"/>
          <a:stretch>
            <a:fillRect/>
          </a:stretch>
        </p:blipFill>
        <p:spPr>
          <a:xfrm>
            <a:off x="5806632" y="443374"/>
            <a:ext cx="5971251" cy="5971251"/>
          </a:xfrm>
          <a:prstGeom prst="rect">
            <a:avLst/>
          </a:prstGeom>
        </p:spPr>
      </p:pic>
    </p:spTree>
    <p:extLst>
      <p:ext uri="{BB962C8B-B14F-4D97-AF65-F5344CB8AC3E}">
        <p14:creationId xmlns:p14="http://schemas.microsoft.com/office/powerpoint/2010/main" val="41341431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Shape 73"/>
        <p:cNvGrpSpPr/>
        <p:nvPr/>
      </p:nvGrpSpPr>
      <p:grpSpPr>
        <a:xfrm>
          <a:off x="0" y="0"/>
          <a:ext cx="0" cy="0"/>
          <a:chOff x="0" y="0"/>
          <a:chExt cx="0" cy="0"/>
        </a:xfrm>
      </p:grpSpPr>
      <p:sp>
        <p:nvSpPr>
          <p:cNvPr id="74" name="Google Shape;74;p6"/>
          <p:cNvSpPr/>
          <p:nvPr/>
        </p:nvSpPr>
        <p:spPr>
          <a:xfrm>
            <a:off x="0" y="374060"/>
            <a:ext cx="12188952" cy="554246"/>
          </a:xfrm>
          <a:prstGeom prst="rect">
            <a:avLst/>
          </a:prstGeom>
          <a:noFill/>
          <a:ln>
            <a:noFill/>
          </a:ln>
        </p:spPr>
        <p:txBody>
          <a:bodyPr spcFirstLastPara="1" wrap="square" lIns="0" tIns="0" rIns="0" bIns="0" anchor="t" anchorCtr="0">
            <a:noAutofit/>
          </a:bodyPr>
          <a:lstStyle/>
          <a:p>
            <a:pPr marL="0" marR="0" lvl="0" indent="0" algn="ctr" rtl="0">
              <a:lnSpc>
                <a:spcPct val="116400"/>
              </a:lnSpc>
              <a:spcBef>
                <a:spcPts val="0"/>
              </a:spcBef>
              <a:spcAft>
                <a:spcPts val="0"/>
              </a:spcAft>
              <a:buClr>
                <a:srgbClr val="FFFFFF"/>
              </a:buClr>
              <a:buSzPts val="3750"/>
              <a:buFont typeface="Inter"/>
              <a:buNone/>
            </a:pPr>
            <a:r>
              <a:rPr lang="en-US" sz="3750" b="1" i="0" u="none" strike="noStrike" cap="none">
                <a:solidFill>
                  <a:srgbClr val="FFFFFF"/>
                </a:solidFill>
                <a:latin typeface="Inter"/>
                <a:ea typeface="Inter"/>
                <a:cs typeface="Inter"/>
                <a:sym typeface="Inter"/>
              </a:rPr>
              <a:t>The Value of an Integrated Approach</a:t>
            </a:r>
            <a:endParaRPr sz="1800" b="0" i="0" u="none" strike="noStrike" cap="none">
              <a:solidFill>
                <a:schemeClr val="dk1"/>
              </a:solidFill>
              <a:latin typeface="Arial"/>
              <a:ea typeface="Arial"/>
              <a:cs typeface="Arial"/>
              <a:sym typeface="Arial"/>
            </a:endParaRPr>
          </a:p>
        </p:txBody>
      </p:sp>
      <p:sp>
        <p:nvSpPr>
          <p:cNvPr id="75" name="Google Shape;75;p6"/>
          <p:cNvSpPr/>
          <p:nvPr/>
        </p:nvSpPr>
        <p:spPr>
          <a:xfrm>
            <a:off x="476131" y="1590277"/>
            <a:ext cx="3618595" cy="2109260"/>
          </a:xfrm>
          <a:prstGeom prst="rect">
            <a:avLst/>
          </a:prstGeom>
          <a:solidFill>
            <a:srgbClr val="22AA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6"/>
          <p:cNvSpPr/>
          <p:nvPr/>
        </p:nvSpPr>
        <p:spPr>
          <a:xfrm>
            <a:off x="761810" y="1830872"/>
            <a:ext cx="3456711" cy="244984"/>
          </a:xfrm>
          <a:prstGeom prst="rect">
            <a:avLst/>
          </a:prstGeom>
          <a:noFill/>
          <a:ln>
            <a:noFill/>
          </a:ln>
        </p:spPr>
        <p:txBody>
          <a:bodyPr spcFirstLastPara="1" wrap="square" lIns="0" tIns="0" rIns="0" bIns="0" anchor="t" anchorCtr="0">
            <a:noAutofit/>
          </a:bodyPr>
          <a:lstStyle/>
          <a:p>
            <a:pPr marL="0" marR="0" lvl="0" indent="0" algn="l" rtl="0">
              <a:lnSpc>
                <a:spcPct val="116405"/>
              </a:lnSpc>
              <a:spcBef>
                <a:spcPts val="0"/>
              </a:spcBef>
              <a:spcAft>
                <a:spcPts val="0"/>
              </a:spcAft>
              <a:buClr>
                <a:srgbClr val="333333"/>
              </a:buClr>
              <a:buSzPts val="1658"/>
              <a:buFont typeface="Inter"/>
              <a:buNone/>
            </a:pPr>
            <a:r>
              <a:rPr lang="en-US" sz="1658" b="1" i="0" u="none" strike="noStrike" cap="none">
                <a:solidFill>
                  <a:srgbClr val="333333"/>
                </a:solidFill>
                <a:latin typeface="Inter"/>
                <a:ea typeface="Inter"/>
                <a:cs typeface="Inter"/>
                <a:sym typeface="Inter"/>
              </a:rPr>
              <a:t>Enhanced Threat Detection</a:t>
            </a:r>
            <a:endParaRPr sz="1800" b="0" i="0" u="none" strike="noStrike" cap="none">
              <a:solidFill>
                <a:schemeClr val="dk1"/>
              </a:solidFill>
              <a:latin typeface="Arial"/>
              <a:ea typeface="Arial"/>
              <a:cs typeface="Arial"/>
              <a:sym typeface="Arial"/>
            </a:endParaRPr>
          </a:p>
        </p:txBody>
      </p:sp>
      <p:sp>
        <p:nvSpPr>
          <p:cNvPr id="77" name="Google Shape;77;p6"/>
          <p:cNvSpPr/>
          <p:nvPr/>
        </p:nvSpPr>
        <p:spPr>
          <a:xfrm>
            <a:off x="761810" y="2164685"/>
            <a:ext cx="3456711" cy="1069435"/>
          </a:xfrm>
          <a:prstGeom prst="rect">
            <a:avLst/>
          </a:prstGeom>
          <a:noFill/>
          <a:ln>
            <a:noFill/>
          </a:ln>
        </p:spPr>
        <p:txBody>
          <a:bodyPr spcFirstLastPara="1" wrap="square" lIns="0" tIns="0" rIns="0" bIns="0" anchor="t" anchorCtr="0">
            <a:noAutofit/>
          </a:bodyPr>
          <a:lstStyle/>
          <a:p>
            <a:pPr marL="0" marR="0" lvl="0" indent="0" algn="l" rtl="0">
              <a:lnSpc>
                <a:spcPct val="138228"/>
              </a:lnSpc>
              <a:spcBef>
                <a:spcPts val="0"/>
              </a:spcBef>
              <a:spcAft>
                <a:spcPts val="0"/>
              </a:spcAft>
              <a:buClr>
                <a:srgbClr val="000000"/>
              </a:buClr>
              <a:buSzPts val="1219"/>
              <a:buFont typeface="Inter"/>
              <a:buNone/>
            </a:pPr>
            <a:r>
              <a:rPr lang="en-US" sz="1219" b="0" i="0" u="none" strike="noStrike" cap="none">
                <a:solidFill>
                  <a:srgbClr val="000000"/>
                </a:solidFill>
                <a:latin typeface="Inter"/>
                <a:ea typeface="Inter"/>
                <a:cs typeface="Inter"/>
                <a:sym typeface="Inter"/>
              </a:rPr>
              <a:t>Consolidating security tools and data across the network allows for a more comprehensive view of potential threats, enabling faster and more accurate detection of anomalies and suspicious activities.</a:t>
            </a:r>
            <a:endParaRPr sz="1800" b="0" i="0" u="none" strike="noStrike" cap="none">
              <a:solidFill>
                <a:schemeClr val="dk1"/>
              </a:solidFill>
              <a:latin typeface="Arial"/>
              <a:ea typeface="Arial"/>
              <a:cs typeface="Arial"/>
              <a:sym typeface="Arial"/>
            </a:endParaRPr>
          </a:p>
        </p:txBody>
      </p:sp>
      <p:sp>
        <p:nvSpPr>
          <p:cNvPr id="78" name="Google Shape;78;p6"/>
          <p:cNvSpPr/>
          <p:nvPr/>
        </p:nvSpPr>
        <p:spPr>
          <a:xfrm>
            <a:off x="4285178" y="1590277"/>
            <a:ext cx="3618595" cy="2109260"/>
          </a:xfrm>
          <a:prstGeom prst="rect">
            <a:avLst/>
          </a:prstGeom>
          <a:solidFill>
            <a:srgbClr val="FFD9A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6"/>
          <p:cNvSpPr/>
          <p:nvPr/>
        </p:nvSpPr>
        <p:spPr>
          <a:xfrm>
            <a:off x="4570857" y="1830872"/>
            <a:ext cx="3456711" cy="244984"/>
          </a:xfrm>
          <a:prstGeom prst="rect">
            <a:avLst/>
          </a:prstGeom>
          <a:noFill/>
          <a:ln>
            <a:noFill/>
          </a:ln>
        </p:spPr>
        <p:txBody>
          <a:bodyPr spcFirstLastPara="1" wrap="square" lIns="0" tIns="0" rIns="0" bIns="0" anchor="t" anchorCtr="0">
            <a:noAutofit/>
          </a:bodyPr>
          <a:lstStyle/>
          <a:p>
            <a:pPr marL="0" marR="0" lvl="0" indent="0" algn="l" rtl="0">
              <a:lnSpc>
                <a:spcPct val="116405"/>
              </a:lnSpc>
              <a:spcBef>
                <a:spcPts val="0"/>
              </a:spcBef>
              <a:spcAft>
                <a:spcPts val="0"/>
              </a:spcAft>
              <a:buClr>
                <a:srgbClr val="333333"/>
              </a:buClr>
              <a:buSzPts val="1658"/>
              <a:buFont typeface="Inter"/>
              <a:buNone/>
            </a:pPr>
            <a:r>
              <a:rPr lang="en-US" sz="1658" b="1" i="0" u="none" strike="noStrike" cap="none">
                <a:solidFill>
                  <a:srgbClr val="333333"/>
                </a:solidFill>
                <a:latin typeface="Inter"/>
                <a:ea typeface="Inter"/>
                <a:cs typeface="Inter"/>
                <a:sym typeface="Inter"/>
              </a:rPr>
              <a:t>Improved Threat Analysis</a:t>
            </a:r>
            <a:endParaRPr sz="1800" b="0" i="0" u="none" strike="noStrike" cap="none">
              <a:solidFill>
                <a:schemeClr val="dk1"/>
              </a:solidFill>
              <a:latin typeface="Arial"/>
              <a:ea typeface="Arial"/>
              <a:cs typeface="Arial"/>
              <a:sym typeface="Arial"/>
            </a:endParaRPr>
          </a:p>
        </p:txBody>
      </p:sp>
      <p:sp>
        <p:nvSpPr>
          <p:cNvPr id="80" name="Google Shape;80;p6"/>
          <p:cNvSpPr/>
          <p:nvPr/>
        </p:nvSpPr>
        <p:spPr>
          <a:xfrm>
            <a:off x="4570858" y="2164685"/>
            <a:ext cx="3105290" cy="1069435"/>
          </a:xfrm>
          <a:prstGeom prst="rect">
            <a:avLst/>
          </a:prstGeom>
          <a:noFill/>
          <a:ln>
            <a:noFill/>
          </a:ln>
        </p:spPr>
        <p:txBody>
          <a:bodyPr spcFirstLastPara="1" wrap="square" lIns="0" tIns="0" rIns="0" bIns="0" anchor="t" anchorCtr="0">
            <a:noAutofit/>
          </a:bodyPr>
          <a:lstStyle/>
          <a:p>
            <a:pPr marL="0" marR="0" lvl="0" indent="0" algn="l" rtl="0">
              <a:lnSpc>
                <a:spcPct val="138228"/>
              </a:lnSpc>
              <a:spcBef>
                <a:spcPts val="0"/>
              </a:spcBef>
              <a:spcAft>
                <a:spcPts val="0"/>
              </a:spcAft>
              <a:buClr>
                <a:srgbClr val="000000"/>
              </a:buClr>
              <a:buSzPts val="1219"/>
              <a:buFont typeface="Inter"/>
              <a:buNone/>
            </a:pPr>
            <a:r>
              <a:rPr lang="en-US" sz="1219" b="0" i="0" u="none" strike="noStrike" cap="none">
                <a:solidFill>
                  <a:srgbClr val="000000"/>
                </a:solidFill>
                <a:latin typeface="Inter"/>
                <a:ea typeface="Inter"/>
                <a:cs typeface="Inter"/>
                <a:sym typeface="Inter"/>
              </a:rPr>
              <a:t>By integrating data from various security components, security teams can analyze threat patterns and indicators more effectively, leading to better informed decision-making and more efficient incident response.</a:t>
            </a:r>
            <a:endParaRPr sz="1800" b="0" i="0" u="none" strike="noStrike" cap="none">
              <a:solidFill>
                <a:schemeClr val="dk1"/>
              </a:solidFill>
              <a:latin typeface="Arial"/>
              <a:ea typeface="Arial"/>
              <a:cs typeface="Arial"/>
              <a:sym typeface="Arial"/>
            </a:endParaRPr>
          </a:p>
        </p:txBody>
      </p:sp>
      <p:sp>
        <p:nvSpPr>
          <p:cNvPr id="81" name="Google Shape;81;p6"/>
          <p:cNvSpPr/>
          <p:nvPr/>
        </p:nvSpPr>
        <p:spPr>
          <a:xfrm>
            <a:off x="8094226" y="1590277"/>
            <a:ext cx="3618595" cy="2109260"/>
          </a:xfrm>
          <a:prstGeom prst="rect">
            <a:avLst/>
          </a:prstGeom>
          <a:solidFill>
            <a:srgbClr val="FEC0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6"/>
          <p:cNvSpPr/>
          <p:nvPr/>
        </p:nvSpPr>
        <p:spPr>
          <a:xfrm>
            <a:off x="8379905" y="1830872"/>
            <a:ext cx="3456711" cy="244984"/>
          </a:xfrm>
          <a:prstGeom prst="rect">
            <a:avLst/>
          </a:prstGeom>
          <a:noFill/>
          <a:ln>
            <a:noFill/>
          </a:ln>
        </p:spPr>
        <p:txBody>
          <a:bodyPr spcFirstLastPara="1" wrap="square" lIns="0" tIns="0" rIns="0" bIns="0" anchor="t" anchorCtr="0">
            <a:noAutofit/>
          </a:bodyPr>
          <a:lstStyle/>
          <a:p>
            <a:pPr marL="0" marR="0" lvl="0" indent="0" algn="l" rtl="0">
              <a:lnSpc>
                <a:spcPct val="116405"/>
              </a:lnSpc>
              <a:spcBef>
                <a:spcPts val="0"/>
              </a:spcBef>
              <a:spcAft>
                <a:spcPts val="0"/>
              </a:spcAft>
              <a:buClr>
                <a:srgbClr val="333333"/>
              </a:buClr>
              <a:buSzPts val="1658"/>
              <a:buFont typeface="Inter"/>
              <a:buNone/>
            </a:pPr>
            <a:r>
              <a:rPr lang="en-US" sz="1658" b="1" i="0" u="none" strike="noStrike" cap="none">
                <a:solidFill>
                  <a:srgbClr val="333333"/>
                </a:solidFill>
                <a:latin typeface="Inter"/>
                <a:ea typeface="Inter"/>
                <a:cs typeface="Inter"/>
                <a:sym typeface="Inter"/>
              </a:rPr>
              <a:t>Streamlined Remediation</a:t>
            </a:r>
            <a:endParaRPr sz="1800" b="0" i="0" u="none" strike="noStrike" cap="none">
              <a:solidFill>
                <a:schemeClr val="dk1"/>
              </a:solidFill>
              <a:latin typeface="Arial"/>
              <a:ea typeface="Arial"/>
              <a:cs typeface="Arial"/>
              <a:sym typeface="Arial"/>
            </a:endParaRPr>
          </a:p>
        </p:txBody>
      </p:sp>
      <p:sp>
        <p:nvSpPr>
          <p:cNvPr id="83" name="Google Shape;83;p6"/>
          <p:cNvSpPr/>
          <p:nvPr/>
        </p:nvSpPr>
        <p:spPr>
          <a:xfrm>
            <a:off x="8379905" y="2164685"/>
            <a:ext cx="3050285" cy="1069435"/>
          </a:xfrm>
          <a:prstGeom prst="rect">
            <a:avLst/>
          </a:prstGeom>
          <a:noFill/>
          <a:ln>
            <a:noFill/>
          </a:ln>
        </p:spPr>
        <p:txBody>
          <a:bodyPr spcFirstLastPara="1" wrap="square" lIns="0" tIns="0" rIns="0" bIns="0" anchor="t" anchorCtr="0">
            <a:noAutofit/>
          </a:bodyPr>
          <a:lstStyle/>
          <a:p>
            <a:pPr marL="0" marR="0" lvl="0" indent="0" algn="l" rtl="0">
              <a:lnSpc>
                <a:spcPct val="138228"/>
              </a:lnSpc>
              <a:spcBef>
                <a:spcPts val="0"/>
              </a:spcBef>
              <a:spcAft>
                <a:spcPts val="0"/>
              </a:spcAft>
              <a:buClr>
                <a:srgbClr val="000000"/>
              </a:buClr>
              <a:buSzPts val="1219"/>
              <a:buFont typeface="Inter"/>
              <a:buNone/>
            </a:pPr>
            <a:r>
              <a:rPr lang="en-US" sz="1219" b="0" i="0" u="none" strike="noStrike" cap="none">
                <a:solidFill>
                  <a:srgbClr val="000000"/>
                </a:solidFill>
                <a:latin typeface="Inter"/>
                <a:ea typeface="Inter"/>
                <a:cs typeface="Inter"/>
                <a:sym typeface="Inter"/>
              </a:rPr>
              <a:t>An integrated approach facilitates the coordination of remediation efforts, allowing security teams to respond to threats quickly and consistently across the entire network infrastructure.</a:t>
            </a:r>
            <a:endParaRPr sz="1800" b="0" i="0" u="none" strike="noStrike" cap="none">
              <a:solidFill>
                <a:schemeClr val="dk1"/>
              </a:solidFill>
              <a:latin typeface="Arial"/>
              <a:ea typeface="Arial"/>
              <a:cs typeface="Arial"/>
              <a:sym typeface="Arial"/>
            </a:endParaRPr>
          </a:p>
        </p:txBody>
      </p:sp>
      <p:sp>
        <p:nvSpPr>
          <p:cNvPr id="84" name="Google Shape;84;p6"/>
          <p:cNvSpPr/>
          <p:nvPr/>
        </p:nvSpPr>
        <p:spPr>
          <a:xfrm>
            <a:off x="476131" y="3889990"/>
            <a:ext cx="5523119" cy="2109260"/>
          </a:xfrm>
          <a:prstGeom prst="rect">
            <a:avLst/>
          </a:prstGeom>
          <a:solidFill>
            <a:srgbClr val="FD86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6"/>
          <p:cNvSpPr/>
          <p:nvPr/>
        </p:nvSpPr>
        <p:spPr>
          <a:xfrm>
            <a:off x="761810" y="4130585"/>
            <a:ext cx="5551687" cy="244984"/>
          </a:xfrm>
          <a:prstGeom prst="rect">
            <a:avLst/>
          </a:prstGeom>
          <a:noFill/>
          <a:ln>
            <a:noFill/>
          </a:ln>
        </p:spPr>
        <p:txBody>
          <a:bodyPr spcFirstLastPara="1" wrap="square" lIns="0" tIns="0" rIns="0" bIns="0" anchor="t" anchorCtr="0">
            <a:noAutofit/>
          </a:bodyPr>
          <a:lstStyle/>
          <a:p>
            <a:pPr marL="0" marR="0" lvl="0" indent="0" algn="l" rtl="0">
              <a:lnSpc>
                <a:spcPct val="116405"/>
              </a:lnSpc>
              <a:spcBef>
                <a:spcPts val="0"/>
              </a:spcBef>
              <a:spcAft>
                <a:spcPts val="0"/>
              </a:spcAft>
              <a:buClr>
                <a:srgbClr val="333333"/>
              </a:buClr>
              <a:buSzPts val="1658"/>
              <a:buFont typeface="Inter"/>
              <a:buNone/>
            </a:pPr>
            <a:r>
              <a:rPr lang="en-US" sz="1658" b="1" i="0" u="none" strike="noStrike" cap="none">
                <a:solidFill>
                  <a:srgbClr val="333333"/>
                </a:solidFill>
                <a:latin typeface="Inter"/>
                <a:ea typeface="Inter"/>
                <a:cs typeface="Inter"/>
                <a:sym typeface="Inter"/>
              </a:rPr>
              <a:t>Reduced Operational Overhead</a:t>
            </a:r>
            <a:endParaRPr sz="1800" b="0" i="0" u="none" strike="noStrike" cap="none">
              <a:solidFill>
                <a:schemeClr val="dk1"/>
              </a:solidFill>
              <a:latin typeface="Arial"/>
              <a:ea typeface="Arial"/>
              <a:cs typeface="Arial"/>
              <a:sym typeface="Arial"/>
            </a:endParaRPr>
          </a:p>
        </p:txBody>
      </p:sp>
      <p:sp>
        <p:nvSpPr>
          <p:cNvPr id="86" name="Google Shape;86;p6"/>
          <p:cNvSpPr/>
          <p:nvPr/>
        </p:nvSpPr>
        <p:spPr>
          <a:xfrm>
            <a:off x="761810" y="4464397"/>
            <a:ext cx="4135043" cy="641661"/>
          </a:xfrm>
          <a:prstGeom prst="rect">
            <a:avLst/>
          </a:prstGeom>
          <a:noFill/>
          <a:ln>
            <a:noFill/>
          </a:ln>
        </p:spPr>
        <p:txBody>
          <a:bodyPr spcFirstLastPara="1" wrap="square" lIns="0" tIns="0" rIns="0" bIns="0" anchor="t" anchorCtr="0">
            <a:noAutofit/>
          </a:bodyPr>
          <a:lstStyle/>
          <a:p>
            <a:pPr marL="0" marR="0" lvl="0" indent="0" algn="l" rtl="0">
              <a:lnSpc>
                <a:spcPct val="138228"/>
              </a:lnSpc>
              <a:spcBef>
                <a:spcPts val="0"/>
              </a:spcBef>
              <a:spcAft>
                <a:spcPts val="0"/>
              </a:spcAft>
              <a:buClr>
                <a:srgbClr val="000000"/>
              </a:buClr>
              <a:buSzPts val="1219"/>
              <a:buFont typeface="Inter"/>
              <a:buNone/>
            </a:pPr>
            <a:r>
              <a:rPr lang="en-US" sz="1219" b="0" i="0" u="none" strike="noStrike" cap="none">
                <a:solidFill>
                  <a:srgbClr val="000000"/>
                </a:solidFill>
                <a:latin typeface="Inter"/>
                <a:ea typeface="Inter"/>
                <a:cs typeface="Inter"/>
                <a:sym typeface="Inter"/>
              </a:rPr>
              <a:t>Consolidating security tools and data eliminates the need for manual correlation and analysis across disparate systems, reducing the time and resources required for security operations.</a:t>
            </a:r>
            <a:endParaRPr sz="1800" b="0" i="0" u="none" strike="noStrike" cap="none">
              <a:solidFill>
                <a:schemeClr val="dk1"/>
              </a:solidFill>
              <a:latin typeface="Arial"/>
              <a:ea typeface="Arial"/>
              <a:cs typeface="Arial"/>
              <a:sym typeface="Arial"/>
            </a:endParaRPr>
          </a:p>
        </p:txBody>
      </p:sp>
      <p:sp>
        <p:nvSpPr>
          <p:cNvPr id="87" name="Google Shape;87;p6"/>
          <p:cNvSpPr/>
          <p:nvPr/>
        </p:nvSpPr>
        <p:spPr>
          <a:xfrm>
            <a:off x="6189702" y="3889990"/>
            <a:ext cx="5523119" cy="2109260"/>
          </a:xfrm>
          <a:prstGeom prst="rect">
            <a:avLst/>
          </a:prstGeom>
          <a:solidFill>
            <a:srgbClr val="FF8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6"/>
          <p:cNvSpPr/>
          <p:nvPr/>
        </p:nvSpPr>
        <p:spPr>
          <a:xfrm>
            <a:off x="6475381" y="4130585"/>
            <a:ext cx="5551687" cy="244984"/>
          </a:xfrm>
          <a:prstGeom prst="rect">
            <a:avLst/>
          </a:prstGeom>
          <a:noFill/>
          <a:ln>
            <a:noFill/>
          </a:ln>
        </p:spPr>
        <p:txBody>
          <a:bodyPr spcFirstLastPara="1" wrap="square" lIns="0" tIns="0" rIns="0" bIns="0" anchor="t" anchorCtr="0">
            <a:noAutofit/>
          </a:bodyPr>
          <a:lstStyle/>
          <a:p>
            <a:pPr marL="0" marR="0" lvl="0" indent="0" algn="l" rtl="0">
              <a:lnSpc>
                <a:spcPct val="116405"/>
              </a:lnSpc>
              <a:spcBef>
                <a:spcPts val="0"/>
              </a:spcBef>
              <a:spcAft>
                <a:spcPts val="0"/>
              </a:spcAft>
              <a:buClr>
                <a:srgbClr val="333333"/>
              </a:buClr>
              <a:buSzPts val="1658"/>
              <a:buFont typeface="Inter"/>
              <a:buNone/>
            </a:pPr>
            <a:r>
              <a:rPr lang="en-US" sz="1658" b="1" i="0" u="none" strike="noStrike" cap="none">
                <a:solidFill>
                  <a:srgbClr val="333333"/>
                </a:solidFill>
                <a:latin typeface="Inter"/>
                <a:ea typeface="Inter"/>
                <a:cs typeface="Inter"/>
                <a:sym typeface="Inter"/>
              </a:rPr>
              <a:t>Enhanced Visibility and Reporting</a:t>
            </a:r>
            <a:endParaRPr sz="1800" b="0" i="0" u="none" strike="noStrike" cap="none">
              <a:solidFill>
                <a:schemeClr val="dk1"/>
              </a:solidFill>
              <a:latin typeface="Arial"/>
              <a:ea typeface="Arial"/>
              <a:cs typeface="Arial"/>
              <a:sym typeface="Arial"/>
            </a:endParaRPr>
          </a:p>
        </p:txBody>
      </p:sp>
      <p:sp>
        <p:nvSpPr>
          <p:cNvPr id="89" name="Google Shape;89;p6"/>
          <p:cNvSpPr/>
          <p:nvPr/>
        </p:nvSpPr>
        <p:spPr>
          <a:xfrm>
            <a:off x="6475382" y="4464397"/>
            <a:ext cx="4689924" cy="641661"/>
          </a:xfrm>
          <a:prstGeom prst="rect">
            <a:avLst/>
          </a:prstGeom>
          <a:noFill/>
          <a:ln>
            <a:noFill/>
          </a:ln>
        </p:spPr>
        <p:txBody>
          <a:bodyPr spcFirstLastPara="1" wrap="square" lIns="0" tIns="0" rIns="0" bIns="0" anchor="t" anchorCtr="0">
            <a:noAutofit/>
          </a:bodyPr>
          <a:lstStyle/>
          <a:p>
            <a:pPr marL="0" marR="0" lvl="0" indent="0" algn="l" rtl="0">
              <a:lnSpc>
                <a:spcPct val="138228"/>
              </a:lnSpc>
              <a:spcBef>
                <a:spcPts val="0"/>
              </a:spcBef>
              <a:spcAft>
                <a:spcPts val="0"/>
              </a:spcAft>
              <a:buClr>
                <a:srgbClr val="000000"/>
              </a:buClr>
              <a:buSzPts val="1219"/>
              <a:buFont typeface="Inter"/>
              <a:buNone/>
            </a:pPr>
            <a:r>
              <a:rPr lang="en-US" sz="1219" b="0" i="0" u="none" strike="noStrike" cap="none">
                <a:solidFill>
                  <a:srgbClr val="000000"/>
                </a:solidFill>
                <a:latin typeface="Inter"/>
                <a:ea typeface="Inter"/>
                <a:cs typeface="Inter"/>
                <a:sym typeface="Inter"/>
              </a:rPr>
              <a:t>Integrated security solutions provide a holistic view of the organization's security posture, enabling more comprehensive and meaningful reporting to stakeholders and decision-makers.</a:t>
            </a:r>
            <a:endParaRPr sz="1800" b="0" i="0" u="none" strike="noStrike" cap="none">
              <a:solidFill>
                <a:schemeClr val="dk1"/>
              </a:solidFill>
              <a:latin typeface="Arial"/>
              <a:ea typeface="Arial"/>
              <a:cs typeface="Arial"/>
              <a:sym typeface="Arial"/>
            </a:endParaRPr>
          </a:p>
        </p:txBody>
      </p:sp>
      <p:sp>
        <p:nvSpPr>
          <p:cNvPr id="90" name="Google Shape;90;p6"/>
          <p:cNvSpPr/>
          <p:nvPr/>
        </p:nvSpPr>
        <p:spPr>
          <a:xfrm>
            <a:off x="11855660" y="6496137"/>
            <a:ext cx="142839" cy="236875"/>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6"/>
          <p:cNvSpPr txBox="1">
            <a:spLocks noGrp="1"/>
          </p:cNvSpPr>
          <p:nvPr>
            <p:ph type="sldNum" idx="12"/>
          </p:nvPr>
        </p:nvSpPr>
        <p:spPr>
          <a:xfrm>
            <a:off x="11826240" y="6515100"/>
            <a:ext cx="800000" cy="3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100" b="0" i="0" u="none" strike="noStrike" cap="none">
                <a:solidFill>
                  <a:schemeClr val="dk1"/>
                </a:solidFill>
                <a:latin typeface="Arial"/>
                <a:ea typeface="Arial"/>
                <a:cs typeface="Arial"/>
                <a:sym typeface="Arial"/>
              </a:rPr>
              <a:t>8</a:t>
            </a:fld>
            <a:endParaRPr sz="11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8167454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661492" y="1539479"/>
            <a:ext cx="10869018" cy="529233"/>
          </a:xfrm>
          <a:prstGeom prst="rect">
            <a:avLst/>
          </a:prstGeom>
          <a:noFill/>
          <a:ln/>
        </p:spPr>
        <p:txBody>
          <a:bodyPr wrap="square" lIns="0" tIns="0" rIns="0" bIns="0" rtlCol="0" anchor="t"/>
          <a:lstStyle/>
          <a:p>
            <a:pPr>
              <a:lnSpc>
                <a:spcPts val="2083"/>
              </a:lnSpc>
            </a:pPr>
            <a:r>
              <a:rPr lang="en-US" sz="1292" dirty="0">
                <a:solidFill>
                  <a:srgbClr val="161613"/>
                </a:solidFill>
                <a:latin typeface="Optima" panose="02000503060000020004" pitchFamily="2" charset="0"/>
                <a:ea typeface="Inter" pitchFamily="34" charset="-122"/>
                <a:cs typeface="Inter" pitchFamily="34" charset="-120"/>
              </a:rPr>
              <a:t>Athena Software Group is at the forefront of integrating advanced AI capabilities into cybersecurity strategy and operations, helping organizations transition from reactive to proactive security postures.</a:t>
            </a:r>
            <a:endParaRPr lang="en-US" sz="1292" dirty="0">
              <a:latin typeface="Optima" panose="02000503060000020004" pitchFamily="2" charset="0"/>
            </a:endParaRPr>
          </a:p>
        </p:txBody>
      </p:sp>
      <p:pic>
        <p:nvPicPr>
          <p:cNvPr id="4" name="Image 0" descr="preencoded.png"/>
          <p:cNvPicPr>
            <a:picLocks noChangeAspect="1"/>
          </p:cNvPicPr>
          <p:nvPr/>
        </p:nvPicPr>
        <p:blipFill>
          <a:blip r:embed="rId3"/>
          <a:stretch>
            <a:fillRect/>
          </a:stretch>
        </p:blipFill>
        <p:spPr>
          <a:xfrm>
            <a:off x="661492" y="2254746"/>
            <a:ext cx="3622973" cy="661492"/>
          </a:xfrm>
          <a:prstGeom prst="rect">
            <a:avLst/>
          </a:prstGeom>
        </p:spPr>
      </p:pic>
      <p:sp>
        <p:nvSpPr>
          <p:cNvPr id="5" name="Text 2"/>
          <p:cNvSpPr/>
          <p:nvPr/>
        </p:nvSpPr>
        <p:spPr>
          <a:xfrm>
            <a:off x="826790" y="3081536"/>
            <a:ext cx="2978646" cy="258465"/>
          </a:xfrm>
          <a:prstGeom prst="rect">
            <a:avLst/>
          </a:prstGeom>
          <a:noFill/>
          <a:ln/>
        </p:spPr>
        <p:txBody>
          <a:bodyPr wrap="none" lIns="0" tIns="0" rIns="0" bIns="0" rtlCol="0" anchor="t"/>
          <a:lstStyle/>
          <a:p>
            <a:pPr>
              <a:lnSpc>
                <a:spcPts val="2000"/>
              </a:lnSpc>
            </a:pPr>
            <a:r>
              <a:rPr lang="en-US" sz="1625" b="1" dirty="0">
                <a:solidFill>
                  <a:srgbClr val="161613"/>
                </a:solidFill>
                <a:latin typeface="Optima" panose="02000503060000020004" pitchFamily="2" charset="0"/>
                <a:ea typeface="DM Sans Medium" pitchFamily="34" charset="-122"/>
                <a:cs typeface="DM Sans Medium" pitchFamily="34" charset="-120"/>
              </a:rPr>
              <a:t>Threat Intelligence Enrichment</a:t>
            </a:r>
            <a:endParaRPr lang="en-US" sz="1625" b="1" dirty="0">
              <a:latin typeface="Optima" panose="02000503060000020004" pitchFamily="2" charset="0"/>
            </a:endParaRPr>
          </a:p>
        </p:txBody>
      </p:sp>
      <p:sp>
        <p:nvSpPr>
          <p:cNvPr id="6" name="Text 3"/>
          <p:cNvSpPr/>
          <p:nvPr/>
        </p:nvSpPr>
        <p:spPr>
          <a:xfrm>
            <a:off x="826790" y="3439219"/>
            <a:ext cx="3292376" cy="1587698"/>
          </a:xfrm>
          <a:prstGeom prst="rect">
            <a:avLst/>
          </a:prstGeom>
          <a:noFill/>
          <a:ln/>
        </p:spPr>
        <p:txBody>
          <a:bodyPr wrap="square" lIns="0" tIns="0" rIns="0" bIns="0" rtlCol="0" anchor="t"/>
          <a:lstStyle/>
          <a:p>
            <a:pPr>
              <a:lnSpc>
                <a:spcPts val="2083"/>
              </a:lnSpc>
            </a:pPr>
            <a:r>
              <a:rPr lang="en-US" sz="1292" dirty="0">
                <a:solidFill>
                  <a:srgbClr val="161613"/>
                </a:solidFill>
                <a:latin typeface="Optima" panose="02000503060000020004" pitchFamily="2" charset="0"/>
                <a:ea typeface="Inter" pitchFamily="34" charset="-122"/>
                <a:cs typeface="Inter" pitchFamily="34" charset="-120"/>
              </a:rPr>
              <a:t>Our AI systems analyze global threat data from multiple sources, correlating it with your specific environment to provide contextualized intelligence about emerging threats relevant to your industry and technology stack.</a:t>
            </a:r>
            <a:endParaRPr lang="en-US" sz="1292" dirty="0">
              <a:latin typeface="Optima" panose="02000503060000020004" pitchFamily="2" charset="0"/>
            </a:endParaRPr>
          </a:p>
        </p:txBody>
      </p:sp>
      <p:pic>
        <p:nvPicPr>
          <p:cNvPr id="7" name="Image 1" descr="preencoded.png"/>
          <p:cNvPicPr>
            <a:picLocks noChangeAspect="1"/>
          </p:cNvPicPr>
          <p:nvPr/>
        </p:nvPicPr>
        <p:blipFill>
          <a:blip r:embed="rId4"/>
          <a:stretch>
            <a:fillRect/>
          </a:stretch>
        </p:blipFill>
        <p:spPr>
          <a:xfrm>
            <a:off x="4284464" y="2254746"/>
            <a:ext cx="3622973" cy="661492"/>
          </a:xfrm>
          <a:prstGeom prst="rect">
            <a:avLst/>
          </a:prstGeom>
        </p:spPr>
      </p:pic>
      <p:sp>
        <p:nvSpPr>
          <p:cNvPr id="8" name="Text 4"/>
          <p:cNvSpPr/>
          <p:nvPr/>
        </p:nvSpPr>
        <p:spPr>
          <a:xfrm>
            <a:off x="4449763" y="3081536"/>
            <a:ext cx="3292376" cy="516930"/>
          </a:xfrm>
          <a:prstGeom prst="rect">
            <a:avLst/>
          </a:prstGeom>
          <a:noFill/>
          <a:ln/>
        </p:spPr>
        <p:txBody>
          <a:bodyPr wrap="square" lIns="0" tIns="0" rIns="0" bIns="0" rtlCol="0" anchor="t"/>
          <a:lstStyle/>
          <a:p>
            <a:pPr>
              <a:lnSpc>
                <a:spcPts val="2000"/>
              </a:lnSpc>
            </a:pPr>
            <a:r>
              <a:rPr lang="en-US" sz="1625" b="1" dirty="0">
                <a:solidFill>
                  <a:srgbClr val="161613"/>
                </a:solidFill>
                <a:latin typeface="Optima" panose="02000503060000020004" pitchFamily="2" charset="0"/>
                <a:ea typeface="DM Sans Medium" pitchFamily="34" charset="-122"/>
                <a:cs typeface="DM Sans Medium" pitchFamily="34" charset="-120"/>
              </a:rPr>
              <a:t>Anomaly Detection &amp; Behavior Analysis</a:t>
            </a:r>
            <a:endParaRPr lang="en-US" sz="1625" b="1" dirty="0">
              <a:latin typeface="Optima" panose="02000503060000020004" pitchFamily="2" charset="0"/>
            </a:endParaRPr>
          </a:p>
        </p:txBody>
      </p:sp>
      <p:sp>
        <p:nvSpPr>
          <p:cNvPr id="9" name="Text 5"/>
          <p:cNvSpPr/>
          <p:nvPr/>
        </p:nvSpPr>
        <p:spPr>
          <a:xfrm>
            <a:off x="4449763" y="3697684"/>
            <a:ext cx="3292376" cy="1587698"/>
          </a:xfrm>
          <a:prstGeom prst="rect">
            <a:avLst/>
          </a:prstGeom>
          <a:noFill/>
          <a:ln/>
        </p:spPr>
        <p:txBody>
          <a:bodyPr wrap="square" lIns="0" tIns="0" rIns="0" bIns="0" rtlCol="0" anchor="t"/>
          <a:lstStyle/>
          <a:p>
            <a:pPr>
              <a:lnSpc>
                <a:spcPts val="2083"/>
              </a:lnSpc>
            </a:pPr>
            <a:r>
              <a:rPr lang="en-US" sz="1292" dirty="0">
                <a:solidFill>
                  <a:srgbClr val="161613"/>
                </a:solidFill>
                <a:latin typeface="Optima" panose="02000503060000020004" pitchFamily="2" charset="0"/>
                <a:ea typeface="Inter" pitchFamily="34" charset="-122"/>
                <a:cs typeface="Inter" pitchFamily="34" charset="-120"/>
              </a:rPr>
              <a:t>Advanced machine learning algorithms establish baselines of normal behavior across networks, systems, and users, identifying subtle deviations that may indicate compromise before traditional detection methods.</a:t>
            </a:r>
            <a:endParaRPr lang="en-US" sz="1292" dirty="0">
              <a:latin typeface="Optima" panose="02000503060000020004" pitchFamily="2" charset="0"/>
            </a:endParaRPr>
          </a:p>
        </p:txBody>
      </p:sp>
      <p:pic>
        <p:nvPicPr>
          <p:cNvPr id="10" name="Image 2" descr="preencoded.png"/>
          <p:cNvPicPr>
            <a:picLocks noChangeAspect="1"/>
          </p:cNvPicPr>
          <p:nvPr/>
        </p:nvPicPr>
        <p:blipFill>
          <a:blip r:embed="rId5"/>
          <a:stretch>
            <a:fillRect/>
          </a:stretch>
        </p:blipFill>
        <p:spPr>
          <a:xfrm>
            <a:off x="7907437" y="2254746"/>
            <a:ext cx="3622973" cy="661492"/>
          </a:xfrm>
          <a:prstGeom prst="rect">
            <a:avLst/>
          </a:prstGeom>
        </p:spPr>
      </p:pic>
      <p:sp>
        <p:nvSpPr>
          <p:cNvPr id="11" name="Text 6"/>
          <p:cNvSpPr/>
          <p:nvPr/>
        </p:nvSpPr>
        <p:spPr>
          <a:xfrm>
            <a:off x="8072735" y="3081536"/>
            <a:ext cx="3292376" cy="516930"/>
          </a:xfrm>
          <a:prstGeom prst="rect">
            <a:avLst/>
          </a:prstGeom>
          <a:noFill/>
          <a:ln/>
        </p:spPr>
        <p:txBody>
          <a:bodyPr wrap="square" lIns="0" tIns="0" rIns="0" bIns="0" rtlCol="0" anchor="t"/>
          <a:lstStyle/>
          <a:p>
            <a:pPr>
              <a:lnSpc>
                <a:spcPts val="2000"/>
              </a:lnSpc>
            </a:pPr>
            <a:r>
              <a:rPr lang="en-US" sz="1625" b="1" dirty="0">
                <a:solidFill>
                  <a:srgbClr val="161613"/>
                </a:solidFill>
                <a:latin typeface="Optima" panose="02000503060000020004" pitchFamily="2" charset="0"/>
                <a:ea typeface="DM Sans Medium" pitchFamily="34" charset="-122"/>
                <a:cs typeface="DM Sans Medium" pitchFamily="34" charset="-120"/>
              </a:rPr>
              <a:t>Automated Response Orchestration</a:t>
            </a:r>
            <a:endParaRPr lang="en-US" sz="1625" b="1" dirty="0">
              <a:latin typeface="Optima" panose="02000503060000020004" pitchFamily="2" charset="0"/>
            </a:endParaRPr>
          </a:p>
        </p:txBody>
      </p:sp>
      <p:sp>
        <p:nvSpPr>
          <p:cNvPr id="12" name="Text 7"/>
          <p:cNvSpPr/>
          <p:nvPr/>
        </p:nvSpPr>
        <p:spPr>
          <a:xfrm>
            <a:off x="8072735" y="3697684"/>
            <a:ext cx="3292376" cy="1587698"/>
          </a:xfrm>
          <a:prstGeom prst="rect">
            <a:avLst/>
          </a:prstGeom>
          <a:noFill/>
          <a:ln/>
        </p:spPr>
        <p:txBody>
          <a:bodyPr wrap="square" lIns="0" tIns="0" rIns="0" bIns="0" rtlCol="0" anchor="t"/>
          <a:lstStyle/>
          <a:p>
            <a:pPr>
              <a:lnSpc>
                <a:spcPts val="2083"/>
              </a:lnSpc>
            </a:pPr>
            <a:r>
              <a:rPr lang="en-US" sz="1292" dirty="0">
                <a:solidFill>
                  <a:srgbClr val="161613"/>
                </a:solidFill>
                <a:latin typeface="Optima" panose="02000503060000020004" pitchFamily="2" charset="0"/>
                <a:ea typeface="Inter" pitchFamily="34" charset="-122"/>
                <a:cs typeface="Inter" pitchFamily="34" charset="-120"/>
              </a:rPr>
              <a:t>AI-powered playbooks automate incident response workflows, reducing mean time to remediate (MTTR) by coordinating actions across security tools while maintaining human oversight for critical decisions.</a:t>
            </a:r>
            <a:endParaRPr lang="en-US" sz="1292" dirty="0">
              <a:latin typeface="Optima" panose="02000503060000020004" pitchFamily="2" charset="0"/>
            </a:endParaRPr>
          </a:p>
        </p:txBody>
      </p:sp>
      <p:sp>
        <p:nvSpPr>
          <p:cNvPr id="13" name="Text 8"/>
          <p:cNvSpPr/>
          <p:nvPr/>
        </p:nvSpPr>
        <p:spPr>
          <a:xfrm>
            <a:off x="2038351" y="5741492"/>
            <a:ext cx="8396784" cy="529233"/>
          </a:xfrm>
          <a:prstGeom prst="rect">
            <a:avLst/>
          </a:prstGeom>
          <a:noFill/>
          <a:ln/>
        </p:spPr>
        <p:txBody>
          <a:bodyPr wrap="square" lIns="0" tIns="0" rIns="0" bIns="0" rtlCol="0" anchor="t"/>
          <a:lstStyle/>
          <a:p>
            <a:pPr algn="ctr">
              <a:lnSpc>
                <a:spcPts val="2083"/>
              </a:lnSpc>
            </a:pPr>
            <a:r>
              <a:rPr lang="en-US" sz="1292" i="1" dirty="0">
                <a:solidFill>
                  <a:srgbClr val="161613"/>
                </a:solidFill>
                <a:latin typeface="Optima" panose="02000503060000020004" pitchFamily="2" charset="0"/>
                <a:ea typeface="Inter" pitchFamily="34" charset="-122"/>
                <a:cs typeface="Inter" pitchFamily="34" charset="-120"/>
              </a:rPr>
              <a:t>Our AI solutions are designed to augment human expertise, not replace it. We focus on reducing alert fatigue, accelerating analysis, and enabling security teams to focus on strategic priorities while machines handle repetitive tasks.</a:t>
            </a:r>
            <a:endParaRPr lang="en-US" sz="1292" i="1" dirty="0">
              <a:latin typeface="Optima" panose="02000503060000020004" pitchFamily="2" charset="0"/>
            </a:endParaRPr>
          </a:p>
        </p:txBody>
      </p:sp>
      <p:sp>
        <p:nvSpPr>
          <p:cNvPr id="2" name="Title 1">
            <a:extLst>
              <a:ext uri="{FF2B5EF4-FFF2-40B4-BE49-F238E27FC236}">
                <a16:creationId xmlns:a16="http://schemas.microsoft.com/office/drawing/2014/main" id="{DF690C87-78C1-869A-E0F5-1008E12049E9}"/>
              </a:ext>
            </a:extLst>
          </p:cNvPr>
          <p:cNvSpPr>
            <a:spLocks noGrp="1"/>
          </p:cNvSpPr>
          <p:nvPr>
            <p:ph type="title" idx="4294967295"/>
          </p:nvPr>
        </p:nvSpPr>
        <p:spPr>
          <a:xfrm>
            <a:off x="850569" y="231726"/>
            <a:ext cx="10514542" cy="784772"/>
          </a:xfrm>
          <a:prstGeom prst="rect">
            <a:avLst/>
          </a:prstGeom>
        </p:spPr>
        <p:txBody>
          <a:bodyPr/>
          <a:lstStyle/>
          <a:p>
            <a:r>
              <a:rPr lang="en-US" b="1" dirty="0">
                <a:solidFill>
                  <a:srgbClr val="333F70"/>
                </a:solidFill>
                <a:latin typeface="Unbounded Bold" pitchFamily="34" charset="0"/>
                <a:ea typeface="Unbounded Bold" pitchFamily="34" charset="-122"/>
                <a:cs typeface="Unbounded Bold" pitchFamily="34" charset="-120"/>
              </a:rPr>
              <a:t>AI Enablement</a:t>
            </a:r>
            <a:endParaRPr lang="en-US" dirty="0"/>
          </a:p>
        </p:txBody>
      </p:sp>
    </p:spTree>
    <p:extLst>
      <p:ext uri="{BB962C8B-B14F-4D97-AF65-F5344CB8AC3E}">
        <p14:creationId xmlns:p14="http://schemas.microsoft.com/office/powerpoint/2010/main" val="13531352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551457" y="1171773"/>
            <a:ext cx="5376367" cy="5376367"/>
          </a:xfrm>
          <a:prstGeom prst="rect">
            <a:avLst/>
          </a:prstGeom>
        </p:spPr>
      </p:pic>
      <p:sp>
        <p:nvSpPr>
          <p:cNvPr id="4" name="Text 1"/>
          <p:cNvSpPr/>
          <p:nvPr/>
        </p:nvSpPr>
        <p:spPr>
          <a:xfrm>
            <a:off x="6270526" y="1249759"/>
            <a:ext cx="4259362" cy="258465"/>
          </a:xfrm>
          <a:prstGeom prst="rect">
            <a:avLst/>
          </a:prstGeom>
          <a:noFill/>
          <a:ln/>
        </p:spPr>
        <p:txBody>
          <a:bodyPr wrap="none" lIns="0" tIns="0" rIns="0" bIns="0" rtlCol="0" anchor="t"/>
          <a:lstStyle/>
          <a:p>
            <a:pPr>
              <a:lnSpc>
                <a:spcPts val="2000"/>
              </a:lnSpc>
            </a:pPr>
            <a:r>
              <a:rPr lang="en-US" sz="1625" b="1" dirty="0">
                <a:solidFill>
                  <a:srgbClr val="233E32"/>
                </a:solidFill>
                <a:latin typeface="Optima" panose="02000503060000020004" pitchFamily="2" charset="0"/>
                <a:ea typeface="Alice" pitchFamily="34" charset="-122"/>
                <a:cs typeface="Alice" pitchFamily="34" charset="-120"/>
              </a:rPr>
              <a:t>Integrated AI-Enabled Cybersecurity Platform</a:t>
            </a:r>
            <a:endParaRPr lang="en-US" sz="1625" b="1" dirty="0">
              <a:latin typeface="Optima" panose="02000503060000020004" pitchFamily="2" charset="0"/>
            </a:endParaRPr>
          </a:p>
        </p:txBody>
      </p:sp>
      <p:sp>
        <p:nvSpPr>
          <p:cNvPr id="5" name="Text 2"/>
          <p:cNvSpPr/>
          <p:nvPr/>
        </p:nvSpPr>
        <p:spPr>
          <a:xfrm>
            <a:off x="6270526" y="1562149"/>
            <a:ext cx="5376367" cy="882650"/>
          </a:xfrm>
          <a:prstGeom prst="rect">
            <a:avLst/>
          </a:prstGeom>
          <a:noFill/>
          <a:ln/>
        </p:spPr>
        <p:txBody>
          <a:bodyPr wrap="square" lIns="0" tIns="0" rIns="0" bIns="0" rtlCol="0" anchor="t"/>
          <a:lstStyle/>
          <a:p>
            <a:pPr>
              <a:lnSpc>
                <a:spcPts val="1708"/>
              </a:lnSpc>
            </a:pPr>
            <a:r>
              <a:rPr lang="en-US" sz="1083" dirty="0">
                <a:solidFill>
                  <a:srgbClr val="2C2821"/>
                </a:solidFill>
                <a:latin typeface="Optima" panose="02000503060000020004" pitchFamily="2" charset="0"/>
                <a:ea typeface="Lora" pitchFamily="34" charset="-122"/>
                <a:cs typeface="Lora" pitchFamily="34" charset="-120"/>
              </a:rPr>
              <a:t>Our flagship Enterprise Security Suite delivers comprehensive protection through a unified platform that eliminates security gaps and simplifies management. Powered by advanced artificial intelligence, the suite continuously learns and adapts to emerging threats.</a:t>
            </a:r>
            <a:endParaRPr lang="en-US" sz="1083" dirty="0">
              <a:latin typeface="Optima" panose="02000503060000020004" pitchFamily="2" charset="0"/>
            </a:endParaRPr>
          </a:p>
        </p:txBody>
      </p:sp>
      <p:sp>
        <p:nvSpPr>
          <p:cNvPr id="6" name="Shape 3"/>
          <p:cNvSpPr/>
          <p:nvPr/>
        </p:nvSpPr>
        <p:spPr>
          <a:xfrm>
            <a:off x="6270526" y="2588519"/>
            <a:ext cx="310158" cy="310158"/>
          </a:xfrm>
          <a:prstGeom prst="roundRect">
            <a:avLst>
              <a:gd name="adj" fmla="val 6668"/>
            </a:avLst>
          </a:prstGeom>
          <a:solidFill>
            <a:schemeClr val="accent1"/>
          </a:solidFill>
          <a:ln/>
        </p:spPr>
        <p:txBody>
          <a:bodyPr/>
          <a:lstStyle/>
          <a:p>
            <a:endParaRPr lang="en-US" sz="1500"/>
          </a:p>
        </p:txBody>
      </p:sp>
      <p:sp>
        <p:nvSpPr>
          <p:cNvPr id="7" name="Text 4"/>
          <p:cNvSpPr/>
          <p:nvPr/>
        </p:nvSpPr>
        <p:spPr>
          <a:xfrm>
            <a:off x="6718498" y="2635846"/>
            <a:ext cx="3110607" cy="215404"/>
          </a:xfrm>
          <a:prstGeom prst="rect">
            <a:avLst/>
          </a:prstGeom>
          <a:noFill/>
          <a:ln/>
        </p:spPr>
        <p:txBody>
          <a:bodyPr wrap="none" lIns="0" tIns="0" rIns="0" bIns="0" rtlCol="0" anchor="t"/>
          <a:lstStyle/>
          <a:p>
            <a:pPr>
              <a:lnSpc>
                <a:spcPts val="1667"/>
              </a:lnSpc>
            </a:pPr>
            <a:r>
              <a:rPr lang="en-US" sz="1333" b="1" dirty="0">
                <a:solidFill>
                  <a:srgbClr val="2C2821"/>
                </a:solidFill>
                <a:latin typeface="Optima" panose="02000503060000020004" pitchFamily="2" charset="0"/>
                <a:ea typeface="Alice" pitchFamily="34" charset="-122"/>
                <a:cs typeface="Alice" pitchFamily="34" charset="-120"/>
              </a:rPr>
              <a:t>XDR (Extended Detection and Response)</a:t>
            </a:r>
            <a:endParaRPr lang="en-US" sz="1333" b="1" dirty="0">
              <a:latin typeface="Optima" panose="02000503060000020004" pitchFamily="2" charset="0"/>
            </a:endParaRPr>
          </a:p>
        </p:txBody>
      </p:sp>
      <p:sp>
        <p:nvSpPr>
          <p:cNvPr id="8" name="Text 5"/>
          <p:cNvSpPr/>
          <p:nvPr/>
        </p:nvSpPr>
        <p:spPr>
          <a:xfrm>
            <a:off x="6718499" y="2891193"/>
            <a:ext cx="4928394" cy="661988"/>
          </a:xfrm>
          <a:prstGeom prst="rect">
            <a:avLst/>
          </a:prstGeom>
          <a:noFill/>
          <a:ln/>
        </p:spPr>
        <p:txBody>
          <a:bodyPr wrap="square" lIns="0" tIns="0" rIns="0" bIns="0" rtlCol="0" anchor="t"/>
          <a:lstStyle/>
          <a:p>
            <a:pPr>
              <a:lnSpc>
                <a:spcPts val="1708"/>
              </a:lnSpc>
            </a:pPr>
            <a:r>
              <a:rPr lang="en-US" sz="1083" dirty="0">
                <a:solidFill>
                  <a:srgbClr val="2C2821"/>
                </a:solidFill>
                <a:latin typeface="Optima" panose="02000503060000020004" pitchFamily="2" charset="0"/>
                <a:ea typeface="Lora" pitchFamily="34" charset="-122"/>
                <a:cs typeface="Lora" pitchFamily="34" charset="-120"/>
              </a:rPr>
              <a:t>Detect and respond to threats across endpoints, networks, cloud workloads, and applications with correlated security data and automated response capabilities.</a:t>
            </a:r>
            <a:endParaRPr lang="en-US" sz="1083" dirty="0">
              <a:latin typeface="Optima" panose="02000503060000020004" pitchFamily="2" charset="0"/>
            </a:endParaRPr>
          </a:p>
        </p:txBody>
      </p:sp>
      <p:sp>
        <p:nvSpPr>
          <p:cNvPr id="9" name="Shape 6"/>
          <p:cNvSpPr/>
          <p:nvPr/>
        </p:nvSpPr>
        <p:spPr>
          <a:xfrm>
            <a:off x="6270526" y="3458395"/>
            <a:ext cx="310158" cy="310158"/>
          </a:xfrm>
          <a:prstGeom prst="roundRect">
            <a:avLst>
              <a:gd name="adj" fmla="val 6668"/>
            </a:avLst>
          </a:prstGeom>
          <a:solidFill>
            <a:schemeClr val="accent1"/>
          </a:solidFill>
          <a:ln/>
        </p:spPr>
        <p:txBody>
          <a:bodyPr/>
          <a:lstStyle/>
          <a:p>
            <a:endParaRPr lang="en-US" sz="1500"/>
          </a:p>
        </p:txBody>
      </p:sp>
      <p:sp>
        <p:nvSpPr>
          <p:cNvPr id="10" name="Text 7"/>
          <p:cNvSpPr/>
          <p:nvPr/>
        </p:nvSpPr>
        <p:spPr>
          <a:xfrm>
            <a:off x="6718499" y="3505722"/>
            <a:ext cx="2047181" cy="215404"/>
          </a:xfrm>
          <a:prstGeom prst="rect">
            <a:avLst/>
          </a:prstGeom>
          <a:noFill/>
          <a:ln/>
        </p:spPr>
        <p:txBody>
          <a:bodyPr wrap="none" lIns="0" tIns="0" rIns="0" bIns="0" rtlCol="0" anchor="t"/>
          <a:lstStyle/>
          <a:p>
            <a:pPr>
              <a:lnSpc>
                <a:spcPts val="1667"/>
              </a:lnSpc>
            </a:pPr>
            <a:r>
              <a:rPr lang="en-US" sz="1333" b="1" dirty="0">
                <a:solidFill>
                  <a:srgbClr val="2C2821"/>
                </a:solidFill>
                <a:latin typeface="Optima" panose="02000503060000020004" pitchFamily="2" charset="0"/>
                <a:ea typeface="Alice" pitchFamily="34" charset="-122"/>
                <a:cs typeface="Alice" pitchFamily="34" charset="-120"/>
              </a:rPr>
              <a:t>WAF &amp; Firewall Protection</a:t>
            </a:r>
            <a:endParaRPr lang="en-US" sz="1333" b="1" dirty="0">
              <a:latin typeface="Optima" panose="02000503060000020004" pitchFamily="2" charset="0"/>
            </a:endParaRPr>
          </a:p>
        </p:txBody>
      </p:sp>
      <p:sp>
        <p:nvSpPr>
          <p:cNvPr id="11" name="Text 8"/>
          <p:cNvSpPr/>
          <p:nvPr/>
        </p:nvSpPr>
        <p:spPr>
          <a:xfrm>
            <a:off x="6718499" y="3754079"/>
            <a:ext cx="4928394" cy="661988"/>
          </a:xfrm>
          <a:prstGeom prst="rect">
            <a:avLst/>
          </a:prstGeom>
          <a:noFill/>
          <a:ln/>
        </p:spPr>
        <p:txBody>
          <a:bodyPr wrap="square" lIns="0" tIns="0" rIns="0" bIns="0" rtlCol="0" anchor="t"/>
          <a:lstStyle/>
          <a:p>
            <a:pPr>
              <a:lnSpc>
                <a:spcPts val="1708"/>
              </a:lnSpc>
            </a:pPr>
            <a:r>
              <a:rPr lang="en-US" sz="1083" dirty="0">
                <a:solidFill>
                  <a:srgbClr val="2C2821"/>
                </a:solidFill>
                <a:latin typeface="Optima" panose="02000503060000020004" pitchFamily="2" charset="0"/>
                <a:ea typeface="Lora" pitchFamily="34" charset="-122"/>
                <a:cs typeface="Lora" pitchFamily="34" charset="-120"/>
              </a:rPr>
              <a:t>Defend web applications and network perimeters with intelligent filtering that blocks malicious traffic while allowing legitimate users to access critical resources.</a:t>
            </a:r>
            <a:endParaRPr lang="en-US" sz="1083" dirty="0">
              <a:latin typeface="Optima" panose="02000503060000020004" pitchFamily="2" charset="0"/>
            </a:endParaRPr>
          </a:p>
        </p:txBody>
      </p:sp>
      <p:sp>
        <p:nvSpPr>
          <p:cNvPr id="12" name="Shape 9"/>
          <p:cNvSpPr/>
          <p:nvPr/>
        </p:nvSpPr>
        <p:spPr>
          <a:xfrm>
            <a:off x="6270526" y="4314290"/>
            <a:ext cx="310158" cy="310158"/>
          </a:xfrm>
          <a:prstGeom prst="roundRect">
            <a:avLst>
              <a:gd name="adj" fmla="val 6668"/>
            </a:avLst>
          </a:prstGeom>
          <a:solidFill>
            <a:schemeClr val="accent1"/>
          </a:solidFill>
          <a:ln/>
        </p:spPr>
        <p:txBody>
          <a:bodyPr/>
          <a:lstStyle/>
          <a:p>
            <a:endParaRPr lang="en-US" sz="1500"/>
          </a:p>
        </p:txBody>
      </p:sp>
      <p:sp>
        <p:nvSpPr>
          <p:cNvPr id="13" name="Text 10"/>
          <p:cNvSpPr/>
          <p:nvPr/>
        </p:nvSpPr>
        <p:spPr>
          <a:xfrm>
            <a:off x="6718498" y="4361617"/>
            <a:ext cx="1965722" cy="215404"/>
          </a:xfrm>
          <a:prstGeom prst="rect">
            <a:avLst/>
          </a:prstGeom>
          <a:noFill/>
          <a:ln/>
        </p:spPr>
        <p:txBody>
          <a:bodyPr wrap="none" lIns="0" tIns="0" rIns="0" bIns="0" rtlCol="0" anchor="t"/>
          <a:lstStyle/>
          <a:p>
            <a:pPr>
              <a:lnSpc>
                <a:spcPts val="1667"/>
              </a:lnSpc>
            </a:pPr>
            <a:r>
              <a:rPr lang="en-US" sz="1333" b="1" dirty="0">
                <a:solidFill>
                  <a:srgbClr val="2C2821"/>
                </a:solidFill>
                <a:latin typeface="Optima" panose="02000503060000020004" pitchFamily="2" charset="0"/>
                <a:ea typeface="Alice" pitchFamily="34" charset="-122"/>
                <a:cs typeface="Alice" pitchFamily="34" charset="-120"/>
              </a:rPr>
              <a:t>SIEM &amp; NIDS Integration</a:t>
            </a:r>
            <a:endParaRPr lang="en-US" sz="1333" b="1" dirty="0">
              <a:latin typeface="Optima" panose="02000503060000020004" pitchFamily="2" charset="0"/>
            </a:endParaRPr>
          </a:p>
        </p:txBody>
      </p:sp>
      <p:sp>
        <p:nvSpPr>
          <p:cNvPr id="14" name="Text 11"/>
          <p:cNvSpPr/>
          <p:nvPr/>
        </p:nvSpPr>
        <p:spPr>
          <a:xfrm>
            <a:off x="6718499" y="4616964"/>
            <a:ext cx="4928394" cy="661988"/>
          </a:xfrm>
          <a:prstGeom prst="rect">
            <a:avLst/>
          </a:prstGeom>
          <a:noFill/>
          <a:ln/>
        </p:spPr>
        <p:txBody>
          <a:bodyPr wrap="square" lIns="0" tIns="0" rIns="0" bIns="0" rtlCol="0" anchor="t"/>
          <a:lstStyle/>
          <a:p>
            <a:pPr>
              <a:lnSpc>
                <a:spcPts val="1708"/>
              </a:lnSpc>
            </a:pPr>
            <a:r>
              <a:rPr lang="en-US" sz="1083" dirty="0">
                <a:solidFill>
                  <a:srgbClr val="2C2821"/>
                </a:solidFill>
                <a:latin typeface="Optima" panose="02000503060000020004" pitchFamily="2" charset="0"/>
                <a:ea typeface="Lora" pitchFamily="34" charset="-122"/>
                <a:cs typeface="Lora" pitchFamily="34" charset="-120"/>
              </a:rPr>
              <a:t>Centralize security event monitoring and network intrusion detection to identify suspicious patterns and provide complete visibility across your infrastructure.</a:t>
            </a:r>
            <a:endParaRPr lang="en-US" sz="1083" dirty="0">
              <a:latin typeface="Optima" panose="02000503060000020004" pitchFamily="2" charset="0"/>
            </a:endParaRPr>
          </a:p>
        </p:txBody>
      </p:sp>
      <p:sp>
        <p:nvSpPr>
          <p:cNvPr id="16" name="Shape 9">
            <a:extLst>
              <a:ext uri="{FF2B5EF4-FFF2-40B4-BE49-F238E27FC236}">
                <a16:creationId xmlns:a16="http://schemas.microsoft.com/office/drawing/2014/main" id="{A9998899-F567-FCD3-B3AC-8B9EE2164A11}"/>
              </a:ext>
            </a:extLst>
          </p:cNvPr>
          <p:cNvSpPr/>
          <p:nvPr/>
        </p:nvSpPr>
        <p:spPr>
          <a:xfrm>
            <a:off x="6270526" y="5170185"/>
            <a:ext cx="310158" cy="310158"/>
          </a:xfrm>
          <a:prstGeom prst="roundRect">
            <a:avLst>
              <a:gd name="adj" fmla="val 6668"/>
            </a:avLst>
          </a:prstGeom>
          <a:solidFill>
            <a:schemeClr val="accent1"/>
          </a:solidFill>
          <a:ln/>
        </p:spPr>
        <p:txBody>
          <a:bodyPr/>
          <a:lstStyle/>
          <a:p>
            <a:endParaRPr lang="en-US" sz="1500"/>
          </a:p>
        </p:txBody>
      </p:sp>
      <p:sp>
        <p:nvSpPr>
          <p:cNvPr id="17" name="Text 10">
            <a:extLst>
              <a:ext uri="{FF2B5EF4-FFF2-40B4-BE49-F238E27FC236}">
                <a16:creationId xmlns:a16="http://schemas.microsoft.com/office/drawing/2014/main" id="{905E27E5-BA72-C405-0C54-0E76473DBE93}"/>
              </a:ext>
            </a:extLst>
          </p:cNvPr>
          <p:cNvSpPr/>
          <p:nvPr/>
        </p:nvSpPr>
        <p:spPr>
          <a:xfrm>
            <a:off x="6718498" y="5217512"/>
            <a:ext cx="1965722" cy="215404"/>
          </a:xfrm>
          <a:prstGeom prst="rect">
            <a:avLst/>
          </a:prstGeom>
          <a:noFill/>
          <a:ln/>
        </p:spPr>
        <p:txBody>
          <a:bodyPr wrap="none" lIns="0" tIns="0" rIns="0" bIns="0" rtlCol="0" anchor="t"/>
          <a:lstStyle/>
          <a:p>
            <a:pPr>
              <a:lnSpc>
                <a:spcPts val="1667"/>
              </a:lnSpc>
            </a:pPr>
            <a:r>
              <a:rPr lang="en-US" sz="1333" b="1" dirty="0">
                <a:solidFill>
                  <a:srgbClr val="2C2821"/>
                </a:solidFill>
                <a:latin typeface="Optima" panose="02000503060000020004" pitchFamily="2" charset="0"/>
                <a:ea typeface="Alice" pitchFamily="34" charset="-122"/>
                <a:cs typeface="Alice" pitchFamily="34" charset="-120"/>
              </a:rPr>
              <a:t>Advanced CTI LLM Integration</a:t>
            </a:r>
            <a:endParaRPr lang="en-US" sz="1333" b="1" dirty="0">
              <a:latin typeface="Optima" panose="02000503060000020004" pitchFamily="2" charset="0"/>
            </a:endParaRPr>
          </a:p>
        </p:txBody>
      </p:sp>
      <p:sp>
        <p:nvSpPr>
          <p:cNvPr id="18" name="Text 11">
            <a:extLst>
              <a:ext uri="{FF2B5EF4-FFF2-40B4-BE49-F238E27FC236}">
                <a16:creationId xmlns:a16="http://schemas.microsoft.com/office/drawing/2014/main" id="{5D0449E3-FFC5-1105-C8D3-B98123563B07}"/>
              </a:ext>
            </a:extLst>
          </p:cNvPr>
          <p:cNvSpPr/>
          <p:nvPr/>
        </p:nvSpPr>
        <p:spPr>
          <a:xfrm>
            <a:off x="6718499" y="5472859"/>
            <a:ext cx="4928394" cy="661988"/>
          </a:xfrm>
          <a:prstGeom prst="rect">
            <a:avLst/>
          </a:prstGeom>
          <a:noFill/>
          <a:ln/>
        </p:spPr>
        <p:txBody>
          <a:bodyPr wrap="square" lIns="0" tIns="0" rIns="0" bIns="0" rtlCol="0" anchor="t"/>
          <a:lstStyle/>
          <a:p>
            <a:pPr>
              <a:lnSpc>
                <a:spcPts val="1708"/>
              </a:lnSpc>
            </a:pPr>
            <a:r>
              <a:rPr lang="en-US" sz="1083" dirty="0">
                <a:solidFill>
                  <a:srgbClr val="2C2821"/>
                </a:solidFill>
                <a:latin typeface="Optima" panose="02000503060000020004" pitchFamily="2" charset="0"/>
                <a:ea typeface="Lora" pitchFamily="34" charset="-122"/>
                <a:cs typeface="Lora" pitchFamily="34" charset="-120"/>
              </a:rPr>
              <a:t>Built in Integration with the industries most advanced Threat Intelligence LLM (built with Flashpoint Intelligence)</a:t>
            </a:r>
            <a:endParaRPr lang="en-US" sz="1083" dirty="0">
              <a:latin typeface="Optima" panose="02000503060000020004" pitchFamily="2" charset="0"/>
            </a:endParaRPr>
          </a:p>
        </p:txBody>
      </p:sp>
      <p:sp>
        <p:nvSpPr>
          <p:cNvPr id="19" name="Title 18">
            <a:extLst>
              <a:ext uri="{FF2B5EF4-FFF2-40B4-BE49-F238E27FC236}">
                <a16:creationId xmlns:a16="http://schemas.microsoft.com/office/drawing/2014/main" id="{D3C18566-4665-FFCC-0474-BA5AEA86674E}"/>
              </a:ext>
            </a:extLst>
          </p:cNvPr>
          <p:cNvSpPr>
            <a:spLocks noGrp="1"/>
          </p:cNvSpPr>
          <p:nvPr>
            <p:ph type="title" idx="4294967295"/>
          </p:nvPr>
        </p:nvSpPr>
        <p:spPr>
          <a:xfrm>
            <a:off x="838729" y="365125"/>
            <a:ext cx="10514542" cy="652684"/>
          </a:xfrm>
          <a:prstGeom prst="rect">
            <a:avLst/>
          </a:prstGeom>
        </p:spPr>
        <p:txBody>
          <a:bodyPr/>
          <a:lstStyle/>
          <a:p>
            <a:r>
              <a:rPr lang="en-US" b="1" dirty="0">
                <a:solidFill>
                  <a:srgbClr val="333F70"/>
                </a:solidFill>
                <a:latin typeface="Unbounded Bold" pitchFamily="34" charset="0"/>
                <a:ea typeface="Unbounded Bold" pitchFamily="34" charset="-122"/>
                <a:cs typeface="Unbounded Bold" pitchFamily="34" charset="-120"/>
              </a:rPr>
              <a:t>Enterprise Grade Security</a:t>
            </a:r>
            <a:endParaRPr lang="en-US" dirty="0"/>
          </a:p>
        </p:txBody>
      </p:sp>
    </p:spTree>
    <p:extLst>
      <p:ext uri="{BB962C8B-B14F-4D97-AF65-F5344CB8AC3E}">
        <p14:creationId xmlns:p14="http://schemas.microsoft.com/office/powerpoint/2010/main" val="5888161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A1BBC70-2425-56E7-5010-B547D02C1984}"/>
              </a:ext>
            </a:extLst>
          </p:cNvPr>
          <p:cNvSpPr txBox="1"/>
          <p:nvPr/>
        </p:nvSpPr>
        <p:spPr>
          <a:xfrm>
            <a:off x="457200" y="1351757"/>
            <a:ext cx="6027482" cy="3970318"/>
          </a:xfrm>
          <a:prstGeom prst="rect">
            <a:avLst/>
          </a:prstGeom>
          <a:noFill/>
        </p:spPr>
        <p:txBody>
          <a:bodyPr wrap="square">
            <a:spAutoFit/>
          </a:bodyPr>
          <a:lstStyle/>
          <a:p>
            <a:r>
              <a:rPr lang="en-US" sz="2800" i="1"/>
              <a:t>Stop the madness!</a:t>
            </a:r>
          </a:p>
          <a:p>
            <a:endParaRPr lang="en-US" sz="2800"/>
          </a:p>
          <a:p>
            <a:r>
              <a:rPr lang="en-US" sz="2800"/>
              <a:t>Consolidate threat sources and normalize the data. Feed into CTI-LLM that collates the detailed technical info with best-in-class industry knowledge (Ignite).</a:t>
            </a:r>
          </a:p>
          <a:p>
            <a:endParaRPr lang="en-US" sz="2800"/>
          </a:p>
          <a:p>
            <a:r>
              <a:rPr lang="en-US" sz="2800"/>
              <a:t>Enter Athena…</a:t>
            </a:r>
          </a:p>
        </p:txBody>
      </p:sp>
      <p:pic>
        <p:nvPicPr>
          <p:cNvPr id="4" name="Picture 3">
            <a:extLst>
              <a:ext uri="{FF2B5EF4-FFF2-40B4-BE49-F238E27FC236}">
                <a16:creationId xmlns:a16="http://schemas.microsoft.com/office/drawing/2014/main" id="{68DC5D95-96EC-4753-7E25-23AF75656FE6}"/>
              </a:ext>
            </a:extLst>
          </p:cNvPr>
          <p:cNvPicPr>
            <a:picLocks noChangeAspect="1"/>
          </p:cNvPicPr>
          <p:nvPr/>
        </p:nvPicPr>
        <p:blipFill>
          <a:blip r:embed="rId2"/>
          <a:stretch>
            <a:fillRect/>
          </a:stretch>
        </p:blipFill>
        <p:spPr>
          <a:xfrm>
            <a:off x="7294910" y="0"/>
            <a:ext cx="4292347" cy="6858000"/>
          </a:xfrm>
          <a:prstGeom prst="rect">
            <a:avLst/>
          </a:prstGeom>
        </p:spPr>
      </p:pic>
    </p:spTree>
    <p:extLst>
      <p:ext uri="{BB962C8B-B14F-4D97-AF65-F5344CB8AC3E}">
        <p14:creationId xmlns:p14="http://schemas.microsoft.com/office/powerpoint/2010/main" val="10148333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Freeform: Shape 28">
            <a:extLst>
              <a:ext uri="{FF2B5EF4-FFF2-40B4-BE49-F238E27FC236}">
                <a16:creationId xmlns:a16="http://schemas.microsoft.com/office/drawing/2014/main" id="{6EB4DC67-5286-4E88-90B5-D3D6B79E5796}"/>
              </a:ext>
            </a:extLst>
          </p:cNvPr>
          <p:cNvSpPr/>
          <p:nvPr/>
        </p:nvSpPr>
        <p:spPr>
          <a:xfrm>
            <a:off x="1108501" y="3443736"/>
            <a:ext cx="10180115" cy="2457719"/>
          </a:xfrm>
          <a:custGeom>
            <a:avLst/>
            <a:gdLst>
              <a:gd name="connsiteX0" fmla="*/ 9424213 w 9424213"/>
              <a:gd name="connsiteY0" fmla="*/ 0 h 3089999"/>
              <a:gd name="connsiteX1" fmla="*/ 218156 w 9424213"/>
              <a:gd name="connsiteY1" fmla="*/ 3089813 h 3089999"/>
              <a:gd name="connsiteX2" fmla="*/ 197709 w 9424213"/>
              <a:gd name="connsiteY2" fmla="*/ 3089999 h 3089999"/>
              <a:gd name="connsiteX3" fmla="*/ 0 w 9424213"/>
              <a:gd name="connsiteY3" fmla="*/ 2930800 h 3089999"/>
              <a:gd name="connsiteX4" fmla="*/ 9424213 w 9424213"/>
              <a:gd name="connsiteY4" fmla="*/ 0 h 30899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24213" h="3089999">
                <a:moveTo>
                  <a:pt x="9424213" y="0"/>
                </a:moveTo>
                <a:lnTo>
                  <a:pt x="218156" y="3089813"/>
                </a:lnTo>
                <a:lnTo>
                  <a:pt x="197709" y="3089999"/>
                </a:lnTo>
                <a:lnTo>
                  <a:pt x="0" y="2930800"/>
                </a:lnTo>
                <a:lnTo>
                  <a:pt x="9424213" y="0"/>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p>
        </p:txBody>
      </p:sp>
      <p:sp>
        <p:nvSpPr>
          <p:cNvPr id="13" name="Oval 12">
            <a:extLst>
              <a:ext uri="{FF2B5EF4-FFF2-40B4-BE49-F238E27FC236}">
                <a16:creationId xmlns:a16="http://schemas.microsoft.com/office/drawing/2014/main" id="{9D923115-E0A8-4FD6-8B07-91335A4D14D3}"/>
              </a:ext>
            </a:extLst>
          </p:cNvPr>
          <p:cNvSpPr/>
          <p:nvPr/>
        </p:nvSpPr>
        <p:spPr>
          <a:xfrm>
            <a:off x="776834" y="5674802"/>
            <a:ext cx="693375" cy="311472"/>
          </a:xfrm>
          <a:prstGeom prst="ellipse">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p>
        </p:txBody>
      </p:sp>
      <p:sp>
        <p:nvSpPr>
          <p:cNvPr id="43" name="Oval 42">
            <a:extLst>
              <a:ext uri="{FF2B5EF4-FFF2-40B4-BE49-F238E27FC236}">
                <a16:creationId xmlns:a16="http://schemas.microsoft.com/office/drawing/2014/main" id="{BCE8645F-BA58-4FE2-8FCC-3984E9B23E23}"/>
              </a:ext>
            </a:extLst>
          </p:cNvPr>
          <p:cNvSpPr/>
          <p:nvPr/>
        </p:nvSpPr>
        <p:spPr>
          <a:xfrm flipV="1">
            <a:off x="1000911" y="5774055"/>
            <a:ext cx="245218" cy="11015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p>
        </p:txBody>
      </p:sp>
      <p:sp>
        <p:nvSpPr>
          <p:cNvPr id="45" name="Oval 44">
            <a:extLst>
              <a:ext uri="{FF2B5EF4-FFF2-40B4-BE49-F238E27FC236}">
                <a16:creationId xmlns:a16="http://schemas.microsoft.com/office/drawing/2014/main" id="{E472ED43-822F-4E1D-9840-426CC78CA2C3}"/>
              </a:ext>
            </a:extLst>
          </p:cNvPr>
          <p:cNvSpPr/>
          <p:nvPr/>
        </p:nvSpPr>
        <p:spPr>
          <a:xfrm>
            <a:off x="3331011" y="5120169"/>
            <a:ext cx="633840" cy="284729"/>
          </a:xfrm>
          <a:prstGeom prst="ellipse">
            <a:avLst/>
          </a:prstGeom>
          <a:solidFill>
            <a:schemeClr val="bg1"/>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p>
        </p:txBody>
      </p:sp>
      <p:sp>
        <p:nvSpPr>
          <p:cNvPr id="47" name="Oval 46">
            <a:extLst>
              <a:ext uri="{FF2B5EF4-FFF2-40B4-BE49-F238E27FC236}">
                <a16:creationId xmlns:a16="http://schemas.microsoft.com/office/drawing/2014/main" id="{54CC123B-6A00-45B2-B9B5-72F7EF341735}"/>
              </a:ext>
            </a:extLst>
          </p:cNvPr>
          <p:cNvSpPr/>
          <p:nvPr/>
        </p:nvSpPr>
        <p:spPr>
          <a:xfrm flipV="1">
            <a:off x="3535852" y="5210897"/>
            <a:ext cx="224163" cy="100698"/>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p>
        </p:txBody>
      </p:sp>
      <p:sp>
        <p:nvSpPr>
          <p:cNvPr id="49" name="Oval 48">
            <a:extLst>
              <a:ext uri="{FF2B5EF4-FFF2-40B4-BE49-F238E27FC236}">
                <a16:creationId xmlns:a16="http://schemas.microsoft.com/office/drawing/2014/main" id="{CA059239-36DA-4607-B140-92248D80145E}"/>
              </a:ext>
            </a:extLst>
          </p:cNvPr>
          <p:cNvSpPr/>
          <p:nvPr/>
        </p:nvSpPr>
        <p:spPr>
          <a:xfrm>
            <a:off x="5825654" y="4553023"/>
            <a:ext cx="520492" cy="233812"/>
          </a:xfrm>
          <a:prstGeom prst="ellipse">
            <a:avLst/>
          </a:prstGeom>
          <a:solidFill>
            <a:schemeClr val="bg1"/>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p>
        </p:txBody>
      </p:sp>
      <p:sp>
        <p:nvSpPr>
          <p:cNvPr id="51" name="Oval 50">
            <a:extLst>
              <a:ext uri="{FF2B5EF4-FFF2-40B4-BE49-F238E27FC236}">
                <a16:creationId xmlns:a16="http://schemas.microsoft.com/office/drawing/2014/main" id="{E4695610-7443-41A2-8CA5-401FAD026F15}"/>
              </a:ext>
            </a:extLst>
          </p:cNvPr>
          <p:cNvSpPr/>
          <p:nvPr/>
        </p:nvSpPr>
        <p:spPr>
          <a:xfrm flipV="1">
            <a:off x="5993863" y="4627530"/>
            <a:ext cx="184076" cy="82691"/>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p>
        </p:txBody>
      </p:sp>
      <p:sp>
        <p:nvSpPr>
          <p:cNvPr id="53" name="Oval 52">
            <a:extLst>
              <a:ext uri="{FF2B5EF4-FFF2-40B4-BE49-F238E27FC236}">
                <a16:creationId xmlns:a16="http://schemas.microsoft.com/office/drawing/2014/main" id="{9DDBCCDA-19E6-46BB-9A2C-A46C998F8373}"/>
              </a:ext>
            </a:extLst>
          </p:cNvPr>
          <p:cNvSpPr/>
          <p:nvPr/>
        </p:nvSpPr>
        <p:spPr>
          <a:xfrm>
            <a:off x="8206950" y="4020236"/>
            <a:ext cx="439154" cy="197274"/>
          </a:xfrm>
          <a:prstGeom prst="ellipse">
            <a:avLst/>
          </a:prstGeom>
          <a:solidFill>
            <a:schemeClr val="bg1"/>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p>
        </p:txBody>
      </p:sp>
      <p:sp>
        <p:nvSpPr>
          <p:cNvPr id="55" name="Oval 54">
            <a:extLst>
              <a:ext uri="{FF2B5EF4-FFF2-40B4-BE49-F238E27FC236}">
                <a16:creationId xmlns:a16="http://schemas.microsoft.com/office/drawing/2014/main" id="{3BAB75A5-9A7C-437C-8BA8-F2CEC4F6F687}"/>
              </a:ext>
            </a:extLst>
          </p:cNvPr>
          <p:cNvSpPr/>
          <p:nvPr/>
        </p:nvSpPr>
        <p:spPr>
          <a:xfrm flipV="1">
            <a:off x="8348873" y="4083099"/>
            <a:ext cx="155311" cy="69769"/>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p>
        </p:txBody>
      </p:sp>
      <p:cxnSp>
        <p:nvCxnSpPr>
          <p:cNvPr id="18" name="Straight Connector 17">
            <a:extLst>
              <a:ext uri="{FF2B5EF4-FFF2-40B4-BE49-F238E27FC236}">
                <a16:creationId xmlns:a16="http://schemas.microsoft.com/office/drawing/2014/main" id="{F6D3C4C1-3A03-41CE-9DB6-E9378458852A}"/>
              </a:ext>
            </a:extLst>
          </p:cNvPr>
          <p:cNvCxnSpPr>
            <a:cxnSpLocks/>
          </p:cNvCxnSpPr>
          <p:nvPr/>
        </p:nvCxnSpPr>
        <p:spPr>
          <a:xfrm>
            <a:off x="1116476" y="1498859"/>
            <a:ext cx="0" cy="4322675"/>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A76B5A18-7070-4F4D-B429-7C814936783B}"/>
              </a:ext>
            </a:extLst>
          </p:cNvPr>
          <p:cNvCxnSpPr>
            <a:cxnSpLocks/>
          </p:cNvCxnSpPr>
          <p:nvPr/>
        </p:nvCxnSpPr>
        <p:spPr>
          <a:xfrm>
            <a:off x="3647931" y="1498859"/>
            <a:ext cx="0" cy="3724696"/>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9A0151DD-0551-41B6-9DEC-62335824A0A8}"/>
              </a:ext>
            </a:extLst>
          </p:cNvPr>
          <p:cNvCxnSpPr>
            <a:cxnSpLocks/>
          </p:cNvCxnSpPr>
          <p:nvPr/>
        </p:nvCxnSpPr>
        <p:spPr>
          <a:xfrm>
            <a:off x="6085900" y="1498860"/>
            <a:ext cx="0" cy="3147457"/>
          </a:xfrm>
          <a:prstGeom prst="line">
            <a:avLst/>
          </a:prstGeom>
          <a:ln w="1905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261E01AA-D061-4E50-AFFD-F9129270459A}"/>
              </a:ext>
            </a:extLst>
          </p:cNvPr>
          <p:cNvCxnSpPr>
            <a:cxnSpLocks/>
            <a:endCxn id="55" idx="4"/>
          </p:cNvCxnSpPr>
          <p:nvPr/>
        </p:nvCxnSpPr>
        <p:spPr>
          <a:xfrm>
            <a:off x="8426527" y="1498860"/>
            <a:ext cx="0" cy="2584239"/>
          </a:xfrm>
          <a:prstGeom prst="line">
            <a:avLst/>
          </a:prstGeom>
          <a:ln w="19050">
            <a:solidFill>
              <a:schemeClr val="accent5"/>
            </a:solidFill>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E30737F0-4F43-41D9-A3A4-7B18300E519A}"/>
              </a:ext>
            </a:extLst>
          </p:cNvPr>
          <p:cNvSpPr txBox="1"/>
          <p:nvPr/>
        </p:nvSpPr>
        <p:spPr>
          <a:xfrm>
            <a:off x="1470210" y="1532756"/>
            <a:ext cx="2074046" cy="374398"/>
          </a:xfrm>
          <a:prstGeom prst="rect">
            <a:avLst/>
          </a:prstGeom>
          <a:noFill/>
        </p:spPr>
        <p:txBody>
          <a:bodyPr wrap="square" rtlCol="0">
            <a:spAutoFit/>
          </a:bodyPr>
          <a:lstStyle/>
          <a:p>
            <a:pPr algn="ctr"/>
            <a:r>
              <a:rPr lang="en-IN" sz="1833" dirty="0">
                <a:solidFill>
                  <a:schemeClr val="accent1"/>
                </a:solidFill>
                <a:latin typeface="Open Sans"/>
              </a:rPr>
              <a:t>2025</a:t>
            </a:r>
          </a:p>
        </p:txBody>
      </p:sp>
      <p:sp>
        <p:nvSpPr>
          <p:cNvPr id="59" name="TextBox 58">
            <a:extLst>
              <a:ext uri="{FF2B5EF4-FFF2-40B4-BE49-F238E27FC236}">
                <a16:creationId xmlns:a16="http://schemas.microsoft.com/office/drawing/2014/main" id="{3A08C3BF-4742-4082-B835-DD60020673C7}"/>
              </a:ext>
            </a:extLst>
          </p:cNvPr>
          <p:cNvSpPr txBox="1"/>
          <p:nvPr/>
        </p:nvSpPr>
        <p:spPr>
          <a:xfrm>
            <a:off x="3810835" y="1532756"/>
            <a:ext cx="2060447" cy="374398"/>
          </a:xfrm>
          <a:prstGeom prst="rect">
            <a:avLst/>
          </a:prstGeom>
          <a:noFill/>
        </p:spPr>
        <p:txBody>
          <a:bodyPr wrap="square" rtlCol="0">
            <a:spAutoFit/>
          </a:bodyPr>
          <a:lstStyle/>
          <a:p>
            <a:pPr algn="ctr"/>
            <a:r>
              <a:rPr lang="en-IN" sz="1833" dirty="0">
                <a:solidFill>
                  <a:schemeClr val="accent3"/>
                </a:solidFill>
                <a:latin typeface="Open Sans"/>
              </a:rPr>
              <a:t>Q1-Q2 2026</a:t>
            </a:r>
          </a:p>
        </p:txBody>
      </p:sp>
      <p:sp>
        <p:nvSpPr>
          <p:cNvPr id="60" name="TextBox 59">
            <a:extLst>
              <a:ext uri="{FF2B5EF4-FFF2-40B4-BE49-F238E27FC236}">
                <a16:creationId xmlns:a16="http://schemas.microsoft.com/office/drawing/2014/main" id="{27C1D5DA-9587-4703-B68E-490B3298B2A2}"/>
              </a:ext>
            </a:extLst>
          </p:cNvPr>
          <p:cNvSpPr txBox="1"/>
          <p:nvPr/>
        </p:nvSpPr>
        <p:spPr>
          <a:xfrm>
            <a:off x="6235915" y="1532756"/>
            <a:ext cx="2060446" cy="374398"/>
          </a:xfrm>
          <a:prstGeom prst="rect">
            <a:avLst/>
          </a:prstGeom>
          <a:noFill/>
        </p:spPr>
        <p:txBody>
          <a:bodyPr wrap="square" rtlCol="0">
            <a:spAutoFit/>
          </a:bodyPr>
          <a:lstStyle/>
          <a:p>
            <a:pPr algn="ctr"/>
            <a:r>
              <a:rPr lang="en-IN" sz="1833" dirty="0">
                <a:solidFill>
                  <a:schemeClr val="accent4"/>
                </a:solidFill>
                <a:latin typeface="Open Sans"/>
              </a:rPr>
              <a:t>Q3-Q4 2026</a:t>
            </a:r>
          </a:p>
        </p:txBody>
      </p:sp>
      <p:sp>
        <p:nvSpPr>
          <p:cNvPr id="61" name="TextBox 60">
            <a:extLst>
              <a:ext uri="{FF2B5EF4-FFF2-40B4-BE49-F238E27FC236}">
                <a16:creationId xmlns:a16="http://schemas.microsoft.com/office/drawing/2014/main" id="{BC58D078-E11A-4676-8D3B-8A2EB2A8CDA6}"/>
              </a:ext>
            </a:extLst>
          </p:cNvPr>
          <p:cNvSpPr txBox="1"/>
          <p:nvPr/>
        </p:nvSpPr>
        <p:spPr>
          <a:xfrm>
            <a:off x="8544480" y="1532756"/>
            <a:ext cx="2096171" cy="374398"/>
          </a:xfrm>
          <a:prstGeom prst="rect">
            <a:avLst/>
          </a:prstGeom>
          <a:noFill/>
        </p:spPr>
        <p:txBody>
          <a:bodyPr wrap="square" rtlCol="0">
            <a:spAutoFit/>
          </a:bodyPr>
          <a:lstStyle/>
          <a:p>
            <a:r>
              <a:rPr lang="en-IN" sz="1833" dirty="0">
                <a:solidFill>
                  <a:schemeClr val="accent5"/>
                </a:solidFill>
                <a:latin typeface="Open Sans"/>
              </a:rPr>
              <a:t>2027 -&gt;</a:t>
            </a:r>
          </a:p>
        </p:txBody>
      </p:sp>
      <p:sp>
        <p:nvSpPr>
          <p:cNvPr id="70" name="TextBox 69">
            <a:extLst>
              <a:ext uri="{FF2B5EF4-FFF2-40B4-BE49-F238E27FC236}">
                <a16:creationId xmlns:a16="http://schemas.microsoft.com/office/drawing/2014/main" id="{846F008F-0964-48F8-B6CD-00B3E22C48F5}"/>
              </a:ext>
            </a:extLst>
          </p:cNvPr>
          <p:cNvSpPr txBox="1"/>
          <p:nvPr/>
        </p:nvSpPr>
        <p:spPr>
          <a:xfrm>
            <a:off x="1341417" y="2023573"/>
            <a:ext cx="2074047" cy="271934"/>
          </a:xfrm>
          <a:prstGeom prst="rect">
            <a:avLst/>
          </a:prstGeom>
          <a:noFill/>
        </p:spPr>
        <p:txBody>
          <a:bodyPr wrap="square" rtlCol="0" anchor="b">
            <a:spAutoFit/>
          </a:bodyPr>
          <a:lstStyle/>
          <a:p>
            <a:r>
              <a:rPr lang="en-US" sz="1167" b="1" kern="0" dirty="0">
                <a:solidFill>
                  <a:schemeClr val="accent1"/>
                </a:solidFill>
                <a:latin typeface="Open Sans"/>
                <a:cs typeface="Arial" panose="020B0604020202020204" pitchFamily="34" charset="0"/>
              </a:rPr>
              <a:t>ALPHA / BETA </a:t>
            </a:r>
            <a:endParaRPr lang="en-IN" sz="1167" b="1" dirty="0">
              <a:solidFill>
                <a:schemeClr val="accent1"/>
              </a:solidFill>
            </a:endParaRPr>
          </a:p>
        </p:txBody>
      </p:sp>
      <p:sp>
        <p:nvSpPr>
          <p:cNvPr id="73" name="TextBox 72">
            <a:extLst>
              <a:ext uri="{FF2B5EF4-FFF2-40B4-BE49-F238E27FC236}">
                <a16:creationId xmlns:a16="http://schemas.microsoft.com/office/drawing/2014/main" id="{312E1B46-04E5-49AC-8C86-69E026C4A538}"/>
              </a:ext>
            </a:extLst>
          </p:cNvPr>
          <p:cNvSpPr txBox="1"/>
          <p:nvPr/>
        </p:nvSpPr>
        <p:spPr>
          <a:xfrm>
            <a:off x="3853389" y="2023573"/>
            <a:ext cx="2074047" cy="271934"/>
          </a:xfrm>
          <a:prstGeom prst="rect">
            <a:avLst/>
          </a:prstGeom>
          <a:noFill/>
        </p:spPr>
        <p:txBody>
          <a:bodyPr wrap="square" rtlCol="0" anchor="b">
            <a:spAutoFit/>
          </a:bodyPr>
          <a:lstStyle/>
          <a:p>
            <a:r>
              <a:rPr lang="en-US" sz="1167" b="1" kern="0" dirty="0">
                <a:solidFill>
                  <a:schemeClr val="accent3"/>
                </a:solidFill>
                <a:latin typeface="Open Sans"/>
                <a:cs typeface="Arial" panose="020B0604020202020204" pitchFamily="34" charset="0"/>
              </a:rPr>
              <a:t>Gamma (GA)</a:t>
            </a:r>
            <a:endParaRPr lang="en-IN" sz="1167" b="1" dirty="0">
              <a:solidFill>
                <a:schemeClr val="accent3"/>
              </a:solidFill>
            </a:endParaRPr>
          </a:p>
        </p:txBody>
      </p:sp>
      <p:sp>
        <p:nvSpPr>
          <p:cNvPr id="76" name="TextBox 75">
            <a:extLst>
              <a:ext uri="{FF2B5EF4-FFF2-40B4-BE49-F238E27FC236}">
                <a16:creationId xmlns:a16="http://schemas.microsoft.com/office/drawing/2014/main" id="{3B042C02-484E-454E-BC73-7873AA27760C}"/>
              </a:ext>
            </a:extLst>
          </p:cNvPr>
          <p:cNvSpPr txBox="1"/>
          <p:nvPr/>
        </p:nvSpPr>
        <p:spPr>
          <a:xfrm>
            <a:off x="6327143" y="2023573"/>
            <a:ext cx="2074047" cy="271934"/>
          </a:xfrm>
          <a:prstGeom prst="rect">
            <a:avLst/>
          </a:prstGeom>
          <a:noFill/>
        </p:spPr>
        <p:txBody>
          <a:bodyPr wrap="square" rtlCol="0" anchor="b">
            <a:spAutoFit/>
          </a:bodyPr>
          <a:lstStyle/>
          <a:p>
            <a:r>
              <a:rPr lang="en-US" sz="1167" b="1" kern="0" dirty="0">
                <a:solidFill>
                  <a:schemeClr val="accent4"/>
                </a:solidFill>
                <a:latin typeface="Open Sans"/>
                <a:cs typeface="Arial" panose="020B0604020202020204" pitchFamily="34" charset="0"/>
              </a:rPr>
              <a:t>DELTA</a:t>
            </a:r>
            <a:endParaRPr lang="en-IN" sz="1167" b="1" dirty="0">
              <a:solidFill>
                <a:schemeClr val="accent4"/>
              </a:solidFill>
            </a:endParaRPr>
          </a:p>
        </p:txBody>
      </p:sp>
      <p:sp>
        <p:nvSpPr>
          <p:cNvPr id="79" name="TextBox 78">
            <a:extLst>
              <a:ext uri="{FF2B5EF4-FFF2-40B4-BE49-F238E27FC236}">
                <a16:creationId xmlns:a16="http://schemas.microsoft.com/office/drawing/2014/main" id="{00001365-C2DF-471E-ADB3-1782A2062F48}"/>
              </a:ext>
            </a:extLst>
          </p:cNvPr>
          <p:cNvSpPr txBox="1"/>
          <p:nvPr/>
        </p:nvSpPr>
        <p:spPr>
          <a:xfrm>
            <a:off x="8646103" y="2023573"/>
            <a:ext cx="2074047" cy="271934"/>
          </a:xfrm>
          <a:prstGeom prst="rect">
            <a:avLst/>
          </a:prstGeom>
          <a:noFill/>
        </p:spPr>
        <p:txBody>
          <a:bodyPr wrap="square" rtlCol="0" anchor="b">
            <a:spAutoFit/>
          </a:bodyPr>
          <a:lstStyle/>
          <a:p>
            <a:r>
              <a:rPr lang="en-US" sz="1167" b="1" kern="0" dirty="0">
                <a:solidFill>
                  <a:schemeClr val="accent5"/>
                </a:solidFill>
                <a:latin typeface="Open Sans"/>
                <a:cs typeface="Arial" panose="020B0604020202020204" pitchFamily="34" charset="0"/>
              </a:rPr>
              <a:t>EPSILON</a:t>
            </a:r>
            <a:endParaRPr lang="en-IN" sz="1167" b="1" dirty="0">
              <a:solidFill>
                <a:schemeClr val="accent5"/>
              </a:solidFill>
            </a:endParaRPr>
          </a:p>
        </p:txBody>
      </p:sp>
      <p:sp>
        <p:nvSpPr>
          <p:cNvPr id="6" name="TextBox 5">
            <a:extLst>
              <a:ext uri="{FF2B5EF4-FFF2-40B4-BE49-F238E27FC236}">
                <a16:creationId xmlns:a16="http://schemas.microsoft.com/office/drawing/2014/main" id="{68C94701-EB6D-5D95-400B-3757D38FB2F9}"/>
              </a:ext>
            </a:extLst>
          </p:cNvPr>
          <p:cNvSpPr txBox="1"/>
          <p:nvPr/>
        </p:nvSpPr>
        <p:spPr>
          <a:xfrm>
            <a:off x="1419415" y="2442868"/>
            <a:ext cx="1721057" cy="1754326"/>
          </a:xfrm>
          <a:prstGeom prst="rect">
            <a:avLst/>
          </a:prstGeom>
          <a:noFill/>
        </p:spPr>
        <p:txBody>
          <a:bodyPr wrap="square" lIns="0" tIns="0" rIns="0" bIns="0" rtlCol="0" anchor="ctr">
            <a:spAutoFit/>
          </a:bodyPr>
          <a:lstStyle/>
          <a:p>
            <a:pPr marL="285739" indent="-285739">
              <a:spcBef>
                <a:spcPts val="600"/>
              </a:spcBef>
              <a:buFont typeface="System Font Regular"/>
              <a:buChar char="⇢"/>
            </a:pPr>
            <a:r>
              <a:rPr lang="en-US" sz="1050" kern="0" dirty="0">
                <a:solidFill>
                  <a:schemeClr val="tx1">
                    <a:lumMod val="75000"/>
                    <a:lumOff val="25000"/>
                  </a:schemeClr>
                </a:solidFill>
                <a:ea typeface="Calibri Light" charset="0"/>
                <a:cs typeface="Segoe UI" panose="020B0502040204020203" pitchFamily="34" charset="0"/>
              </a:rPr>
              <a:t>Entity &amp; Team Build. </a:t>
            </a:r>
          </a:p>
          <a:p>
            <a:pPr marL="285739" indent="-285739">
              <a:spcBef>
                <a:spcPts val="600"/>
              </a:spcBef>
              <a:buFont typeface="System Font Regular"/>
              <a:buChar char="⇢"/>
            </a:pPr>
            <a:r>
              <a:rPr lang="en-US" sz="1050" kern="0" dirty="0">
                <a:solidFill>
                  <a:schemeClr val="tx1">
                    <a:lumMod val="75000"/>
                    <a:lumOff val="25000"/>
                  </a:schemeClr>
                </a:solidFill>
                <a:ea typeface="Calibri Light" charset="0"/>
                <a:cs typeface="Segoe UI" panose="020B0502040204020203" pitchFamily="34" charset="0"/>
              </a:rPr>
              <a:t>Site setup and Branding</a:t>
            </a:r>
          </a:p>
          <a:p>
            <a:pPr marL="285739" indent="-285739">
              <a:spcBef>
                <a:spcPts val="600"/>
              </a:spcBef>
              <a:buFont typeface="System Font Regular"/>
              <a:buChar char="⇢"/>
            </a:pPr>
            <a:r>
              <a:rPr lang="en-US" sz="1050" kern="0" dirty="0">
                <a:solidFill>
                  <a:schemeClr val="tx1">
                    <a:lumMod val="75000"/>
                    <a:lumOff val="25000"/>
                  </a:schemeClr>
                </a:solidFill>
                <a:ea typeface="Calibri Light" charset="0"/>
                <a:cs typeface="Segoe UI" panose="020B0502040204020203" pitchFamily="34" charset="0"/>
              </a:rPr>
              <a:t>Proof of Concept</a:t>
            </a:r>
          </a:p>
          <a:p>
            <a:pPr marL="285739" indent="-285739">
              <a:spcBef>
                <a:spcPts val="600"/>
              </a:spcBef>
              <a:buFont typeface="System Font Regular"/>
              <a:buChar char="⇢"/>
            </a:pPr>
            <a:r>
              <a:rPr lang="en-US" sz="1050" kern="0" dirty="0">
                <a:solidFill>
                  <a:schemeClr val="tx1">
                    <a:lumMod val="75000"/>
                    <a:lumOff val="25000"/>
                  </a:schemeClr>
                </a:solidFill>
                <a:ea typeface="Calibri Light" charset="0"/>
                <a:cs typeface="Segoe UI" panose="020B0502040204020203" pitchFamily="34" charset="0"/>
              </a:rPr>
              <a:t>Initial Round Funding</a:t>
            </a:r>
          </a:p>
          <a:p>
            <a:pPr marL="285739" indent="-285739">
              <a:spcBef>
                <a:spcPts val="600"/>
              </a:spcBef>
              <a:buFont typeface="System Font Regular"/>
              <a:buChar char="⇢"/>
            </a:pPr>
            <a:r>
              <a:rPr lang="en-US" sz="1050" kern="0" dirty="0">
                <a:solidFill>
                  <a:schemeClr val="tx1">
                    <a:lumMod val="75000"/>
                    <a:lumOff val="25000"/>
                  </a:schemeClr>
                </a:solidFill>
                <a:ea typeface="Calibri Light" charset="0"/>
                <a:cs typeface="Segoe UI" panose="020B0502040204020203" pitchFamily="34" charset="0"/>
              </a:rPr>
              <a:t>SaaS Operations</a:t>
            </a:r>
          </a:p>
          <a:p>
            <a:pPr marL="285739" indent="-285739">
              <a:spcBef>
                <a:spcPts val="600"/>
              </a:spcBef>
              <a:buFont typeface="System Font Regular"/>
              <a:buChar char="⇢"/>
            </a:pPr>
            <a:r>
              <a:rPr lang="en-US" sz="1050" kern="0" dirty="0">
                <a:solidFill>
                  <a:schemeClr val="tx1">
                    <a:lumMod val="75000"/>
                    <a:lumOff val="25000"/>
                  </a:schemeClr>
                </a:solidFill>
                <a:ea typeface="Calibri Light" charset="0"/>
                <a:cs typeface="Segoe UI" panose="020B0502040204020203" pitchFamily="34" charset="0"/>
              </a:rPr>
              <a:t>BETA Product Delivery</a:t>
            </a:r>
          </a:p>
          <a:p>
            <a:pPr marL="285739" indent="-285739">
              <a:spcBef>
                <a:spcPts val="600"/>
              </a:spcBef>
              <a:buFont typeface="System Font Regular"/>
              <a:buChar char="⇢"/>
            </a:pPr>
            <a:r>
              <a:rPr lang="en-US" sz="1050" kern="0" dirty="0">
                <a:solidFill>
                  <a:schemeClr val="tx1">
                    <a:lumMod val="75000"/>
                    <a:lumOff val="25000"/>
                  </a:schemeClr>
                </a:solidFill>
                <a:ea typeface="Calibri Light" charset="0"/>
                <a:cs typeface="Segoe UI" panose="020B0502040204020203" pitchFamily="34" charset="0"/>
              </a:rPr>
              <a:t>Go to Market Strategy</a:t>
            </a:r>
          </a:p>
        </p:txBody>
      </p:sp>
      <p:sp>
        <p:nvSpPr>
          <p:cNvPr id="7" name="TextBox 6">
            <a:extLst>
              <a:ext uri="{FF2B5EF4-FFF2-40B4-BE49-F238E27FC236}">
                <a16:creationId xmlns:a16="http://schemas.microsoft.com/office/drawing/2014/main" id="{20928F6C-A3B0-E55D-1FAB-64A3330A2F42}"/>
              </a:ext>
            </a:extLst>
          </p:cNvPr>
          <p:cNvSpPr txBox="1"/>
          <p:nvPr/>
        </p:nvSpPr>
        <p:spPr>
          <a:xfrm>
            <a:off x="3829063" y="2443935"/>
            <a:ext cx="1643840" cy="1515800"/>
          </a:xfrm>
          <a:prstGeom prst="rect">
            <a:avLst/>
          </a:prstGeom>
          <a:noFill/>
        </p:spPr>
        <p:txBody>
          <a:bodyPr wrap="square" lIns="0" tIns="0" rIns="0" bIns="0" rtlCol="0" anchor="ctr">
            <a:spAutoFit/>
          </a:bodyPr>
          <a:lstStyle/>
          <a:p>
            <a:pPr marL="285739" indent="-285739">
              <a:spcBef>
                <a:spcPts val="600"/>
              </a:spcBef>
              <a:buFont typeface="System Font Regular"/>
              <a:buChar char="⇢"/>
            </a:pPr>
            <a:r>
              <a:rPr lang="en-US" sz="1050" kern="0" dirty="0">
                <a:solidFill>
                  <a:schemeClr val="tx1">
                    <a:lumMod val="75000"/>
                    <a:lumOff val="25000"/>
                  </a:schemeClr>
                </a:solidFill>
                <a:ea typeface="Calibri Light" charset="0"/>
                <a:cs typeface="Segoe UI" panose="020B0502040204020203" pitchFamily="34" charset="0"/>
              </a:rPr>
              <a:t>Sales Team &amp; Pipeline</a:t>
            </a:r>
          </a:p>
          <a:p>
            <a:pPr marL="285739" indent="-285739">
              <a:spcBef>
                <a:spcPts val="600"/>
              </a:spcBef>
              <a:buFont typeface="System Font Regular"/>
              <a:buChar char="⇢"/>
            </a:pPr>
            <a:r>
              <a:rPr lang="en-US" sz="1050" kern="0" dirty="0">
                <a:solidFill>
                  <a:schemeClr val="tx1">
                    <a:lumMod val="75000"/>
                    <a:lumOff val="25000"/>
                  </a:schemeClr>
                </a:solidFill>
                <a:ea typeface="Calibri Light" charset="0"/>
                <a:cs typeface="Segoe UI" panose="020B0502040204020203" pitchFamily="34" charset="0"/>
              </a:rPr>
              <a:t>SOC 2 Certification</a:t>
            </a:r>
          </a:p>
          <a:p>
            <a:pPr marL="285739" indent="-285739">
              <a:spcBef>
                <a:spcPts val="600"/>
              </a:spcBef>
              <a:buFont typeface="System Font Regular"/>
              <a:buChar char="⇢"/>
            </a:pPr>
            <a:r>
              <a:rPr lang="en-US" sz="1050" kern="0" dirty="0">
                <a:solidFill>
                  <a:schemeClr val="tx1">
                    <a:lumMod val="75000"/>
                    <a:lumOff val="25000"/>
                  </a:schemeClr>
                </a:solidFill>
                <a:ea typeface="Calibri Light" charset="0"/>
                <a:cs typeface="Segoe UI" panose="020B0502040204020203" pitchFamily="34" charset="0"/>
              </a:rPr>
              <a:t>Promachos GA</a:t>
            </a:r>
          </a:p>
          <a:p>
            <a:pPr marL="285739" indent="-285739">
              <a:spcBef>
                <a:spcPts val="600"/>
              </a:spcBef>
              <a:buFont typeface="System Font Regular"/>
              <a:buChar char="⇢"/>
            </a:pPr>
            <a:r>
              <a:rPr lang="en-US" sz="1050" kern="0" dirty="0">
                <a:solidFill>
                  <a:schemeClr val="tx1">
                    <a:lumMod val="75000"/>
                    <a:lumOff val="25000"/>
                  </a:schemeClr>
                </a:solidFill>
                <a:ea typeface="Calibri Light" charset="0"/>
                <a:cs typeface="Segoe UI" panose="020B0502040204020203" pitchFamily="34" charset="0"/>
              </a:rPr>
              <a:t>CTI-LLM GA</a:t>
            </a:r>
          </a:p>
          <a:p>
            <a:pPr marL="285739" indent="-285739">
              <a:spcBef>
                <a:spcPts val="600"/>
              </a:spcBef>
              <a:buFont typeface="System Font Regular"/>
              <a:buChar char="⇢"/>
            </a:pPr>
            <a:r>
              <a:rPr lang="en-US" sz="1050" kern="0" dirty="0">
                <a:solidFill>
                  <a:schemeClr val="tx1">
                    <a:lumMod val="75000"/>
                    <a:lumOff val="25000"/>
                  </a:schemeClr>
                </a:solidFill>
                <a:ea typeface="Calibri Light" charset="0"/>
                <a:cs typeface="Segoe UI" panose="020B0502040204020203" pitchFamily="34" charset="0"/>
              </a:rPr>
              <a:t>Customer Adoption</a:t>
            </a:r>
          </a:p>
          <a:p>
            <a:pPr marL="285739" indent="-285739">
              <a:spcBef>
                <a:spcPts val="600"/>
              </a:spcBef>
              <a:buFont typeface="System Font Regular"/>
              <a:buChar char="⇢"/>
            </a:pPr>
            <a:r>
              <a:rPr lang="en-US" sz="1050" kern="0" dirty="0">
                <a:solidFill>
                  <a:schemeClr val="tx1">
                    <a:lumMod val="75000"/>
                    <a:lumOff val="25000"/>
                  </a:schemeClr>
                </a:solidFill>
                <a:ea typeface="Calibri Light" charset="0"/>
                <a:cs typeface="Segoe UI" panose="020B0502040204020203" pitchFamily="34" charset="0"/>
              </a:rPr>
              <a:t>SOC Operations</a:t>
            </a:r>
          </a:p>
        </p:txBody>
      </p:sp>
      <p:sp>
        <p:nvSpPr>
          <p:cNvPr id="8" name="TextBox 7">
            <a:extLst>
              <a:ext uri="{FF2B5EF4-FFF2-40B4-BE49-F238E27FC236}">
                <a16:creationId xmlns:a16="http://schemas.microsoft.com/office/drawing/2014/main" id="{DD9633C3-4D73-F5A3-2FE8-ED00E3E532F8}"/>
              </a:ext>
            </a:extLst>
          </p:cNvPr>
          <p:cNvSpPr txBox="1"/>
          <p:nvPr/>
        </p:nvSpPr>
        <p:spPr>
          <a:xfrm>
            <a:off x="6327144" y="2443935"/>
            <a:ext cx="1848388" cy="1677382"/>
          </a:xfrm>
          <a:prstGeom prst="rect">
            <a:avLst/>
          </a:prstGeom>
          <a:noFill/>
        </p:spPr>
        <p:txBody>
          <a:bodyPr wrap="square" lIns="0" tIns="0" rIns="0" bIns="0" rtlCol="0" anchor="ctr">
            <a:spAutoFit/>
          </a:bodyPr>
          <a:lstStyle/>
          <a:p>
            <a:pPr marL="285739" indent="-285739">
              <a:spcBef>
                <a:spcPts val="600"/>
              </a:spcBef>
              <a:buFont typeface="System Font Regular"/>
              <a:buChar char="⇢"/>
            </a:pPr>
            <a:r>
              <a:rPr lang="en-US" sz="1050" kern="0" dirty="0">
                <a:solidFill>
                  <a:schemeClr val="tx1">
                    <a:lumMod val="75000"/>
                    <a:lumOff val="25000"/>
                  </a:schemeClr>
                </a:solidFill>
                <a:ea typeface="Calibri Light" charset="0"/>
                <a:cs typeface="Segoe UI" panose="020B0502040204020203" pitchFamily="34" charset="0"/>
              </a:rPr>
              <a:t>Second Round Funding</a:t>
            </a:r>
          </a:p>
          <a:p>
            <a:pPr marL="285739" indent="-285739">
              <a:spcBef>
                <a:spcPts val="600"/>
              </a:spcBef>
              <a:buFont typeface="System Font Regular"/>
              <a:buChar char="⇢"/>
            </a:pPr>
            <a:r>
              <a:rPr lang="en-US" sz="1050" kern="0" dirty="0">
                <a:solidFill>
                  <a:schemeClr val="tx1">
                    <a:lumMod val="75000"/>
                    <a:lumOff val="25000"/>
                  </a:schemeClr>
                </a:solidFill>
                <a:ea typeface="Calibri Light" charset="0"/>
                <a:cs typeface="Segoe UI" panose="020B0502040204020203" pitchFamily="34" charset="0"/>
              </a:rPr>
              <a:t>Generation II CTI-LLM</a:t>
            </a:r>
          </a:p>
          <a:p>
            <a:pPr marL="285739" indent="-285739">
              <a:spcBef>
                <a:spcPts val="600"/>
              </a:spcBef>
              <a:buFont typeface="System Font Regular"/>
              <a:buChar char="⇢"/>
            </a:pPr>
            <a:r>
              <a:rPr lang="en-US" sz="1050" kern="0" dirty="0">
                <a:solidFill>
                  <a:schemeClr val="tx1">
                    <a:lumMod val="75000"/>
                    <a:lumOff val="25000"/>
                  </a:schemeClr>
                </a:solidFill>
                <a:ea typeface="Calibri Light" charset="0"/>
                <a:cs typeface="Segoe UI" panose="020B0502040204020203" pitchFamily="34" charset="0"/>
              </a:rPr>
              <a:t>Promachos V2.0</a:t>
            </a:r>
          </a:p>
          <a:p>
            <a:pPr marL="285739" indent="-285739">
              <a:spcBef>
                <a:spcPts val="600"/>
              </a:spcBef>
              <a:buFont typeface="System Font Regular"/>
              <a:buChar char="⇢"/>
            </a:pPr>
            <a:r>
              <a:rPr lang="en-US" sz="1050" kern="0" dirty="0">
                <a:solidFill>
                  <a:schemeClr val="tx1">
                    <a:lumMod val="75000"/>
                    <a:lumOff val="25000"/>
                  </a:schemeClr>
                </a:solidFill>
                <a:ea typeface="Calibri Light" charset="0"/>
                <a:cs typeface="Segoe UI" panose="020B0502040204020203" pitchFamily="34" charset="0"/>
              </a:rPr>
              <a:t>Partner Channel Development</a:t>
            </a:r>
          </a:p>
          <a:p>
            <a:pPr marL="285739" indent="-285739">
              <a:spcBef>
                <a:spcPts val="600"/>
              </a:spcBef>
              <a:buFont typeface="System Font Regular"/>
              <a:buChar char="⇢"/>
            </a:pPr>
            <a:r>
              <a:rPr lang="en-US" sz="1050" kern="0" dirty="0">
                <a:solidFill>
                  <a:schemeClr val="tx1">
                    <a:lumMod val="75000"/>
                    <a:lumOff val="25000"/>
                  </a:schemeClr>
                </a:solidFill>
                <a:ea typeface="Calibri Light" charset="0"/>
                <a:cs typeface="Segoe UI" panose="020B0502040204020203" pitchFamily="34" charset="0"/>
              </a:rPr>
              <a:t>Sales &amp; Marketing Scale</a:t>
            </a:r>
          </a:p>
          <a:p>
            <a:pPr marL="285739" indent="-285739">
              <a:spcBef>
                <a:spcPts val="600"/>
              </a:spcBef>
              <a:buFont typeface="System Font Regular"/>
              <a:buChar char="⇢"/>
            </a:pPr>
            <a:r>
              <a:rPr lang="en-US" sz="1050" kern="0" dirty="0">
                <a:solidFill>
                  <a:schemeClr val="tx1">
                    <a:lumMod val="75000"/>
                    <a:lumOff val="25000"/>
                  </a:schemeClr>
                </a:solidFill>
                <a:ea typeface="Calibri Light" charset="0"/>
                <a:cs typeface="Segoe UI" panose="020B0502040204020203" pitchFamily="34" charset="0"/>
              </a:rPr>
              <a:t>Support &amp; Services Teams</a:t>
            </a:r>
            <a:endParaRPr lang="en-US" sz="1050" dirty="0">
              <a:solidFill>
                <a:schemeClr val="tx1">
                  <a:lumMod val="75000"/>
                  <a:lumOff val="25000"/>
                </a:schemeClr>
              </a:solidFill>
              <a:ea typeface="Calibri Light" charset="0"/>
              <a:cs typeface="Segoe UI" panose="020B0502040204020203" pitchFamily="34" charset="0"/>
            </a:endParaRPr>
          </a:p>
        </p:txBody>
      </p:sp>
      <p:sp>
        <p:nvSpPr>
          <p:cNvPr id="10" name="TextBox 9">
            <a:extLst>
              <a:ext uri="{FF2B5EF4-FFF2-40B4-BE49-F238E27FC236}">
                <a16:creationId xmlns:a16="http://schemas.microsoft.com/office/drawing/2014/main" id="{0E0BFCE2-A47F-ABA6-AF87-9E171344E00F}"/>
              </a:ext>
            </a:extLst>
          </p:cNvPr>
          <p:cNvSpPr txBox="1"/>
          <p:nvPr/>
        </p:nvSpPr>
        <p:spPr>
          <a:xfrm>
            <a:off x="8691226" y="2445005"/>
            <a:ext cx="1848388" cy="1438855"/>
          </a:xfrm>
          <a:prstGeom prst="rect">
            <a:avLst/>
          </a:prstGeom>
          <a:noFill/>
        </p:spPr>
        <p:txBody>
          <a:bodyPr wrap="square" lIns="0" tIns="0" rIns="0" bIns="0" rtlCol="0" anchor="ctr">
            <a:spAutoFit/>
          </a:bodyPr>
          <a:lstStyle/>
          <a:p>
            <a:pPr marL="285739" indent="-285739">
              <a:spcBef>
                <a:spcPts val="600"/>
              </a:spcBef>
              <a:buFont typeface="System Font Regular"/>
              <a:buChar char="⇢"/>
            </a:pPr>
            <a:r>
              <a:rPr lang="en-US" sz="1050" kern="0" dirty="0">
                <a:solidFill>
                  <a:schemeClr val="tx1">
                    <a:lumMod val="75000"/>
                    <a:lumOff val="25000"/>
                  </a:schemeClr>
                </a:solidFill>
                <a:ea typeface="Calibri Light" charset="0"/>
                <a:cs typeface="Segoe UI" panose="020B0502040204020203" pitchFamily="34" charset="0"/>
              </a:rPr>
              <a:t>Market Disruption</a:t>
            </a:r>
          </a:p>
          <a:p>
            <a:pPr marL="285739" indent="-285739">
              <a:spcBef>
                <a:spcPts val="600"/>
              </a:spcBef>
              <a:buFont typeface="System Font Regular"/>
              <a:buChar char="⇢"/>
            </a:pPr>
            <a:r>
              <a:rPr lang="en-US" sz="1050" kern="0" dirty="0">
                <a:solidFill>
                  <a:schemeClr val="tx1">
                    <a:lumMod val="75000"/>
                    <a:lumOff val="25000"/>
                  </a:schemeClr>
                </a:solidFill>
                <a:ea typeface="Calibri Light" charset="0"/>
                <a:cs typeface="Segoe UI" panose="020B0502040204020203" pitchFamily="34" charset="0"/>
              </a:rPr>
              <a:t>Advanced AI Capabilities</a:t>
            </a:r>
          </a:p>
          <a:p>
            <a:pPr marL="285739" indent="-285739">
              <a:spcBef>
                <a:spcPts val="600"/>
              </a:spcBef>
              <a:buFont typeface="System Font Regular"/>
              <a:buChar char="⇢"/>
            </a:pPr>
            <a:r>
              <a:rPr lang="en-US" sz="1050" kern="0" dirty="0">
                <a:solidFill>
                  <a:schemeClr val="tx1">
                    <a:lumMod val="75000"/>
                    <a:lumOff val="25000"/>
                  </a:schemeClr>
                </a:solidFill>
                <a:ea typeface="Calibri Light" charset="0"/>
                <a:cs typeface="Segoe UI" panose="020B0502040204020203" pitchFamily="34" charset="0"/>
              </a:rPr>
              <a:t>Extended Integration Footprint</a:t>
            </a:r>
          </a:p>
          <a:p>
            <a:pPr marL="285739" indent="-285739">
              <a:spcBef>
                <a:spcPts val="600"/>
              </a:spcBef>
              <a:buFont typeface="System Font Regular"/>
              <a:buChar char="⇢"/>
            </a:pPr>
            <a:r>
              <a:rPr lang="en-US" sz="1050" kern="0" dirty="0">
                <a:solidFill>
                  <a:schemeClr val="tx1">
                    <a:lumMod val="75000"/>
                    <a:lumOff val="25000"/>
                  </a:schemeClr>
                </a:solidFill>
                <a:ea typeface="Calibri Light" charset="0"/>
                <a:cs typeface="Segoe UI" panose="020B0502040204020203" pitchFamily="34" charset="0"/>
              </a:rPr>
              <a:t>Regulated Companies</a:t>
            </a:r>
          </a:p>
          <a:p>
            <a:pPr marL="285739" indent="-285739">
              <a:spcBef>
                <a:spcPts val="600"/>
              </a:spcBef>
              <a:buFont typeface="System Font Regular"/>
              <a:buChar char="⇢"/>
            </a:pPr>
            <a:r>
              <a:rPr lang="en-US" sz="1050" kern="0" dirty="0">
                <a:solidFill>
                  <a:schemeClr val="tx1">
                    <a:lumMod val="75000"/>
                    <a:lumOff val="25000"/>
                  </a:schemeClr>
                </a:solidFill>
                <a:ea typeface="Calibri Light" charset="0"/>
                <a:cs typeface="Segoe UI" panose="020B0502040204020203" pitchFamily="34" charset="0"/>
              </a:rPr>
              <a:t>European Expansion</a:t>
            </a:r>
            <a:endParaRPr lang="en-US" sz="1050" dirty="0">
              <a:solidFill>
                <a:schemeClr val="tx1">
                  <a:lumMod val="75000"/>
                  <a:lumOff val="25000"/>
                </a:schemeClr>
              </a:solidFill>
              <a:ea typeface="Calibri Light" charset="0"/>
              <a:cs typeface="Segoe UI" panose="020B0502040204020203" pitchFamily="34" charset="0"/>
            </a:endParaRPr>
          </a:p>
        </p:txBody>
      </p:sp>
      <p:sp>
        <p:nvSpPr>
          <p:cNvPr id="11" name="TextBox 10">
            <a:extLst>
              <a:ext uri="{FF2B5EF4-FFF2-40B4-BE49-F238E27FC236}">
                <a16:creationId xmlns:a16="http://schemas.microsoft.com/office/drawing/2014/main" id="{39419E24-575F-D9AE-0823-0354E5C5549A}"/>
              </a:ext>
            </a:extLst>
          </p:cNvPr>
          <p:cNvSpPr txBox="1"/>
          <p:nvPr/>
        </p:nvSpPr>
        <p:spPr>
          <a:xfrm>
            <a:off x="5386045" y="5754831"/>
            <a:ext cx="6316870" cy="800219"/>
          </a:xfrm>
          <a:prstGeom prst="rect">
            <a:avLst/>
          </a:prstGeom>
          <a:noFill/>
        </p:spPr>
        <p:txBody>
          <a:bodyPr wrap="square" lIns="0" tIns="0" rIns="0" bIns="0" rtlCol="0" anchor="ctr">
            <a:spAutoFit/>
          </a:bodyPr>
          <a:lstStyle/>
          <a:p>
            <a:pPr marL="285739" indent="-285739">
              <a:spcBef>
                <a:spcPts val="600"/>
              </a:spcBef>
              <a:buFont typeface="Wingdings" pitchFamily="2" charset="2"/>
              <a:buChar char="ü"/>
            </a:pPr>
            <a:r>
              <a:rPr lang="en-US" sz="1400" i="1" kern="0" dirty="0">
                <a:solidFill>
                  <a:schemeClr val="tx1">
                    <a:lumMod val="75000"/>
                    <a:lumOff val="25000"/>
                  </a:schemeClr>
                </a:solidFill>
                <a:ea typeface="Calibri Light" charset="0"/>
                <a:cs typeface="Segoe UI" panose="020B0502040204020203" pitchFamily="34" charset="0"/>
              </a:rPr>
              <a:t>Release Early &amp; Often</a:t>
            </a:r>
          </a:p>
          <a:p>
            <a:pPr marL="285739" indent="-285739">
              <a:spcBef>
                <a:spcPts val="600"/>
              </a:spcBef>
              <a:buFont typeface="Wingdings" pitchFamily="2" charset="2"/>
              <a:buChar char="ü"/>
            </a:pPr>
            <a:r>
              <a:rPr lang="en-US" sz="1400" i="1" kern="0" dirty="0">
                <a:solidFill>
                  <a:schemeClr val="tx1">
                    <a:lumMod val="75000"/>
                    <a:lumOff val="25000"/>
                  </a:schemeClr>
                </a:solidFill>
                <a:ea typeface="Calibri Light" charset="0"/>
                <a:cs typeface="Segoe UI" panose="020B0502040204020203" pitchFamily="34" charset="0"/>
              </a:rPr>
              <a:t>Engage Design Partners Early for market fit and revenue alignment</a:t>
            </a:r>
          </a:p>
          <a:p>
            <a:pPr marL="285739" indent="-285739">
              <a:spcBef>
                <a:spcPts val="600"/>
              </a:spcBef>
              <a:buFont typeface="Wingdings" pitchFamily="2" charset="2"/>
              <a:buChar char="ü"/>
            </a:pPr>
            <a:r>
              <a:rPr lang="en-US" sz="1400" i="1" kern="0" dirty="0">
                <a:solidFill>
                  <a:schemeClr val="tx1">
                    <a:lumMod val="75000"/>
                    <a:lumOff val="25000"/>
                  </a:schemeClr>
                </a:solidFill>
                <a:ea typeface="Calibri Light" charset="0"/>
                <a:cs typeface="Segoe UI" panose="020B0502040204020203" pitchFamily="34" charset="0"/>
              </a:rPr>
              <a:t>Raise funds only as necessary</a:t>
            </a:r>
            <a:endParaRPr lang="en-US" sz="1400" i="1" dirty="0">
              <a:solidFill>
                <a:schemeClr val="tx1">
                  <a:lumMod val="75000"/>
                  <a:lumOff val="25000"/>
                </a:schemeClr>
              </a:solidFill>
              <a:ea typeface="Calibri Light" charset="0"/>
              <a:cs typeface="Segoe UI" panose="020B0502040204020203" pitchFamily="34" charset="0"/>
            </a:endParaRPr>
          </a:p>
        </p:txBody>
      </p:sp>
      <p:sp>
        <p:nvSpPr>
          <p:cNvPr id="2" name="Title 1">
            <a:extLst>
              <a:ext uri="{FF2B5EF4-FFF2-40B4-BE49-F238E27FC236}">
                <a16:creationId xmlns:a16="http://schemas.microsoft.com/office/drawing/2014/main" id="{7C4886D8-1237-5A6B-D824-D5B85CDDFF93}"/>
              </a:ext>
            </a:extLst>
          </p:cNvPr>
          <p:cNvSpPr txBox="1">
            <a:spLocks/>
          </p:cNvSpPr>
          <p:nvPr/>
        </p:nvSpPr>
        <p:spPr>
          <a:xfrm>
            <a:off x="370344" y="169382"/>
            <a:ext cx="10514542" cy="957358"/>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3667" b="1" dirty="0">
                <a:solidFill>
                  <a:srgbClr val="333F70"/>
                </a:solidFill>
                <a:latin typeface="Unbounded Bold" pitchFamily="34" charset="0"/>
                <a:ea typeface="Unbounded Bold" pitchFamily="34" charset="-122"/>
                <a:cs typeface="Unbounded Bold" pitchFamily="34" charset="-120"/>
              </a:rPr>
              <a:t>Product Roadmap</a:t>
            </a:r>
            <a:endParaRPr lang="en-US" sz="3667" dirty="0"/>
          </a:p>
        </p:txBody>
      </p:sp>
    </p:spTree>
    <p:extLst>
      <p:ext uri="{BB962C8B-B14F-4D97-AF65-F5344CB8AC3E}">
        <p14:creationId xmlns:p14="http://schemas.microsoft.com/office/powerpoint/2010/main" val="3704036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D427F6-54B3-F9F6-A158-97D6874CCE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518F04-9ABE-E6DA-5C26-E34C2B9316D6}"/>
              </a:ext>
            </a:extLst>
          </p:cNvPr>
          <p:cNvSpPr>
            <a:spLocks noGrp="1"/>
          </p:cNvSpPr>
          <p:nvPr>
            <p:ph type="title"/>
          </p:nvPr>
        </p:nvSpPr>
        <p:spPr/>
        <p:txBody>
          <a:bodyPr/>
          <a:lstStyle/>
          <a:p>
            <a:r>
              <a:rPr lang="en-US" dirty="0"/>
              <a:t>Athena-CTI-LLM</a:t>
            </a:r>
          </a:p>
        </p:txBody>
      </p:sp>
      <p:sp>
        <p:nvSpPr>
          <p:cNvPr id="3" name="Text Placeholder 2">
            <a:extLst>
              <a:ext uri="{FF2B5EF4-FFF2-40B4-BE49-F238E27FC236}">
                <a16:creationId xmlns:a16="http://schemas.microsoft.com/office/drawing/2014/main" id="{01BF9632-4F93-0FA1-B3E1-09D8815B85E3}"/>
              </a:ext>
            </a:extLst>
          </p:cNvPr>
          <p:cNvSpPr>
            <a:spLocks noGrp="1"/>
          </p:cNvSpPr>
          <p:nvPr>
            <p:ph type="body" idx="1"/>
          </p:nvPr>
        </p:nvSpPr>
        <p:spPr/>
        <p:txBody>
          <a:bodyPr/>
          <a:lstStyle/>
          <a:p>
            <a:r>
              <a:rPr lang="en-US" dirty="0"/>
              <a:t>Using CTI Data to Instruction Fine Tune a State of the Art CTI LLM</a:t>
            </a:r>
          </a:p>
        </p:txBody>
      </p:sp>
    </p:spTree>
    <p:extLst>
      <p:ext uri="{BB962C8B-B14F-4D97-AF65-F5344CB8AC3E}">
        <p14:creationId xmlns:p14="http://schemas.microsoft.com/office/powerpoint/2010/main" val="17355508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CF0AD-B28C-11E7-E164-BB974EEC07DC}"/>
              </a:ext>
            </a:extLst>
          </p:cNvPr>
          <p:cNvSpPr>
            <a:spLocks noGrp="1"/>
          </p:cNvSpPr>
          <p:nvPr>
            <p:ph type="title" idx="4294967295"/>
          </p:nvPr>
        </p:nvSpPr>
        <p:spPr>
          <a:xfrm>
            <a:off x="1444021" y="60071"/>
            <a:ext cx="8761413" cy="708025"/>
          </a:xfrm>
        </p:spPr>
        <p:txBody>
          <a:bodyPr/>
          <a:lstStyle/>
          <a:p>
            <a:pPr algn="ctr"/>
            <a:r>
              <a:rPr lang="en-US" sz="2000">
                <a:solidFill>
                  <a:schemeClr val="tx1"/>
                </a:solidFill>
              </a:rPr>
              <a:t>Foundational Use Cases for Cyber Security Language Models</a:t>
            </a:r>
            <a:r>
              <a:rPr lang="en-US" sz="2800">
                <a:solidFill>
                  <a:schemeClr val="tx1"/>
                </a:solidFill>
              </a:rPr>
              <a:t> </a:t>
            </a:r>
          </a:p>
        </p:txBody>
      </p:sp>
      <p:sp>
        <p:nvSpPr>
          <p:cNvPr id="4" name="Content Placeholder 3">
            <a:extLst>
              <a:ext uri="{FF2B5EF4-FFF2-40B4-BE49-F238E27FC236}">
                <a16:creationId xmlns:a16="http://schemas.microsoft.com/office/drawing/2014/main" id="{CD34934C-AC74-2982-E07D-63A13530FEAE}"/>
              </a:ext>
            </a:extLst>
          </p:cNvPr>
          <p:cNvSpPr>
            <a:spLocks noGrp="1"/>
          </p:cNvSpPr>
          <p:nvPr>
            <p:ph sz="half" idx="4294967295"/>
          </p:nvPr>
        </p:nvSpPr>
        <p:spPr>
          <a:xfrm>
            <a:off x="5922264" y="873029"/>
            <a:ext cx="5413375" cy="4479925"/>
          </a:xfrm>
        </p:spPr>
        <p:txBody>
          <a:bodyPr>
            <a:noAutofit/>
          </a:bodyPr>
          <a:lstStyle/>
          <a:p>
            <a:pPr>
              <a:spcBef>
                <a:spcPts val="600"/>
              </a:spcBef>
              <a:buNone/>
            </a:pPr>
            <a:r>
              <a:rPr lang="en-US" sz="900" b="1"/>
              <a:t>6. Intelligent Threat Intelligence</a:t>
            </a:r>
          </a:p>
          <a:p>
            <a:pPr marL="0" indent="0">
              <a:spcBef>
                <a:spcPts val="600"/>
              </a:spcBef>
              <a:buNone/>
            </a:pPr>
            <a:r>
              <a:rPr lang="en-US" sz="900"/>
              <a:t>Parsing vast amounts of threat intelligence data to provide concise, actionable insights tailored to an organization's unique threat landscape. Automatically generating intelligence reports or briefings about emerging threats and their implications for the organization.</a:t>
            </a:r>
          </a:p>
          <a:p>
            <a:pPr>
              <a:spcBef>
                <a:spcPts val="600"/>
              </a:spcBef>
              <a:buNone/>
            </a:pPr>
            <a:endParaRPr lang="en-US" sz="900" b="1"/>
          </a:p>
          <a:p>
            <a:pPr>
              <a:spcBef>
                <a:spcPts val="600"/>
              </a:spcBef>
              <a:buNone/>
            </a:pPr>
            <a:r>
              <a:rPr lang="en-US" sz="900" b="1"/>
              <a:t>7. Cybersecurity Assistant (Chatbot/Virtual Analyst)</a:t>
            </a:r>
          </a:p>
          <a:p>
            <a:pPr marL="0" indent="0">
              <a:spcBef>
                <a:spcPts val="600"/>
              </a:spcBef>
              <a:buNone/>
            </a:pPr>
            <a:r>
              <a:rPr lang="en-US" sz="900"/>
              <a:t>Serving as a first-line assistant that provides cybersecurity support, answering questions about policies, procedures, recent threats, or incident response guidelines. Assisting cybersecurity analysts by summarizing logs, incidents, or threat intelligence data to expedite informed decision-making.</a:t>
            </a:r>
          </a:p>
          <a:p>
            <a:pPr>
              <a:spcBef>
                <a:spcPts val="600"/>
              </a:spcBef>
              <a:buNone/>
            </a:pPr>
            <a:endParaRPr lang="en-US" sz="900" b="1"/>
          </a:p>
          <a:p>
            <a:pPr>
              <a:spcBef>
                <a:spcPts val="600"/>
              </a:spcBef>
              <a:buNone/>
            </a:pPr>
            <a:r>
              <a:rPr lang="en-US" sz="900" b="1"/>
              <a:t>8. Code and Software Security Analysis</a:t>
            </a:r>
          </a:p>
          <a:p>
            <a:pPr marL="0" indent="0">
              <a:spcBef>
                <a:spcPts val="600"/>
              </a:spcBef>
              <a:buNone/>
            </a:pPr>
            <a:r>
              <a:rPr lang="en-US" sz="900"/>
              <a:t>Reviewing code repositories, documentation, and logs to identify potential security weaknesses, such as insecure coding patterns, hardcoded credentials, or risky configuration settings. Suggesting secure coding practices and generating contextual remediation steps.</a:t>
            </a:r>
          </a:p>
          <a:p>
            <a:pPr>
              <a:spcBef>
                <a:spcPts val="600"/>
              </a:spcBef>
              <a:buNone/>
            </a:pPr>
            <a:endParaRPr lang="en-US" sz="900" b="1"/>
          </a:p>
          <a:p>
            <a:pPr>
              <a:spcBef>
                <a:spcPts val="600"/>
              </a:spcBef>
              <a:buNone/>
            </a:pPr>
            <a:r>
              <a:rPr lang="en-US" sz="900" b="1"/>
              <a:t>9. Enhanced SIEM and Log Analysis</a:t>
            </a:r>
          </a:p>
          <a:p>
            <a:pPr marL="0" indent="0">
              <a:spcBef>
                <a:spcPts val="600"/>
              </a:spcBef>
              <a:buNone/>
            </a:pPr>
            <a:r>
              <a:rPr lang="en-US" sz="900"/>
              <a:t>Integrating LLMs with Security Information and Event Management (SIEM) platforms to provide enhanced semantic understanding of security logs, correlate events, and reduce false positives through natural language analysis. Improving root-cause analysis by interpreting event logs and contextualizing security events.</a:t>
            </a:r>
          </a:p>
          <a:p>
            <a:pPr>
              <a:spcBef>
                <a:spcPts val="600"/>
              </a:spcBef>
              <a:buNone/>
            </a:pPr>
            <a:endParaRPr lang="en-US" sz="900" b="1"/>
          </a:p>
          <a:p>
            <a:pPr>
              <a:spcBef>
                <a:spcPts val="600"/>
              </a:spcBef>
              <a:buNone/>
            </a:pPr>
            <a:r>
              <a:rPr lang="en-US" sz="900" b="1"/>
              <a:t>10. Retrieval-Augmented Generation (RAG) for Security</a:t>
            </a:r>
          </a:p>
          <a:p>
            <a:pPr marL="0" indent="0">
              <a:spcBef>
                <a:spcPts val="600"/>
              </a:spcBef>
              <a:buNone/>
            </a:pPr>
            <a:r>
              <a:rPr lang="en-US" sz="900"/>
              <a:t>Employing RAG models to access up-to-date cybersecurity knowledge bases or internal documentation, providing timely, accurate, and contextually relevant answers during security incidents or routine operations.</a:t>
            </a:r>
          </a:p>
        </p:txBody>
      </p:sp>
      <p:sp>
        <p:nvSpPr>
          <p:cNvPr id="3" name="Content Placeholder 2">
            <a:extLst>
              <a:ext uri="{FF2B5EF4-FFF2-40B4-BE49-F238E27FC236}">
                <a16:creationId xmlns:a16="http://schemas.microsoft.com/office/drawing/2014/main" id="{36030E77-D0D5-319B-FBAA-B3CC779F0D28}"/>
              </a:ext>
            </a:extLst>
          </p:cNvPr>
          <p:cNvSpPr>
            <a:spLocks noGrp="1"/>
          </p:cNvSpPr>
          <p:nvPr>
            <p:ph sz="half" idx="4294967295"/>
          </p:nvPr>
        </p:nvSpPr>
        <p:spPr>
          <a:xfrm>
            <a:off x="338328" y="873029"/>
            <a:ext cx="5212080" cy="5271739"/>
          </a:xfrm>
        </p:spPr>
        <p:txBody>
          <a:bodyPr>
            <a:noAutofit/>
          </a:bodyPr>
          <a:lstStyle/>
          <a:p>
            <a:pPr>
              <a:spcBef>
                <a:spcPts val="600"/>
              </a:spcBef>
              <a:buNone/>
            </a:pPr>
            <a:r>
              <a:rPr lang="en-US" sz="900" b="1"/>
              <a:t>1. Threat Detection and Anomaly Identification</a:t>
            </a:r>
          </a:p>
          <a:p>
            <a:pPr marL="0" indent="0">
              <a:spcBef>
                <a:spcPts val="600"/>
              </a:spcBef>
              <a:buNone/>
            </a:pPr>
            <a:r>
              <a:rPr lang="en-US" sz="900"/>
              <a:t>LLMs can analyze extensive logs, network events, and telemetry data, recognizing subtle patterns indicative of cyber threats or anomalies. They provide contextual understanding of suspicious activity, correlating seemingly unrelated events to identify potential breaches or attacks.</a:t>
            </a:r>
          </a:p>
          <a:p>
            <a:pPr marL="0" indent="0">
              <a:spcBef>
                <a:spcPts val="600"/>
              </a:spcBef>
              <a:buNone/>
            </a:pPr>
            <a:endParaRPr lang="en-US" sz="900"/>
          </a:p>
          <a:p>
            <a:pPr>
              <a:spcBef>
                <a:spcPts val="600"/>
              </a:spcBef>
              <a:buNone/>
            </a:pPr>
            <a:r>
              <a:rPr lang="en-US" sz="900" b="1"/>
              <a:t>2. Security Incident Response Automation</a:t>
            </a:r>
          </a:p>
          <a:p>
            <a:pPr marL="0" indent="0">
              <a:spcBef>
                <a:spcPts val="600"/>
              </a:spcBef>
              <a:buNone/>
            </a:pPr>
            <a:r>
              <a:rPr lang="en-US" sz="900"/>
              <a:t>Automating responses to standard security incidents by interpreting alerts, analyzing context, and suggesting or executing initial remediation steps. Streamlining the triage process to quickly prioritize critical threats based on context derived from past incidents.</a:t>
            </a:r>
          </a:p>
          <a:p>
            <a:pPr>
              <a:spcBef>
                <a:spcPts val="600"/>
              </a:spcBef>
              <a:buNone/>
            </a:pPr>
            <a:endParaRPr lang="en-US" sz="900" b="1"/>
          </a:p>
          <a:p>
            <a:pPr>
              <a:spcBef>
                <a:spcPts val="600"/>
              </a:spcBef>
              <a:buNone/>
            </a:pPr>
            <a:r>
              <a:rPr lang="en-US" sz="900" b="1"/>
              <a:t>3. Vulnerability Assessment and Management</a:t>
            </a:r>
          </a:p>
          <a:p>
            <a:pPr marL="0" indent="0">
              <a:spcBef>
                <a:spcPts val="600"/>
              </a:spcBef>
              <a:buNone/>
            </a:pPr>
            <a:r>
              <a:rPr lang="en-US" sz="900"/>
              <a:t>Parsing security bulletins, advisories, and CVE databases to summarize and highlight critical vulnerabilities relevant to an organization's infrastructure. Generating actionable mitigation strategies and prioritization recommendations tailored to the organization's specific technologies and risk profile.</a:t>
            </a:r>
          </a:p>
          <a:p>
            <a:pPr>
              <a:spcBef>
                <a:spcPts val="600"/>
              </a:spcBef>
              <a:buNone/>
            </a:pPr>
            <a:endParaRPr lang="en-US" sz="900" b="1"/>
          </a:p>
          <a:p>
            <a:pPr>
              <a:spcBef>
                <a:spcPts val="600"/>
              </a:spcBef>
              <a:buNone/>
            </a:pPr>
            <a:r>
              <a:rPr lang="en-US" sz="900" b="1"/>
              <a:t>4. Phishing and Social Engineering Detection</a:t>
            </a:r>
          </a:p>
          <a:p>
            <a:pPr marL="0" indent="0">
              <a:spcBef>
                <a:spcPts val="600"/>
              </a:spcBef>
              <a:buNone/>
            </a:pPr>
            <a:r>
              <a:rPr lang="en-US" sz="900"/>
              <a:t>Identifying suspicious patterns in emails, text messages, and other communication platforms by leveraging natural language understanding to detect phishing, impersonation, or manipulative techniques. Educating users by generating realistic phishing simulations or context-aware cybersecurity training content.</a:t>
            </a:r>
          </a:p>
          <a:p>
            <a:pPr>
              <a:spcBef>
                <a:spcPts val="600"/>
              </a:spcBef>
              <a:buNone/>
            </a:pPr>
            <a:endParaRPr lang="en-US" sz="900" b="1"/>
          </a:p>
          <a:p>
            <a:pPr>
              <a:spcBef>
                <a:spcPts val="600"/>
              </a:spcBef>
              <a:buNone/>
            </a:pPr>
            <a:r>
              <a:rPr lang="en-US" sz="900" b="1"/>
              <a:t>5. Cybersecurity Documentation and Compliance Automation</a:t>
            </a:r>
          </a:p>
          <a:p>
            <a:pPr marL="0" indent="0">
              <a:spcBef>
                <a:spcPts val="600"/>
              </a:spcBef>
              <a:buNone/>
            </a:pPr>
            <a:r>
              <a:rPr lang="en-US" sz="900"/>
              <a:t>Generating compliance reports, incident documentation, and audit logs automatically, reducing the manual burden associated with regulatory requirements (e.g., GDPR, NYSDFS 23 NYCRR 500).Assisting in the interpretation of regulatory texts, summarizing complex cybersecurity requirements, and suggesting compliance actions.</a:t>
            </a:r>
          </a:p>
        </p:txBody>
      </p:sp>
      <p:sp>
        <p:nvSpPr>
          <p:cNvPr id="6" name="TextBox 5">
            <a:extLst>
              <a:ext uri="{FF2B5EF4-FFF2-40B4-BE49-F238E27FC236}">
                <a16:creationId xmlns:a16="http://schemas.microsoft.com/office/drawing/2014/main" id="{B4C5E023-D0EB-50FB-1BDF-C0FE2338117A}"/>
              </a:ext>
            </a:extLst>
          </p:cNvPr>
          <p:cNvSpPr txBox="1"/>
          <p:nvPr/>
        </p:nvSpPr>
        <p:spPr>
          <a:xfrm>
            <a:off x="2529713" y="6030691"/>
            <a:ext cx="9323959" cy="646331"/>
          </a:xfrm>
          <a:prstGeom prst="rect">
            <a:avLst/>
          </a:prstGeom>
          <a:noFill/>
        </p:spPr>
        <p:txBody>
          <a:bodyPr wrap="square" rtlCol="0">
            <a:spAutoFit/>
          </a:bodyPr>
          <a:lstStyle/>
          <a:p>
            <a:pPr algn="ctr"/>
            <a:r>
              <a:rPr lang="en-US" sz="1200" i="1"/>
              <a:t>Threat intelligence application is the target for first phase, with incident response, compliance automation, analysts support and RAG integration (1, 2, 5, 7 and 10) as potential targets thereafter. Models must be trained on Cyber security data (public + private) and then plugged into the environment for proper contextualization and customization of output </a:t>
            </a:r>
          </a:p>
        </p:txBody>
      </p:sp>
    </p:spTree>
    <p:extLst>
      <p:ext uri="{BB962C8B-B14F-4D97-AF65-F5344CB8AC3E}">
        <p14:creationId xmlns:p14="http://schemas.microsoft.com/office/powerpoint/2010/main" val="36003306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5B7A7B-4568-3D20-11C3-196DDFCB61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B7A5FA-4822-3F0B-2D5E-907BB92C78F5}"/>
              </a:ext>
            </a:extLst>
          </p:cNvPr>
          <p:cNvSpPr>
            <a:spLocks noGrp="1"/>
          </p:cNvSpPr>
          <p:nvPr>
            <p:ph type="title" idx="4294967295"/>
          </p:nvPr>
        </p:nvSpPr>
        <p:spPr>
          <a:xfrm>
            <a:off x="1052622" y="155976"/>
            <a:ext cx="8761413" cy="708025"/>
          </a:xfrm>
        </p:spPr>
        <p:txBody>
          <a:bodyPr/>
          <a:lstStyle/>
          <a:p>
            <a:pPr algn="ctr"/>
            <a:r>
              <a:rPr lang="en-US" sz="2800">
                <a:solidFill>
                  <a:schemeClr val="tx1"/>
                </a:solidFill>
              </a:rPr>
              <a:t>Cyber Security Language Models</a:t>
            </a:r>
          </a:p>
        </p:txBody>
      </p:sp>
      <p:graphicFrame>
        <p:nvGraphicFramePr>
          <p:cNvPr id="3" name="Table 2">
            <a:extLst>
              <a:ext uri="{FF2B5EF4-FFF2-40B4-BE49-F238E27FC236}">
                <a16:creationId xmlns:a16="http://schemas.microsoft.com/office/drawing/2014/main" id="{725C5B1F-C897-8651-9A7C-330C8E50B30A}"/>
              </a:ext>
            </a:extLst>
          </p:cNvPr>
          <p:cNvGraphicFramePr>
            <a:graphicFrameLocks noGrp="1"/>
          </p:cNvGraphicFramePr>
          <p:nvPr/>
        </p:nvGraphicFramePr>
        <p:xfrm>
          <a:off x="563526" y="937770"/>
          <a:ext cx="10674451" cy="5188709"/>
        </p:xfrm>
        <a:graphic>
          <a:graphicData uri="http://schemas.openxmlformats.org/drawingml/2006/table">
            <a:tbl>
              <a:tblPr firstRow="1" bandRow="1">
                <a:noFill/>
                <a:tableStyleId>{5C22544A-7EE6-4342-B048-85BDC9FD1C3A}</a:tableStyleId>
              </a:tblPr>
              <a:tblGrid>
                <a:gridCol w="1162015">
                  <a:extLst>
                    <a:ext uri="{9D8B030D-6E8A-4147-A177-3AD203B41FA5}">
                      <a16:colId xmlns:a16="http://schemas.microsoft.com/office/drawing/2014/main" val="3147494107"/>
                    </a:ext>
                  </a:extLst>
                </a:gridCol>
                <a:gridCol w="899489">
                  <a:extLst>
                    <a:ext uri="{9D8B030D-6E8A-4147-A177-3AD203B41FA5}">
                      <a16:colId xmlns:a16="http://schemas.microsoft.com/office/drawing/2014/main" val="3934316649"/>
                    </a:ext>
                  </a:extLst>
                </a:gridCol>
                <a:gridCol w="1324032">
                  <a:extLst>
                    <a:ext uri="{9D8B030D-6E8A-4147-A177-3AD203B41FA5}">
                      <a16:colId xmlns:a16="http://schemas.microsoft.com/office/drawing/2014/main" val="3860505591"/>
                    </a:ext>
                  </a:extLst>
                </a:gridCol>
                <a:gridCol w="1085506">
                  <a:extLst>
                    <a:ext uri="{9D8B030D-6E8A-4147-A177-3AD203B41FA5}">
                      <a16:colId xmlns:a16="http://schemas.microsoft.com/office/drawing/2014/main" val="1119723414"/>
                    </a:ext>
                  </a:extLst>
                </a:gridCol>
                <a:gridCol w="3130207">
                  <a:extLst>
                    <a:ext uri="{9D8B030D-6E8A-4147-A177-3AD203B41FA5}">
                      <a16:colId xmlns:a16="http://schemas.microsoft.com/office/drawing/2014/main" val="3430417174"/>
                    </a:ext>
                  </a:extLst>
                </a:gridCol>
                <a:gridCol w="3073202">
                  <a:extLst>
                    <a:ext uri="{9D8B030D-6E8A-4147-A177-3AD203B41FA5}">
                      <a16:colId xmlns:a16="http://schemas.microsoft.com/office/drawing/2014/main" val="1825153481"/>
                    </a:ext>
                  </a:extLst>
                </a:gridCol>
              </a:tblGrid>
              <a:tr h="431911">
                <a:tc>
                  <a:txBody>
                    <a:bodyPr/>
                    <a:lstStyle/>
                    <a:p>
                      <a:pPr algn="ctr" fontAlgn="b"/>
                      <a:r>
                        <a:rPr lang="en-US" sz="1000" b="1" u="sng" strike="noStrike" cap="none" spc="0">
                          <a:solidFill>
                            <a:schemeClr val="tx1"/>
                          </a:solidFill>
                          <a:effectLst/>
                        </a:rPr>
                        <a:t>Model Name</a:t>
                      </a:r>
                      <a:endParaRPr lang="en-US" sz="1000" b="1" i="0" u="sng" strike="noStrike" cap="none" spc="0">
                        <a:solidFill>
                          <a:schemeClr val="tx1"/>
                        </a:solidFill>
                        <a:effectLst/>
                        <a:latin typeface="Aptos Narrow" panose="020B0004020202020204" pitchFamily="34" charset="0"/>
                      </a:endParaRPr>
                    </a:p>
                  </a:txBody>
                  <a:tcPr marL="3803" marR="3803" marT="36510" marB="36510" anchor="b">
                    <a:lnL w="12700" cmpd="sng">
                      <a:noFill/>
                    </a:lnL>
                    <a:lnR w="12700" cmpd="sng">
                      <a:noFill/>
                    </a:lnR>
                    <a:lnT w="28575" cap="flat" cmpd="sng" algn="ctr">
                      <a:solidFill>
                        <a:schemeClr val="tx1"/>
                      </a:solidFill>
                      <a:prstDash val="solid"/>
                    </a:lnT>
                    <a:lnB w="38100" cmpd="sng">
                      <a:noFill/>
                    </a:lnB>
                    <a:noFill/>
                  </a:tcPr>
                </a:tc>
                <a:tc>
                  <a:txBody>
                    <a:bodyPr/>
                    <a:lstStyle/>
                    <a:p>
                      <a:pPr algn="ctr" fontAlgn="b"/>
                      <a:r>
                        <a:rPr lang="en-US" sz="1000" b="1" u="sng" strike="noStrike" cap="none" spc="0">
                          <a:solidFill>
                            <a:schemeClr val="tx1"/>
                          </a:solidFill>
                          <a:effectLst/>
                        </a:rPr>
                        <a:t>Introduced</a:t>
                      </a:r>
                      <a:endParaRPr lang="en-US" sz="1000" b="1" i="0" u="sng" strike="noStrike" cap="none" spc="0">
                        <a:solidFill>
                          <a:schemeClr val="tx1"/>
                        </a:solidFill>
                        <a:effectLst/>
                        <a:latin typeface="Aptos Narrow" panose="020B0004020202020204" pitchFamily="34" charset="0"/>
                      </a:endParaRPr>
                    </a:p>
                  </a:txBody>
                  <a:tcPr marL="3803" marR="3803" marT="36510" marB="36510" anchor="b">
                    <a:lnL w="12700" cmpd="sng">
                      <a:noFill/>
                    </a:lnL>
                    <a:lnR w="12700" cmpd="sng">
                      <a:noFill/>
                    </a:lnR>
                    <a:lnT w="28575" cap="flat" cmpd="sng" algn="ctr">
                      <a:solidFill>
                        <a:schemeClr val="tx1"/>
                      </a:solidFill>
                      <a:prstDash val="solid"/>
                    </a:lnT>
                    <a:lnB w="38100" cmpd="sng">
                      <a:noFill/>
                    </a:lnB>
                    <a:noFill/>
                  </a:tcPr>
                </a:tc>
                <a:tc>
                  <a:txBody>
                    <a:bodyPr/>
                    <a:lstStyle/>
                    <a:p>
                      <a:pPr algn="ctr" fontAlgn="b"/>
                      <a:r>
                        <a:rPr lang="en-US" sz="1000" b="1" u="sng" strike="noStrike" cap="none" spc="0">
                          <a:solidFill>
                            <a:schemeClr val="tx1"/>
                          </a:solidFill>
                          <a:effectLst/>
                        </a:rPr>
                        <a:t>Developer(s)</a:t>
                      </a:r>
                      <a:endParaRPr lang="en-US" sz="1000" b="1" i="0" u="sng" strike="noStrike" cap="none" spc="0">
                        <a:solidFill>
                          <a:schemeClr val="tx1"/>
                        </a:solidFill>
                        <a:effectLst/>
                        <a:latin typeface="Aptos Narrow" panose="020B0004020202020204" pitchFamily="34" charset="0"/>
                      </a:endParaRPr>
                    </a:p>
                  </a:txBody>
                  <a:tcPr marL="3803" marR="3803" marT="36510" marB="36510" anchor="b">
                    <a:lnL w="12700" cmpd="sng">
                      <a:noFill/>
                    </a:lnL>
                    <a:lnR w="12700" cmpd="sng">
                      <a:noFill/>
                    </a:lnR>
                    <a:lnT w="28575" cap="flat" cmpd="sng" algn="ctr">
                      <a:solidFill>
                        <a:schemeClr val="tx1"/>
                      </a:solidFill>
                      <a:prstDash val="solid"/>
                    </a:lnT>
                    <a:lnB w="38100" cmpd="sng">
                      <a:noFill/>
                    </a:lnB>
                    <a:noFill/>
                  </a:tcPr>
                </a:tc>
                <a:tc>
                  <a:txBody>
                    <a:bodyPr/>
                    <a:lstStyle/>
                    <a:p>
                      <a:pPr algn="ctr" fontAlgn="b"/>
                      <a:r>
                        <a:rPr lang="en-US" sz="1000" b="1" u="sng" strike="noStrike" cap="none" spc="0">
                          <a:solidFill>
                            <a:schemeClr val="tx1"/>
                          </a:solidFill>
                          <a:effectLst/>
                        </a:rPr>
                        <a:t>Base Model</a:t>
                      </a:r>
                      <a:endParaRPr lang="en-US" sz="1000" b="1" i="0" u="sng" strike="noStrike" cap="none" spc="0">
                        <a:solidFill>
                          <a:schemeClr val="tx1"/>
                        </a:solidFill>
                        <a:effectLst/>
                        <a:latin typeface="Aptos Narrow" panose="020B0004020202020204" pitchFamily="34" charset="0"/>
                      </a:endParaRPr>
                    </a:p>
                  </a:txBody>
                  <a:tcPr marL="3803" marR="3803" marT="36510" marB="36510" anchor="b">
                    <a:lnL w="12700" cmpd="sng">
                      <a:noFill/>
                    </a:lnL>
                    <a:lnR w="12700" cmpd="sng">
                      <a:noFill/>
                    </a:lnR>
                    <a:lnT w="28575" cap="flat" cmpd="sng" algn="ctr">
                      <a:solidFill>
                        <a:schemeClr val="tx1"/>
                      </a:solidFill>
                      <a:prstDash val="solid"/>
                    </a:lnT>
                    <a:lnB w="38100" cmpd="sng">
                      <a:noFill/>
                    </a:lnB>
                    <a:noFill/>
                  </a:tcPr>
                </a:tc>
                <a:tc>
                  <a:txBody>
                    <a:bodyPr/>
                    <a:lstStyle/>
                    <a:p>
                      <a:pPr algn="ctr" fontAlgn="b"/>
                      <a:r>
                        <a:rPr lang="en-US" sz="1000" b="1" u="sng" strike="noStrike" cap="none" spc="0">
                          <a:solidFill>
                            <a:schemeClr val="tx1"/>
                          </a:solidFill>
                          <a:effectLst/>
                        </a:rPr>
                        <a:t>Training Methodology</a:t>
                      </a:r>
                      <a:endParaRPr lang="en-US" sz="1000" b="1" i="0" u="sng" strike="noStrike" cap="none" spc="0">
                        <a:solidFill>
                          <a:schemeClr val="tx1"/>
                        </a:solidFill>
                        <a:effectLst/>
                        <a:latin typeface="Aptos Narrow" panose="020B0004020202020204" pitchFamily="34" charset="0"/>
                      </a:endParaRPr>
                    </a:p>
                  </a:txBody>
                  <a:tcPr marL="3803" marR="3803" marT="36510" marB="36510" anchor="b">
                    <a:lnL w="12700" cmpd="sng">
                      <a:noFill/>
                    </a:lnL>
                    <a:lnR w="12700" cmpd="sng">
                      <a:noFill/>
                    </a:lnR>
                    <a:lnT w="28575" cap="flat" cmpd="sng" algn="ctr">
                      <a:solidFill>
                        <a:schemeClr val="tx1"/>
                      </a:solidFill>
                      <a:prstDash val="solid"/>
                    </a:lnT>
                    <a:lnB w="38100" cmpd="sng">
                      <a:noFill/>
                    </a:lnB>
                    <a:noFill/>
                  </a:tcPr>
                </a:tc>
                <a:tc>
                  <a:txBody>
                    <a:bodyPr/>
                    <a:lstStyle/>
                    <a:p>
                      <a:pPr algn="ctr" fontAlgn="b"/>
                      <a:r>
                        <a:rPr lang="en-US" sz="1000" b="1" u="sng" strike="noStrike" cap="none" spc="0">
                          <a:solidFill>
                            <a:schemeClr val="tx1"/>
                          </a:solidFill>
                          <a:effectLst/>
                        </a:rPr>
                        <a:t>Targeted Domains</a:t>
                      </a:r>
                      <a:endParaRPr lang="en-US" sz="1000" b="1" i="0" u="sng" strike="noStrike" cap="none" spc="0">
                        <a:solidFill>
                          <a:schemeClr val="tx1"/>
                        </a:solidFill>
                        <a:effectLst/>
                        <a:latin typeface="Aptos Narrow" panose="020B0004020202020204" pitchFamily="34" charset="0"/>
                      </a:endParaRPr>
                    </a:p>
                  </a:txBody>
                  <a:tcPr marL="3803" marR="3803" marT="36510" marB="36510" anchor="b">
                    <a:lnL w="12700" cmpd="sng">
                      <a:noFill/>
                    </a:lnL>
                    <a:lnR w="12700" cmpd="sng">
                      <a:noFill/>
                    </a:lnR>
                    <a:lnT w="28575" cap="flat" cmpd="sng" algn="ctr">
                      <a:solidFill>
                        <a:schemeClr val="tx1"/>
                      </a:solidFill>
                      <a:prstDash val="solid"/>
                    </a:lnT>
                    <a:lnB w="38100" cmpd="sng">
                      <a:noFill/>
                    </a:lnB>
                    <a:noFill/>
                  </a:tcPr>
                </a:tc>
                <a:extLst>
                  <a:ext uri="{0D108BD9-81ED-4DB2-BD59-A6C34878D82A}">
                    <a16:rowId xmlns:a16="http://schemas.microsoft.com/office/drawing/2014/main" val="2139084753"/>
                  </a:ext>
                </a:extLst>
              </a:tr>
              <a:tr h="625638">
                <a:tc>
                  <a:txBody>
                    <a:bodyPr/>
                    <a:lstStyle/>
                    <a:p>
                      <a:pPr algn="l" fontAlgn="b"/>
                      <a:r>
                        <a:rPr lang="en-US" sz="900" i="1" u="none" strike="noStrike" cap="none" spc="0">
                          <a:solidFill>
                            <a:schemeClr val="tx1"/>
                          </a:solidFill>
                          <a:effectLst/>
                        </a:rPr>
                        <a:t>CyberPal.AI</a:t>
                      </a:r>
                      <a:endParaRPr lang="en-US" sz="900" b="1" i="1" u="none" strike="noStrike" cap="none" spc="0">
                        <a:solidFill>
                          <a:schemeClr val="tx1"/>
                        </a:solidFill>
                        <a:effectLst/>
                        <a:latin typeface="Aptos Narrow" panose="020B0004020202020204" pitchFamily="34" charset="0"/>
                      </a:endParaRPr>
                    </a:p>
                  </a:txBody>
                  <a:tcPr marL="3803" marR="3803" marT="36510" marB="36510" anchor="b">
                    <a:lnL w="28575" cap="flat" cmpd="sng" algn="ctr">
                      <a:noFill/>
                      <a:prstDash val="solid"/>
                    </a:lnL>
                    <a:lnR w="12700" cmpd="sng">
                      <a:noFill/>
                      <a:prstDash val="solid"/>
                    </a:lnR>
                    <a:lnT w="38100" cmpd="sng">
                      <a:noFill/>
                    </a:lnT>
                    <a:lnB w="12700" cap="flat" cmpd="sng" algn="ctr">
                      <a:noFill/>
                      <a:prstDash val="solid"/>
                    </a:lnB>
                    <a:noFill/>
                  </a:tcPr>
                </a:tc>
                <a:tc>
                  <a:txBody>
                    <a:bodyPr/>
                    <a:lstStyle/>
                    <a:p>
                      <a:pPr algn="ctr" fontAlgn="b"/>
                      <a:r>
                        <a:rPr lang="en-US" sz="900" u="none" strike="noStrike" cap="none" spc="0">
                          <a:solidFill>
                            <a:schemeClr val="tx1"/>
                          </a:solidFill>
                          <a:effectLst/>
                        </a:rPr>
                        <a:t>Aug-24</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38100" cmpd="sng">
                      <a:noFill/>
                    </a:lnT>
                    <a:lnB w="12700" cap="flat" cmpd="sng" algn="ctr">
                      <a:noFill/>
                      <a:prstDash val="solid"/>
                    </a:lnB>
                    <a:noFill/>
                  </a:tcPr>
                </a:tc>
                <a:tc>
                  <a:txBody>
                    <a:bodyPr/>
                    <a:lstStyle/>
                    <a:p>
                      <a:pPr algn="l" fontAlgn="b"/>
                      <a:r>
                        <a:rPr lang="en-US" sz="900" u="none" strike="noStrike" cap="none" spc="0">
                          <a:solidFill>
                            <a:schemeClr val="tx1"/>
                          </a:solidFill>
                          <a:effectLst/>
                        </a:rPr>
                        <a:t>Matan Levi et al.</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38100" cmpd="sng">
                      <a:noFill/>
                    </a:lnT>
                    <a:lnB w="12700" cap="flat" cmpd="sng" algn="ctr">
                      <a:noFill/>
                      <a:prstDash val="solid"/>
                    </a:lnB>
                    <a:noFill/>
                  </a:tcPr>
                </a:tc>
                <a:tc>
                  <a:txBody>
                    <a:bodyPr/>
                    <a:lstStyle/>
                    <a:p>
                      <a:pPr algn="l" fontAlgn="b"/>
                      <a:r>
                        <a:rPr lang="en-US" sz="900" u="none" strike="noStrike" cap="none" spc="0">
                          <a:solidFill>
                            <a:schemeClr val="tx1"/>
                          </a:solidFill>
                          <a:effectLst/>
                        </a:rPr>
                        <a:t>Not specified</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38100" cmpd="sng">
                      <a:noFill/>
                    </a:lnT>
                    <a:lnB w="12700" cap="flat" cmpd="sng" algn="ctr">
                      <a:noFill/>
                      <a:prstDash val="solid"/>
                    </a:lnB>
                    <a:noFill/>
                  </a:tcPr>
                </a:tc>
                <a:tc>
                  <a:txBody>
                    <a:bodyPr/>
                    <a:lstStyle/>
                    <a:p>
                      <a:pPr algn="l" fontAlgn="b"/>
                      <a:r>
                        <a:rPr lang="en-US" sz="900" u="none" strike="noStrike" cap="none" spc="0">
                          <a:solidFill>
                            <a:schemeClr val="tx1"/>
                          </a:solidFill>
                          <a:effectLst/>
                        </a:rPr>
                        <a:t>Instruction tuning with SecKnowledge dataset; evaluated using SecKnowledge-Eval benchmark</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38100" cmpd="sng">
                      <a:noFill/>
                    </a:lnT>
                    <a:lnB w="12700" cap="flat" cmpd="sng" algn="ctr">
                      <a:noFill/>
                      <a:prstDash val="solid"/>
                    </a:lnB>
                    <a:noFill/>
                  </a:tcPr>
                </a:tc>
                <a:tc>
                  <a:txBody>
                    <a:bodyPr/>
                    <a:lstStyle/>
                    <a:p>
                      <a:pPr algn="l" fontAlgn="b"/>
                      <a:r>
                        <a:rPr lang="en-US" sz="900" u="none" strike="noStrike" cap="none" spc="0">
                          <a:solidFill>
                            <a:schemeClr val="tx1"/>
                          </a:solidFill>
                          <a:effectLst/>
                        </a:rPr>
                        <a:t>Threat hunting, malware analysis, vulnerability assessment, incident response</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28575" cap="flat" cmpd="sng" algn="ctr">
                      <a:noFill/>
                      <a:prstDash val="solid"/>
                    </a:lnR>
                    <a:lnT w="38100" cmpd="sng">
                      <a:noFill/>
                    </a:lnT>
                    <a:lnB w="12700" cap="flat" cmpd="sng" algn="ctr">
                      <a:noFill/>
                      <a:prstDash val="solid"/>
                    </a:lnB>
                    <a:noFill/>
                  </a:tcPr>
                </a:tc>
                <a:extLst>
                  <a:ext uri="{0D108BD9-81ED-4DB2-BD59-A6C34878D82A}">
                    <a16:rowId xmlns:a16="http://schemas.microsoft.com/office/drawing/2014/main" val="355934464"/>
                  </a:ext>
                </a:extLst>
              </a:tr>
              <a:tr h="535781">
                <a:tc>
                  <a:txBody>
                    <a:bodyPr/>
                    <a:lstStyle/>
                    <a:p>
                      <a:pPr algn="l" fontAlgn="b"/>
                      <a:r>
                        <a:rPr lang="en-US" sz="900" i="1" u="none" strike="noStrike" cap="none" spc="0">
                          <a:solidFill>
                            <a:schemeClr val="tx1"/>
                          </a:solidFill>
                          <a:effectLst/>
                        </a:rPr>
                        <a:t>Llama-Primus</a:t>
                      </a:r>
                      <a:endParaRPr lang="en-US" sz="900" b="1" i="1"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ctr" fontAlgn="b"/>
                      <a:r>
                        <a:rPr lang="en-US" sz="900" u="none" strike="noStrike" cap="none" spc="0">
                          <a:solidFill>
                            <a:schemeClr val="tx1"/>
                          </a:solidFill>
                          <a:effectLst/>
                        </a:rPr>
                        <a:t>Feb-25</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r>
                        <a:rPr lang="en-US" sz="900" u="none" strike="noStrike" cap="none" spc="0">
                          <a:solidFill>
                            <a:schemeClr val="tx1"/>
                          </a:solidFill>
                          <a:effectLst/>
                        </a:rPr>
                        <a:t>Trend Micro AI Lab</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r>
                        <a:rPr lang="en-US" sz="900" u="none" strike="noStrike" cap="none" spc="0">
                          <a:solidFill>
                            <a:schemeClr val="tx1"/>
                          </a:solidFill>
                          <a:effectLst/>
                        </a:rPr>
                        <a:t>Llama-3.1-8B-Instruct</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r>
                        <a:rPr lang="en-US" sz="900" u="none" strike="noStrike" cap="none" spc="0">
                          <a:solidFill>
                            <a:schemeClr val="tx1"/>
                          </a:solidFill>
                          <a:effectLst/>
                        </a:rPr>
                        <a:t>Continual pretraining on cybersecurity corpus; instruction fine-tuning with curated QA tasks</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r>
                        <a:rPr lang="en-US" sz="900" u="none" strike="noStrike" cap="none" spc="0">
                          <a:solidFill>
                            <a:schemeClr val="tx1"/>
                          </a:solidFill>
                          <a:effectLst/>
                        </a:rPr>
                        <a:t>Cyber threat intelligence, vulnerability classification, security certification preparation</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1575695743"/>
                  </a:ext>
                </a:extLst>
              </a:tr>
              <a:tr h="930480">
                <a:tc>
                  <a:txBody>
                    <a:bodyPr/>
                    <a:lstStyle/>
                    <a:p>
                      <a:pPr algn="l" fontAlgn="b"/>
                      <a:r>
                        <a:rPr lang="en-US" sz="900" i="1" u="none" strike="noStrike" cap="none" spc="0" err="1">
                          <a:solidFill>
                            <a:schemeClr val="tx1"/>
                          </a:solidFill>
                          <a:effectLst/>
                        </a:rPr>
                        <a:t>SecBERT</a:t>
                      </a:r>
                      <a:endParaRPr lang="en-US" sz="900" b="1" i="1" u="none" strike="noStrike" cap="none" spc="0">
                        <a:solidFill>
                          <a:schemeClr val="tx1"/>
                        </a:solidFill>
                        <a:effectLst/>
                        <a:latin typeface="Aptos Narrow" panose="020B0004020202020204" pitchFamily="34" charset="0"/>
                      </a:endParaRPr>
                    </a:p>
                  </a:txBody>
                  <a:tcPr marL="3803" marR="3803" marT="36510" marB="36510" anchor="b">
                    <a:lnL w="28575" cap="flat" cmpd="sng" algn="ctr">
                      <a:noFill/>
                      <a:prstDash val="solid"/>
                    </a:lnL>
                    <a:lnR w="12700" cmpd="sng">
                      <a:noFill/>
                      <a:prstDash val="solid"/>
                    </a:lnR>
                    <a:lnT w="12700" cmpd="sng">
                      <a:noFill/>
                      <a:prstDash val="solid"/>
                    </a:lnT>
                    <a:lnB w="12700" cap="flat" cmpd="sng" algn="ctr">
                      <a:noFill/>
                      <a:prstDash val="solid"/>
                    </a:lnB>
                    <a:noFill/>
                  </a:tcPr>
                </a:tc>
                <a:tc>
                  <a:txBody>
                    <a:bodyPr/>
                    <a:lstStyle/>
                    <a:p>
                      <a:pPr algn="ctr" fontAlgn="b"/>
                      <a:r>
                        <a:rPr lang="en-US" sz="900" u="none" strike="noStrike" cap="none" spc="0">
                          <a:solidFill>
                            <a:schemeClr val="tx1"/>
                          </a:solidFill>
                          <a:effectLst/>
                        </a:rPr>
                        <a:t>2022</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r>
                        <a:rPr lang="en-US" sz="900" u="none" strike="noStrike" cap="none" spc="0">
                          <a:solidFill>
                            <a:schemeClr val="tx1"/>
                          </a:solidFill>
                          <a:effectLst/>
                        </a:rPr>
                        <a:t>jackaduma</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r>
                        <a:rPr lang="en-US" sz="900" u="none" strike="noStrike" cap="none" spc="0">
                          <a:solidFill>
                            <a:schemeClr val="tx1"/>
                          </a:solidFill>
                          <a:effectLst/>
                        </a:rPr>
                        <a:t>BERT</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r>
                        <a:rPr lang="en-US" sz="900" u="none" strike="noStrike" cap="none" spc="0">
                          <a:solidFill>
                            <a:schemeClr val="tx1"/>
                          </a:solidFill>
                          <a:effectLst/>
                        </a:rPr>
                        <a:t>Pretrained from scratch on cybersecurity texts including </a:t>
                      </a:r>
                      <a:r>
                        <a:rPr lang="en-US" sz="900" u="none" strike="noStrike" cap="none" spc="0" err="1">
                          <a:solidFill>
                            <a:schemeClr val="tx1"/>
                          </a:solidFill>
                          <a:effectLst/>
                        </a:rPr>
                        <a:t>APTnotes</a:t>
                      </a:r>
                      <a:r>
                        <a:rPr lang="en-US" sz="900" u="none" strike="noStrike" cap="none" spc="0">
                          <a:solidFill>
                            <a:schemeClr val="tx1"/>
                          </a:solidFill>
                          <a:effectLst/>
                        </a:rPr>
                        <a:t>, Stucco-Data, CASIE, and SemEval-2018 Task 8; custom vocabulary</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r>
                        <a:rPr lang="en-US" sz="900" u="none" strike="noStrike" cap="none" spc="0">
                          <a:solidFill>
                            <a:schemeClr val="tx1"/>
                          </a:solidFill>
                          <a:effectLst/>
                        </a:rPr>
                        <a:t>Threat intelligence, NER, text classification, semantic understanding, Q&amp;A in cybersecurity context</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28575" cap="flat" cmpd="sng" algn="ctr">
                      <a:noFill/>
                      <a:prstDash val="solid"/>
                    </a:lnR>
                    <a:lnT w="12700" cmpd="sng">
                      <a:noFill/>
                      <a:prstDash val="solid"/>
                    </a:lnT>
                    <a:lnB w="12700" cap="flat" cmpd="sng" algn="ctr">
                      <a:noFill/>
                      <a:prstDash val="solid"/>
                    </a:lnB>
                    <a:noFill/>
                  </a:tcPr>
                </a:tc>
                <a:extLst>
                  <a:ext uri="{0D108BD9-81ED-4DB2-BD59-A6C34878D82A}">
                    <a16:rowId xmlns:a16="http://schemas.microsoft.com/office/drawing/2014/main" val="4019052514"/>
                  </a:ext>
                </a:extLst>
              </a:tr>
              <a:tr h="554541">
                <a:tc>
                  <a:txBody>
                    <a:bodyPr/>
                    <a:lstStyle/>
                    <a:p>
                      <a:pPr algn="l" fontAlgn="b"/>
                      <a:r>
                        <a:rPr lang="en-US" sz="900" i="1" u="none" strike="noStrike" cap="none" spc="0" err="1">
                          <a:solidFill>
                            <a:schemeClr val="tx1"/>
                          </a:solidFill>
                          <a:effectLst/>
                        </a:rPr>
                        <a:t>SecureBERT</a:t>
                      </a:r>
                      <a:endParaRPr lang="en-US" sz="900" b="1" i="1"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ctr" fontAlgn="b"/>
                      <a:r>
                        <a:rPr lang="en-US" sz="900" u="none" strike="noStrike" cap="none" spc="0">
                          <a:solidFill>
                            <a:schemeClr val="tx1"/>
                          </a:solidFill>
                          <a:effectLst/>
                        </a:rPr>
                        <a:t>2022</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r>
                        <a:rPr lang="en-US" sz="900" u="none" strike="noStrike" cap="none" spc="0">
                          <a:solidFill>
                            <a:schemeClr val="tx1"/>
                          </a:solidFill>
                          <a:effectLst/>
                        </a:rPr>
                        <a:t>Ehsan Aghaei et al. (UNC Charlotte)</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r>
                        <a:rPr lang="en-US" sz="900" u="none" strike="noStrike" cap="none" spc="0">
                          <a:solidFill>
                            <a:schemeClr val="tx1"/>
                          </a:solidFill>
                          <a:effectLst/>
                        </a:rPr>
                        <a:t>BERT</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r>
                        <a:rPr lang="en-US" sz="900" u="none" strike="noStrike" cap="none" spc="0">
                          <a:solidFill>
                            <a:schemeClr val="tx1"/>
                          </a:solidFill>
                          <a:effectLst/>
                        </a:rPr>
                        <a:t>Continual pretraining with customized tokenizer on large corpus of cybersecurity text</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r>
                        <a:rPr lang="en-US" sz="900" u="none" strike="noStrike" cap="none" spc="0">
                          <a:solidFill>
                            <a:schemeClr val="tx1"/>
                          </a:solidFill>
                          <a:effectLst/>
                        </a:rPr>
                        <a:t>Cyber threat intelligence, cyber automation, phishing detection, code and malware analysis, intrusion detection</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3009529436"/>
                  </a:ext>
                </a:extLst>
              </a:tr>
              <a:tr h="764291">
                <a:tc>
                  <a:txBody>
                    <a:bodyPr/>
                    <a:lstStyle/>
                    <a:p>
                      <a:pPr algn="l" fontAlgn="b"/>
                      <a:r>
                        <a:rPr lang="en-US" sz="900" i="1" u="none" strike="noStrike" cap="none" spc="0">
                          <a:solidFill>
                            <a:schemeClr val="tx1"/>
                          </a:solidFill>
                          <a:effectLst/>
                        </a:rPr>
                        <a:t>CTI-BERT</a:t>
                      </a:r>
                      <a:endParaRPr lang="en-US" sz="900" b="1" i="1" u="none" strike="noStrike" cap="none" spc="0">
                        <a:solidFill>
                          <a:schemeClr val="tx1"/>
                        </a:solidFill>
                        <a:effectLst/>
                        <a:latin typeface="Aptos Narrow" panose="020B0004020202020204" pitchFamily="34" charset="0"/>
                      </a:endParaRPr>
                    </a:p>
                  </a:txBody>
                  <a:tcPr marL="3803" marR="3803" marT="36510" marB="36510" anchor="b">
                    <a:lnL w="28575" cap="flat" cmpd="sng" algn="ctr">
                      <a:noFill/>
                      <a:prstDash val="solid"/>
                    </a:lnL>
                    <a:lnR w="12700" cmpd="sng">
                      <a:noFill/>
                      <a:prstDash val="solid"/>
                    </a:lnR>
                    <a:lnT w="12700" cmpd="sng">
                      <a:noFill/>
                      <a:prstDash val="solid"/>
                    </a:lnT>
                    <a:lnB w="12700" cap="flat" cmpd="sng" algn="ctr">
                      <a:noFill/>
                      <a:prstDash val="solid"/>
                    </a:lnB>
                    <a:noFill/>
                  </a:tcPr>
                </a:tc>
                <a:tc>
                  <a:txBody>
                    <a:bodyPr/>
                    <a:lstStyle/>
                    <a:p>
                      <a:pPr algn="ctr" fontAlgn="b"/>
                      <a:r>
                        <a:rPr lang="en-US" sz="900" u="none" strike="noStrike" cap="none" spc="0">
                          <a:solidFill>
                            <a:schemeClr val="tx1"/>
                          </a:solidFill>
                          <a:effectLst/>
                        </a:rPr>
                        <a:t>Dec-23</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r>
                        <a:rPr lang="en-US" sz="900" u="none" strike="noStrike" cap="none" spc="0">
                          <a:solidFill>
                            <a:schemeClr val="tx1"/>
                          </a:solidFill>
                          <a:effectLst/>
                        </a:rPr>
                        <a:t>IBM T.J. Watson Research Center</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r>
                        <a:rPr lang="en-US" sz="900" u="none" strike="noStrike" cap="none" spc="0">
                          <a:solidFill>
                            <a:schemeClr val="tx1"/>
                          </a:solidFill>
                          <a:effectLst/>
                        </a:rPr>
                        <a:t>BERT</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r>
                        <a:rPr lang="en-US" sz="900" u="none" strike="noStrike" cap="none" spc="0">
                          <a:solidFill>
                            <a:schemeClr val="tx1"/>
                          </a:solidFill>
                          <a:effectLst/>
                        </a:rPr>
                        <a:t>Pretrained from scratch on high-quality cybersecurity corpus containing CTI reports and publications</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r>
                        <a:rPr lang="en-US" sz="900" u="none" strike="noStrike" cap="none" spc="0">
                          <a:solidFill>
                            <a:schemeClr val="tx1"/>
                          </a:solidFill>
                          <a:effectLst/>
                        </a:rPr>
                        <a:t>Cyber threat intelligence extraction, security entity (</a:t>
                      </a:r>
                      <a:r>
                        <a:rPr lang="en-US" sz="900" u="none" strike="noStrike" cap="none" spc="0" err="1">
                          <a:solidFill>
                            <a:schemeClr val="tx1"/>
                          </a:solidFill>
                          <a:effectLst/>
                        </a:rPr>
                        <a:t>IoCs</a:t>
                      </a:r>
                      <a:r>
                        <a:rPr lang="en-US" sz="900" u="none" strike="noStrike" cap="none" spc="0">
                          <a:solidFill>
                            <a:schemeClr val="tx1"/>
                          </a:solidFill>
                          <a:effectLst/>
                        </a:rPr>
                        <a:t>) extraction, attack technique (TTPs) classification</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28575" cap="flat" cmpd="sng" algn="ctr">
                      <a:noFill/>
                      <a:prstDash val="solid"/>
                    </a:lnR>
                    <a:lnT w="12700" cmpd="sng">
                      <a:noFill/>
                      <a:prstDash val="solid"/>
                    </a:lnT>
                    <a:lnB w="12700" cap="flat" cmpd="sng" algn="ctr">
                      <a:noFill/>
                      <a:prstDash val="solid"/>
                    </a:lnB>
                    <a:noFill/>
                  </a:tcPr>
                </a:tc>
                <a:extLst>
                  <a:ext uri="{0D108BD9-81ED-4DB2-BD59-A6C34878D82A}">
                    <a16:rowId xmlns:a16="http://schemas.microsoft.com/office/drawing/2014/main" val="3051085325"/>
                  </a:ext>
                </a:extLst>
              </a:tr>
              <a:tr h="554541">
                <a:tc>
                  <a:txBody>
                    <a:bodyPr/>
                    <a:lstStyle/>
                    <a:p>
                      <a:pPr algn="l" fontAlgn="b"/>
                      <a:r>
                        <a:rPr lang="en-US" sz="900" i="1" u="none" strike="noStrike" cap="none" spc="0" err="1">
                          <a:solidFill>
                            <a:schemeClr val="tx1"/>
                          </a:solidFill>
                          <a:effectLst/>
                        </a:rPr>
                        <a:t>SecurityLLM</a:t>
                      </a:r>
                      <a:endParaRPr lang="en-US" sz="900" b="1" i="1"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ctr" fontAlgn="b"/>
                      <a:r>
                        <a:rPr lang="en-US" sz="900" u="none" strike="noStrike" cap="none" spc="0">
                          <a:solidFill>
                            <a:schemeClr val="tx1"/>
                          </a:solidFill>
                          <a:effectLst/>
                        </a:rPr>
                        <a:t>Jan-25</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r>
                        <a:rPr lang="en-US" sz="900" u="none" strike="noStrike" cap="none" spc="0">
                          <a:solidFill>
                            <a:schemeClr val="tx1"/>
                          </a:solidFill>
                          <a:effectLst/>
                        </a:rPr>
                        <a:t>ZySec-AI</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r>
                        <a:rPr lang="en-US" sz="900" u="none" strike="noStrike" cap="none" spc="0">
                          <a:solidFill>
                            <a:schemeClr val="tx1"/>
                          </a:solidFill>
                          <a:effectLst/>
                        </a:rPr>
                        <a:t>Zephyr-7b-beta</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r>
                        <a:rPr lang="en-US" sz="900" u="none" strike="noStrike" cap="none" spc="0">
                          <a:solidFill>
                            <a:schemeClr val="tx1"/>
                          </a:solidFill>
                          <a:effectLst/>
                        </a:rPr>
                        <a:t>Direct Preference Optimization (DPO) training across 30+ security domains</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r>
                        <a:rPr lang="en-US" sz="900" u="none" strike="noStrike" cap="none" spc="0">
                          <a:solidFill>
                            <a:schemeClr val="tx1"/>
                          </a:solidFill>
                          <a:effectLst/>
                        </a:rPr>
                        <a:t>Threat analysis, compliance verification, security architecture reviews, SOC operations, risk management</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920605362"/>
                  </a:ext>
                </a:extLst>
              </a:tr>
              <a:tr h="791526">
                <a:tc>
                  <a:txBody>
                    <a:bodyPr/>
                    <a:lstStyle/>
                    <a:p>
                      <a:pPr algn="l" fontAlgn="b"/>
                      <a:r>
                        <a:rPr lang="en-US" sz="900" i="1" u="none" strike="noStrike" cap="none" spc="0" err="1">
                          <a:solidFill>
                            <a:schemeClr val="tx1"/>
                          </a:solidFill>
                          <a:effectLst/>
                        </a:rPr>
                        <a:t>SecurityBERT</a:t>
                      </a:r>
                      <a:endParaRPr lang="en-US" sz="900" b="1" i="1" u="none" strike="noStrike" cap="none" spc="0">
                        <a:solidFill>
                          <a:schemeClr val="tx1"/>
                        </a:solidFill>
                        <a:effectLst/>
                        <a:latin typeface="Aptos Narrow" panose="020B0004020202020204" pitchFamily="34" charset="0"/>
                      </a:endParaRPr>
                    </a:p>
                  </a:txBody>
                  <a:tcPr marL="3803" marR="3803" marT="36510" marB="36510" anchor="b">
                    <a:lnL w="28575" cap="flat" cmpd="sng" algn="ctr">
                      <a:noFill/>
                      <a:prstDash val="solid"/>
                    </a:lnL>
                    <a:lnR w="12700" cmpd="sng">
                      <a:noFill/>
                      <a:prstDash val="solid"/>
                    </a:lnR>
                    <a:lnT w="12700" cmpd="sng">
                      <a:noFill/>
                      <a:prstDash val="solid"/>
                    </a:lnT>
                    <a:lnB w="28575" cap="flat" cmpd="sng" algn="ctr">
                      <a:noFill/>
                      <a:prstDash val="solid"/>
                    </a:lnB>
                    <a:noFill/>
                  </a:tcPr>
                </a:tc>
                <a:tc>
                  <a:txBody>
                    <a:bodyPr/>
                    <a:lstStyle/>
                    <a:p>
                      <a:pPr algn="ctr" fontAlgn="b"/>
                      <a:r>
                        <a:rPr lang="en-US" sz="900" u="none" strike="noStrike" cap="none" spc="0">
                          <a:solidFill>
                            <a:schemeClr val="tx1"/>
                          </a:solidFill>
                          <a:effectLst/>
                        </a:rPr>
                        <a:t>Jun-23</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mpd="sng">
                      <a:noFill/>
                      <a:prstDash val="solid"/>
                    </a:lnT>
                    <a:lnB w="28575" cap="flat" cmpd="sng" algn="ctr">
                      <a:noFill/>
                      <a:prstDash val="solid"/>
                    </a:lnB>
                    <a:noFill/>
                  </a:tcPr>
                </a:tc>
                <a:tc>
                  <a:txBody>
                    <a:bodyPr/>
                    <a:lstStyle/>
                    <a:p>
                      <a:pPr algn="l" fontAlgn="b"/>
                      <a:r>
                        <a:rPr lang="en-US" sz="900" u="none" strike="noStrike" cap="none" spc="0">
                          <a:solidFill>
                            <a:schemeClr val="tx1"/>
                          </a:solidFill>
                          <a:effectLst/>
                        </a:rPr>
                        <a:t>Mohamed Amine </a:t>
                      </a:r>
                      <a:r>
                        <a:rPr lang="en-US" sz="900" u="none" strike="noStrike" cap="none" spc="0" err="1">
                          <a:solidFill>
                            <a:schemeClr val="tx1"/>
                          </a:solidFill>
                          <a:effectLst/>
                        </a:rPr>
                        <a:t>Ferrag</a:t>
                      </a:r>
                      <a:r>
                        <a:rPr lang="en-US" sz="900" u="none" strike="noStrike" cap="none" spc="0">
                          <a:solidFill>
                            <a:schemeClr val="tx1"/>
                          </a:solidFill>
                          <a:effectLst/>
                        </a:rPr>
                        <a:t> et al.</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mpd="sng">
                      <a:noFill/>
                      <a:prstDash val="solid"/>
                    </a:lnT>
                    <a:lnB w="28575" cap="flat" cmpd="sng" algn="ctr">
                      <a:noFill/>
                      <a:prstDash val="solid"/>
                    </a:lnB>
                    <a:noFill/>
                  </a:tcPr>
                </a:tc>
                <a:tc>
                  <a:txBody>
                    <a:bodyPr/>
                    <a:lstStyle/>
                    <a:p>
                      <a:pPr algn="l" fontAlgn="b"/>
                      <a:r>
                        <a:rPr lang="en-US" sz="900" u="none" strike="noStrike" cap="none" spc="0">
                          <a:solidFill>
                            <a:schemeClr val="tx1"/>
                          </a:solidFill>
                          <a:effectLst/>
                        </a:rPr>
                        <a:t>BERT</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mpd="sng">
                      <a:noFill/>
                      <a:prstDash val="solid"/>
                    </a:lnT>
                    <a:lnB w="28575" cap="flat" cmpd="sng" algn="ctr">
                      <a:noFill/>
                      <a:prstDash val="solid"/>
                    </a:lnB>
                    <a:noFill/>
                  </a:tcPr>
                </a:tc>
                <a:tc>
                  <a:txBody>
                    <a:bodyPr/>
                    <a:lstStyle/>
                    <a:p>
                      <a:pPr algn="l" fontAlgn="b"/>
                      <a:r>
                        <a:rPr lang="en-US" sz="900" u="none" strike="noStrike" cap="none" spc="0">
                          <a:solidFill>
                            <a:schemeClr val="tx1"/>
                          </a:solidFill>
                          <a:effectLst/>
                        </a:rPr>
                        <a:t>Privacy-preserving encoding technique (PPFLE) combined with Byte-level Byte-Pair Encoder (BBPE) Tokenizer; trained on IoT data</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mpd="sng">
                      <a:noFill/>
                      <a:prstDash val="solid"/>
                    </a:lnT>
                    <a:lnB w="28575" cap="flat" cmpd="sng" algn="ctr">
                      <a:noFill/>
                      <a:prstDash val="solid"/>
                    </a:lnB>
                    <a:noFill/>
                  </a:tcPr>
                </a:tc>
                <a:tc>
                  <a:txBody>
                    <a:bodyPr/>
                    <a:lstStyle/>
                    <a:p>
                      <a:pPr algn="l" fontAlgn="b"/>
                      <a:r>
                        <a:rPr lang="en-US" sz="900" u="none" strike="noStrike" cap="none" spc="0">
                          <a:solidFill>
                            <a:schemeClr val="tx1"/>
                          </a:solidFill>
                          <a:effectLst/>
                        </a:rPr>
                        <a:t>Cyber threat detection in IoT/</a:t>
                      </a:r>
                      <a:r>
                        <a:rPr lang="en-US" sz="900" u="none" strike="noStrike" cap="none" spc="0" err="1">
                          <a:solidFill>
                            <a:schemeClr val="tx1"/>
                          </a:solidFill>
                          <a:effectLst/>
                        </a:rPr>
                        <a:t>IIoT</a:t>
                      </a:r>
                      <a:r>
                        <a:rPr lang="en-US" sz="900" u="none" strike="noStrike" cap="none" spc="0">
                          <a:solidFill>
                            <a:schemeClr val="tx1"/>
                          </a:solidFill>
                          <a:effectLst/>
                        </a:rPr>
                        <a:t> devices</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28575" cap="flat" cmpd="sng" algn="ctr">
                      <a:noFill/>
                      <a:prstDash val="solid"/>
                    </a:lnR>
                    <a:lnT w="12700" cmpd="sng">
                      <a:noFill/>
                      <a:prstDash val="solid"/>
                    </a:lnT>
                    <a:lnB w="28575" cap="flat" cmpd="sng" algn="ctr">
                      <a:noFill/>
                      <a:prstDash val="solid"/>
                    </a:lnB>
                    <a:noFill/>
                  </a:tcPr>
                </a:tc>
                <a:extLst>
                  <a:ext uri="{0D108BD9-81ED-4DB2-BD59-A6C34878D82A}">
                    <a16:rowId xmlns:a16="http://schemas.microsoft.com/office/drawing/2014/main" val="2658963371"/>
                  </a:ext>
                </a:extLst>
              </a:tr>
            </a:tbl>
          </a:graphicData>
        </a:graphic>
      </p:graphicFrame>
      <p:sp>
        <p:nvSpPr>
          <p:cNvPr id="4" name="TextBox 3">
            <a:extLst>
              <a:ext uri="{FF2B5EF4-FFF2-40B4-BE49-F238E27FC236}">
                <a16:creationId xmlns:a16="http://schemas.microsoft.com/office/drawing/2014/main" id="{7C214B31-8379-8FB1-F2DF-05899A40DA47}"/>
              </a:ext>
            </a:extLst>
          </p:cNvPr>
          <p:cNvSpPr txBox="1"/>
          <p:nvPr/>
        </p:nvSpPr>
        <p:spPr>
          <a:xfrm>
            <a:off x="2745908" y="6240359"/>
            <a:ext cx="9323959" cy="461665"/>
          </a:xfrm>
          <a:prstGeom prst="rect">
            <a:avLst/>
          </a:prstGeom>
          <a:noFill/>
        </p:spPr>
        <p:txBody>
          <a:bodyPr wrap="square" rtlCol="0">
            <a:spAutoFit/>
          </a:bodyPr>
          <a:lstStyle/>
          <a:p>
            <a:pPr algn="ctr"/>
            <a:r>
              <a:rPr lang="en-US" sz="1200" i="1"/>
              <a:t>Variety of models have been introduced with a broad range of test methodologies and applications. Technology development and adoption is still in its infancy.</a:t>
            </a:r>
          </a:p>
        </p:txBody>
      </p:sp>
    </p:spTree>
    <p:extLst>
      <p:ext uri="{BB962C8B-B14F-4D97-AF65-F5344CB8AC3E}">
        <p14:creationId xmlns:p14="http://schemas.microsoft.com/office/powerpoint/2010/main" val="34485281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8E0ACC-C2EC-263E-F878-0CBE1730D1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25CEEF-7524-8FC5-80E8-431E5E1E233F}"/>
              </a:ext>
            </a:extLst>
          </p:cNvPr>
          <p:cNvSpPr>
            <a:spLocks noGrp="1"/>
          </p:cNvSpPr>
          <p:nvPr>
            <p:ph type="title" idx="4294967295"/>
          </p:nvPr>
        </p:nvSpPr>
        <p:spPr>
          <a:xfrm>
            <a:off x="630936" y="155976"/>
            <a:ext cx="10479024" cy="708025"/>
          </a:xfrm>
        </p:spPr>
        <p:txBody>
          <a:bodyPr/>
          <a:lstStyle/>
          <a:p>
            <a:r>
              <a:rPr lang="en-US" sz="2400">
                <a:solidFill>
                  <a:schemeClr val="tx1"/>
                </a:solidFill>
              </a:rPr>
              <a:t>Evaluating the Performance of Cyber Security LLMs</a:t>
            </a:r>
            <a:br>
              <a:rPr lang="en-US" sz="2400">
                <a:solidFill>
                  <a:schemeClr val="tx1"/>
                </a:solidFill>
              </a:rPr>
            </a:br>
            <a:r>
              <a:rPr lang="en-US" sz="1600" i="1">
                <a:solidFill>
                  <a:schemeClr val="tx1"/>
                </a:solidFill>
              </a:rPr>
              <a:t>Benchmarks for Cyber Security Language Models</a:t>
            </a:r>
            <a:endParaRPr lang="en-US" sz="2400" i="1">
              <a:solidFill>
                <a:schemeClr val="tx1"/>
              </a:solidFill>
            </a:endParaRPr>
          </a:p>
        </p:txBody>
      </p:sp>
      <p:sp>
        <p:nvSpPr>
          <p:cNvPr id="6" name="TextBox 5">
            <a:extLst>
              <a:ext uri="{FF2B5EF4-FFF2-40B4-BE49-F238E27FC236}">
                <a16:creationId xmlns:a16="http://schemas.microsoft.com/office/drawing/2014/main" id="{D7F9D358-66FD-C30E-5BF8-7620F292A4CC}"/>
              </a:ext>
            </a:extLst>
          </p:cNvPr>
          <p:cNvSpPr txBox="1"/>
          <p:nvPr/>
        </p:nvSpPr>
        <p:spPr>
          <a:xfrm>
            <a:off x="2462090" y="6240359"/>
            <a:ext cx="9323959" cy="461665"/>
          </a:xfrm>
          <a:prstGeom prst="rect">
            <a:avLst/>
          </a:prstGeom>
          <a:noFill/>
        </p:spPr>
        <p:txBody>
          <a:bodyPr wrap="square" rtlCol="0">
            <a:spAutoFit/>
          </a:bodyPr>
          <a:lstStyle/>
          <a:p>
            <a:pPr algn="ctr"/>
            <a:r>
              <a:rPr lang="en-US" sz="1200" i="1"/>
              <a:t>Evaluation of open-source benchmarks, applicability to threat intelligence specifically and potentially expanding and creating our own benchmark that speaks to the capabilities around Flashpoint Threat Intel specifically.</a:t>
            </a:r>
          </a:p>
        </p:txBody>
      </p:sp>
      <p:graphicFrame>
        <p:nvGraphicFramePr>
          <p:cNvPr id="3" name="Table 2">
            <a:extLst>
              <a:ext uri="{FF2B5EF4-FFF2-40B4-BE49-F238E27FC236}">
                <a16:creationId xmlns:a16="http://schemas.microsoft.com/office/drawing/2014/main" id="{BBC8969C-3DC7-7FEA-A8EC-791CF71A04FF}"/>
              </a:ext>
            </a:extLst>
          </p:cNvPr>
          <p:cNvGraphicFramePr>
            <a:graphicFrameLocks noGrp="1"/>
          </p:cNvGraphicFramePr>
          <p:nvPr/>
        </p:nvGraphicFramePr>
        <p:xfrm>
          <a:off x="1222248" y="1161023"/>
          <a:ext cx="9747504" cy="4782313"/>
        </p:xfrm>
        <a:graphic>
          <a:graphicData uri="http://schemas.openxmlformats.org/drawingml/2006/table">
            <a:tbl>
              <a:tblPr/>
              <a:tblGrid>
                <a:gridCol w="1542288">
                  <a:extLst>
                    <a:ext uri="{9D8B030D-6E8A-4147-A177-3AD203B41FA5}">
                      <a16:colId xmlns:a16="http://schemas.microsoft.com/office/drawing/2014/main" val="3342346885"/>
                    </a:ext>
                  </a:extLst>
                </a:gridCol>
                <a:gridCol w="1306019">
                  <a:extLst>
                    <a:ext uri="{9D8B030D-6E8A-4147-A177-3AD203B41FA5}">
                      <a16:colId xmlns:a16="http://schemas.microsoft.com/office/drawing/2014/main" val="2209120549"/>
                    </a:ext>
                  </a:extLst>
                </a:gridCol>
                <a:gridCol w="1356851">
                  <a:extLst>
                    <a:ext uri="{9D8B030D-6E8A-4147-A177-3AD203B41FA5}">
                      <a16:colId xmlns:a16="http://schemas.microsoft.com/office/drawing/2014/main" val="3689378265"/>
                    </a:ext>
                  </a:extLst>
                </a:gridCol>
                <a:gridCol w="2433386">
                  <a:extLst>
                    <a:ext uri="{9D8B030D-6E8A-4147-A177-3AD203B41FA5}">
                      <a16:colId xmlns:a16="http://schemas.microsoft.com/office/drawing/2014/main" val="1466355639"/>
                    </a:ext>
                  </a:extLst>
                </a:gridCol>
                <a:gridCol w="2236937">
                  <a:extLst>
                    <a:ext uri="{9D8B030D-6E8A-4147-A177-3AD203B41FA5}">
                      <a16:colId xmlns:a16="http://schemas.microsoft.com/office/drawing/2014/main" val="1411992449"/>
                    </a:ext>
                  </a:extLst>
                </a:gridCol>
                <a:gridCol w="872023">
                  <a:extLst>
                    <a:ext uri="{9D8B030D-6E8A-4147-A177-3AD203B41FA5}">
                      <a16:colId xmlns:a16="http://schemas.microsoft.com/office/drawing/2014/main" val="344943445"/>
                    </a:ext>
                  </a:extLst>
                </a:gridCol>
              </a:tblGrid>
              <a:tr h="231649">
                <a:tc>
                  <a:txBody>
                    <a:bodyPr/>
                    <a:lstStyle/>
                    <a:p>
                      <a:pPr algn="ctr" fontAlgn="b"/>
                      <a:r>
                        <a:rPr lang="en-US" sz="900" b="1" i="0" u="sng" strike="noStrike">
                          <a:solidFill>
                            <a:srgbClr val="000000"/>
                          </a:solidFill>
                          <a:effectLst/>
                          <a:latin typeface="Century Gothic" panose="020B0502020202020204" pitchFamily="34" charset="0"/>
                        </a:rPr>
                        <a:t>Benchmark</a:t>
                      </a:r>
                    </a:p>
                  </a:txBody>
                  <a:tcPr marL="5556" marR="5556" marT="5556" marB="0">
                    <a:lnL>
                      <a:noFill/>
                    </a:lnL>
                    <a:lnR>
                      <a:noFill/>
                    </a:lnR>
                    <a:lnT>
                      <a:noFill/>
                    </a:lnT>
                    <a:lnB>
                      <a:noFill/>
                    </a:lnB>
                    <a:noFill/>
                  </a:tcPr>
                </a:tc>
                <a:tc>
                  <a:txBody>
                    <a:bodyPr/>
                    <a:lstStyle/>
                    <a:p>
                      <a:pPr algn="ctr" fontAlgn="b"/>
                      <a:r>
                        <a:rPr lang="en-US" sz="900" b="1" i="0" u="sng" strike="noStrike">
                          <a:solidFill>
                            <a:srgbClr val="000000"/>
                          </a:solidFill>
                          <a:effectLst/>
                          <a:latin typeface="Century Gothic" panose="020B0502020202020204" pitchFamily="34" charset="0"/>
                        </a:rPr>
                        <a:t>Organization / Authors</a:t>
                      </a:r>
                    </a:p>
                  </a:txBody>
                  <a:tcPr marL="5556" marR="5556" marT="5556" marB="0">
                    <a:lnL>
                      <a:noFill/>
                    </a:lnL>
                    <a:lnR>
                      <a:noFill/>
                    </a:lnR>
                    <a:lnT>
                      <a:noFill/>
                    </a:lnT>
                    <a:lnB>
                      <a:noFill/>
                    </a:lnB>
                    <a:noFill/>
                  </a:tcPr>
                </a:tc>
                <a:tc>
                  <a:txBody>
                    <a:bodyPr/>
                    <a:lstStyle/>
                    <a:p>
                      <a:pPr algn="ctr" fontAlgn="b"/>
                      <a:r>
                        <a:rPr lang="en-US" sz="900" b="1" i="0" u="sng" strike="noStrike">
                          <a:solidFill>
                            <a:srgbClr val="000000"/>
                          </a:solidFill>
                          <a:effectLst/>
                          <a:latin typeface="Century Gothic" panose="020B0502020202020204" pitchFamily="34" charset="0"/>
                        </a:rPr>
                        <a:t>Open Source</a:t>
                      </a:r>
                    </a:p>
                  </a:txBody>
                  <a:tcPr marL="5556" marR="5556" marT="5556" marB="0">
                    <a:lnL>
                      <a:noFill/>
                    </a:lnL>
                    <a:lnR>
                      <a:noFill/>
                    </a:lnR>
                    <a:lnT>
                      <a:noFill/>
                    </a:lnT>
                    <a:lnB>
                      <a:noFill/>
                    </a:lnB>
                    <a:noFill/>
                  </a:tcPr>
                </a:tc>
                <a:tc>
                  <a:txBody>
                    <a:bodyPr/>
                    <a:lstStyle/>
                    <a:p>
                      <a:pPr algn="ctr" fontAlgn="b"/>
                      <a:r>
                        <a:rPr lang="en-US" sz="900" b="1" i="0" u="sng" strike="noStrike">
                          <a:solidFill>
                            <a:srgbClr val="000000"/>
                          </a:solidFill>
                          <a:effectLst/>
                          <a:latin typeface="Century Gothic" panose="020B0502020202020204" pitchFamily="34" charset="0"/>
                        </a:rPr>
                        <a:t>Cybersecurity Domain</a:t>
                      </a:r>
                    </a:p>
                  </a:txBody>
                  <a:tcPr marL="5556" marR="5556" marT="5556" marB="0">
                    <a:lnL>
                      <a:noFill/>
                    </a:lnL>
                    <a:lnR>
                      <a:noFill/>
                    </a:lnR>
                    <a:lnT>
                      <a:noFill/>
                    </a:lnT>
                    <a:lnB>
                      <a:noFill/>
                    </a:lnB>
                    <a:noFill/>
                  </a:tcPr>
                </a:tc>
                <a:tc>
                  <a:txBody>
                    <a:bodyPr/>
                    <a:lstStyle/>
                    <a:p>
                      <a:pPr algn="ctr" fontAlgn="b"/>
                      <a:r>
                        <a:rPr lang="en-US" sz="900" b="1" i="0" u="sng" strike="noStrike">
                          <a:solidFill>
                            <a:srgbClr val="000000"/>
                          </a:solidFill>
                          <a:effectLst/>
                          <a:latin typeface="Century Gothic" panose="020B0502020202020204" pitchFamily="34" charset="0"/>
                        </a:rPr>
                        <a:t>Key Tasks</a:t>
                      </a:r>
                    </a:p>
                  </a:txBody>
                  <a:tcPr marL="5556" marR="5556" marT="5556" marB="0">
                    <a:lnL>
                      <a:noFill/>
                    </a:lnL>
                    <a:lnR>
                      <a:noFill/>
                    </a:lnR>
                    <a:lnT>
                      <a:noFill/>
                    </a:lnT>
                    <a:lnB>
                      <a:noFill/>
                    </a:lnB>
                    <a:noFill/>
                  </a:tcPr>
                </a:tc>
                <a:tc>
                  <a:txBody>
                    <a:bodyPr/>
                    <a:lstStyle/>
                    <a:p>
                      <a:pPr algn="ctr" fontAlgn="b"/>
                      <a:r>
                        <a:rPr lang="en-US" sz="900" b="1" i="0" u="sng" strike="noStrike">
                          <a:solidFill>
                            <a:srgbClr val="000000"/>
                          </a:solidFill>
                          <a:effectLst/>
                          <a:latin typeface="Century Gothic" panose="020B0502020202020204" pitchFamily="34" charset="0"/>
                        </a:rPr>
                        <a:t>Introduced In</a:t>
                      </a:r>
                    </a:p>
                  </a:txBody>
                  <a:tcPr marL="5556" marR="5556" marT="5556" marB="0">
                    <a:lnL>
                      <a:noFill/>
                    </a:lnL>
                    <a:lnR>
                      <a:noFill/>
                    </a:lnR>
                    <a:lnT>
                      <a:noFill/>
                    </a:lnT>
                    <a:lnB>
                      <a:noFill/>
                    </a:lnB>
                    <a:noFill/>
                  </a:tcPr>
                </a:tc>
                <a:extLst>
                  <a:ext uri="{0D108BD9-81ED-4DB2-BD59-A6C34878D82A}">
                    <a16:rowId xmlns:a16="http://schemas.microsoft.com/office/drawing/2014/main" val="3361081929"/>
                  </a:ext>
                </a:extLst>
              </a:tr>
              <a:tr h="683188">
                <a:tc>
                  <a:txBody>
                    <a:bodyPr/>
                    <a:lstStyle/>
                    <a:p>
                      <a:pPr algn="l" fontAlgn="b"/>
                      <a:r>
                        <a:rPr lang="en-US" sz="900" b="0" i="1" u="none" strike="noStrike">
                          <a:solidFill>
                            <a:srgbClr val="000000"/>
                          </a:solidFill>
                          <a:effectLst/>
                          <a:latin typeface="Century Gothic" panose="020B0502020202020204" pitchFamily="34" charset="0"/>
                        </a:rPr>
                        <a:t>CTIBench</a:t>
                      </a:r>
                    </a:p>
                  </a:txBody>
                  <a:tcPr marL="5556" marR="5556" marT="5556" marB="0">
                    <a:lnL>
                      <a:noFill/>
                    </a:lnL>
                    <a:lnR>
                      <a:noFill/>
                    </a:lnR>
                    <a:lnT>
                      <a:noFill/>
                    </a:lnT>
                    <a:lnB>
                      <a:noFill/>
                    </a:lnB>
                    <a:noFill/>
                  </a:tcPr>
                </a:tc>
                <a:tc>
                  <a:txBody>
                    <a:bodyPr/>
                    <a:lstStyle/>
                    <a:p>
                      <a:pPr algn="l" fontAlgn="b"/>
                      <a:r>
                        <a:rPr lang="en-US" sz="900" b="0" i="0" u="none" strike="noStrike">
                          <a:solidFill>
                            <a:srgbClr val="000000"/>
                          </a:solidFill>
                          <a:effectLst/>
                          <a:latin typeface="Century Gothic" panose="020B0502020202020204" pitchFamily="34" charset="0"/>
                        </a:rPr>
                        <a:t>University of Waterloo &amp; AI4Sec</a:t>
                      </a:r>
                    </a:p>
                  </a:txBody>
                  <a:tcPr marL="5556" marR="5556" marT="5556" marB="0">
                    <a:lnL>
                      <a:noFill/>
                    </a:lnL>
                    <a:lnR>
                      <a:noFill/>
                    </a:lnR>
                    <a:lnT>
                      <a:noFill/>
                    </a:lnT>
                    <a:lnB>
                      <a:noFill/>
                    </a:lnB>
                    <a:noFill/>
                  </a:tcPr>
                </a:tc>
                <a:tc>
                  <a:txBody>
                    <a:bodyPr/>
                    <a:lstStyle/>
                    <a:p>
                      <a:pPr algn="l" fontAlgn="b"/>
                      <a:r>
                        <a:rPr lang="en-US" sz="900" b="0" i="0" u="none" strike="noStrike">
                          <a:solidFill>
                            <a:srgbClr val="000000"/>
                          </a:solidFill>
                          <a:effectLst/>
                          <a:latin typeface="Century Gothic" panose="020B0502020202020204" pitchFamily="34" charset="0"/>
                        </a:rPr>
                        <a:t>Yes (GitHub, Hugging Face)</a:t>
                      </a:r>
                    </a:p>
                  </a:txBody>
                  <a:tcPr marL="5556" marR="5556" marT="5556" marB="0">
                    <a:lnL>
                      <a:noFill/>
                    </a:lnL>
                    <a:lnR>
                      <a:noFill/>
                    </a:lnR>
                    <a:lnT>
                      <a:noFill/>
                    </a:lnT>
                    <a:lnB>
                      <a:noFill/>
                    </a:lnB>
                    <a:noFill/>
                  </a:tcPr>
                </a:tc>
                <a:tc>
                  <a:txBody>
                    <a:bodyPr/>
                    <a:lstStyle/>
                    <a:p>
                      <a:pPr algn="l" fontAlgn="b"/>
                      <a:r>
                        <a:rPr lang="en-US" sz="900" b="0" i="0" u="none" strike="noStrike">
                          <a:solidFill>
                            <a:srgbClr val="000000"/>
                          </a:solidFill>
                          <a:effectLst/>
                          <a:latin typeface="Century Gothic" panose="020B0502020202020204" pitchFamily="34" charset="0"/>
                        </a:rPr>
                        <a:t>Threat Intelligence, Vulnerability Analysis, Threat Attribution</a:t>
                      </a:r>
                    </a:p>
                  </a:txBody>
                  <a:tcPr marL="5556" marR="5556" marT="5556" marB="0">
                    <a:lnL>
                      <a:noFill/>
                    </a:lnL>
                    <a:lnR>
                      <a:noFill/>
                    </a:lnR>
                    <a:lnT>
                      <a:noFill/>
                    </a:lnT>
                    <a:lnB>
                      <a:noFill/>
                    </a:lnB>
                    <a:noFill/>
                  </a:tcPr>
                </a:tc>
                <a:tc>
                  <a:txBody>
                    <a:bodyPr/>
                    <a:lstStyle/>
                    <a:p>
                      <a:pPr algn="l" fontAlgn="b"/>
                      <a:r>
                        <a:rPr lang="en-US" sz="900" b="0" i="0" u="none" strike="noStrike">
                          <a:solidFill>
                            <a:srgbClr val="000000"/>
                          </a:solidFill>
                          <a:effectLst/>
                          <a:latin typeface="Century Gothic" panose="020B0502020202020204" pitchFamily="34" charset="0"/>
                        </a:rPr>
                        <a:t>CTI-MCQ, CTI-RCM, CTI-VSP, CTI-TAA</a:t>
                      </a:r>
                    </a:p>
                  </a:txBody>
                  <a:tcPr marL="5556" marR="5556" marT="5556" marB="0">
                    <a:lnL>
                      <a:noFill/>
                    </a:lnL>
                    <a:lnR>
                      <a:noFill/>
                    </a:lnR>
                    <a:lnT>
                      <a:noFill/>
                    </a:lnT>
                    <a:lnB>
                      <a:noFill/>
                    </a:lnB>
                    <a:noFill/>
                  </a:tcPr>
                </a:tc>
                <a:tc>
                  <a:txBody>
                    <a:bodyPr/>
                    <a:lstStyle/>
                    <a:p>
                      <a:pPr algn="ctr" fontAlgn="b"/>
                      <a:r>
                        <a:rPr lang="en-US" sz="900" b="0" i="0" u="none" strike="noStrike">
                          <a:solidFill>
                            <a:srgbClr val="000000"/>
                          </a:solidFill>
                          <a:effectLst/>
                          <a:latin typeface="Century Gothic" panose="020B0502020202020204" pitchFamily="34" charset="0"/>
                        </a:rPr>
                        <a:t>Jul-24</a:t>
                      </a:r>
                    </a:p>
                  </a:txBody>
                  <a:tcPr marL="5556" marR="5556" marT="5556" marB="0">
                    <a:lnL>
                      <a:noFill/>
                    </a:lnL>
                    <a:lnR>
                      <a:noFill/>
                    </a:lnR>
                    <a:lnT>
                      <a:noFill/>
                    </a:lnT>
                    <a:lnB>
                      <a:noFill/>
                    </a:lnB>
                    <a:noFill/>
                  </a:tcPr>
                </a:tc>
                <a:extLst>
                  <a:ext uri="{0D108BD9-81ED-4DB2-BD59-A6C34878D82A}">
                    <a16:rowId xmlns:a16="http://schemas.microsoft.com/office/drawing/2014/main" val="965266689"/>
                  </a:ext>
                </a:extLst>
              </a:tr>
              <a:tr h="796072">
                <a:tc>
                  <a:txBody>
                    <a:bodyPr/>
                    <a:lstStyle/>
                    <a:p>
                      <a:pPr algn="l" fontAlgn="b"/>
                      <a:r>
                        <a:rPr lang="en-US" sz="900" b="0" i="1" u="none" strike="noStrike">
                          <a:solidFill>
                            <a:srgbClr val="000000"/>
                          </a:solidFill>
                          <a:effectLst/>
                          <a:latin typeface="Century Gothic" panose="020B0502020202020204" pitchFamily="34" charset="0"/>
                        </a:rPr>
                        <a:t>SecKnowledge-Eval</a:t>
                      </a:r>
                    </a:p>
                  </a:txBody>
                  <a:tcPr marL="5556" marR="5556" marT="5556" marB="0">
                    <a:lnL>
                      <a:noFill/>
                    </a:lnL>
                    <a:lnR>
                      <a:noFill/>
                    </a:lnR>
                    <a:lnT>
                      <a:noFill/>
                    </a:lnT>
                    <a:lnB>
                      <a:noFill/>
                    </a:lnB>
                    <a:noFill/>
                  </a:tcPr>
                </a:tc>
                <a:tc>
                  <a:txBody>
                    <a:bodyPr/>
                    <a:lstStyle/>
                    <a:p>
                      <a:pPr algn="l" fontAlgn="b"/>
                      <a:r>
                        <a:rPr lang="en-US" sz="900" b="0" i="0" u="none" strike="noStrike">
                          <a:solidFill>
                            <a:srgbClr val="000000"/>
                          </a:solidFill>
                          <a:effectLst/>
                          <a:latin typeface="Century Gothic" panose="020B0502020202020204" pitchFamily="34" charset="0"/>
                        </a:rPr>
                        <a:t>CyberPal.AI (Authors of SecKnowledge Paper)</a:t>
                      </a:r>
                    </a:p>
                  </a:txBody>
                  <a:tcPr marL="5556" marR="5556" marT="5556" marB="0">
                    <a:lnL>
                      <a:noFill/>
                    </a:lnL>
                    <a:lnR>
                      <a:noFill/>
                    </a:lnR>
                    <a:lnT>
                      <a:noFill/>
                    </a:lnT>
                    <a:lnB>
                      <a:noFill/>
                    </a:lnB>
                    <a:noFill/>
                  </a:tcPr>
                </a:tc>
                <a:tc>
                  <a:txBody>
                    <a:bodyPr/>
                    <a:lstStyle/>
                    <a:p>
                      <a:pPr algn="l" fontAlgn="b"/>
                      <a:r>
                        <a:rPr lang="en-US" sz="900" b="0" i="0" u="none" strike="noStrike">
                          <a:solidFill>
                            <a:srgbClr val="000000"/>
                          </a:solidFill>
                          <a:effectLst/>
                          <a:latin typeface="Century Gothic" panose="020B0502020202020204" pitchFamily="34" charset="0"/>
                        </a:rPr>
                        <a:t>No (Contact authors)</a:t>
                      </a:r>
                    </a:p>
                  </a:txBody>
                  <a:tcPr marL="5556" marR="5556" marT="5556" marB="0">
                    <a:lnL>
                      <a:noFill/>
                    </a:lnL>
                    <a:lnR>
                      <a:noFill/>
                    </a:lnR>
                    <a:lnT>
                      <a:noFill/>
                    </a:lnT>
                    <a:lnB>
                      <a:noFill/>
                    </a:lnB>
                    <a:noFill/>
                  </a:tcPr>
                </a:tc>
                <a:tc>
                  <a:txBody>
                    <a:bodyPr/>
                    <a:lstStyle/>
                    <a:p>
                      <a:pPr algn="l" fontAlgn="b"/>
                      <a:r>
                        <a:rPr lang="en-US" sz="900" b="0" i="0" u="none" strike="noStrike">
                          <a:solidFill>
                            <a:srgbClr val="000000"/>
                          </a:solidFill>
                          <a:effectLst/>
                          <a:latin typeface="Century Gothic" panose="020B0502020202020204" pitchFamily="34" charset="0"/>
                        </a:rPr>
                        <a:t>Instruction Following, Threat Analysis, Security Reasoning</a:t>
                      </a:r>
                    </a:p>
                  </a:txBody>
                  <a:tcPr marL="5556" marR="5556" marT="5556" marB="0">
                    <a:lnL>
                      <a:noFill/>
                    </a:lnL>
                    <a:lnR>
                      <a:noFill/>
                    </a:lnR>
                    <a:lnT>
                      <a:noFill/>
                    </a:lnT>
                    <a:lnB>
                      <a:noFill/>
                    </a:lnB>
                    <a:noFill/>
                  </a:tcPr>
                </a:tc>
                <a:tc>
                  <a:txBody>
                    <a:bodyPr/>
                    <a:lstStyle/>
                    <a:p>
                      <a:pPr algn="l" fontAlgn="b"/>
                      <a:r>
                        <a:rPr lang="en-US" sz="900" b="0" i="0" u="none" strike="noStrike">
                          <a:solidFill>
                            <a:srgbClr val="000000"/>
                          </a:solidFill>
                          <a:effectLst/>
                          <a:latin typeface="Century Gothic" panose="020B0502020202020204" pitchFamily="34" charset="0"/>
                        </a:rPr>
                        <a:t>Threat/attack pattern understanding, contextual security tasks</a:t>
                      </a:r>
                    </a:p>
                  </a:txBody>
                  <a:tcPr marL="5556" marR="5556" marT="5556" marB="0">
                    <a:lnL>
                      <a:noFill/>
                    </a:lnL>
                    <a:lnR>
                      <a:noFill/>
                    </a:lnR>
                    <a:lnT>
                      <a:noFill/>
                    </a:lnT>
                    <a:lnB>
                      <a:noFill/>
                    </a:lnB>
                    <a:noFill/>
                  </a:tcPr>
                </a:tc>
                <a:tc>
                  <a:txBody>
                    <a:bodyPr/>
                    <a:lstStyle/>
                    <a:p>
                      <a:pPr algn="ctr" fontAlgn="b"/>
                      <a:r>
                        <a:rPr lang="en-US" sz="900" b="0" i="0" u="none" strike="noStrike">
                          <a:solidFill>
                            <a:srgbClr val="000000"/>
                          </a:solidFill>
                          <a:effectLst/>
                          <a:latin typeface="Century Gothic" panose="020B0502020202020204" pitchFamily="34" charset="0"/>
                        </a:rPr>
                        <a:t>Aug-24</a:t>
                      </a:r>
                    </a:p>
                  </a:txBody>
                  <a:tcPr marL="5556" marR="5556" marT="5556" marB="0">
                    <a:lnL>
                      <a:noFill/>
                    </a:lnL>
                    <a:lnR>
                      <a:noFill/>
                    </a:lnR>
                    <a:lnT>
                      <a:noFill/>
                    </a:lnT>
                    <a:lnB>
                      <a:noFill/>
                    </a:lnB>
                    <a:noFill/>
                  </a:tcPr>
                </a:tc>
                <a:extLst>
                  <a:ext uri="{0D108BD9-81ED-4DB2-BD59-A6C34878D82A}">
                    <a16:rowId xmlns:a16="http://schemas.microsoft.com/office/drawing/2014/main" val="2833131442"/>
                  </a:ext>
                </a:extLst>
              </a:tr>
              <a:tr h="908956">
                <a:tc>
                  <a:txBody>
                    <a:bodyPr/>
                    <a:lstStyle/>
                    <a:p>
                      <a:pPr algn="l" fontAlgn="b"/>
                      <a:r>
                        <a:rPr lang="en-US" sz="900" b="0" i="1" u="none" strike="noStrike">
                          <a:solidFill>
                            <a:srgbClr val="000000"/>
                          </a:solidFill>
                          <a:effectLst/>
                          <a:latin typeface="Century Gothic" panose="020B0502020202020204" pitchFamily="34" charset="0"/>
                        </a:rPr>
                        <a:t>CyberSecEval 2</a:t>
                      </a:r>
                    </a:p>
                  </a:txBody>
                  <a:tcPr marL="5556" marR="5556" marT="5556" marB="0">
                    <a:lnL>
                      <a:noFill/>
                    </a:lnL>
                    <a:lnR>
                      <a:noFill/>
                    </a:lnR>
                    <a:lnT>
                      <a:noFill/>
                    </a:lnT>
                    <a:lnB>
                      <a:noFill/>
                    </a:lnB>
                    <a:noFill/>
                  </a:tcPr>
                </a:tc>
                <a:tc>
                  <a:txBody>
                    <a:bodyPr/>
                    <a:lstStyle/>
                    <a:p>
                      <a:pPr algn="l" fontAlgn="b"/>
                      <a:r>
                        <a:rPr lang="en-US" sz="900" b="0" i="0" u="none" strike="noStrike">
                          <a:solidFill>
                            <a:srgbClr val="000000"/>
                          </a:solidFill>
                          <a:effectLst/>
                          <a:latin typeface="Century Gothic" panose="020B0502020202020204" pitchFamily="34" charset="0"/>
                        </a:rPr>
                        <a:t>Meta AI</a:t>
                      </a:r>
                    </a:p>
                  </a:txBody>
                  <a:tcPr marL="5556" marR="5556" marT="5556" marB="0">
                    <a:lnL>
                      <a:noFill/>
                    </a:lnL>
                    <a:lnR>
                      <a:noFill/>
                    </a:lnR>
                    <a:lnT>
                      <a:noFill/>
                    </a:lnT>
                    <a:lnB>
                      <a:noFill/>
                    </a:lnB>
                    <a:noFill/>
                  </a:tcPr>
                </a:tc>
                <a:tc>
                  <a:txBody>
                    <a:bodyPr/>
                    <a:lstStyle/>
                    <a:p>
                      <a:pPr algn="l" fontAlgn="b"/>
                      <a:r>
                        <a:rPr lang="en-US" sz="900" b="0" i="0" u="none" strike="noStrike">
                          <a:solidFill>
                            <a:srgbClr val="000000"/>
                          </a:solidFill>
                          <a:effectLst/>
                          <a:latin typeface="Century Gothic" panose="020B0502020202020204" pitchFamily="34" charset="0"/>
                        </a:rPr>
                        <a:t>No</a:t>
                      </a:r>
                    </a:p>
                  </a:txBody>
                  <a:tcPr marL="5556" marR="5556" marT="5556" marB="0">
                    <a:lnL>
                      <a:noFill/>
                    </a:lnL>
                    <a:lnR>
                      <a:noFill/>
                    </a:lnR>
                    <a:lnT>
                      <a:noFill/>
                    </a:lnT>
                    <a:lnB>
                      <a:noFill/>
                    </a:lnB>
                    <a:noFill/>
                  </a:tcPr>
                </a:tc>
                <a:tc>
                  <a:txBody>
                    <a:bodyPr/>
                    <a:lstStyle/>
                    <a:p>
                      <a:pPr algn="l" fontAlgn="b"/>
                      <a:r>
                        <a:rPr lang="en-US" sz="900" b="0" i="0" u="none" strike="noStrike">
                          <a:solidFill>
                            <a:srgbClr val="000000"/>
                          </a:solidFill>
                          <a:effectLst/>
                          <a:latin typeface="Century Gothic" panose="020B0502020202020204" pitchFamily="34" charset="0"/>
                        </a:rPr>
                        <a:t>Offensive &amp; Defensive Cybersecurity, LLM Risk Assessment</a:t>
                      </a:r>
                    </a:p>
                  </a:txBody>
                  <a:tcPr marL="5556" marR="5556" marT="5556" marB="0">
                    <a:lnL>
                      <a:noFill/>
                    </a:lnL>
                    <a:lnR>
                      <a:noFill/>
                    </a:lnR>
                    <a:lnT>
                      <a:noFill/>
                    </a:lnT>
                    <a:lnB>
                      <a:noFill/>
                    </a:lnB>
                    <a:noFill/>
                  </a:tcPr>
                </a:tc>
                <a:tc>
                  <a:txBody>
                    <a:bodyPr/>
                    <a:lstStyle/>
                    <a:p>
                      <a:pPr algn="l" fontAlgn="b"/>
                      <a:r>
                        <a:rPr lang="en-US" sz="900" b="0" i="0" u="none" strike="noStrike">
                          <a:solidFill>
                            <a:srgbClr val="000000"/>
                          </a:solidFill>
                          <a:effectLst/>
                          <a:latin typeface="Century Gothic" panose="020B0502020202020204" pitchFamily="34" charset="0"/>
                        </a:rPr>
                        <a:t>Malicious instruction handling, threat detection, security training evaluation</a:t>
                      </a:r>
                    </a:p>
                  </a:txBody>
                  <a:tcPr marL="5556" marR="5556" marT="5556" marB="0">
                    <a:lnL>
                      <a:noFill/>
                    </a:lnL>
                    <a:lnR>
                      <a:noFill/>
                    </a:lnR>
                    <a:lnT>
                      <a:noFill/>
                    </a:lnT>
                    <a:lnB>
                      <a:noFill/>
                    </a:lnB>
                    <a:noFill/>
                  </a:tcPr>
                </a:tc>
                <a:tc>
                  <a:txBody>
                    <a:bodyPr/>
                    <a:lstStyle/>
                    <a:p>
                      <a:pPr algn="ctr" fontAlgn="b"/>
                      <a:r>
                        <a:rPr lang="en-US" sz="900" b="0" i="0" u="none" strike="noStrike">
                          <a:solidFill>
                            <a:srgbClr val="000000"/>
                          </a:solidFill>
                          <a:effectLst/>
                          <a:latin typeface="Century Gothic" panose="020B0502020202020204" pitchFamily="34" charset="0"/>
                        </a:rPr>
                        <a:t>Apr-24</a:t>
                      </a:r>
                    </a:p>
                  </a:txBody>
                  <a:tcPr marL="5556" marR="5556" marT="5556" marB="0">
                    <a:lnL>
                      <a:noFill/>
                    </a:lnL>
                    <a:lnR>
                      <a:noFill/>
                    </a:lnR>
                    <a:lnT>
                      <a:noFill/>
                    </a:lnT>
                    <a:lnB>
                      <a:noFill/>
                    </a:lnB>
                    <a:noFill/>
                  </a:tcPr>
                </a:tc>
                <a:extLst>
                  <a:ext uri="{0D108BD9-81ED-4DB2-BD59-A6C34878D82A}">
                    <a16:rowId xmlns:a16="http://schemas.microsoft.com/office/drawing/2014/main" val="386113049"/>
                  </a:ext>
                </a:extLst>
              </a:tr>
              <a:tr h="683188">
                <a:tc>
                  <a:txBody>
                    <a:bodyPr/>
                    <a:lstStyle/>
                    <a:p>
                      <a:pPr algn="l" fontAlgn="b"/>
                      <a:r>
                        <a:rPr lang="en-US" sz="900" b="0" i="1" u="none" strike="noStrike">
                          <a:solidFill>
                            <a:srgbClr val="000000"/>
                          </a:solidFill>
                          <a:effectLst/>
                          <a:latin typeface="Century Gothic" panose="020B0502020202020204" pitchFamily="34" charset="0"/>
                        </a:rPr>
                        <a:t>Sophos Benchmark Suite</a:t>
                      </a:r>
                    </a:p>
                  </a:txBody>
                  <a:tcPr marL="5556" marR="5556" marT="5556" marB="0">
                    <a:lnL>
                      <a:noFill/>
                    </a:lnL>
                    <a:lnR>
                      <a:noFill/>
                    </a:lnR>
                    <a:lnT>
                      <a:noFill/>
                    </a:lnT>
                    <a:lnB>
                      <a:noFill/>
                    </a:lnB>
                    <a:noFill/>
                  </a:tcPr>
                </a:tc>
                <a:tc>
                  <a:txBody>
                    <a:bodyPr/>
                    <a:lstStyle/>
                    <a:p>
                      <a:pPr algn="l" fontAlgn="b"/>
                      <a:r>
                        <a:rPr lang="en-US" sz="900" b="0" i="0" u="none" strike="noStrike">
                          <a:solidFill>
                            <a:srgbClr val="000000"/>
                          </a:solidFill>
                          <a:effectLst/>
                          <a:latin typeface="Century Gothic" panose="020B0502020202020204" pitchFamily="34" charset="0"/>
                        </a:rPr>
                        <a:t>Sophos AI</a:t>
                      </a:r>
                    </a:p>
                  </a:txBody>
                  <a:tcPr marL="5556" marR="5556" marT="5556" marB="0">
                    <a:lnL>
                      <a:noFill/>
                    </a:lnL>
                    <a:lnR>
                      <a:noFill/>
                    </a:lnR>
                    <a:lnT>
                      <a:noFill/>
                    </a:lnT>
                    <a:lnB>
                      <a:noFill/>
                    </a:lnB>
                    <a:noFill/>
                  </a:tcPr>
                </a:tc>
                <a:tc>
                  <a:txBody>
                    <a:bodyPr/>
                    <a:lstStyle/>
                    <a:p>
                      <a:pPr algn="l" fontAlgn="b"/>
                      <a:r>
                        <a:rPr lang="en-US" sz="900" b="0" i="0" u="none" strike="noStrike">
                          <a:solidFill>
                            <a:srgbClr val="000000"/>
                          </a:solidFill>
                          <a:effectLst/>
                          <a:latin typeface="Century Gothic" panose="020B0502020202020204" pitchFamily="34" charset="0"/>
                        </a:rPr>
                        <a:t>No</a:t>
                      </a:r>
                    </a:p>
                  </a:txBody>
                  <a:tcPr marL="5556" marR="5556" marT="5556" marB="0">
                    <a:lnL>
                      <a:noFill/>
                    </a:lnL>
                    <a:lnR>
                      <a:noFill/>
                    </a:lnR>
                    <a:lnT>
                      <a:noFill/>
                    </a:lnT>
                    <a:lnB>
                      <a:noFill/>
                    </a:lnB>
                    <a:noFill/>
                  </a:tcPr>
                </a:tc>
                <a:tc>
                  <a:txBody>
                    <a:bodyPr/>
                    <a:lstStyle/>
                    <a:p>
                      <a:pPr algn="l" fontAlgn="b"/>
                      <a:r>
                        <a:rPr lang="en-US" sz="900" b="0" i="0" u="none" strike="noStrike">
                          <a:solidFill>
                            <a:srgbClr val="000000"/>
                          </a:solidFill>
                          <a:effectLst/>
                          <a:latin typeface="Century Gothic" panose="020B0502020202020204" pitchFamily="34" charset="0"/>
                        </a:rPr>
                        <a:t>SOC Operations, Incident Handling</a:t>
                      </a:r>
                    </a:p>
                  </a:txBody>
                  <a:tcPr marL="5556" marR="5556" marT="5556" marB="0">
                    <a:lnL>
                      <a:noFill/>
                    </a:lnL>
                    <a:lnR>
                      <a:noFill/>
                    </a:lnR>
                    <a:lnT>
                      <a:noFill/>
                    </a:lnT>
                    <a:lnB>
                      <a:noFill/>
                    </a:lnB>
                    <a:noFill/>
                  </a:tcPr>
                </a:tc>
                <a:tc>
                  <a:txBody>
                    <a:bodyPr/>
                    <a:lstStyle/>
                    <a:p>
                      <a:pPr algn="l" fontAlgn="b"/>
                      <a:r>
                        <a:rPr lang="en-US" sz="900" b="0" i="0" u="none" strike="noStrike">
                          <a:solidFill>
                            <a:srgbClr val="000000"/>
                          </a:solidFill>
                          <a:effectLst/>
                          <a:latin typeface="Century Gothic" panose="020B0502020202020204" pitchFamily="34" charset="0"/>
                        </a:rPr>
                        <a:t>Incident summarization, SQL generation, severity rating</a:t>
                      </a:r>
                    </a:p>
                  </a:txBody>
                  <a:tcPr marL="5556" marR="5556" marT="5556" marB="0">
                    <a:lnL>
                      <a:noFill/>
                    </a:lnL>
                    <a:lnR>
                      <a:noFill/>
                    </a:lnR>
                    <a:lnT>
                      <a:noFill/>
                    </a:lnT>
                    <a:lnB>
                      <a:noFill/>
                    </a:lnB>
                    <a:noFill/>
                  </a:tcPr>
                </a:tc>
                <a:tc>
                  <a:txBody>
                    <a:bodyPr/>
                    <a:lstStyle/>
                    <a:p>
                      <a:pPr algn="ctr" fontAlgn="b"/>
                      <a:r>
                        <a:rPr lang="en-US" sz="900" b="0" i="0" u="none" strike="noStrike">
                          <a:solidFill>
                            <a:srgbClr val="000000"/>
                          </a:solidFill>
                          <a:effectLst/>
                          <a:latin typeface="Century Gothic" panose="020B0502020202020204" pitchFamily="34" charset="0"/>
                        </a:rPr>
                        <a:t>Mar-24</a:t>
                      </a:r>
                    </a:p>
                  </a:txBody>
                  <a:tcPr marL="5556" marR="5556" marT="5556" marB="0">
                    <a:lnL>
                      <a:noFill/>
                    </a:lnL>
                    <a:lnR>
                      <a:noFill/>
                    </a:lnR>
                    <a:lnT>
                      <a:noFill/>
                    </a:lnT>
                    <a:lnB>
                      <a:noFill/>
                    </a:lnB>
                    <a:noFill/>
                  </a:tcPr>
                </a:tc>
                <a:extLst>
                  <a:ext uri="{0D108BD9-81ED-4DB2-BD59-A6C34878D82A}">
                    <a16:rowId xmlns:a16="http://schemas.microsoft.com/office/drawing/2014/main" val="1532253461"/>
                  </a:ext>
                </a:extLst>
              </a:tr>
              <a:tr h="796072">
                <a:tc>
                  <a:txBody>
                    <a:bodyPr/>
                    <a:lstStyle/>
                    <a:p>
                      <a:pPr algn="l" fontAlgn="b"/>
                      <a:r>
                        <a:rPr lang="en-US" sz="900" b="0" i="1" u="none" strike="noStrike">
                          <a:solidFill>
                            <a:srgbClr val="000000"/>
                          </a:solidFill>
                          <a:effectLst/>
                          <a:latin typeface="Century Gothic" panose="020B0502020202020204" pitchFamily="34" charset="0"/>
                        </a:rPr>
                        <a:t>SECURE</a:t>
                      </a:r>
                    </a:p>
                  </a:txBody>
                  <a:tcPr marL="5556" marR="5556" marT="5556" marB="0">
                    <a:lnL>
                      <a:noFill/>
                    </a:lnL>
                    <a:lnR>
                      <a:noFill/>
                    </a:lnR>
                    <a:lnT>
                      <a:noFill/>
                    </a:lnT>
                    <a:lnB>
                      <a:noFill/>
                    </a:lnB>
                    <a:noFill/>
                  </a:tcPr>
                </a:tc>
                <a:tc>
                  <a:txBody>
                    <a:bodyPr/>
                    <a:lstStyle/>
                    <a:p>
                      <a:pPr algn="l" fontAlgn="b"/>
                      <a:r>
                        <a:rPr lang="en-US" sz="900" b="0" i="0" u="none" strike="noStrike">
                          <a:solidFill>
                            <a:srgbClr val="000000"/>
                          </a:solidFill>
                          <a:effectLst/>
                          <a:latin typeface="Century Gothic" panose="020B0502020202020204" pitchFamily="34" charset="0"/>
                        </a:rPr>
                        <a:t>Rochester Institute of Technology</a:t>
                      </a:r>
                    </a:p>
                  </a:txBody>
                  <a:tcPr marL="5556" marR="5556" marT="5556" marB="0">
                    <a:lnL>
                      <a:noFill/>
                    </a:lnL>
                    <a:lnR>
                      <a:noFill/>
                    </a:lnR>
                    <a:lnT>
                      <a:noFill/>
                    </a:lnT>
                    <a:lnB>
                      <a:noFill/>
                    </a:lnB>
                    <a:noFill/>
                  </a:tcPr>
                </a:tc>
                <a:tc>
                  <a:txBody>
                    <a:bodyPr/>
                    <a:lstStyle/>
                    <a:p>
                      <a:pPr algn="l" fontAlgn="b"/>
                      <a:r>
                        <a:rPr lang="en-US" sz="900" b="0" i="0" u="none" strike="noStrike">
                          <a:solidFill>
                            <a:srgbClr val="000000"/>
                          </a:solidFill>
                          <a:effectLst/>
                          <a:latin typeface="Century Gothic" panose="020B0502020202020204" pitchFamily="34" charset="0"/>
                        </a:rPr>
                        <a:t>Partially (some datasets)</a:t>
                      </a:r>
                    </a:p>
                  </a:txBody>
                  <a:tcPr marL="5556" marR="5556" marT="5556" marB="0">
                    <a:lnL>
                      <a:noFill/>
                    </a:lnL>
                    <a:lnR>
                      <a:noFill/>
                    </a:lnR>
                    <a:lnT>
                      <a:noFill/>
                    </a:lnT>
                    <a:lnB>
                      <a:noFill/>
                    </a:lnB>
                    <a:noFill/>
                  </a:tcPr>
                </a:tc>
                <a:tc>
                  <a:txBody>
                    <a:bodyPr/>
                    <a:lstStyle/>
                    <a:p>
                      <a:pPr algn="l" fontAlgn="b"/>
                      <a:r>
                        <a:rPr lang="en-US" sz="900" b="0" i="0" u="none" strike="noStrike">
                          <a:solidFill>
                            <a:srgbClr val="000000"/>
                          </a:solidFill>
                          <a:effectLst/>
                          <a:latin typeface="Century Gothic" panose="020B0502020202020204" pitchFamily="34" charset="0"/>
                        </a:rPr>
                        <a:t>ICS Security, Threat Reasoning</a:t>
                      </a:r>
                    </a:p>
                  </a:txBody>
                  <a:tcPr marL="5556" marR="5556" marT="5556" marB="0">
                    <a:lnL>
                      <a:noFill/>
                    </a:lnL>
                    <a:lnR>
                      <a:noFill/>
                    </a:lnR>
                    <a:lnT>
                      <a:noFill/>
                    </a:lnT>
                    <a:lnB>
                      <a:noFill/>
                    </a:lnB>
                    <a:noFill/>
                  </a:tcPr>
                </a:tc>
                <a:tc>
                  <a:txBody>
                    <a:bodyPr/>
                    <a:lstStyle/>
                    <a:p>
                      <a:pPr algn="l" fontAlgn="b"/>
                      <a:r>
                        <a:rPr lang="en-US" sz="900" b="0" i="0" u="none" strike="noStrike">
                          <a:solidFill>
                            <a:srgbClr val="000000"/>
                          </a:solidFill>
                          <a:effectLst/>
                          <a:latin typeface="Century Gothic" panose="020B0502020202020204" pitchFamily="34" charset="0"/>
                        </a:rPr>
                        <a:t>Knowledge extraction, understanding, reasoning in ICS scenarios</a:t>
                      </a:r>
                    </a:p>
                  </a:txBody>
                  <a:tcPr marL="5556" marR="5556" marT="5556" marB="0">
                    <a:lnL>
                      <a:noFill/>
                    </a:lnL>
                    <a:lnR>
                      <a:noFill/>
                    </a:lnR>
                    <a:lnT>
                      <a:noFill/>
                    </a:lnT>
                    <a:lnB>
                      <a:noFill/>
                    </a:lnB>
                    <a:noFill/>
                  </a:tcPr>
                </a:tc>
                <a:tc>
                  <a:txBody>
                    <a:bodyPr/>
                    <a:lstStyle/>
                    <a:p>
                      <a:pPr algn="ctr" fontAlgn="b"/>
                      <a:r>
                        <a:rPr lang="en-US" sz="900" b="0" i="0" u="none" strike="noStrike">
                          <a:solidFill>
                            <a:srgbClr val="000000"/>
                          </a:solidFill>
                          <a:effectLst/>
                          <a:latin typeface="Century Gothic" panose="020B0502020202020204" pitchFamily="34" charset="0"/>
                        </a:rPr>
                        <a:t>May-24</a:t>
                      </a:r>
                    </a:p>
                  </a:txBody>
                  <a:tcPr marL="5556" marR="5556" marT="5556" marB="0">
                    <a:lnL>
                      <a:noFill/>
                    </a:lnL>
                    <a:lnR>
                      <a:noFill/>
                    </a:lnR>
                    <a:lnT>
                      <a:noFill/>
                    </a:lnT>
                    <a:lnB>
                      <a:noFill/>
                    </a:lnB>
                    <a:noFill/>
                  </a:tcPr>
                </a:tc>
                <a:extLst>
                  <a:ext uri="{0D108BD9-81ED-4DB2-BD59-A6C34878D82A}">
                    <a16:rowId xmlns:a16="http://schemas.microsoft.com/office/drawing/2014/main" val="3348344907"/>
                  </a:ext>
                </a:extLst>
              </a:tr>
              <a:tr h="683188">
                <a:tc>
                  <a:txBody>
                    <a:bodyPr/>
                    <a:lstStyle/>
                    <a:p>
                      <a:pPr algn="l" fontAlgn="b"/>
                      <a:r>
                        <a:rPr lang="en-US" sz="900" b="0" i="1" u="none" strike="noStrike">
                          <a:solidFill>
                            <a:srgbClr val="000000"/>
                          </a:solidFill>
                          <a:effectLst/>
                          <a:latin typeface="Century Gothic" panose="020B0502020202020204" pitchFamily="34" charset="0"/>
                        </a:rPr>
                        <a:t>Cybench</a:t>
                      </a:r>
                    </a:p>
                  </a:txBody>
                  <a:tcPr marL="5556" marR="5556" marT="5556" marB="0">
                    <a:lnL>
                      <a:noFill/>
                    </a:lnL>
                    <a:lnR>
                      <a:noFill/>
                    </a:lnR>
                    <a:lnT>
                      <a:noFill/>
                    </a:lnT>
                    <a:lnB>
                      <a:noFill/>
                    </a:lnB>
                    <a:noFill/>
                  </a:tcPr>
                </a:tc>
                <a:tc>
                  <a:txBody>
                    <a:bodyPr/>
                    <a:lstStyle/>
                    <a:p>
                      <a:pPr algn="l" fontAlgn="b"/>
                      <a:r>
                        <a:rPr lang="en-US" sz="900" b="0" i="0" u="none" strike="noStrike">
                          <a:solidFill>
                            <a:srgbClr val="000000"/>
                          </a:solidFill>
                          <a:effectLst/>
                          <a:latin typeface="Century Gothic" panose="020B0502020202020204" pitchFamily="34" charset="0"/>
                        </a:rPr>
                        <a:t>CTF Community Researchers</a:t>
                      </a:r>
                    </a:p>
                  </a:txBody>
                  <a:tcPr marL="5556" marR="5556" marT="5556" marB="0">
                    <a:lnL>
                      <a:noFill/>
                    </a:lnL>
                    <a:lnR>
                      <a:noFill/>
                    </a:lnR>
                    <a:lnT>
                      <a:noFill/>
                    </a:lnT>
                    <a:lnB>
                      <a:noFill/>
                    </a:lnB>
                    <a:noFill/>
                  </a:tcPr>
                </a:tc>
                <a:tc>
                  <a:txBody>
                    <a:bodyPr/>
                    <a:lstStyle/>
                    <a:p>
                      <a:pPr algn="l" fontAlgn="b"/>
                      <a:r>
                        <a:rPr lang="en-US" sz="900" b="0" i="0" u="none" strike="noStrike">
                          <a:solidFill>
                            <a:srgbClr val="000000"/>
                          </a:solidFill>
                          <a:effectLst/>
                          <a:latin typeface="Century Gothic" panose="020B0502020202020204" pitchFamily="34" charset="0"/>
                        </a:rPr>
                        <a:t>Limited (some CTF challenges)</a:t>
                      </a:r>
                    </a:p>
                  </a:txBody>
                  <a:tcPr marL="5556" marR="5556" marT="5556" marB="0">
                    <a:lnL>
                      <a:noFill/>
                    </a:lnL>
                    <a:lnR>
                      <a:noFill/>
                    </a:lnR>
                    <a:lnT>
                      <a:noFill/>
                    </a:lnT>
                    <a:lnB>
                      <a:noFill/>
                    </a:lnB>
                    <a:noFill/>
                  </a:tcPr>
                </a:tc>
                <a:tc>
                  <a:txBody>
                    <a:bodyPr/>
                    <a:lstStyle/>
                    <a:p>
                      <a:pPr algn="l" fontAlgn="b"/>
                      <a:r>
                        <a:rPr lang="en-US" sz="900" b="0" i="0" u="none" strike="noStrike">
                          <a:solidFill>
                            <a:srgbClr val="000000"/>
                          </a:solidFill>
                          <a:effectLst/>
                          <a:latin typeface="Century Gothic" panose="020B0502020202020204" pitchFamily="34" charset="0"/>
                        </a:rPr>
                        <a:t>Offensive Security, Exploit Development</a:t>
                      </a:r>
                    </a:p>
                  </a:txBody>
                  <a:tcPr marL="5556" marR="5556" marT="5556" marB="0">
                    <a:lnL>
                      <a:noFill/>
                    </a:lnL>
                    <a:lnR>
                      <a:noFill/>
                    </a:lnR>
                    <a:lnT>
                      <a:noFill/>
                    </a:lnT>
                    <a:lnB>
                      <a:noFill/>
                    </a:lnB>
                    <a:noFill/>
                  </a:tcPr>
                </a:tc>
                <a:tc>
                  <a:txBody>
                    <a:bodyPr/>
                    <a:lstStyle/>
                    <a:p>
                      <a:pPr algn="l" fontAlgn="b"/>
                      <a:r>
                        <a:rPr lang="en-US" sz="900" b="0" i="0" u="none" strike="noStrike">
                          <a:solidFill>
                            <a:srgbClr val="000000"/>
                          </a:solidFill>
                          <a:effectLst/>
                          <a:latin typeface="Century Gothic" panose="020B0502020202020204" pitchFamily="34" charset="0"/>
                        </a:rPr>
                        <a:t>CTF task solving, vulnerability discovery, exploit execution</a:t>
                      </a:r>
                    </a:p>
                  </a:txBody>
                  <a:tcPr marL="5556" marR="5556" marT="5556" marB="0">
                    <a:lnL>
                      <a:noFill/>
                    </a:lnL>
                    <a:lnR>
                      <a:noFill/>
                    </a:lnR>
                    <a:lnT>
                      <a:noFill/>
                    </a:lnT>
                    <a:lnB>
                      <a:noFill/>
                    </a:lnB>
                    <a:noFill/>
                  </a:tcPr>
                </a:tc>
                <a:tc>
                  <a:txBody>
                    <a:bodyPr/>
                    <a:lstStyle/>
                    <a:p>
                      <a:pPr algn="ctr" fontAlgn="b"/>
                      <a:r>
                        <a:rPr lang="en-US" sz="900" b="0" i="0" u="none" strike="noStrike">
                          <a:solidFill>
                            <a:srgbClr val="000000"/>
                          </a:solidFill>
                          <a:effectLst/>
                          <a:latin typeface="Century Gothic" panose="020B0502020202020204" pitchFamily="34" charset="0"/>
                        </a:rPr>
                        <a:t>Jun-24</a:t>
                      </a:r>
                    </a:p>
                  </a:txBody>
                  <a:tcPr marL="5556" marR="5556" marT="5556" marB="0">
                    <a:lnL>
                      <a:noFill/>
                    </a:lnL>
                    <a:lnR>
                      <a:noFill/>
                    </a:lnR>
                    <a:lnT>
                      <a:noFill/>
                    </a:lnT>
                    <a:lnB>
                      <a:noFill/>
                    </a:lnB>
                    <a:noFill/>
                  </a:tcPr>
                </a:tc>
                <a:extLst>
                  <a:ext uri="{0D108BD9-81ED-4DB2-BD59-A6C34878D82A}">
                    <a16:rowId xmlns:a16="http://schemas.microsoft.com/office/drawing/2014/main" val="2081304461"/>
                  </a:ext>
                </a:extLst>
              </a:tr>
            </a:tbl>
          </a:graphicData>
        </a:graphic>
      </p:graphicFrame>
    </p:spTree>
    <p:extLst>
      <p:ext uri="{BB962C8B-B14F-4D97-AF65-F5344CB8AC3E}">
        <p14:creationId xmlns:p14="http://schemas.microsoft.com/office/powerpoint/2010/main" val="8787210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6B2EE8-CFF4-EDAE-7CFF-7F9C42A8A51C}"/>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1502F490-A141-646E-F0B3-27C2923F4AB7}"/>
              </a:ext>
            </a:extLst>
          </p:cNvPr>
          <p:cNvSpPr/>
          <p:nvPr/>
        </p:nvSpPr>
        <p:spPr>
          <a:xfrm>
            <a:off x="492782" y="1456569"/>
            <a:ext cx="6148975" cy="2211138"/>
          </a:xfrm>
          <a:prstGeom prst="rect">
            <a:avLst/>
          </a:prstGeom>
          <a:noFill/>
          <a:ln/>
        </p:spPr>
        <p:txBody>
          <a:bodyPr wrap="square" lIns="0" tIns="0" rIns="0" bIns="0" rtlCol="0" anchor="t"/>
          <a:lstStyle/>
          <a:p>
            <a:r>
              <a:rPr lang="en-US" sz="1000" dirty="0">
                <a:solidFill>
                  <a:srgbClr val="2C2821"/>
                </a:solidFill>
                <a:latin typeface="Optima" panose="02000503060000020004" pitchFamily="2" charset="0"/>
                <a:ea typeface="Lora" pitchFamily="34" charset="-122"/>
                <a:cs typeface="Lora" pitchFamily="34" charset="-120"/>
              </a:rPr>
              <a:t>Cyber Threat Intelligence (CTI) is the cornerstone of effective cyber security. It involves the systematic collection, analysis, and dissemination of information about existing and potential threats to an organization’s digital infrastructure. </a:t>
            </a:r>
          </a:p>
          <a:p>
            <a:endParaRPr lang="en-US" sz="1000" dirty="0">
              <a:solidFill>
                <a:srgbClr val="2C2821"/>
              </a:solidFill>
              <a:latin typeface="Optima" panose="02000503060000020004" pitchFamily="2" charset="0"/>
              <a:ea typeface="Lora" pitchFamily="34" charset="-122"/>
              <a:cs typeface="Lora" pitchFamily="34" charset="-120"/>
            </a:endParaRPr>
          </a:p>
          <a:p>
            <a:r>
              <a:rPr lang="en-US" sz="1000" dirty="0">
                <a:solidFill>
                  <a:srgbClr val="2C2821"/>
                </a:solidFill>
                <a:latin typeface="Optima" panose="02000503060000020004" pitchFamily="2" charset="0"/>
                <a:ea typeface="Lora" pitchFamily="34" charset="-122"/>
                <a:cs typeface="Lora" pitchFamily="34" charset="-120"/>
              </a:rPr>
              <a:t>CTI provides crucial insights into attacker tactics, techniques, and procedures (TTPs), vulnerabilities, and emerging threats. Armed with this intelligence, organizations can make informed decisions, strengthen their defenses, and mitigate risks.</a:t>
            </a:r>
          </a:p>
          <a:p>
            <a:endParaRPr lang="en-US" sz="1000" dirty="0">
              <a:solidFill>
                <a:srgbClr val="2C2821"/>
              </a:solidFill>
              <a:latin typeface="Optima" panose="02000503060000020004" pitchFamily="2" charset="0"/>
              <a:ea typeface="Lora" pitchFamily="34" charset="-122"/>
              <a:cs typeface="Lora" pitchFamily="34" charset="-120"/>
            </a:endParaRPr>
          </a:p>
          <a:p>
            <a:r>
              <a:rPr lang="en-US" sz="1000" dirty="0">
                <a:solidFill>
                  <a:srgbClr val="2C2821"/>
                </a:solidFill>
                <a:latin typeface="Optima" panose="02000503060000020004" pitchFamily="2" charset="0"/>
                <a:ea typeface="Lora" pitchFamily="34" charset="-122"/>
                <a:cs typeface="Lora" pitchFamily="34" charset="-120"/>
              </a:rPr>
              <a:t>The expanding use of LLM in cyber security is bringing substantial changes to the CTI landscape. These models excel at processing unstructured data, which constitutes a significant portion of threat intelligence. By ingesting massive volumes of security reports, blogs, news articles, social media posts, and technical documents, LLMs can extract relevant information, identify patterns, and uncover hidden connections. </a:t>
            </a:r>
          </a:p>
          <a:p>
            <a:endParaRPr lang="en-US" sz="1000" dirty="0">
              <a:solidFill>
                <a:srgbClr val="2C2821"/>
              </a:solidFill>
              <a:latin typeface="Optima" panose="02000503060000020004" pitchFamily="2" charset="0"/>
              <a:ea typeface="Lora" pitchFamily="34" charset="-122"/>
              <a:cs typeface="Lora" pitchFamily="34" charset="-120"/>
            </a:endParaRPr>
          </a:p>
          <a:p>
            <a:r>
              <a:rPr lang="en-US" sz="1000" dirty="0">
                <a:solidFill>
                  <a:srgbClr val="2C2821"/>
                </a:solidFill>
                <a:latin typeface="Optima" panose="02000503060000020004" pitchFamily="2" charset="0"/>
                <a:ea typeface="Lora" pitchFamily="34" charset="-122"/>
                <a:cs typeface="Lora" pitchFamily="34" charset="-120"/>
              </a:rPr>
              <a:t>This ability to sift through mountains of data and distill actionable insights is invaluable for security analysts, who can now leverage more diverse and comprehensive intelligence sources than ever before.</a:t>
            </a:r>
            <a:endParaRPr lang="en-US" sz="1000" dirty="0">
              <a:latin typeface="Optima" panose="02000503060000020004" pitchFamily="2" charset="0"/>
            </a:endParaRPr>
          </a:p>
        </p:txBody>
      </p:sp>
      <p:sp>
        <p:nvSpPr>
          <p:cNvPr id="5" name="Text 3">
            <a:extLst>
              <a:ext uri="{FF2B5EF4-FFF2-40B4-BE49-F238E27FC236}">
                <a16:creationId xmlns:a16="http://schemas.microsoft.com/office/drawing/2014/main" id="{91B6C2B7-DBFB-23FD-11C5-C865CEFB0E2D}"/>
              </a:ext>
            </a:extLst>
          </p:cNvPr>
          <p:cNvSpPr/>
          <p:nvPr/>
        </p:nvSpPr>
        <p:spPr>
          <a:xfrm>
            <a:off x="1271908" y="4203482"/>
            <a:ext cx="9648185" cy="2318958"/>
          </a:xfrm>
          <a:prstGeom prst="rect">
            <a:avLst/>
          </a:prstGeom>
          <a:noFill/>
          <a:ln/>
        </p:spPr>
        <p:txBody>
          <a:bodyPr wrap="square" lIns="0" tIns="0" rIns="0" bIns="0" rtlCol="0" anchor="t"/>
          <a:lstStyle/>
          <a:p>
            <a:r>
              <a:rPr lang="en-US" sz="917" dirty="0">
                <a:solidFill>
                  <a:srgbClr val="2C2821"/>
                </a:solidFill>
                <a:latin typeface="Optima" panose="02000503060000020004" pitchFamily="2" charset="0"/>
                <a:ea typeface="Lora" pitchFamily="34" charset="-122"/>
                <a:cs typeface="Lora" pitchFamily="34" charset="-120"/>
              </a:rPr>
              <a:t>The integration of LLM threat intelligence solutions into standard workflows offers a multitude of benefits:</a:t>
            </a:r>
          </a:p>
          <a:p>
            <a:endParaRPr lang="en-US" sz="917" dirty="0">
              <a:solidFill>
                <a:srgbClr val="2C2821"/>
              </a:solidFill>
              <a:latin typeface="Optima" panose="02000503060000020004" pitchFamily="2" charset="0"/>
              <a:ea typeface="Lora" pitchFamily="34" charset="-122"/>
              <a:cs typeface="Lora" pitchFamily="34" charset="-120"/>
            </a:endParaRPr>
          </a:p>
          <a:p>
            <a:pPr marL="142869" indent="-142869">
              <a:buFont typeface="Wingdings" pitchFamily="2" charset="2"/>
              <a:buChar char="ü"/>
            </a:pPr>
            <a:r>
              <a:rPr lang="en-US" sz="917" b="1" dirty="0">
                <a:solidFill>
                  <a:srgbClr val="2C2821"/>
                </a:solidFill>
                <a:latin typeface="Optima" panose="02000503060000020004" pitchFamily="2" charset="0"/>
                <a:ea typeface="Lora" pitchFamily="34" charset="-122"/>
                <a:cs typeface="Lora" pitchFamily="34" charset="-120"/>
              </a:rPr>
              <a:t>Enhanced threat detection and prediction. </a:t>
            </a:r>
            <a:r>
              <a:rPr lang="en-US" sz="917" dirty="0">
                <a:solidFill>
                  <a:srgbClr val="2C2821"/>
                </a:solidFill>
                <a:latin typeface="Optima" panose="02000503060000020004" pitchFamily="2" charset="0"/>
                <a:ea typeface="Lora" pitchFamily="34" charset="-122"/>
                <a:cs typeface="Lora" pitchFamily="34" charset="-120"/>
              </a:rPr>
              <a:t>Language models can analyze historical attack data to identify patterns and trends, enabling the proactive detection and prediction of future threats. This early warning system allows organizations to take preventative measures before attacks occur. In fact, such models can identify fourteen (14) different types of attacks with an overall accuracy of 98%. </a:t>
            </a:r>
          </a:p>
          <a:p>
            <a:pPr marL="142869" indent="-142869">
              <a:buFont typeface="Wingdings" pitchFamily="2" charset="2"/>
              <a:buChar char="ü"/>
            </a:pPr>
            <a:endParaRPr lang="en-US" sz="917" b="1" dirty="0">
              <a:solidFill>
                <a:srgbClr val="2C2821"/>
              </a:solidFill>
              <a:latin typeface="Optima" panose="02000503060000020004" pitchFamily="2" charset="0"/>
              <a:ea typeface="Lora" pitchFamily="34" charset="-122"/>
              <a:cs typeface="Lora" pitchFamily="34" charset="-120"/>
            </a:endParaRPr>
          </a:p>
          <a:p>
            <a:pPr marL="142869" indent="-142869">
              <a:buFont typeface="Wingdings" pitchFamily="2" charset="2"/>
              <a:buChar char="ü"/>
            </a:pPr>
            <a:r>
              <a:rPr lang="en-US" sz="917" b="1" dirty="0">
                <a:solidFill>
                  <a:srgbClr val="2C2821"/>
                </a:solidFill>
                <a:latin typeface="Optima" panose="02000503060000020004" pitchFamily="2" charset="0"/>
                <a:ea typeface="Lora" pitchFamily="34" charset="-122"/>
                <a:cs typeface="Lora" pitchFamily="34" charset="-120"/>
              </a:rPr>
              <a:t>Accelerated incident response</a:t>
            </a:r>
            <a:r>
              <a:rPr lang="en-US" sz="917" dirty="0">
                <a:solidFill>
                  <a:srgbClr val="2C2821"/>
                </a:solidFill>
                <a:latin typeface="Optima" panose="02000503060000020004" pitchFamily="2" charset="0"/>
                <a:ea typeface="Lora" pitchFamily="34" charset="-122"/>
                <a:cs typeface="Lora" pitchFamily="34" charset="-120"/>
              </a:rPr>
              <a:t>. In the aftermath of a security breach, AI systems rapidly analyze incident data to determine the scope of the attack, identify the root cause, and recommend remediation strategies. This speeds up incident reaction and minimizes damage.</a:t>
            </a:r>
          </a:p>
          <a:p>
            <a:pPr marL="142869" indent="-142869">
              <a:buFont typeface="Wingdings" pitchFamily="2" charset="2"/>
              <a:buChar char="ü"/>
            </a:pPr>
            <a:endParaRPr lang="en-US" sz="917" dirty="0">
              <a:solidFill>
                <a:srgbClr val="2C2821"/>
              </a:solidFill>
              <a:latin typeface="Optima" panose="02000503060000020004" pitchFamily="2" charset="0"/>
              <a:ea typeface="Lora" pitchFamily="34" charset="-122"/>
              <a:cs typeface="Lora" pitchFamily="34" charset="-120"/>
            </a:endParaRPr>
          </a:p>
          <a:p>
            <a:pPr marL="142869" indent="-142869">
              <a:buFont typeface="Wingdings" pitchFamily="2" charset="2"/>
              <a:buChar char="ü"/>
            </a:pPr>
            <a:r>
              <a:rPr lang="en-US" sz="917" b="1" dirty="0">
                <a:solidFill>
                  <a:srgbClr val="2C2821"/>
                </a:solidFill>
                <a:latin typeface="Optima" panose="02000503060000020004" pitchFamily="2" charset="0"/>
                <a:ea typeface="Lora" pitchFamily="34" charset="-122"/>
                <a:cs typeface="Lora" pitchFamily="34" charset="-120"/>
              </a:rPr>
              <a:t>Improved threat hunting</a:t>
            </a:r>
            <a:r>
              <a:rPr lang="en-US" sz="917" dirty="0">
                <a:solidFill>
                  <a:srgbClr val="2C2821"/>
                </a:solidFill>
                <a:latin typeface="Optima" panose="02000503060000020004" pitchFamily="2" charset="0"/>
                <a:ea typeface="Lora" pitchFamily="34" charset="-122"/>
                <a:cs typeface="Lora" pitchFamily="34" charset="-120"/>
              </a:rPr>
              <a:t>. This is one of the key areas of cyber security for LLM, enabling them to continuously scan for anomalies and potential vulnerabilities in the system. By identifying patterns and deviations from normal behavior, models help analysts uncover hidden threats and take preemptive action before they cause damage.</a:t>
            </a:r>
          </a:p>
          <a:p>
            <a:pPr marL="142869" indent="-142869">
              <a:buFont typeface="Wingdings" pitchFamily="2" charset="2"/>
              <a:buChar char="ü"/>
            </a:pPr>
            <a:endParaRPr lang="en-US" sz="917" b="1" dirty="0">
              <a:solidFill>
                <a:srgbClr val="2C2821"/>
              </a:solidFill>
              <a:latin typeface="Optima" panose="02000503060000020004" pitchFamily="2" charset="0"/>
              <a:ea typeface="Lora" pitchFamily="34" charset="-122"/>
              <a:cs typeface="Lora" pitchFamily="34" charset="-120"/>
            </a:endParaRPr>
          </a:p>
          <a:p>
            <a:pPr marL="142869" indent="-142869">
              <a:buFont typeface="Wingdings" pitchFamily="2" charset="2"/>
              <a:buChar char="ü"/>
            </a:pPr>
            <a:r>
              <a:rPr lang="en-US" sz="917" b="1" dirty="0">
                <a:solidFill>
                  <a:srgbClr val="2C2821"/>
                </a:solidFill>
                <a:latin typeface="Optima" panose="02000503060000020004" pitchFamily="2" charset="0"/>
                <a:ea typeface="Lora" pitchFamily="34" charset="-122"/>
                <a:cs typeface="Lora" pitchFamily="34" charset="-120"/>
              </a:rPr>
              <a:t>Streamlined threat intelligence analysis</a:t>
            </a:r>
            <a:r>
              <a:rPr lang="en-US" sz="917" dirty="0">
                <a:solidFill>
                  <a:srgbClr val="2C2821"/>
                </a:solidFill>
                <a:latin typeface="Optima" panose="02000503060000020004" pitchFamily="2" charset="0"/>
                <a:ea typeface="Lora" pitchFamily="34" charset="-122"/>
                <a:cs typeface="Lora" pitchFamily="34" charset="-120"/>
              </a:rPr>
              <a:t>. Intelligent algorithms can automate many of the time-consuming and repetitive tasks such as data collection, aggregation, and correlation. This frees up analysts to focus on higher-order tasks, such as strategic planning and decision-making.</a:t>
            </a:r>
          </a:p>
          <a:p>
            <a:pPr algn="l"/>
            <a:endParaRPr lang="en-US" sz="917" dirty="0">
              <a:solidFill>
                <a:srgbClr val="2C2821"/>
              </a:solidFill>
              <a:latin typeface="Optima" panose="02000503060000020004" pitchFamily="2" charset="0"/>
              <a:ea typeface="Lora" pitchFamily="34" charset="-122"/>
              <a:cs typeface="Lora" pitchFamily="34" charset="-120"/>
            </a:endParaRPr>
          </a:p>
          <a:p>
            <a:pPr marL="142869" indent="-142869">
              <a:buFont typeface="Wingdings" pitchFamily="2" charset="2"/>
              <a:buChar char="ü"/>
            </a:pPr>
            <a:r>
              <a:rPr lang="en-US" sz="917" b="1" dirty="0">
                <a:solidFill>
                  <a:srgbClr val="2C2821"/>
                </a:solidFill>
                <a:latin typeface="Optima" panose="02000503060000020004" pitchFamily="2" charset="0"/>
                <a:ea typeface="Lora" pitchFamily="34" charset="-122"/>
                <a:cs typeface="Lora" pitchFamily="34" charset="-120"/>
              </a:rPr>
              <a:t>Improved Threat Actor Profiling.</a:t>
            </a:r>
            <a:r>
              <a:rPr lang="en-US" sz="917" dirty="0">
                <a:solidFill>
                  <a:srgbClr val="2C2821"/>
                </a:solidFill>
                <a:latin typeface="Optima" panose="02000503060000020004" pitchFamily="2" charset="0"/>
                <a:ea typeface="Lora" pitchFamily="34" charset="-122"/>
                <a:cs typeface="Lora" pitchFamily="34" charset="-120"/>
              </a:rPr>
              <a:t> LLMs can analyze threat data to create comprehensive profiles of threat actors, including their motivations, tactics, techniques, and procedures, and infrastructure. This can help organizations to better understand their adversaries and develop more targeted defenses.</a:t>
            </a:r>
            <a:endParaRPr lang="en-US" sz="917" dirty="0">
              <a:latin typeface="Optima" panose="02000503060000020004" pitchFamily="2" charset="0"/>
            </a:endParaRPr>
          </a:p>
        </p:txBody>
      </p:sp>
      <p:sp>
        <p:nvSpPr>
          <p:cNvPr id="2" name="Title 1">
            <a:extLst>
              <a:ext uri="{FF2B5EF4-FFF2-40B4-BE49-F238E27FC236}">
                <a16:creationId xmlns:a16="http://schemas.microsoft.com/office/drawing/2014/main" id="{A8EC03A5-43B5-1532-3F01-F21085B04193}"/>
              </a:ext>
            </a:extLst>
          </p:cNvPr>
          <p:cNvSpPr>
            <a:spLocks noGrp="1"/>
          </p:cNvSpPr>
          <p:nvPr>
            <p:ph type="title" idx="4294967295"/>
          </p:nvPr>
        </p:nvSpPr>
        <p:spPr>
          <a:xfrm>
            <a:off x="370344" y="169382"/>
            <a:ext cx="10514542" cy="957358"/>
          </a:xfrm>
          <a:prstGeom prst="rect">
            <a:avLst/>
          </a:prstGeom>
        </p:spPr>
        <p:txBody>
          <a:bodyPr/>
          <a:lstStyle/>
          <a:p>
            <a:pPr algn="l"/>
            <a:r>
              <a:rPr lang="en-US" b="1" dirty="0">
                <a:solidFill>
                  <a:srgbClr val="333F70"/>
                </a:solidFill>
                <a:latin typeface="Unbounded Bold" pitchFamily="34" charset="0"/>
                <a:ea typeface="Unbounded Bold" pitchFamily="34" charset="-122"/>
                <a:cs typeface="Unbounded Bold" pitchFamily="34" charset="-120"/>
              </a:rPr>
              <a:t>Athena’s Cyber Threat Intelligence LLM</a:t>
            </a:r>
            <a:br>
              <a:rPr lang="en-US" b="1" dirty="0">
                <a:solidFill>
                  <a:srgbClr val="333F70"/>
                </a:solidFill>
                <a:latin typeface="Unbounded Bold" pitchFamily="34" charset="0"/>
                <a:ea typeface="Unbounded Bold" pitchFamily="34" charset="-122"/>
                <a:cs typeface="Unbounded Bold" pitchFamily="34" charset="-120"/>
              </a:rPr>
            </a:br>
            <a:r>
              <a:rPr lang="en-US" sz="2000" dirty="0">
                <a:solidFill>
                  <a:srgbClr val="333F70"/>
                </a:solidFill>
                <a:latin typeface="Unbounded Bold" pitchFamily="34" charset="0"/>
                <a:ea typeface="Unbounded Bold" pitchFamily="34" charset="-122"/>
                <a:cs typeface="Unbounded Bold" pitchFamily="34" charset="-120"/>
              </a:rPr>
              <a:t>Injecting AI directly into the Threat Response Pipeline</a:t>
            </a:r>
            <a:endParaRPr lang="en-US" dirty="0"/>
          </a:p>
        </p:txBody>
      </p:sp>
      <p:pic>
        <p:nvPicPr>
          <p:cNvPr id="1026" name="Picture 2" descr="How LLMs Amplify Cyber Threat Intelligence">
            <a:extLst>
              <a:ext uri="{FF2B5EF4-FFF2-40B4-BE49-F238E27FC236}">
                <a16:creationId xmlns:a16="http://schemas.microsoft.com/office/drawing/2014/main" id="{FE0F3372-10A2-6AAA-E01E-450C5D14FFE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09206" y="1150034"/>
            <a:ext cx="4192831" cy="26206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676038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71820D-0050-1C02-55D8-A8F02B7262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8BCDC3-4AA1-305D-5BAD-1CF73EB8466F}"/>
              </a:ext>
            </a:extLst>
          </p:cNvPr>
          <p:cNvSpPr>
            <a:spLocks noGrp="1"/>
          </p:cNvSpPr>
          <p:nvPr>
            <p:ph type="title"/>
          </p:nvPr>
        </p:nvSpPr>
        <p:spPr>
          <a:xfrm>
            <a:off x="761549" y="362349"/>
            <a:ext cx="10668451" cy="706964"/>
          </a:xfrm>
        </p:spPr>
        <p:txBody>
          <a:bodyPr/>
          <a:lstStyle/>
          <a:p>
            <a:r>
              <a:rPr lang="en-US" sz="3200" dirty="0"/>
              <a:t>Holistic LLM Design &amp; Integration Strategy</a:t>
            </a:r>
          </a:p>
        </p:txBody>
      </p:sp>
      <p:sp>
        <p:nvSpPr>
          <p:cNvPr id="3" name="Content Placeholder 2">
            <a:extLst>
              <a:ext uri="{FF2B5EF4-FFF2-40B4-BE49-F238E27FC236}">
                <a16:creationId xmlns:a16="http://schemas.microsoft.com/office/drawing/2014/main" id="{4F07738F-7F6F-3BA2-B3B5-22E30427083A}"/>
              </a:ext>
            </a:extLst>
          </p:cNvPr>
          <p:cNvSpPr>
            <a:spLocks noGrp="1"/>
          </p:cNvSpPr>
          <p:nvPr>
            <p:ph idx="1"/>
          </p:nvPr>
        </p:nvSpPr>
        <p:spPr>
          <a:xfrm>
            <a:off x="701546" y="1401441"/>
            <a:ext cx="4734683" cy="4934477"/>
          </a:xfrm>
        </p:spPr>
        <p:txBody>
          <a:bodyPr>
            <a:noAutofit/>
          </a:bodyPr>
          <a:lstStyle/>
          <a:p>
            <a:pPr marL="0" indent="0">
              <a:spcBef>
                <a:spcPts val="600"/>
              </a:spcBef>
              <a:buNone/>
            </a:pPr>
            <a:r>
              <a:rPr lang="en-US" sz="1050" dirty="0">
                <a:solidFill>
                  <a:schemeClr val="tx1"/>
                </a:solidFill>
              </a:rPr>
              <a:t>Step 1: Domain Corpus Preparation</a:t>
            </a:r>
          </a:p>
          <a:p>
            <a:pPr marL="0" indent="0">
              <a:spcBef>
                <a:spcPts val="600"/>
              </a:spcBef>
              <a:buNone/>
            </a:pPr>
            <a:r>
              <a:rPr lang="en-US" sz="900" dirty="0">
                <a:solidFill>
                  <a:schemeClr val="tx1"/>
                </a:solidFill>
              </a:rPr>
              <a:t>Data Sources; </a:t>
            </a:r>
            <a:r>
              <a:rPr lang="en-US" sz="800" dirty="0">
                <a:solidFill>
                  <a:schemeClr val="tx1"/>
                </a:solidFill>
              </a:rPr>
              <a:t>Flashpoint Ignite threat intelligence feeds (dark web forums, CVEs, threat actor reports, incident summaries). Structured indicators (IOC, TTPs, MITRE ATT&amp;CK mappings).</a:t>
            </a:r>
          </a:p>
          <a:p>
            <a:pPr marL="0" indent="0">
              <a:spcBef>
                <a:spcPts val="600"/>
              </a:spcBef>
              <a:buNone/>
            </a:pPr>
            <a:r>
              <a:rPr lang="en-US" sz="900" dirty="0">
                <a:solidFill>
                  <a:schemeClr val="tx1"/>
                </a:solidFill>
              </a:rPr>
              <a:t>Fine-Tuning Objective: </a:t>
            </a:r>
            <a:r>
              <a:rPr lang="en-US" sz="800" dirty="0">
                <a:solidFill>
                  <a:schemeClr val="tx1"/>
                </a:solidFill>
              </a:rPr>
              <a:t>Masked Language Modeling (MLM) to internalize threat intelligence vocabulary and cybersecurity-specific context.</a:t>
            </a:r>
          </a:p>
          <a:p>
            <a:pPr>
              <a:spcBef>
                <a:spcPts val="600"/>
              </a:spcBef>
            </a:pPr>
            <a:endParaRPr lang="en-US" sz="800" dirty="0">
              <a:solidFill>
                <a:schemeClr val="tx1"/>
              </a:solidFill>
            </a:endParaRPr>
          </a:p>
          <a:p>
            <a:pPr marL="0" indent="0">
              <a:spcBef>
                <a:spcPts val="600"/>
              </a:spcBef>
              <a:buNone/>
            </a:pPr>
            <a:r>
              <a:rPr lang="en-US" sz="1050" dirty="0">
                <a:solidFill>
                  <a:schemeClr val="tx1"/>
                </a:solidFill>
              </a:rPr>
              <a:t>Step 2: Curated Instruction Dataset Creation</a:t>
            </a:r>
          </a:p>
          <a:p>
            <a:pPr marL="0" indent="0">
              <a:spcBef>
                <a:spcPts val="600"/>
              </a:spcBef>
              <a:buNone/>
            </a:pPr>
            <a:r>
              <a:rPr lang="en-US" sz="900" dirty="0">
                <a:solidFill>
                  <a:schemeClr val="tx1"/>
                </a:solidFill>
              </a:rPr>
              <a:t>Instructions Examples:</a:t>
            </a:r>
          </a:p>
          <a:p>
            <a:pPr>
              <a:spcBef>
                <a:spcPts val="600"/>
              </a:spcBef>
              <a:buFont typeface="System Font Regular"/>
              <a:buChar char="−"/>
            </a:pPr>
            <a:r>
              <a:rPr lang="en-US" sz="800" dirty="0">
                <a:solidFill>
                  <a:schemeClr val="tx1"/>
                </a:solidFill>
              </a:rPr>
              <a:t>"Summarize this threat report.”</a:t>
            </a:r>
          </a:p>
          <a:p>
            <a:pPr>
              <a:spcBef>
                <a:spcPts val="600"/>
              </a:spcBef>
              <a:buFont typeface="System Font Regular"/>
              <a:buChar char="−"/>
            </a:pPr>
            <a:r>
              <a:rPr lang="en-US" sz="800" dirty="0">
                <a:solidFill>
                  <a:schemeClr val="tx1"/>
                </a:solidFill>
              </a:rPr>
              <a:t>"Attribute this incident to a known threat actor.”</a:t>
            </a:r>
          </a:p>
          <a:p>
            <a:pPr>
              <a:spcBef>
                <a:spcPts val="600"/>
              </a:spcBef>
              <a:buFont typeface="System Font Regular"/>
              <a:buChar char="−"/>
            </a:pPr>
            <a:r>
              <a:rPr lang="en-US" sz="800" dirty="0">
                <a:solidFill>
                  <a:schemeClr val="tx1"/>
                </a:solidFill>
              </a:rPr>
              <a:t>"Identify potential impacts of this CVE.”</a:t>
            </a:r>
          </a:p>
          <a:p>
            <a:pPr>
              <a:spcBef>
                <a:spcPts val="600"/>
              </a:spcBef>
              <a:buFont typeface="System Font Regular"/>
              <a:buChar char="−"/>
            </a:pPr>
            <a:r>
              <a:rPr lang="en-US" sz="800" dirty="0">
                <a:solidFill>
                  <a:schemeClr val="tx1"/>
                </a:solidFill>
              </a:rPr>
              <a:t>"Extract all relevant IOCs from this threat document."</a:t>
            </a:r>
          </a:p>
          <a:p>
            <a:pPr marL="0" indent="0">
              <a:spcBef>
                <a:spcPts val="600"/>
              </a:spcBef>
              <a:buNone/>
            </a:pPr>
            <a:r>
              <a:rPr lang="en-US" sz="900" dirty="0">
                <a:solidFill>
                  <a:schemeClr val="tx1"/>
                </a:solidFill>
              </a:rPr>
              <a:t>Format: Structured as (Instruction, Input → Desired Output) tuples.</a:t>
            </a:r>
          </a:p>
          <a:p>
            <a:pPr marL="0" indent="0">
              <a:spcBef>
                <a:spcPts val="600"/>
              </a:spcBef>
              <a:buNone/>
            </a:pPr>
            <a:endParaRPr lang="en-US" sz="900" dirty="0">
              <a:solidFill>
                <a:schemeClr val="tx1"/>
              </a:solidFill>
            </a:endParaRPr>
          </a:p>
          <a:p>
            <a:pPr marL="0" indent="0">
              <a:spcBef>
                <a:spcPts val="600"/>
              </a:spcBef>
              <a:buNone/>
            </a:pPr>
            <a:r>
              <a:rPr lang="en-US" sz="1050" dirty="0">
                <a:solidFill>
                  <a:schemeClr val="tx1"/>
                </a:solidFill>
              </a:rPr>
              <a:t>Step 3: Instruction Tuning</a:t>
            </a:r>
          </a:p>
          <a:p>
            <a:pPr marL="57150" indent="0">
              <a:spcBef>
                <a:spcPts val="600"/>
              </a:spcBef>
              <a:buNone/>
            </a:pPr>
            <a:r>
              <a:rPr lang="en-US" sz="900" dirty="0">
                <a:solidFill>
                  <a:schemeClr val="tx1"/>
                </a:solidFill>
              </a:rPr>
              <a:t>Objective: Enable the LLM to follow security-specific instructions.</a:t>
            </a:r>
          </a:p>
          <a:p>
            <a:pPr marL="57150" indent="0">
              <a:spcBef>
                <a:spcPts val="600"/>
              </a:spcBef>
              <a:buNone/>
            </a:pPr>
            <a:r>
              <a:rPr lang="en-US" sz="900" dirty="0">
                <a:solidFill>
                  <a:schemeClr val="tx1"/>
                </a:solidFill>
              </a:rPr>
              <a:t>Methodology: Supervised fine-tuning with instruction tuples, cross-entropy loss on generated outputs.</a:t>
            </a:r>
          </a:p>
          <a:p>
            <a:pPr>
              <a:spcBef>
                <a:spcPts val="600"/>
              </a:spcBef>
            </a:pPr>
            <a:endParaRPr lang="en-US" sz="800" dirty="0">
              <a:solidFill>
                <a:schemeClr val="tx1"/>
              </a:solidFill>
            </a:endParaRPr>
          </a:p>
          <a:p>
            <a:pPr marL="0" indent="0">
              <a:spcBef>
                <a:spcPts val="600"/>
              </a:spcBef>
              <a:buNone/>
            </a:pPr>
            <a:r>
              <a:rPr lang="en-US" sz="1050" dirty="0">
                <a:solidFill>
                  <a:schemeClr val="tx1"/>
                </a:solidFill>
              </a:rPr>
              <a:t>Step 4: Integration of Retrieval-Augmented Generation (RAG)</a:t>
            </a:r>
          </a:p>
          <a:p>
            <a:pPr marL="57150" indent="0">
              <a:spcBef>
                <a:spcPts val="600"/>
              </a:spcBef>
              <a:buNone/>
            </a:pPr>
            <a:r>
              <a:rPr lang="en-US" sz="900" dirty="0">
                <a:solidFill>
                  <a:schemeClr val="tx1"/>
                </a:solidFill>
              </a:rPr>
              <a:t>Combine the LLM with </a:t>
            </a:r>
            <a:r>
              <a:rPr lang="en-US" sz="900" dirty="0" err="1">
                <a:solidFill>
                  <a:schemeClr val="tx1"/>
                </a:solidFill>
              </a:rPr>
              <a:t>Ignite’s</a:t>
            </a:r>
            <a:r>
              <a:rPr lang="en-US" sz="900" dirty="0">
                <a:solidFill>
                  <a:schemeClr val="tx1"/>
                </a:solidFill>
              </a:rPr>
              <a:t> real-time data retrieval via embeddings and vector stores.</a:t>
            </a:r>
          </a:p>
          <a:p>
            <a:pPr marL="57150" indent="0">
              <a:spcBef>
                <a:spcPts val="600"/>
              </a:spcBef>
              <a:buNone/>
            </a:pPr>
            <a:r>
              <a:rPr lang="en-US" sz="900" dirty="0">
                <a:solidFill>
                  <a:schemeClr val="tx1"/>
                </a:solidFill>
              </a:rPr>
              <a:t>Provide the model with external real-time context (latest threats, CVEs, etc.) to answer queries more accurately.</a:t>
            </a:r>
          </a:p>
          <a:p>
            <a:pPr marL="0" indent="0">
              <a:buNone/>
            </a:pPr>
            <a:endParaRPr lang="en-US" sz="1050" dirty="0">
              <a:solidFill>
                <a:schemeClr val="tx1"/>
              </a:solidFill>
            </a:endParaRPr>
          </a:p>
        </p:txBody>
      </p:sp>
      <p:sp>
        <p:nvSpPr>
          <p:cNvPr id="5" name="TextBox 4">
            <a:extLst>
              <a:ext uri="{FF2B5EF4-FFF2-40B4-BE49-F238E27FC236}">
                <a16:creationId xmlns:a16="http://schemas.microsoft.com/office/drawing/2014/main" id="{B36229D0-1872-1509-5958-F4E29453FA1A}"/>
              </a:ext>
            </a:extLst>
          </p:cNvPr>
          <p:cNvSpPr txBox="1"/>
          <p:nvPr/>
        </p:nvSpPr>
        <p:spPr>
          <a:xfrm>
            <a:off x="5934202" y="-728382"/>
            <a:ext cx="8761413" cy="523220"/>
          </a:xfrm>
          <a:prstGeom prst="rect">
            <a:avLst/>
          </a:prstGeom>
          <a:noFill/>
        </p:spPr>
        <p:txBody>
          <a:bodyPr wrap="square">
            <a:spAutoFit/>
          </a:bodyPr>
          <a:lstStyle/>
          <a:p>
            <a:pPr algn="ctr"/>
            <a:r>
              <a:rPr lang="en-US" sz="1400" i="1"/>
              <a:t>Given </a:t>
            </a:r>
            <a:r>
              <a:rPr lang="en-US" sz="1400" i="1" err="1"/>
              <a:t>Ignite’s</a:t>
            </a:r>
            <a:r>
              <a:rPr lang="en-US" sz="1400" i="1"/>
              <a:t> data-rich and specialized threat-intel environment, the ideal fine-tuning approach is a Hybrid Fine-Tuning + Instruction Tuning strategy. </a:t>
            </a:r>
          </a:p>
        </p:txBody>
      </p:sp>
      <p:sp>
        <p:nvSpPr>
          <p:cNvPr id="7" name="Content Placeholder 2">
            <a:extLst>
              <a:ext uri="{FF2B5EF4-FFF2-40B4-BE49-F238E27FC236}">
                <a16:creationId xmlns:a16="http://schemas.microsoft.com/office/drawing/2014/main" id="{C7479A06-4ADE-F2A8-D4D7-4F451FF6B955}"/>
              </a:ext>
            </a:extLst>
          </p:cNvPr>
          <p:cNvSpPr txBox="1">
            <a:spLocks/>
          </p:cNvSpPr>
          <p:nvPr/>
        </p:nvSpPr>
        <p:spPr>
          <a:xfrm>
            <a:off x="5570408" y="2215975"/>
            <a:ext cx="5195914" cy="4119943"/>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a:lstStyle>
          <a:p>
            <a:pPr marL="0" indent="0">
              <a:buNone/>
            </a:pPr>
            <a:endParaRPr lang="en-US" sz="1050">
              <a:solidFill>
                <a:schemeClr val="tx1"/>
              </a:solidFill>
            </a:endParaRPr>
          </a:p>
        </p:txBody>
      </p:sp>
      <p:pic>
        <p:nvPicPr>
          <p:cNvPr id="8" name="Picture 7">
            <a:extLst>
              <a:ext uri="{FF2B5EF4-FFF2-40B4-BE49-F238E27FC236}">
                <a16:creationId xmlns:a16="http://schemas.microsoft.com/office/drawing/2014/main" id="{C6664798-4120-1F36-BD93-4F7CC2E004CD}"/>
              </a:ext>
            </a:extLst>
          </p:cNvPr>
          <p:cNvPicPr>
            <a:picLocks noChangeAspect="1"/>
          </p:cNvPicPr>
          <p:nvPr/>
        </p:nvPicPr>
        <p:blipFill>
          <a:blip r:embed="rId2"/>
          <a:stretch>
            <a:fillRect/>
          </a:stretch>
        </p:blipFill>
        <p:spPr>
          <a:xfrm>
            <a:off x="5934202" y="1519708"/>
            <a:ext cx="4697941" cy="4697941"/>
          </a:xfrm>
          <a:prstGeom prst="rect">
            <a:avLst/>
          </a:prstGeom>
        </p:spPr>
      </p:pic>
    </p:spTree>
    <p:extLst>
      <p:ext uri="{BB962C8B-B14F-4D97-AF65-F5344CB8AC3E}">
        <p14:creationId xmlns:p14="http://schemas.microsoft.com/office/powerpoint/2010/main" val="5400566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18E1EA-BADD-4500-3BB3-594232974C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9D2A79-0B5B-FE3E-AA24-D715F16EBA68}"/>
              </a:ext>
            </a:extLst>
          </p:cNvPr>
          <p:cNvSpPr>
            <a:spLocks noGrp="1"/>
          </p:cNvSpPr>
          <p:nvPr>
            <p:ph type="title"/>
          </p:nvPr>
        </p:nvSpPr>
        <p:spPr/>
        <p:txBody>
          <a:bodyPr/>
          <a:lstStyle/>
          <a:p>
            <a:r>
              <a:rPr lang="en-US" dirty="0"/>
              <a:t>Instruction Finetuning (IFT)</a:t>
            </a:r>
          </a:p>
        </p:txBody>
      </p:sp>
      <p:sp>
        <p:nvSpPr>
          <p:cNvPr id="5" name="TextBox 4">
            <a:extLst>
              <a:ext uri="{FF2B5EF4-FFF2-40B4-BE49-F238E27FC236}">
                <a16:creationId xmlns:a16="http://schemas.microsoft.com/office/drawing/2014/main" id="{E9970A32-9302-A1E6-5F74-3E0EA662B617}"/>
              </a:ext>
            </a:extLst>
          </p:cNvPr>
          <p:cNvSpPr txBox="1"/>
          <p:nvPr/>
        </p:nvSpPr>
        <p:spPr>
          <a:xfrm>
            <a:off x="5934202" y="-728382"/>
            <a:ext cx="8761413" cy="523220"/>
          </a:xfrm>
          <a:prstGeom prst="rect">
            <a:avLst/>
          </a:prstGeom>
          <a:noFill/>
        </p:spPr>
        <p:txBody>
          <a:bodyPr wrap="square">
            <a:spAutoFit/>
          </a:bodyPr>
          <a:lstStyle/>
          <a:p>
            <a:pPr algn="ctr"/>
            <a:r>
              <a:rPr lang="en-US" sz="1400" i="1"/>
              <a:t>Given </a:t>
            </a:r>
            <a:r>
              <a:rPr lang="en-US" sz="1400" i="1" err="1"/>
              <a:t>Ignite’s</a:t>
            </a:r>
            <a:r>
              <a:rPr lang="en-US" sz="1400" i="1"/>
              <a:t> data-rich and specialized threat-intel environment, the ideal fine-tuning approach is a Hybrid Fine-Tuning + Instruction Tuning strategy. </a:t>
            </a:r>
          </a:p>
        </p:txBody>
      </p:sp>
      <p:pic>
        <p:nvPicPr>
          <p:cNvPr id="1026" name="Picture 2" descr="Instruction Tuning">
            <a:extLst>
              <a:ext uri="{FF2B5EF4-FFF2-40B4-BE49-F238E27FC236}">
                <a16:creationId xmlns:a16="http://schemas.microsoft.com/office/drawing/2014/main" id="{7BAC8707-BD90-7366-F8AE-250FD17E48C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91585" y="1653260"/>
            <a:ext cx="6816451" cy="4119943"/>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B65A4EB2-24DC-B881-701B-855365F7DE94}"/>
              </a:ext>
            </a:extLst>
          </p:cNvPr>
          <p:cNvSpPr txBox="1"/>
          <p:nvPr/>
        </p:nvSpPr>
        <p:spPr>
          <a:xfrm>
            <a:off x="475488" y="1636824"/>
            <a:ext cx="3035808" cy="4801314"/>
          </a:xfrm>
          <a:prstGeom prst="rect">
            <a:avLst/>
          </a:prstGeom>
          <a:noFill/>
        </p:spPr>
        <p:txBody>
          <a:bodyPr wrap="square">
            <a:spAutoFit/>
          </a:bodyPr>
          <a:lstStyle/>
          <a:p>
            <a:pPr algn="l">
              <a:buNone/>
            </a:pPr>
            <a:r>
              <a:rPr lang="en-US" b="0" i="0" u="none" strike="noStrike" dirty="0">
                <a:effectLst/>
                <a:latin typeface="Plus Jakarta Sans"/>
              </a:rPr>
              <a:t>Instruction tuning involves further </a:t>
            </a:r>
            <a:r>
              <a:rPr lang="en-US" b="0" i="0" u="none" strike="noStrike" dirty="0">
                <a:solidFill>
                  <a:srgbClr val="9D60FB"/>
                </a:solidFill>
                <a:effectLst/>
                <a:latin typeface="Plus Jakarta Sans"/>
                <a:hlinkClick r:id="rId3"/>
              </a:rPr>
              <a:t>training LLMs</a:t>
            </a:r>
            <a:r>
              <a:rPr lang="en-US" b="0" i="0" u="none" strike="noStrike" dirty="0">
                <a:effectLst/>
                <a:latin typeface="Plus Jakarta Sans"/>
              </a:rPr>
              <a:t> on datasets comprising (instruction, output) pairs, enabling models to better align with human instructions across diverse tasks. While traditional fine-tuning methods rely on generic datasets, instruction fine-tuning focuses on training models to align their outputs with user-provided instructions across a diverse set of tasks.</a:t>
            </a:r>
          </a:p>
          <a:p>
            <a:pPr>
              <a:buNone/>
            </a:pPr>
            <a:br>
              <a:rPr lang="en-US" dirty="0"/>
            </a:br>
            <a:endParaRPr lang="en-US" dirty="0"/>
          </a:p>
        </p:txBody>
      </p:sp>
      <p:sp>
        <p:nvSpPr>
          <p:cNvPr id="8" name="TextBox 7">
            <a:extLst>
              <a:ext uri="{FF2B5EF4-FFF2-40B4-BE49-F238E27FC236}">
                <a16:creationId xmlns:a16="http://schemas.microsoft.com/office/drawing/2014/main" id="{1559C9FA-4064-5E92-881C-F2CF06226C6A}"/>
              </a:ext>
            </a:extLst>
          </p:cNvPr>
          <p:cNvSpPr txBox="1"/>
          <p:nvPr/>
        </p:nvSpPr>
        <p:spPr>
          <a:xfrm>
            <a:off x="6584979" y="6357151"/>
            <a:ext cx="5131533" cy="276999"/>
          </a:xfrm>
          <a:prstGeom prst="rect">
            <a:avLst/>
          </a:prstGeom>
          <a:noFill/>
        </p:spPr>
        <p:txBody>
          <a:bodyPr wrap="none" rtlCol="0">
            <a:spAutoFit/>
          </a:bodyPr>
          <a:lstStyle/>
          <a:p>
            <a:r>
              <a:rPr lang="en-US" sz="1200" i="1" dirty="0"/>
              <a:t>source: https://</a:t>
            </a:r>
            <a:r>
              <a:rPr lang="en-US" sz="1200" i="1" dirty="0" err="1"/>
              <a:t>www.deepchecks.com</a:t>
            </a:r>
            <a:r>
              <a:rPr lang="en-US" sz="1200" i="1" dirty="0"/>
              <a:t>/glossary/instruction-tuning/</a:t>
            </a:r>
          </a:p>
        </p:txBody>
      </p:sp>
    </p:spTree>
    <p:extLst>
      <p:ext uri="{BB962C8B-B14F-4D97-AF65-F5344CB8AC3E}">
        <p14:creationId xmlns:p14="http://schemas.microsoft.com/office/powerpoint/2010/main" val="28691716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4E241E-3110-4B1C-B9B0-F17B90FEEC1D}"/>
              </a:ext>
            </a:extLst>
          </p:cNvPr>
          <p:cNvSpPr>
            <a:spLocks noGrp="1"/>
          </p:cNvSpPr>
          <p:nvPr>
            <p:ph type="title"/>
          </p:nvPr>
        </p:nvSpPr>
        <p:spPr>
          <a:xfrm>
            <a:off x="1064962" y="246672"/>
            <a:ext cx="7390680" cy="789609"/>
          </a:xfrm>
        </p:spPr>
        <p:txBody>
          <a:bodyPr vert="horz" lIns="91440" tIns="45720" rIns="91440" bIns="45720" rtlCol="0" anchor="ctr">
            <a:normAutofit/>
          </a:bodyPr>
          <a:lstStyle/>
          <a:p>
            <a:pPr algn="ctr"/>
            <a:r>
              <a:rPr lang="en-US" dirty="0"/>
              <a:t>Ariadne: Graph Model</a:t>
            </a:r>
          </a:p>
        </p:txBody>
      </p:sp>
      <p:grpSp>
        <p:nvGrpSpPr>
          <p:cNvPr id="11" name="Group 10">
            <a:extLst>
              <a:ext uri="{FF2B5EF4-FFF2-40B4-BE49-F238E27FC236}">
                <a16:creationId xmlns:a16="http://schemas.microsoft.com/office/drawing/2014/main" id="{CF0EE028-E660-CF2F-CD25-75EDC9609240}"/>
              </a:ext>
            </a:extLst>
          </p:cNvPr>
          <p:cNvGrpSpPr/>
          <p:nvPr/>
        </p:nvGrpSpPr>
        <p:grpSpPr>
          <a:xfrm>
            <a:off x="1165752" y="1516566"/>
            <a:ext cx="10297701" cy="5096108"/>
            <a:chOff x="217898" y="406953"/>
            <a:chExt cx="11812994" cy="6285496"/>
          </a:xfrm>
        </p:grpSpPr>
        <p:sp>
          <p:nvSpPr>
            <p:cNvPr id="79" name="TextBox 78">
              <a:extLst>
                <a:ext uri="{FF2B5EF4-FFF2-40B4-BE49-F238E27FC236}">
                  <a16:creationId xmlns:a16="http://schemas.microsoft.com/office/drawing/2014/main" id="{B8BB6CCD-156F-F4BD-0D79-E5A2B2CE7F9A}"/>
                </a:ext>
              </a:extLst>
            </p:cNvPr>
            <p:cNvSpPr txBox="1"/>
            <p:nvPr/>
          </p:nvSpPr>
          <p:spPr>
            <a:xfrm>
              <a:off x="10400151" y="406953"/>
              <a:ext cx="1630741" cy="584775"/>
            </a:xfrm>
            <a:prstGeom prst="rect">
              <a:avLst/>
            </a:prstGeom>
            <a:noFill/>
          </p:spPr>
          <p:txBody>
            <a:bodyPr wrap="square" rtlCol="0">
              <a:spAutoFit/>
            </a:bodyPr>
            <a:lstStyle/>
            <a:p>
              <a:r>
                <a:rPr lang="en-CA" sz="1600" dirty="0"/>
                <a:t>Detection</a:t>
              </a:r>
            </a:p>
            <a:p>
              <a:r>
                <a:rPr lang="en-CA" sz="1600" dirty="0"/>
                <a:t>Intelligence</a:t>
              </a:r>
            </a:p>
          </p:txBody>
        </p:sp>
        <p:sp>
          <p:nvSpPr>
            <p:cNvPr id="3" name="Oval 2">
              <a:extLst>
                <a:ext uri="{FF2B5EF4-FFF2-40B4-BE49-F238E27FC236}">
                  <a16:creationId xmlns:a16="http://schemas.microsoft.com/office/drawing/2014/main" id="{7A2EFAA9-7AEA-40C9-DF1A-71E041E1398D}"/>
                </a:ext>
              </a:extLst>
            </p:cNvPr>
            <p:cNvSpPr/>
            <p:nvPr/>
          </p:nvSpPr>
          <p:spPr>
            <a:xfrm>
              <a:off x="5685101" y="1908558"/>
              <a:ext cx="1244506" cy="1221609"/>
            </a:xfrm>
            <a:prstGeom prst="ellipse">
              <a:avLst/>
            </a:prstGeom>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1100" dirty="0"/>
                <a:t>MITRE ATT&amp;CK</a:t>
              </a:r>
            </a:p>
          </p:txBody>
        </p:sp>
        <p:sp>
          <p:nvSpPr>
            <p:cNvPr id="8" name="Oval 7">
              <a:extLst>
                <a:ext uri="{FF2B5EF4-FFF2-40B4-BE49-F238E27FC236}">
                  <a16:creationId xmlns:a16="http://schemas.microsoft.com/office/drawing/2014/main" id="{505962EB-4B3A-A536-A8D1-F79EAB35C791}"/>
                </a:ext>
              </a:extLst>
            </p:cNvPr>
            <p:cNvSpPr/>
            <p:nvPr/>
          </p:nvSpPr>
          <p:spPr>
            <a:xfrm>
              <a:off x="4670337" y="3015358"/>
              <a:ext cx="1122777" cy="1072976"/>
            </a:xfrm>
            <a:prstGeom prst="ellipse">
              <a:avLst/>
            </a:prstGeom>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1100" dirty="0"/>
                <a:t>MITRE CAPEC</a:t>
              </a:r>
            </a:p>
          </p:txBody>
        </p:sp>
        <p:sp>
          <p:nvSpPr>
            <p:cNvPr id="9" name="Oval 8">
              <a:extLst>
                <a:ext uri="{FF2B5EF4-FFF2-40B4-BE49-F238E27FC236}">
                  <a16:creationId xmlns:a16="http://schemas.microsoft.com/office/drawing/2014/main" id="{8BF77826-E305-C177-8A77-80875196486B}"/>
                </a:ext>
              </a:extLst>
            </p:cNvPr>
            <p:cNvSpPr/>
            <p:nvPr/>
          </p:nvSpPr>
          <p:spPr>
            <a:xfrm>
              <a:off x="6670643" y="3380922"/>
              <a:ext cx="1122777" cy="1072977"/>
            </a:xfrm>
            <a:prstGeom prst="ellipse">
              <a:avLst/>
            </a:prstGeom>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1100" dirty="0"/>
                <a:t>MITRE CWE</a:t>
              </a:r>
            </a:p>
          </p:txBody>
        </p:sp>
        <p:sp>
          <p:nvSpPr>
            <p:cNvPr id="10" name="Oval 9">
              <a:extLst>
                <a:ext uri="{FF2B5EF4-FFF2-40B4-BE49-F238E27FC236}">
                  <a16:creationId xmlns:a16="http://schemas.microsoft.com/office/drawing/2014/main" id="{283C80D9-6EA8-2D4F-3D5D-BC546D4009E5}"/>
                </a:ext>
              </a:extLst>
            </p:cNvPr>
            <p:cNvSpPr/>
            <p:nvPr/>
          </p:nvSpPr>
          <p:spPr>
            <a:xfrm>
              <a:off x="5203222" y="4453900"/>
              <a:ext cx="1122777" cy="1072976"/>
            </a:xfrm>
            <a:prstGeom prst="ellipse">
              <a:avLst/>
            </a:prstGeom>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1100" dirty="0"/>
                <a:t>CISA CVE</a:t>
              </a:r>
            </a:p>
          </p:txBody>
        </p:sp>
        <p:cxnSp>
          <p:nvCxnSpPr>
            <p:cNvPr id="12" name="Connector: Curved 11">
              <a:extLst>
                <a:ext uri="{FF2B5EF4-FFF2-40B4-BE49-F238E27FC236}">
                  <a16:creationId xmlns:a16="http://schemas.microsoft.com/office/drawing/2014/main" id="{D138545D-8D08-7416-8196-36CCEA31068F}"/>
                </a:ext>
              </a:extLst>
            </p:cNvPr>
            <p:cNvCxnSpPr>
              <a:cxnSpLocks/>
              <a:stCxn id="3" idx="2"/>
              <a:endCxn id="8" idx="1"/>
            </p:cNvCxnSpPr>
            <p:nvPr/>
          </p:nvCxnSpPr>
          <p:spPr>
            <a:xfrm rot="10800000" flipV="1">
              <a:off x="4834766" y="2519362"/>
              <a:ext cx="850337" cy="653129"/>
            </a:xfrm>
            <a:prstGeom prst="curvedConnector2">
              <a:avLst/>
            </a:prstGeom>
            <a:ln w="28575">
              <a:solidFill>
                <a:schemeClr val="accent1">
                  <a:lumMod val="20000"/>
                  <a:lumOff val="8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3" name="Connector: Curved 22">
              <a:extLst>
                <a:ext uri="{FF2B5EF4-FFF2-40B4-BE49-F238E27FC236}">
                  <a16:creationId xmlns:a16="http://schemas.microsoft.com/office/drawing/2014/main" id="{4D12FD83-0E64-BF80-AF43-1ACE57CADF63}"/>
                </a:ext>
              </a:extLst>
            </p:cNvPr>
            <p:cNvCxnSpPr>
              <a:cxnSpLocks/>
              <a:stCxn id="8" idx="7"/>
              <a:endCxn id="9" idx="1"/>
            </p:cNvCxnSpPr>
            <p:nvPr/>
          </p:nvCxnSpPr>
          <p:spPr>
            <a:xfrm rot="16200000" flipH="1">
              <a:off x="6049096" y="2752083"/>
              <a:ext cx="365565" cy="1206383"/>
            </a:xfrm>
            <a:prstGeom prst="curvedConnector3">
              <a:avLst>
                <a:gd name="adj1" fmla="val 26696"/>
              </a:avLst>
            </a:prstGeom>
            <a:ln w="28575">
              <a:solidFill>
                <a:schemeClr val="accent1">
                  <a:lumMod val="20000"/>
                  <a:lumOff val="8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7" name="Connector: Curved 26">
              <a:extLst>
                <a:ext uri="{FF2B5EF4-FFF2-40B4-BE49-F238E27FC236}">
                  <a16:creationId xmlns:a16="http://schemas.microsoft.com/office/drawing/2014/main" id="{7F84F3C1-3C0E-6BCE-B74B-744EC850B889}"/>
                </a:ext>
              </a:extLst>
            </p:cNvPr>
            <p:cNvCxnSpPr>
              <a:cxnSpLocks/>
              <a:stCxn id="9" idx="2"/>
              <a:endCxn id="10" idx="0"/>
            </p:cNvCxnSpPr>
            <p:nvPr/>
          </p:nvCxnSpPr>
          <p:spPr>
            <a:xfrm rot="10800000" flipV="1">
              <a:off x="5764611" y="3917411"/>
              <a:ext cx="906032" cy="536488"/>
            </a:xfrm>
            <a:prstGeom prst="curvedConnector2">
              <a:avLst/>
            </a:prstGeom>
            <a:ln w="28575">
              <a:solidFill>
                <a:schemeClr val="accent1">
                  <a:lumMod val="20000"/>
                  <a:lumOff val="8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9" name="Oval 48">
              <a:extLst>
                <a:ext uri="{FF2B5EF4-FFF2-40B4-BE49-F238E27FC236}">
                  <a16:creationId xmlns:a16="http://schemas.microsoft.com/office/drawing/2014/main" id="{8A5088DF-0BB3-9A0A-1A84-2CDC70701DC9}"/>
                </a:ext>
              </a:extLst>
            </p:cNvPr>
            <p:cNvSpPr/>
            <p:nvPr/>
          </p:nvSpPr>
          <p:spPr>
            <a:xfrm>
              <a:off x="2857290" y="1532763"/>
              <a:ext cx="1244506" cy="1221609"/>
            </a:xfrm>
            <a:prstGeom prst="ellipse">
              <a:avLst/>
            </a:prstGeom>
            <a:solidFill>
              <a:schemeClr val="accent3">
                <a:lumMod val="7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1100" dirty="0"/>
                <a:t>MITRE D3FEND</a:t>
              </a:r>
            </a:p>
          </p:txBody>
        </p:sp>
        <p:sp>
          <p:nvSpPr>
            <p:cNvPr id="50" name="Oval 49">
              <a:extLst>
                <a:ext uri="{FF2B5EF4-FFF2-40B4-BE49-F238E27FC236}">
                  <a16:creationId xmlns:a16="http://schemas.microsoft.com/office/drawing/2014/main" id="{FF0163B8-CE0A-87CC-F9DE-92C1635906C7}"/>
                </a:ext>
              </a:extLst>
            </p:cNvPr>
            <p:cNvSpPr/>
            <p:nvPr/>
          </p:nvSpPr>
          <p:spPr>
            <a:xfrm>
              <a:off x="4440595" y="720321"/>
              <a:ext cx="1319990" cy="1221609"/>
            </a:xfrm>
            <a:prstGeom prst="ellipse">
              <a:avLst/>
            </a:prstGeom>
            <a:solidFill>
              <a:schemeClr val="accent3">
                <a:lumMod val="7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1100" dirty="0"/>
                <a:t>ATT&amp;CK Mitigations</a:t>
              </a:r>
            </a:p>
          </p:txBody>
        </p:sp>
        <p:cxnSp>
          <p:nvCxnSpPr>
            <p:cNvPr id="51" name="Connector: Curved 50">
              <a:extLst>
                <a:ext uri="{FF2B5EF4-FFF2-40B4-BE49-F238E27FC236}">
                  <a16:creationId xmlns:a16="http://schemas.microsoft.com/office/drawing/2014/main" id="{B1327C34-2C68-5FFD-C00F-008D86EF5626}"/>
                </a:ext>
              </a:extLst>
            </p:cNvPr>
            <p:cNvCxnSpPr>
              <a:cxnSpLocks/>
              <a:stCxn id="3" idx="0"/>
              <a:endCxn id="50" idx="6"/>
            </p:cNvCxnSpPr>
            <p:nvPr/>
          </p:nvCxnSpPr>
          <p:spPr>
            <a:xfrm rot="16200000" flipV="1">
              <a:off x="5745254" y="1346457"/>
              <a:ext cx="577432" cy="546769"/>
            </a:xfrm>
            <a:prstGeom prst="curvedConnector2">
              <a:avLst/>
            </a:prstGeom>
            <a:ln w="28575">
              <a:solidFill>
                <a:schemeClr val="accent1">
                  <a:lumMod val="20000"/>
                  <a:lumOff val="8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4" name="Connector: Curved 53">
              <a:extLst>
                <a:ext uri="{FF2B5EF4-FFF2-40B4-BE49-F238E27FC236}">
                  <a16:creationId xmlns:a16="http://schemas.microsoft.com/office/drawing/2014/main" id="{41CD653D-97A8-1199-0F52-59FAE56EF067}"/>
                </a:ext>
              </a:extLst>
            </p:cNvPr>
            <p:cNvCxnSpPr>
              <a:cxnSpLocks/>
              <a:stCxn id="50" idx="2"/>
              <a:endCxn id="49" idx="7"/>
            </p:cNvCxnSpPr>
            <p:nvPr/>
          </p:nvCxnSpPr>
          <p:spPr>
            <a:xfrm rot="10800000" flipV="1">
              <a:off x="3919543" y="1331125"/>
              <a:ext cx="521053" cy="380537"/>
            </a:xfrm>
            <a:prstGeom prst="curvedConnector2">
              <a:avLst/>
            </a:prstGeom>
            <a:ln w="28575">
              <a:solidFill>
                <a:schemeClr val="accent1">
                  <a:lumMod val="20000"/>
                  <a:lumOff val="8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7" name="Oval 56">
              <a:extLst>
                <a:ext uri="{FF2B5EF4-FFF2-40B4-BE49-F238E27FC236}">
                  <a16:creationId xmlns:a16="http://schemas.microsoft.com/office/drawing/2014/main" id="{8644082C-5B5D-7A18-55A3-2C2BA7EAF7DA}"/>
                </a:ext>
              </a:extLst>
            </p:cNvPr>
            <p:cNvSpPr/>
            <p:nvPr/>
          </p:nvSpPr>
          <p:spPr>
            <a:xfrm>
              <a:off x="2356766" y="4669317"/>
              <a:ext cx="1122777" cy="1072977"/>
            </a:xfrm>
            <a:prstGeom prst="ellipse">
              <a:avLst/>
            </a:prstGeom>
            <a:solidFill>
              <a:srgbClr val="FFC000"/>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1100" dirty="0"/>
                <a:t>EPSS</a:t>
              </a:r>
            </a:p>
          </p:txBody>
        </p:sp>
        <p:cxnSp>
          <p:nvCxnSpPr>
            <p:cNvPr id="58" name="Connector: Curved 57">
              <a:extLst>
                <a:ext uri="{FF2B5EF4-FFF2-40B4-BE49-F238E27FC236}">
                  <a16:creationId xmlns:a16="http://schemas.microsoft.com/office/drawing/2014/main" id="{6229AFDC-4B09-0A4D-11A2-92E5835A7B58}"/>
                </a:ext>
              </a:extLst>
            </p:cNvPr>
            <p:cNvCxnSpPr>
              <a:cxnSpLocks/>
              <a:stCxn id="10" idx="2"/>
              <a:endCxn id="57" idx="6"/>
            </p:cNvCxnSpPr>
            <p:nvPr/>
          </p:nvCxnSpPr>
          <p:spPr>
            <a:xfrm rot="10800000" flipV="1">
              <a:off x="3479542" y="4990387"/>
              <a:ext cx="1723680" cy="215418"/>
            </a:xfrm>
            <a:prstGeom prst="curvedConnector3">
              <a:avLst>
                <a:gd name="adj1" fmla="val 50000"/>
              </a:avLst>
            </a:prstGeom>
            <a:ln w="28575">
              <a:solidFill>
                <a:schemeClr val="accent1">
                  <a:lumMod val="20000"/>
                  <a:lumOff val="8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64" name="Oval 63">
              <a:extLst>
                <a:ext uri="{FF2B5EF4-FFF2-40B4-BE49-F238E27FC236}">
                  <a16:creationId xmlns:a16="http://schemas.microsoft.com/office/drawing/2014/main" id="{B5CC43F6-AD26-0AE0-BE12-A1CDC43E04EB}"/>
                </a:ext>
              </a:extLst>
            </p:cNvPr>
            <p:cNvSpPr/>
            <p:nvPr/>
          </p:nvSpPr>
          <p:spPr>
            <a:xfrm>
              <a:off x="7501350" y="549235"/>
              <a:ext cx="1158036" cy="1072977"/>
            </a:xfrm>
            <a:prstGeom prst="ellipse">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1100" dirty="0" err="1"/>
                <a:t>Wazuh</a:t>
              </a:r>
              <a:endParaRPr lang="en-CA" sz="1100" dirty="0"/>
            </a:p>
            <a:p>
              <a:pPr algn="ctr"/>
              <a:r>
                <a:rPr lang="en-CA" sz="1100" dirty="0"/>
                <a:t>Ruleset</a:t>
              </a:r>
            </a:p>
          </p:txBody>
        </p:sp>
        <p:sp>
          <p:nvSpPr>
            <p:cNvPr id="65" name="Oval 64">
              <a:extLst>
                <a:ext uri="{FF2B5EF4-FFF2-40B4-BE49-F238E27FC236}">
                  <a16:creationId xmlns:a16="http://schemas.microsoft.com/office/drawing/2014/main" id="{68009D88-2B75-B59D-2389-9DFDB6C9D09B}"/>
                </a:ext>
              </a:extLst>
            </p:cNvPr>
            <p:cNvSpPr/>
            <p:nvPr/>
          </p:nvSpPr>
          <p:spPr>
            <a:xfrm>
              <a:off x="8787029" y="2613331"/>
              <a:ext cx="1557480" cy="1535182"/>
            </a:xfrm>
            <a:prstGeom prst="ellipse">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1100" dirty="0"/>
                <a:t>Flashpoint</a:t>
              </a:r>
            </a:p>
          </p:txBody>
        </p:sp>
        <p:sp>
          <p:nvSpPr>
            <p:cNvPr id="66" name="Oval 65">
              <a:extLst>
                <a:ext uri="{FF2B5EF4-FFF2-40B4-BE49-F238E27FC236}">
                  <a16:creationId xmlns:a16="http://schemas.microsoft.com/office/drawing/2014/main" id="{89292AC9-C8C5-F31B-0EF4-A0C5717EB311}"/>
                </a:ext>
              </a:extLst>
            </p:cNvPr>
            <p:cNvSpPr/>
            <p:nvPr/>
          </p:nvSpPr>
          <p:spPr>
            <a:xfrm>
              <a:off x="8960217" y="1176524"/>
              <a:ext cx="1158975" cy="1154941"/>
            </a:xfrm>
            <a:prstGeom prst="ellipse">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1100" dirty="0"/>
                <a:t>ET</a:t>
              </a:r>
            </a:p>
            <a:p>
              <a:pPr algn="ctr"/>
              <a:r>
                <a:rPr lang="en-CA" sz="1100" dirty="0"/>
                <a:t>Ruleset</a:t>
              </a:r>
            </a:p>
          </p:txBody>
        </p:sp>
        <p:cxnSp>
          <p:nvCxnSpPr>
            <p:cNvPr id="67" name="Connector: Curved 66">
              <a:extLst>
                <a:ext uri="{FF2B5EF4-FFF2-40B4-BE49-F238E27FC236}">
                  <a16:creationId xmlns:a16="http://schemas.microsoft.com/office/drawing/2014/main" id="{1881B3C5-25D6-168C-560B-ED45A1431988}"/>
                </a:ext>
              </a:extLst>
            </p:cNvPr>
            <p:cNvCxnSpPr>
              <a:cxnSpLocks/>
              <a:stCxn id="64" idx="2"/>
              <a:endCxn id="3" idx="7"/>
            </p:cNvCxnSpPr>
            <p:nvPr/>
          </p:nvCxnSpPr>
          <p:spPr>
            <a:xfrm rot="10800000" flipV="1">
              <a:off x="6747355" y="1085724"/>
              <a:ext cx="753997" cy="1001734"/>
            </a:xfrm>
            <a:prstGeom prst="curvedConnector2">
              <a:avLst/>
            </a:prstGeom>
            <a:ln w="28575">
              <a:solidFill>
                <a:schemeClr val="accent1">
                  <a:lumMod val="20000"/>
                  <a:lumOff val="8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70" name="Connector: Curved 69">
              <a:extLst>
                <a:ext uri="{FF2B5EF4-FFF2-40B4-BE49-F238E27FC236}">
                  <a16:creationId xmlns:a16="http://schemas.microsoft.com/office/drawing/2014/main" id="{559E68BC-906A-299F-19D0-5B4E0B0D39AF}"/>
                </a:ext>
              </a:extLst>
            </p:cNvPr>
            <p:cNvCxnSpPr>
              <a:cxnSpLocks/>
              <a:stCxn id="66" idx="3"/>
              <a:endCxn id="3" idx="6"/>
            </p:cNvCxnSpPr>
            <p:nvPr/>
          </p:nvCxnSpPr>
          <p:spPr>
            <a:xfrm rot="5400000">
              <a:off x="7851259" y="1240677"/>
              <a:ext cx="357035" cy="2200337"/>
            </a:xfrm>
            <a:prstGeom prst="curvedConnector2">
              <a:avLst/>
            </a:prstGeom>
            <a:ln w="28575">
              <a:solidFill>
                <a:schemeClr val="accent1">
                  <a:lumMod val="20000"/>
                  <a:lumOff val="8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73" name="Connector: Curved 72">
              <a:extLst>
                <a:ext uri="{FF2B5EF4-FFF2-40B4-BE49-F238E27FC236}">
                  <a16:creationId xmlns:a16="http://schemas.microsoft.com/office/drawing/2014/main" id="{24166147-3E50-F306-EC74-47C18A7132EC}"/>
                </a:ext>
              </a:extLst>
            </p:cNvPr>
            <p:cNvCxnSpPr>
              <a:cxnSpLocks/>
              <a:stCxn id="65" idx="2"/>
              <a:endCxn id="3" idx="5"/>
            </p:cNvCxnSpPr>
            <p:nvPr/>
          </p:nvCxnSpPr>
          <p:spPr>
            <a:xfrm rot="10800000">
              <a:off x="6747354" y="2951266"/>
              <a:ext cx="2039676" cy="429656"/>
            </a:xfrm>
            <a:prstGeom prst="curvedConnector2">
              <a:avLst/>
            </a:prstGeom>
            <a:ln w="28575">
              <a:solidFill>
                <a:schemeClr val="accent1">
                  <a:lumMod val="20000"/>
                  <a:lumOff val="8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81" name="Straight Arrow Connector 80">
              <a:extLst>
                <a:ext uri="{FF2B5EF4-FFF2-40B4-BE49-F238E27FC236}">
                  <a16:creationId xmlns:a16="http://schemas.microsoft.com/office/drawing/2014/main" id="{8561B796-089B-3856-B06A-6272646753B0}"/>
                </a:ext>
              </a:extLst>
            </p:cNvPr>
            <p:cNvCxnSpPr>
              <a:cxnSpLocks/>
              <a:stCxn id="64" idx="7"/>
              <a:endCxn id="79" idx="1"/>
            </p:cNvCxnSpPr>
            <p:nvPr/>
          </p:nvCxnSpPr>
          <p:spPr>
            <a:xfrm flipV="1">
              <a:off x="8489796" y="699341"/>
              <a:ext cx="1910355" cy="7028"/>
            </a:xfrm>
            <a:prstGeom prst="straightConnector1">
              <a:avLst/>
            </a:prstGeom>
            <a:ln w="1905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82" name="Straight Arrow Connector 81">
              <a:extLst>
                <a:ext uri="{FF2B5EF4-FFF2-40B4-BE49-F238E27FC236}">
                  <a16:creationId xmlns:a16="http://schemas.microsoft.com/office/drawing/2014/main" id="{468D6CE4-5083-C400-082E-E564D1C044C4}"/>
                </a:ext>
              </a:extLst>
            </p:cNvPr>
            <p:cNvCxnSpPr>
              <a:cxnSpLocks/>
              <a:stCxn id="66" idx="7"/>
              <a:endCxn id="79" idx="1"/>
            </p:cNvCxnSpPr>
            <p:nvPr/>
          </p:nvCxnSpPr>
          <p:spPr>
            <a:xfrm flipV="1">
              <a:off x="9949464" y="699341"/>
              <a:ext cx="450687" cy="646320"/>
            </a:xfrm>
            <a:prstGeom prst="straightConnector1">
              <a:avLst/>
            </a:prstGeom>
            <a:ln w="1905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85" name="Straight Arrow Connector 84">
              <a:extLst>
                <a:ext uri="{FF2B5EF4-FFF2-40B4-BE49-F238E27FC236}">
                  <a16:creationId xmlns:a16="http://schemas.microsoft.com/office/drawing/2014/main" id="{39DC3501-83EC-7494-11ED-18A3BA6E2E7B}"/>
                </a:ext>
              </a:extLst>
            </p:cNvPr>
            <p:cNvCxnSpPr>
              <a:cxnSpLocks/>
              <a:stCxn id="65" idx="6"/>
              <a:endCxn id="79" idx="1"/>
            </p:cNvCxnSpPr>
            <p:nvPr/>
          </p:nvCxnSpPr>
          <p:spPr>
            <a:xfrm flipV="1">
              <a:off x="10344509" y="699341"/>
              <a:ext cx="55642" cy="2681581"/>
            </a:xfrm>
            <a:prstGeom prst="straightConnector1">
              <a:avLst/>
            </a:prstGeom>
            <a:ln w="1905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93" name="TextBox 92">
              <a:extLst>
                <a:ext uri="{FF2B5EF4-FFF2-40B4-BE49-F238E27FC236}">
                  <a16:creationId xmlns:a16="http://schemas.microsoft.com/office/drawing/2014/main" id="{68142A98-354F-F322-130B-E8DCD524F15A}"/>
                </a:ext>
              </a:extLst>
            </p:cNvPr>
            <p:cNvSpPr txBox="1"/>
            <p:nvPr/>
          </p:nvSpPr>
          <p:spPr>
            <a:xfrm>
              <a:off x="7014681" y="5511461"/>
              <a:ext cx="1772349" cy="584775"/>
            </a:xfrm>
            <a:prstGeom prst="rect">
              <a:avLst/>
            </a:prstGeom>
            <a:noFill/>
          </p:spPr>
          <p:txBody>
            <a:bodyPr wrap="square" rtlCol="0">
              <a:spAutoFit/>
            </a:bodyPr>
            <a:lstStyle/>
            <a:p>
              <a:r>
                <a:rPr lang="en-CA" sz="1600" dirty="0"/>
                <a:t>Vulnerability</a:t>
              </a:r>
            </a:p>
            <a:p>
              <a:r>
                <a:rPr lang="en-CA" sz="1600" dirty="0"/>
                <a:t>Intelligence</a:t>
              </a:r>
            </a:p>
          </p:txBody>
        </p:sp>
        <p:cxnSp>
          <p:nvCxnSpPr>
            <p:cNvPr id="94" name="Straight Arrow Connector 93">
              <a:extLst>
                <a:ext uri="{FF2B5EF4-FFF2-40B4-BE49-F238E27FC236}">
                  <a16:creationId xmlns:a16="http://schemas.microsoft.com/office/drawing/2014/main" id="{A432BD55-DBFB-4FB9-54E8-FCA610E281C5}"/>
                </a:ext>
              </a:extLst>
            </p:cNvPr>
            <p:cNvCxnSpPr>
              <a:cxnSpLocks/>
              <a:stCxn id="3" idx="4"/>
              <a:endCxn id="93" idx="1"/>
            </p:cNvCxnSpPr>
            <p:nvPr/>
          </p:nvCxnSpPr>
          <p:spPr>
            <a:xfrm>
              <a:off x="6307354" y="3130167"/>
              <a:ext cx="707327" cy="2673682"/>
            </a:xfrm>
            <a:prstGeom prst="straightConnector1">
              <a:avLst/>
            </a:prstGeom>
            <a:ln w="1905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97" name="Straight Arrow Connector 96">
              <a:extLst>
                <a:ext uri="{FF2B5EF4-FFF2-40B4-BE49-F238E27FC236}">
                  <a16:creationId xmlns:a16="http://schemas.microsoft.com/office/drawing/2014/main" id="{7A201A87-4F43-1E0A-8E89-1E80AE3D191E}"/>
                </a:ext>
              </a:extLst>
            </p:cNvPr>
            <p:cNvCxnSpPr>
              <a:cxnSpLocks/>
              <a:stCxn id="9" idx="4"/>
              <a:endCxn id="93" idx="1"/>
            </p:cNvCxnSpPr>
            <p:nvPr/>
          </p:nvCxnSpPr>
          <p:spPr>
            <a:xfrm flipH="1">
              <a:off x="7014681" y="4453899"/>
              <a:ext cx="217351" cy="1349950"/>
            </a:xfrm>
            <a:prstGeom prst="straightConnector1">
              <a:avLst/>
            </a:prstGeom>
            <a:ln w="1905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00" name="Straight Arrow Connector 99">
              <a:extLst>
                <a:ext uri="{FF2B5EF4-FFF2-40B4-BE49-F238E27FC236}">
                  <a16:creationId xmlns:a16="http://schemas.microsoft.com/office/drawing/2014/main" id="{127F8D6A-7DA4-32DD-2F99-72574196B586}"/>
                </a:ext>
              </a:extLst>
            </p:cNvPr>
            <p:cNvCxnSpPr>
              <a:cxnSpLocks/>
              <a:stCxn id="8" idx="6"/>
              <a:endCxn id="93" idx="1"/>
            </p:cNvCxnSpPr>
            <p:nvPr/>
          </p:nvCxnSpPr>
          <p:spPr>
            <a:xfrm>
              <a:off x="5793114" y="3551846"/>
              <a:ext cx="1221567" cy="2252003"/>
            </a:xfrm>
            <a:prstGeom prst="straightConnector1">
              <a:avLst/>
            </a:prstGeom>
            <a:ln w="1905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03" name="Straight Arrow Connector 102">
              <a:extLst>
                <a:ext uri="{FF2B5EF4-FFF2-40B4-BE49-F238E27FC236}">
                  <a16:creationId xmlns:a16="http://schemas.microsoft.com/office/drawing/2014/main" id="{9A030B58-EF7D-2C7D-148E-A8D98D8D17AD}"/>
                </a:ext>
              </a:extLst>
            </p:cNvPr>
            <p:cNvCxnSpPr>
              <a:cxnSpLocks/>
              <a:stCxn id="10" idx="6"/>
              <a:endCxn id="93" idx="1"/>
            </p:cNvCxnSpPr>
            <p:nvPr/>
          </p:nvCxnSpPr>
          <p:spPr>
            <a:xfrm>
              <a:off x="6325999" y="4990388"/>
              <a:ext cx="688682" cy="813461"/>
            </a:xfrm>
            <a:prstGeom prst="straightConnector1">
              <a:avLst/>
            </a:prstGeom>
            <a:ln w="1905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07" name="Oval 106">
              <a:extLst>
                <a:ext uri="{FF2B5EF4-FFF2-40B4-BE49-F238E27FC236}">
                  <a16:creationId xmlns:a16="http://schemas.microsoft.com/office/drawing/2014/main" id="{D670E2BF-A004-4F77-F61C-B2ECB4DB0EE9}"/>
                </a:ext>
              </a:extLst>
            </p:cNvPr>
            <p:cNvSpPr/>
            <p:nvPr/>
          </p:nvSpPr>
          <p:spPr>
            <a:xfrm>
              <a:off x="2506997" y="3410063"/>
              <a:ext cx="1122777" cy="1072977"/>
            </a:xfrm>
            <a:prstGeom prst="ellipse">
              <a:avLst/>
            </a:prstGeom>
            <a:solidFill>
              <a:srgbClr val="FFC000"/>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1100" dirty="0"/>
                <a:t>CISA KEV</a:t>
              </a:r>
            </a:p>
          </p:txBody>
        </p:sp>
        <p:sp>
          <p:nvSpPr>
            <p:cNvPr id="108" name="Oval 107">
              <a:extLst>
                <a:ext uri="{FF2B5EF4-FFF2-40B4-BE49-F238E27FC236}">
                  <a16:creationId xmlns:a16="http://schemas.microsoft.com/office/drawing/2014/main" id="{569D5D1D-A58D-A505-28FC-0FD4A779B57B}"/>
                </a:ext>
              </a:extLst>
            </p:cNvPr>
            <p:cNvSpPr/>
            <p:nvPr/>
          </p:nvSpPr>
          <p:spPr>
            <a:xfrm>
              <a:off x="3736106" y="5619472"/>
              <a:ext cx="1122777" cy="1072977"/>
            </a:xfrm>
            <a:prstGeom prst="ellipse">
              <a:avLst/>
            </a:prstGeom>
            <a:solidFill>
              <a:srgbClr val="FFC000"/>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1100" dirty="0"/>
                <a:t>CVSS</a:t>
              </a:r>
            </a:p>
          </p:txBody>
        </p:sp>
        <p:cxnSp>
          <p:nvCxnSpPr>
            <p:cNvPr id="117" name="Connector: Curved 116">
              <a:extLst>
                <a:ext uri="{FF2B5EF4-FFF2-40B4-BE49-F238E27FC236}">
                  <a16:creationId xmlns:a16="http://schemas.microsoft.com/office/drawing/2014/main" id="{8884CBDA-CA1C-106D-27BD-A3AB680A3F35}"/>
                </a:ext>
              </a:extLst>
            </p:cNvPr>
            <p:cNvCxnSpPr>
              <a:cxnSpLocks/>
              <a:stCxn id="10" idx="1"/>
              <a:endCxn id="107" idx="6"/>
            </p:cNvCxnSpPr>
            <p:nvPr/>
          </p:nvCxnSpPr>
          <p:spPr>
            <a:xfrm rot="16200000" flipV="1">
              <a:off x="4166473" y="3409856"/>
              <a:ext cx="664481" cy="1737875"/>
            </a:xfrm>
            <a:prstGeom prst="curvedConnector2">
              <a:avLst/>
            </a:prstGeom>
            <a:ln w="28575">
              <a:solidFill>
                <a:schemeClr val="accent1">
                  <a:lumMod val="20000"/>
                  <a:lumOff val="8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25" name="Connector: Curved 124">
              <a:extLst>
                <a:ext uri="{FF2B5EF4-FFF2-40B4-BE49-F238E27FC236}">
                  <a16:creationId xmlns:a16="http://schemas.microsoft.com/office/drawing/2014/main" id="{6E5B3766-6110-C6BF-BD6D-F87127A79612}"/>
                </a:ext>
              </a:extLst>
            </p:cNvPr>
            <p:cNvCxnSpPr>
              <a:cxnSpLocks/>
              <a:stCxn id="10" idx="4"/>
              <a:endCxn id="108" idx="6"/>
            </p:cNvCxnSpPr>
            <p:nvPr/>
          </p:nvCxnSpPr>
          <p:spPr>
            <a:xfrm rot="5400000">
              <a:off x="4997206" y="5388554"/>
              <a:ext cx="629085" cy="905729"/>
            </a:xfrm>
            <a:prstGeom prst="curvedConnector2">
              <a:avLst/>
            </a:prstGeom>
            <a:ln w="28575">
              <a:solidFill>
                <a:schemeClr val="accent1">
                  <a:lumMod val="20000"/>
                  <a:lumOff val="8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28" name="TextBox 127">
              <a:extLst>
                <a:ext uri="{FF2B5EF4-FFF2-40B4-BE49-F238E27FC236}">
                  <a16:creationId xmlns:a16="http://schemas.microsoft.com/office/drawing/2014/main" id="{2A63EAE2-B1E9-D830-28D7-EA7EDDCAE0C6}"/>
                </a:ext>
              </a:extLst>
            </p:cNvPr>
            <p:cNvSpPr txBox="1"/>
            <p:nvPr/>
          </p:nvSpPr>
          <p:spPr>
            <a:xfrm>
              <a:off x="217898" y="5458673"/>
              <a:ext cx="1649556" cy="584775"/>
            </a:xfrm>
            <a:prstGeom prst="rect">
              <a:avLst/>
            </a:prstGeom>
            <a:noFill/>
          </p:spPr>
          <p:txBody>
            <a:bodyPr wrap="square" rtlCol="0">
              <a:spAutoFit/>
            </a:bodyPr>
            <a:lstStyle/>
            <a:p>
              <a:r>
                <a:rPr lang="en-CA" sz="1600" dirty="0"/>
                <a:t>Severity</a:t>
              </a:r>
            </a:p>
            <a:p>
              <a:r>
                <a:rPr lang="en-CA" sz="1600" dirty="0"/>
                <a:t>Intelligence</a:t>
              </a:r>
            </a:p>
          </p:txBody>
        </p:sp>
        <p:cxnSp>
          <p:nvCxnSpPr>
            <p:cNvPr id="136" name="Straight Arrow Connector 135">
              <a:extLst>
                <a:ext uri="{FF2B5EF4-FFF2-40B4-BE49-F238E27FC236}">
                  <a16:creationId xmlns:a16="http://schemas.microsoft.com/office/drawing/2014/main" id="{A704FA06-A98F-DC99-F374-ABCB47F39668}"/>
                </a:ext>
              </a:extLst>
            </p:cNvPr>
            <p:cNvCxnSpPr>
              <a:cxnSpLocks/>
              <a:stCxn id="107" idx="2"/>
              <a:endCxn id="128" idx="3"/>
            </p:cNvCxnSpPr>
            <p:nvPr/>
          </p:nvCxnSpPr>
          <p:spPr>
            <a:xfrm flipH="1">
              <a:off x="1867454" y="3946552"/>
              <a:ext cx="639543" cy="1804509"/>
            </a:xfrm>
            <a:prstGeom prst="straightConnector1">
              <a:avLst/>
            </a:prstGeom>
            <a:ln w="1905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39" name="Straight Arrow Connector 138">
              <a:extLst>
                <a:ext uri="{FF2B5EF4-FFF2-40B4-BE49-F238E27FC236}">
                  <a16:creationId xmlns:a16="http://schemas.microsoft.com/office/drawing/2014/main" id="{157A981B-259A-E08A-46E0-E7526CE2D6B4}"/>
                </a:ext>
              </a:extLst>
            </p:cNvPr>
            <p:cNvCxnSpPr>
              <a:cxnSpLocks/>
              <a:stCxn id="57" idx="2"/>
              <a:endCxn id="128" idx="3"/>
            </p:cNvCxnSpPr>
            <p:nvPr/>
          </p:nvCxnSpPr>
          <p:spPr>
            <a:xfrm flipH="1">
              <a:off x="1867454" y="5205806"/>
              <a:ext cx="489312" cy="545255"/>
            </a:xfrm>
            <a:prstGeom prst="straightConnector1">
              <a:avLst/>
            </a:prstGeom>
            <a:ln w="1905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42" name="Straight Arrow Connector 141">
              <a:extLst>
                <a:ext uri="{FF2B5EF4-FFF2-40B4-BE49-F238E27FC236}">
                  <a16:creationId xmlns:a16="http://schemas.microsoft.com/office/drawing/2014/main" id="{5EE36473-D49C-3C7B-B046-6FDC8D6B34DF}"/>
                </a:ext>
              </a:extLst>
            </p:cNvPr>
            <p:cNvCxnSpPr>
              <a:cxnSpLocks/>
              <a:stCxn id="108" idx="2"/>
              <a:endCxn id="128" idx="3"/>
            </p:cNvCxnSpPr>
            <p:nvPr/>
          </p:nvCxnSpPr>
          <p:spPr>
            <a:xfrm flipH="1" flipV="1">
              <a:off x="1867454" y="5751061"/>
              <a:ext cx="1868652" cy="404900"/>
            </a:xfrm>
            <a:prstGeom prst="straightConnector1">
              <a:avLst/>
            </a:prstGeom>
            <a:ln w="1905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51" name="TextBox 150">
              <a:extLst>
                <a:ext uri="{FF2B5EF4-FFF2-40B4-BE49-F238E27FC236}">
                  <a16:creationId xmlns:a16="http://schemas.microsoft.com/office/drawing/2014/main" id="{532E3012-2056-2875-3928-65D6F7B53CFB}"/>
                </a:ext>
              </a:extLst>
            </p:cNvPr>
            <p:cNvSpPr txBox="1"/>
            <p:nvPr/>
          </p:nvSpPr>
          <p:spPr>
            <a:xfrm>
              <a:off x="317806" y="514663"/>
              <a:ext cx="1649556" cy="584775"/>
            </a:xfrm>
            <a:prstGeom prst="rect">
              <a:avLst/>
            </a:prstGeom>
            <a:noFill/>
          </p:spPr>
          <p:txBody>
            <a:bodyPr wrap="square" rtlCol="0">
              <a:spAutoFit/>
            </a:bodyPr>
            <a:lstStyle/>
            <a:p>
              <a:r>
                <a:rPr lang="en-CA" sz="1600" dirty="0"/>
                <a:t>Mitigation</a:t>
              </a:r>
            </a:p>
            <a:p>
              <a:r>
                <a:rPr lang="en-CA" sz="1600" dirty="0"/>
                <a:t>Intelligence</a:t>
              </a:r>
            </a:p>
          </p:txBody>
        </p:sp>
        <p:cxnSp>
          <p:nvCxnSpPr>
            <p:cNvPr id="152" name="Straight Arrow Connector 151">
              <a:extLst>
                <a:ext uri="{FF2B5EF4-FFF2-40B4-BE49-F238E27FC236}">
                  <a16:creationId xmlns:a16="http://schemas.microsoft.com/office/drawing/2014/main" id="{968A4DB0-22D0-5A86-9985-DA20323D7498}"/>
                </a:ext>
              </a:extLst>
            </p:cNvPr>
            <p:cNvCxnSpPr>
              <a:cxnSpLocks/>
              <a:stCxn id="50" idx="1"/>
              <a:endCxn id="151" idx="3"/>
            </p:cNvCxnSpPr>
            <p:nvPr/>
          </p:nvCxnSpPr>
          <p:spPr>
            <a:xfrm flipH="1" flipV="1">
              <a:off x="1967362" y="807051"/>
              <a:ext cx="2666541" cy="92170"/>
            </a:xfrm>
            <a:prstGeom prst="straightConnector1">
              <a:avLst/>
            </a:prstGeom>
            <a:ln w="1905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55" name="Straight Arrow Connector 154">
              <a:extLst>
                <a:ext uri="{FF2B5EF4-FFF2-40B4-BE49-F238E27FC236}">
                  <a16:creationId xmlns:a16="http://schemas.microsoft.com/office/drawing/2014/main" id="{C6F485C0-A458-0214-F1A7-B7B71E6DD1F0}"/>
                </a:ext>
              </a:extLst>
            </p:cNvPr>
            <p:cNvCxnSpPr>
              <a:cxnSpLocks/>
              <a:stCxn id="49" idx="2"/>
              <a:endCxn id="151" idx="3"/>
            </p:cNvCxnSpPr>
            <p:nvPr/>
          </p:nvCxnSpPr>
          <p:spPr>
            <a:xfrm flipH="1" flipV="1">
              <a:off x="1967362" y="807051"/>
              <a:ext cx="889928" cy="1336517"/>
            </a:xfrm>
            <a:prstGeom prst="straightConnector1">
              <a:avLst/>
            </a:prstGeom>
            <a:ln w="1905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60" name="Connector: Curved 159">
              <a:extLst>
                <a:ext uri="{FF2B5EF4-FFF2-40B4-BE49-F238E27FC236}">
                  <a16:creationId xmlns:a16="http://schemas.microsoft.com/office/drawing/2014/main" id="{29654923-C9DD-858D-4E86-860219AD45BB}"/>
                </a:ext>
              </a:extLst>
            </p:cNvPr>
            <p:cNvCxnSpPr>
              <a:cxnSpLocks/>
              <a:stCxn id="65" idx="3"/>
              <a:endCxn id="10" idx="6"/>
            </p:cNvCxnSpPr>
            <p:nvPr/>
          </p:nvCxnSpPr>
          <p:spPr>
            <a:xfrm rot="5400000">
              <a:off x="7137210" y="3112480"/>
              <a:ext cx="1066696" cy="2689118"/>
            </a:xfrm>
            <a:prstGeom prst="curvedConnector2">
              <a:avLst/>
            </a:prstGeom>
            <a:ln w="28575">
              <a:solidFill>
                <a:schemeClr val="accent1">
                  <a:lumMod val="20000"/>
                  <a:lumOff val="8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9748284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54EFF0-B03F-46A8-7929-39B2C4A250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5183DA-3E9B-707F-6879-42B85F7292E3}"/>
              </a:ext>
            </a:extLst>
          </p:cNvPr>
          <p:cNvSpPr>
            <a:spLocks noGrp="1"/>
          </p:cNvSpPr>
          <p:nvPr>
            <p:ph type="title"/>
          </p:nvPr>
        </p:nvSpPr>
        <p:spPr>
          <a:xfrm>
            <a:off x="552940" y="219218"/>
            <a:ext cx="6143423" cy="692211"/>
          </a:xfrm>
        </p:spPr>
        <p:txBody>
          <a:bodyPr>
            <a:normAutofit/>
          </a:bodyPr>
          <a:lstStyle/>
          <a:p>
            <a:r>
              <a:rPr lang="en-US" dirty="0"/>
              <a:t>Flashpoint Ignite Data</a:t>
            </a:r>
            <a:endParaRPr lang="ru-RU" dirty="0"/>
          </a:p>
        </p:txBody>
      </p:sp>
      <p:pic>
        <p:nvPicPr>
          <p:cNvPr id="7" name="Picture 6">
            <a:extLst>
              <a:ext uri="{FF2B5EF4-FFF2-40B4-BE49-F238E27FC236}">
                <a16:creationId xmlns:a16="http://schemas.microsoft.com/office/drawing/2014/main" id="{817DE122-91B8-8F4B-F39B-B5461872340F}"/>
              </a:ext>
            </a:extLst>
          </p:cNvPr>
          <p:cNvPicPr>
            <a:picLocks noChangeAspect="1"/>
          </p:cNvPicPr>
          <p:nvPr/>
        </p:nvPicPr>
        <p:blipFill>
          <a:blip r:embed="rId3"/>
          <a:stretch>
            <a:fillRect/>
          </a:stretch>
        </p:blipFill>
        <p:spPr>
          <a:xfrm>
            <a:off x="552940" y="1176457"/>
            <a:ext cx="11364790" cy="4876871"/>
          </a:xfrm>
          <a:prstGeom prst="rect">
            <a:avLst/>
          </a:prstGeom>
        </p:spPr>
      </p:pic>
    </p:spTree>
    <p:extLst>
      <p:ext uri="{BB962C8B-B14F-4D97-AF65-F5344CB8AC3E}">
        <p14:creationId xmlns:p14="http://schemas.microsoft.com/office/powerpoint/2010/main" val="3349310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78AADA-9BB5-F8A9-19A9-7815954120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F175F0-A054-94A7-AE5F-B0DA4D171BCB}"/>
              </a:ext>
            </a:extLst>
          </p:cNvPr>
          <p:cNvSpPr>
            <a:spLocks noGrp="1"/>
          </p:cNvSpPr>
          <p:nvPr>
            <p:ph type="title"/>
          </p:nvPr>
        </p:nvSpPr>
        <p:spPr/>
        <p:txBody>
          <a:bodyPr/>
          <a:lstStyle/>
          <a:p>
            <a:r>
              <a:rPr lang="en-US" dirty="0"/>
              <a:t>Athena-CTI-LLM IFT Design</a:t>
            </a:r>
          </a:p>
        </p:txBody>
      </p:sp>
      <p:sp>
        <p:nvSpPr>
          <p:cNvPr id="5" name="TextBox 4">
            <a:extLst>
              <a:ext uri="{FF2B5EF4-FFF2-40B4-BE49-F238E27FC236}">
                <a16:creationId xmlns:a16="http://schemas.microsoft.com/office/drawing/2014/main" id="{3E08992E-04BE-386F-56AE-86DC69988010}"/>
              </a:ext>
            </a:extLst>
          </p:cNvPr>
          <p:cNvSpPr txBox="1"/>
          <p:nvPr/>
        </p:nvSpPr>
        <p:spPr>
          <a:xfrm>
            <a:off x="5934202" y="-728382"/>
            <a:ext cx="8761413" cy="523220"/>
          </a:xfrm>
          <a:prstGeom prst="rect">
            <a:avLst/>
          </a:prstGeom>
          <a:noFill/>
        </p:spPr>
        <p:txBody>
          <a:bodyPr wrap="square">
            <a:spAutoFit/>
          </a:bodyPr>
          <a:lstStyle/>
          <a:p>
            <a:pPr algn="ctr"/>
            <a:r>
              <a:rPr lang="en-US" sz="1400" i="1"/>
              <a:t>Given </a:t>
            </a:r>
            <a:r>
              <a:rPr lang="en-US" sz="1400" i="1" err="1"/>
              <a:t>Ignite’s</a:t>
            </a:r>
            <a:r>
              <a:rPr lang="en-US" sz="1400" i="1"/>
              <a:t> data-rich and specialized threat-intel environment, the ideal fine-tuning approach is a Hybrid Fine-Tuning + Instruction Tuning strategy. </a:t>
            </a:r>
          </a:p>
        </p:txBody>
      </p:sp>
      <p:sp>
        <p:nvSpPr>
          <p:cNvPr id="7" name="Content Placeholder 2">
            <a:extLst>
              <a:ext uri="{FF2B5EF4-FFF2-40B4-BE49-F238E27FC236}">
                <a16:creationId xmlns:a16="http://schemas.microsoft.com/office/drawing/2014/main" id="{FDC87A80-184B-E60B-477E-AFFEBC591D34}"/>
              </a:ext>
            </a:extLst>
          </p:cNvPr>
          <p:cNvSpPr txBox="1">
            <a:spLocks/>
          </p:cNvSpPr>
          <p:nvPr/>
        </p:nvSpPr>
        <p:spPr>
          <a:xfrm>
            <a:off x="5570408" y="2215975"/>
            <a:ext cx="5195914" cy="4119943"/>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a:lstStyle>
          <a:p>
            <a:pPr marL="0" indent="0">
              <a:buNone/>
            </a:pPr>
            <a:endParaRPr lang="en-US" sz="1050">
              <a:solidFill>
                <a:schemeClr val="tx1"/>
              </a:solidFill>
            </a:endParaRPr>
          </a:p>
        </p:txBody>
      </p:sp>
      <p:pic>
        <p:nvPicPr>
          <p:cNvPr id="9" name="Picture 8">
            <a:extLst>
              <a:ext uri="{FF2B5EF4-FFF2-40B4-BE49-F238E27FC236}">
                <a16:creationId xmlns:a16="http://schemas.microsoft.com/office/drawing/2014/main" id="{B377E04A-53AF-750E-447A-6B0EB24395E6}"/>
              </a:ext>
            </a:extLst>
          </p:cNvPr>
          <p:cNvPicPr>
            <a:picLocks noChangeAspect="1"/>
          </p:cNvPicPr>
          <p:nvPr/>
        </p:nvPicPr>
        <p:blipFill>
          <a:blip r:embed="rId2"/>
          <a:stretch>
            <a:fillRect/>
          </a:stretch>
        </p:blipFill>
        <p:spPr>
          <a:xfrm>
            <a:off x="237365" y="1636824"/>
            <a:ext cx="7527624" cy="4552103"/>
          </a:xfrm>
          <a:prstGeom prst="rect">
            <a:avLst/>
          </a:prstGeom>
        </p:spPr>
      </p:pic>
      <p:pic>
        <p:nvPicPr>
          <p:cNvPr id="11" name="Picture 10">
            <a:extLst>
              <a:ext uri="{FF2B5EF4-FFF2-40B4-BE49-F238E27FC236}">
                <a16:creationId xmlns:a16="http://schemas.microsoft.com/office/drawing/2014/main" id="{E396DD47-01C2-119B-280B-4EC2160D87C4}"/>
              </a:ext>
            </a:extLst>
          </p:cNvPr>
          <p:cNvPicPr>
            <a:picLocks noChangeAspect="1"/>
          </p:cNvPicPr>
          <p:nvPr/>
        </p:nvPicPr>
        <p:blipFill>
          <a:blip r:embed="rId3"/>
          <a:stretch>
            <a:fillRect/>
          </a:stretch>
        </p:blipFill>
        <p:spPr>
          <a:xfrm>
            <a:off x="7581350" y="1416359"/>
            <a:ext cx="3883223" cy="4552103"/>
          </a:xfrm>
          <a:prstGeom prst="rect">
            <a:avLst/>
          </a:prstGeom>
        </p:spPr>
      </p:pic>
      <p:sp>
        <p:nvSpPr>
          <p:cNvPr id="12" name="TextBox 11">
            <a:extLst>
              <a:ext uri="{FF2B5EF4-FFF2-40B4-BE49-F238E27FC236}">
                <a16:creationId xmlns:a16="http://schemas.microsoft.com/office/drawing/2014/main" id="{659FA77C-6FBD-C151-BDAF-880F46A70964}"/>
              </a:ext>
            </a:extLst>
          </p:cNvPr>
          <p:cNvSpPr txBox="1"/>
          <p:nvPr/>
        </p:nvSpPr>
        <p:spPr>
          <a:xfrm>
            <a:off x="5422204" y="6495651"/>
            <a:ext cx="6571030" cy="400110"/>
          </a:xfrm>
          <a:prstGeom prst="rect">
            <a:avLst/>
          </a:prstGeom>
          <a:noFill/>
        </p:spPr>
        <p:txBody>
          <a:bodyPr wrap="none" rtlCol="0">
            <a:spAutoFit/>
          </a:bodyPr>
          <a:lstStyle/>
          <a:p>
            <a:r>
              <a:rPr lang="en-US" sz="1000" i="1" dirty="0"/>
              <a:t>source: </a:t>
            </a:r>
            <a:r>
              <a:rPr lang="en-US" sz="1000" i="1" dirty="0" err="1"/>
              <a:t>CyberPal.AI</a:t>
            </a:r>
            <a:r>
              <a:rPr lang="en-US" sz="1000" i="1" dirty="0"/>
              <a:t>: Empowering LLMs with Expert-Driven </a:t>
            </a:r>
            <a:r>
              <a:rPr lang="en-US" sz="1000" i="1" dirty="0" err="1"/>
              <a:t>CyberSecurity</a:t>
            </a:r>
            <a:r>
              <a:rPr lang="en-US" sz="1000" i="1" dirty="0"/>
              <a:t> Instructions; Levi et al Aug 2024</a:t>
            </a:r>
          </a:p>
          <a:p>
            <a:r>
              <a:rPr lang="en-US" sz="1000" i="1" dirty="0"/>
              <a:t> </a:t>
            </a:r>
          </a:p>
        </p:txBody>
      </p:sp>
    </p:spTree>
    <p:extLst>
      <p:ext uri="{BB962C8B-B14F-4D97-AF65-F5344CB8AC3E}">
        <p14:creationId xmlns:p14="http://schemas.microsoft.com/office/powerpoint/2010/main" val="123838120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2FCDFB-5DE6-5A26-CC6C-D0C03D04FB8C}"/>
              </a:ext>
            </a:extLst>
          </p:cNvPr>
          <p:cNvSpPr>
            <a:spLocks noGrp="1"/>
          </p:cNvSpPr>
          <p:nvPr>
            <p:ph type="title"/>
          </p:nvPr>
        </p:nvSpPr>
        <p:spPr/>
        <p:txBody>
          <a:bodyPr vert="horz" lIns="91440" tIns="45720" rIns="91440" bIns="45720" rtlCol="0" anchor="b">
            <a:normAutofit/>
          </a:bodyPr>
          <a:lstStyle/>
          <a:p>
            <a:pPr>
              <a:lnSpc>
                <a:spcPct val="90000"/>
              </a:lnSpc>
            </a:pPr>
            <a:r>
              <a:rPr lang="en-US" dirty="0"/>
              <a:t>Athena-CTI-LLM Product Lifecycle</a:t>
            </a:r>
            <a:endParaRPr lang="en-US" b="0" i="0" kern="1200" dirty="0">
              <a:latin typeface="+mj-lt"/>
              <a:ea typeface="+mj-ea"/>
              <a:cs typeface="+mj-cs"/>
            </a:endParaRPr>
          </a:p>
        </p:txBody>
      </p:sp>
      <p:pic>
        <p:nvPicPr>
          <p:cNvPr id="3" name="Picture 2">
            <a:extLst>
              <a:ext uri="{FF2B5EF4-FFF2-40B4-BE49-F238E27FC236}">
                <a16:creationId xmlns:a16="http://schemas.microsoft.com/office/drawing/2014/main" id="{F11FA000-A52A-2112-F88F-7E4340D03308}"/>
              </a:ext>
            </a:extLst>
          </p:cNvPr>
          <p:cNvPicPr>
            <a:picLocks noChangeAspect="1"/>
          </p:cNvPicPr>
          <p:nvPr/>
        </p:nvPicPr>
        <p:blipFill>
          <a:blip r:embed="rId2"/>
          <a:stretch>
            <a:fillRect/>
          </a:stretch>
        </p:blipFill>
        <p:spPr>
          <a:xfrm>
            <a:off x="107354" y="1377390"/>
            <a:ext cx="11486766" cy="4537274"/>
          </a:xfrm>
          <a:prstGeom prst="rect">
            <a:avLst/>
          </a:prstGeom>
          <a:effectLst>
            <a:outerShdw blurRad="50800" dist="50800" dir="5400000" algn="tl" rotWithShape="0">
              <a:srgbClr val="000000">
                <a:alpha val="43000"/>
              </a:srgbClr>
            </a:outerShdw>
          </a:effectLst>
        </p:spPr>
      </p:pic>
    </p:spTree>
    <p:extLst>
      <p:ext uri="{BB962C8B-B14F-4D97-AF65-F5344CB8AC3E}">
        <p14:creationId xmlns:p14="http://schemas.microsoft.com/office/powerpoint/2010/main" val="261549928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1492" y="692051"/>
            <a:ext cx="8559899" cy="590649"/>
          </a:xfrm>
          <a:prstGeom prst="rect">
            <a:avLst/>
          </a:prstGeom>
          <a:noFill/>
          <a:ln/>
        </p:spPr>
        <p:txBody>
          <a:bodyPr wrap="none" lIns="0" tIns="0" rIns="0" bIns="0" rtlCol="0" anchor="t"/>
          <a:lstStyle/>
          <a:p>
            <a:pPr>
              <a:lnSpc>
                <a:spcPts val="4625"/>
              </a:lnSpc>
            </a:pPr>
            <a:r>
              <a:rPr lang="en-US" sz="3708" b="1">
                <a:solidFill>
                  <a:srgbClr val="231971"/>
                </a:solidFill>
                <a:latin typeface="Outfit Extra Bold" pitchFamily="34" charset="0"/>
                <a:ea typeface="Outfit Extra Bold" pitchFamily="34" charset="-122"/>
                <a:cs typeface="Outfit Extra Bold" pitchFamily="34" charset="-120"/>
              </a:rPr>
              <a:t>Mapping CTI-Bench Tasks to Use Cases</a:t>
            </a:r>
            <a:endParaRPr lang="en-US" sz="3708"/>
          </a:p>
        </p:txBody>
      </p:sp>
      <p:sp>
        <p:nvSpPr>
          <p:cNvPr id="3" name="Text 1"/>
          <p:cNvSpPr/>
          <p:nvPr/>
        </p:nvSpPr>
        <p:spPr>
          <a:xfrm>
            <a:off x="661492" y="1755180"/>
            <a:ext cx="2362696" cy="295275"/>
          </a:xfrm>
          <a:prstGeom prst="rect">
            <a:avLst/>
          </a:prstGeom>
          <a:noFill/>
          <a:ln/>
        </p:spPr>
        <p:txBody>
          <a:bodyPr wrap="none" lIns="0" tIns="0" rIns="0" bIns="0" rtlCol="0" anchor="t"/>
          <a:lstStyle/>
          <a:p>
            <a:pPr>
              <a:lnSpc>
                <a:spcPts val="2292"/>
              </a:lnSpc>
            </a:pPr>
            <a:r>
              <a:rPr lang="en-US" sz="1833" b="1">
                <a:solidFill>
                  <a:srgbClr val="231971"/>
                </a:solidFill>
                <a:latin typeface="Outfit Extra Bold" pitchFamily="34" charset="0"/>
                <a:ea typeface="Outfit Extra Bold" pitchFamily="34" charset="-122"/>
                <a:cs typeface="Outfit Extra Bold" pitchFamily="34" charset="-120"/>
              </a:rPr>
              <a:t>Use Cases</a:t>
            </a:r>
            <a:endParaRPr lang="en-US" sz="1833"/>
          </a:p>
        </p:txBody>
      </p:sp>
      <p:sp>
        <p:nvSpPr>
          <p:cNvPr id="4" name="Text 2"/>
          <p:cNvSpPr/>
          <p:nvPr/>
        </p:nvSpPr>
        <p:spPr>
          <a:xfrm>
            <a:off x="661492" y="2239467"/>
            <a:ext cx="5203924" cy="302419"/>
          </a:xfrm>
          <a:prstGeom prst="rect">
            <a:avLst/>
          </a:prstGeom>
          <a:noFill/>
          <a:ln/>
        </p:spPr>
        <p:txBody>
          <a:bodyPr wrap="none" lIns="0" tIns="0" rIns="0" bIns="0" rtlCol="0" anchor="t"/>
          <a:lstStyle/>
          <a:p>
            <a:pPr marL="285739" indent="-285739">
              <a:lnSpc>
                <a:spcPts val="2375"/>
              </a:lnSpc>
              <a:buSzPct val="100000"/>
              <a:buChar char="•"/>
            </a:pPr>
            <a:r>
              <a:rPr lang="en-US" sz="1458">
                <a:solidFill>
                  <a:srgbClr val="2A2742"/>
                </a:solidFill>
                <a:latin typeface="Arimo" pitchFamily="34" charset="0"/>
                <a:ea typeface="Arimo" pitchFamily="34" charset="-122"/>
                <a:cs typeface="Arimo" pitchFamily="34" charset="-120"/>
              </a:rPr>
              <a:t>Summarize incoming threat reports</a:t>
            </a:r>
            <a:endParaRPr lang="en-US" sz="1458"/>
          </a:p>
        </p:txBody>
      </p:sp>
      <p:sp>
        <p:nvSpPr>
          <p:cNvPr id="5" name="Text 3"/>
          <p:cNvSpPr/>
          <p:nvPr/>
        </p:nvSpPr>
        <p:spPr>
          <a:xfrm>
            <a:off x="661492" y="2607966"/>
            <a:ext cx="5203924" cy="302419"/>
          </a:xfrm>
          <a:prstGeom prst="rect">
            <a:avLst/>
          </a:prstGeom>
          <a:noFill/>
          <a:ln/>
        </p:spPr>
        <p:txBody>
          <a:bodyPr wrap="none" lIns="0" tIns="0" rIns="0" bIns="0" rtlCol="0" anchor="t"/>
          <a:lstStyle/>
          <a:p>
            <a:pPr marL="285739" indent="-285739">
              <a:lnSpc>
                <a:spcPts val="2375"/>
              </a:lnSpc>
              <a:buSzPct val="100000"/>
              <a:buChar char="•"/>
            </a:pPr>
            <a:r>
              <a:rPr lang="en-US" sz="1458">
                <a:solidFill>
                  <a:srgbClr val="2A2742"/>
                </a:solidFill>
                <a:latin typeface="Arimo" pitchFamily="34" charset="0"/>
                <a:ea typeface="Arimo" pitchFamily="34" charset="-122"/>
                <a:cs typeface="Arimo" pitchFamily="34" charset="-120"/>
              </a:rPr>
              <a:t>Extract IOCs from alerts/reports</a:t>
            </a:r>
            <a:endParaRPr lang="en-US" sz="1458"/>
          </a:p>
        </p:txBody>
      </p:sp>
      <p:sp>
        <p:nvSpPr>
          <p:cNvPr id="6" name="Text 4"/>
          <p:cNvSpPr/>
          <p:nvPr/>
        </p:nvSpPr>
        <p:spPr>
          <a:xfrm>
            <a:off x="661492" y="2976464"/>
            <a:ext cx="5203924" cy="302419"/>
          </a:xfrm>
          <a:prstGeom prst="rect">
            <a:avLst/>
          </a:prstGeom>
          <a:noFill/>
          <a:ln/>
        </p:spPr>
        <p:txBody>
          <a:bodyPr wrap="none" lIns="0" tIns="0" rIns="0" bIns="0" rtlCol="0" anchor="t"/>
          <a:lstStyle/>
          <a:p>
            <a:pPr marL="285739" indent="-285739">
              <a:lnSpc>
                <a:spcPts val="2375"/>
              </a:lnSpc>
              <a:buSzPct val="100000"/>
              <a:buChar char="•"/>
            </a:pPr>
            <a:r>
              <a:rPr lang="en-US" sz="1458">
                <a:solidFill>
                  <a:srgbClr val="2A2742"/>
                </a:solidFill>
                <a:latin typeface="Arimo" pitchFamily="34" charset="0"/>
                <a:ea typeface="Arimo" pitchFamily="34" charset="-122"/>
                <a:cs typeface="Arimo" pitchFamily="34" charset="-120"/>
              </a:rPr>
              <a:t>Identify ATT&amp;CK techniques used</a:t>
            </a:r>
            <a:endParaRPr lang="en-US" sz="1458"/>
          </a:p>
        </p:txBody>
      </p:sp>
      <p:sp>
        <p:nvSpPr>
          <p:cNvPr id="7" name="Text 5"/>
          <p:cNvSpPr/>
          <p:nvPr/>
        </p:nvSpPr>
        <p:spPr>
          <a:xfrm>
            <a:off x="661492" y="3344962"/>
            <a:ext cx="5203924" cy="302419"/>
          </a:xfrm>
          <a:prstGeom prst="rect">
            <a:avLst/>
          </a:prstGeom>
          <a:noFill/>
          <a:ln/>
        </p:spPr>
        <p:txBody>
          <a:bodyPr wrap="none" lIns="0" tIns="0" rIns="0" bIns="0" rtlCol="0" anchor="t"/>
          <a:lstStyle/>
          <a:p>
            <a:pPr marL="285739" indent="-285739">
              <a:lnSpc>
                <a:spcPts val="2375"/>
              </a:lnSpc>
              <a:buSzPct val="100000"/>
              <a:buChar char="•"/>
            </a:pPr>
            <a:r>
              <a:rPr lang="en-US" sz="1458">
                <a:solidFill>
                  <a:srgbClr val="2A2742"/>
                </a:solidFill>
                <a:latin typeface="Arimo" pitchFamily="34" charset="0"/>
                <a:ea typeface="Arimo" pitchFamily="34" charset="-122"/>
                <a:cs typeface="Arimo" pitchFamily="34" charset="-120"/>
              </a:rPr>
              <a:t>Answer analyst questions about threats</a:t>
            </a:r>
            <a:endParaRPr lang="en-US" sz="1458"/>
          </a:p>
        </p:txBody>
      </p:sp>
      <p:sp>
        <p:nvSpPr>
          <p:cNvPr id="8" name="Text 6"/>
          <p:cNvSpPr/>
          <p:nvPr/>
        </p:nvSpPr>
        <p:spPr>
          <a:xfrm>
            <a:off x="6332935" y="1755180"/>
            <a:ext cx="2362696" cy="295275"/>
          </a:xfrm>
          <a:prstGeom prst="rect">
            <a:avLst/>
          </a:prstGeom>
          <a:noFill/>
          <a:ln/>
        </p:spPr>
        <p:txBody>
          <a:bodyPr wrap="none" lIns="0" tIns="0" rIns="0" bIns="0" rtlCol="0" anchor="t"/>
          <a:lstStyle/>
          <a:p>
            <a:pPr>
              <a:lnSpc>
                <a:spcPts val="2292"/>
              </a:lnSpc>
            </a:pPr>
            <a:r>
              <a:rPr lang="en-US" sz="1833" b="1">
                <a:solidFill>
                  <a:srgbClr val="231971"/>
                </a:solidFill>
                <a:latin typeface="Outfit Extra Bold" pitchFamily="34" charset="0"/>
                <a:ea typeface="Outfit Extra Bold" pitchFamily="34" charset="-122"/>
                <a:cs typeface="Outfit Extra Bold" pitchFamily="34" charset="-120"/>
              </a:rPr>
              <a:t>CTI-Bench Tasks</a:t>
            </a:r>
            <a:endParaRPr lang="en-US" sz="1833"/>
          </a:p>
        </p:txBody>
      </p:sp>
      <p:sp>
        <p:nvSpPr>
          <p:cNvPr id="9" name="Text 7"/>
          <p:cNvSpPr/>
          <p:nvPr/>
        </p:nvSpPr>
        <p:spPr>
          <a:xfrm>
            <a:off x="6332935" y="2239467"/>
            <a:ext cx="5203924" cy="302419"/>
          </a:xfrm>
          <a:prstGeom prst="rect">
            <a:avLst/>
          </a:prstGeom>
          <a:noFill/>
          <a:ln/>
        </p:spPr>
        <p:txBody>
          <a:bodyPr wrap="none" lIns="0" tIns="0" rIns="0" bIns="0" rtlCol="0" anchor="t"/>
          <a:lstStyle/>
          <a:p>
            <a:pPr marL="285739" indent="-285739">
              <a:lnSpc>
                <a:spcPts val="2375"/>
              </a:lnSpc>
              <a:buSzPct val="100000"/>
              <a:buChar char="•"/>
            </a:pPr>
            <a:r>
              <a:rPr lang="en-US" sz="1458">
                <a:solidFill>
                  <a:srgbClr val="2A2742"/>
                </a:solidFill>
                <a:latin typeface="Arimo" pitchFamily="34" charset="0"/>
                <a:ea typeface="Arimo" pitchFamily="34" charset="-122"/>
                <a:cs typeface="Arimo" pitchFamily="34" charset="-120"/>
              </a:rPr>
              <a:t>Report Summarization (ROUGE score)</a:t>
            </a:r>
            <a:endParaRPr lang="en-US" sz="1458"/>
          </a:p>
        </p:txBody>
      </p:sp>
      <p:sp>
        <p:nvSpPr>
          <p:cNvPr id="10" name="Text 8"/>
          <p:cNvSpPr/>
          <p:nvPr/>
        </p:nvSpPr>
        <p:spPr>
          <a:xfrm>
            <a:off x="6332935" y="2607966"/>
            <a:ext cx="5203924" cy="302419"/>
          </a:xfrm>
          <a:prstGeom prst="rect">
            <a:avLst/>
          </a:prstGeom>
          <a:noFill/>
          <a:ln/>
        </p:spPr>
        <p:txBody>
          <a:bodyPr wrap="none" lIns="0" tIns="0" rIns="0" bIns="0" rtlCol="0" anchor="t"/>
          <a:lstStyle/>
          <a:p>
            <a:pPr marL="285739" indent="-285739">
              <a:lnSpc>
                <a:spcPts val="2375"/>
              </a:lnSpc>
              <a:buSzPct val="100000"/>
              <a:buChar char="•"/>
            </a:pPr>
            <a:r>
              <a:rPr lang="en-US" sz="1458">
                <a:solidFill>
                  <a:srgbClr val="2A2742"/>
                </a:solidFill>
                <a:latin typeface="Arimo" pitchFamily="34" charset="0"/>
                <a:ea typeface="Arimo" pitchFamily="34" charset="-122"/>
                <a:cs typeface="Arimo" pitchFamily="34" charset="-120"/>
              </a:rPr>
              <a:t>IOC Extraction (F1 score)</a:t>
            </a:r>
            <a:endParaRPr lang="en-US" sz="1458"/>
          </a:p>
        </p:txBody>
      </p:sp>
      <p:sp>
        <p:nvSpPr>
          <p:cNvPr id="11" name="Text 9"/>
          <p:cNvSpPr/>
          <p:nvPr/>
        </p:nvSpPr>
        <p:spPr>
          <a:xfrm>
            <a:off x="6332935" y="2976464"/>
            <a:ext cx="5203924" cy="302419"/>
          </a:xfrm>
          <a:prstGeom prst="rect">
            <a:avLst/>
          </a:prstGeom>
          <a:noFill/>
          <a:ln/>
        </p:spPr>
        <p:txBody>
          <a:bodyPr wrap="none" lIns="0" tIns="0" rIns="0" bIns="0" rtlCol="0" anchor="t"/>
          <a:lstStyle/>
          <a:p>
            <a:pPr marL="285739" indent="-285739">
              <a:lnSpc>
                <a:spcPts val="2375"/>
              </a:lnSpc>
              <a:buSzPct val="100000"/>
              <a:buChar char="•"/>
            </a:pPr>
            <a:r>
              <a:rPr lang="en-US" sz="1458">
                <a:solidFill>
                  <a:srgbClr val="2A2742"/>
                </a:solidFill>
                <a:latin typeface="Arimo" pitchFamily="34" charset="0"/>
                <a:ea typeface="Arimo" pitchFamily="34" charset="-122"/>
                <a:cs typeface="Arimo" pitchFamily="34" charset="-120"/>
              </a:rPr>
              <a:t>TTP Identification (F1/Accuracy)</a:t>
            </a:r>
            <a:endParaRPr lang="en-US" sz="1458"/>
          </a:p>
        </p:txBody>
      </p:sp>
      <p:sp>
        <p:nvSpPr>
          <p:cNvPr id="12" name="Text 10"/>
          <p:cNvSpPr/>
          <p:nvPr/>
        </p:nvSpPr>
        <p:spPr>
          <a:xfrm>
            <a:off x="6332935" y="3344962"/>
            <a:ext cx="5203924" cy="302419"/>
          </a:xfrm>
          <a:prstGeom prst="rect">
            <a:avLst/>
          </a:prstGeom>
          <a:noFill/>
          <a:ln/>
        </p:spPr>
        <p:txBody>
          <a:bodyPr wrap="none" lIns="0" tIns="0" rIns="0" bIns="0" rtlCol="0" anchor="t"/>
          <a:lstStyle/>
          <a:p>
            <a:pPr marL="285739" indent="-285739">
              <a:lnSpc>
                <a:spcPts val="2375"/>
              </a:lnSpc>
              <a:buSzPct val="100000"/>
              <a:buChar char="•"/>
            </a:pPr>
            <a:r>
              <a:rPr lang="en-US" sz="1458">
                <a:solidFill>
                  <a:srgbClr val="2A2742"/>
                </a:solidFill>
                <a:latin typeface="Arimo" pitchFamily="34" charset="0"/>
                <a:ea typeface="Arimo" pitchFamily="34" charset="-122"/>
                <a:cs typeface="Arimo" pitchFamily="34" charset="-120"/>
              </a:rPr>
              <a:t>Question Answering (Accuracy/F1)</a:t>
            </a:r>
            <a:endParaRPr lang="en-US" sz="1458"/>
          </a:p>
        </p:txBody>
      </p:sp>
      <p:sp>
        <p:nvSpPr>
          <p:cNvPr id="13" name="Text 11"/>
          <p:cNvSpPr/>
          <p:nvPr/>
        </p:nvSpPr>
        <p:spPr>
          <a:xfrm>
            <a:off x="661492" y="3926086"/>
            <a:ext cx="10869018" cy="604838"/>
          </a:xfrm>
          <a:prstGeom prst="rect">
            <a:avLst/>
          </a:prstGeom>
          <a:noFill/>
          <a:ln/>
        </p:spPr>
        <p:txBody>
          <a:bodyPr wrap="square" lIns="0" tIns="0" rIns="0" bIns="0" rtlCol="0" anchor="t"/>
          <a:lstStyle/>
          <a:p>
            <a:pPr>
              <a:lnSpc>
                <a:spcPts val="2375"/>
              </a:lnSpc>
            </a:pPr>
            <a:r>
              <a:rPr lang="en-US" sz="1458">
                <a:solidFill>
                  <a:srgbClr val="2A2742"/>
                </a:solidFill>
                <a:latin typeface="Arimo" pitchFamily="34" charset="0"/>
                <a:ea typeface="Arimo" pitchFamily="34" charset="-122"/>
                <a:cs typeface="Arimo" pitchFamily="34" charset="-120"/>
              </a:rPr>
              <a:t>The chosen benchmark suite (e.g., CTI-Bench) should contain tasks that directly map to the intended use cases of the LLM within the platform.</a:t>
            </a:r>
            <a:endParaRPr lang="en-US" sz="1458"/>
          </a:p>
        </p:txBody>
      </p:sp>
      <p:sp>
        <p:nvSpPr>
          <p:cNvPr id="14" name="Text 12"/>
          <p:cNvSpPr/>
          <p:nvPr/>
        </p:nvSpPr>
        <p:spPr>
          <a:xfrm>
            <a:off x="661492" y="4743549"/>
            <a:ext cx="10869018" cy="604838"/>
          </a:xfrm>
          <a:prstGeom prst="rect">
            <a:avLst/>
          </a:prstGeom>
          <a:noFill/>
          <a:ln/>
        </p:spPr>
        <p:txBody>
          <a:bodyPr wrap="square" lIns="0" tIns="0" rIns="0" bIns="0" rtlCol="0" anchor="t"/>
          <a:lstStyle/>
          <a:p>
            <a:pPr>
              <a:lnSpc>
                <a:spcPts val="2375"/>
              </a:lnSpc>
            </a:pPr>
            <a:r>
              <a:rPr lang="en-US" sz="1458">
                <a:solidFill>
                  <a:srgbClr val="2A2742"/>
                </a:solidFill>
                <a:latin typeface="Arimo" pitchFamily="34" charset="0"/>
                <a:ea typeface="Arimo" pitchFamily="34" charset="-122"/>
                <a:cs typeface="Arimo" pitchFamily="34" charset="-120"/>
              </a:rPr>
              <a:t>Define "good enough" performance thresholds (e.g., F1 &gt; 0.80 for IOC Extraction, Accuracy &gt; 0.75 for TTP Identification) based on operational requirements and baseline performance. These thresholds determine if a model version is suitable for deployment.</a:t>
            </a:r>
            <a:endParaRPr lang="en-US" sz="1458"/>
          </a:p>
        </p:txBody>
      </p:sp>
      <p:sp>
        <p:nvSpPr>
          <p:cNvPr id="15" name="Text 13"/>
          <p:cNvSpPr/>
          <p:nvPr/>
        </p:nvSpPr>
        <p:spPr>
          <a:xfrm>
            <a:off x="661492" y="5561013"/>
            <a:ext cx="10869018" cy="604838"/>
          </a:xfrm>
          <a:prstGeom prst="rect">
            <a:avLst/>
          </a:prstGeom>
          <a:noFill/>
          <a:ln/>
        </p:spPr>
        <p:txBody>
          <a:bodyPr wrap="square" lIns="0" tIns="0" rIns="0" bIns="0" rtlCol="0" anchor="t"/>
          <a:lstStyle/>
          <a:p>
            <a:pPr>
              <a:lnSpc>
                <a:spcPts val="2375"/>
              </a:lnSpc>
            </a:pPr>
            <a:r>
              <a:rPr lang="en-US" sz="1458" dirty="0">
                <a:solidFill>
                  <a:srgbClr val="2A2742"/>
                </a:solidFill>
                <a:latin typeface="Arimo" pitchFamily="34" charset="0"/>
                <a:ea typeface="Arimo" pitchFamily="34" charset="-122"/>
                <a:cs typeface="Arimo" pitchFamily="34" charset="-120"/>
              </a:rPr>
              <a:t>Ensure the benchmark covers the critical capabilities expected from the LLM in production. If existing benchmarks lack coverage for specific use cases, custom evaluation tasks may need to be developed.</a:t>
            </a:r>
            <a:endParaRPr lang="en-US" sz="1458" dirty="0"/>
          </a:p>
        </p:txBody>
      </p:sp>
    </p:spTree>
    <p:extLst>
      <p:ext uri="{BB962C8B-B14F-4D97-AF65-F5344CB8AC3E}">
        <p14:creationId xmlns:p14="http://schemas.microsoft.com/office/powerpoint/2010/main" val="158806304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82EEA1-CB6A-CBDB-2B91-63EBDC0538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A71716-AA78-9564-3051-FC9C360047D3}"/>
              </a:ext>
            </a:extLst>
          </p:cNvPr>
          <p:cNvSpPr>
            <a:spLocks noGrp="1"/>
          </p:cNvSpPr>
          <p:nvPr>
            <p:ph type="title"/>
          </p:nvPr>
        </p:nvSpPr>
        <p:spPr>
          <a:xfrm>
            <a:off x="520892" y="316288"/>
            <a:ext cx="8761413" cy="706964"/>
          </a:xfrm>
        </p:spPr>
        <p:txBody>
          <a:bodyPr/>
          <a:lstStyle/>
          <a:p>
            <a:r>
              <a:rPr lang="en-US" dirty="0"/>
              <a:t>CTIBench v1.0</a:t>
            </a:r>
            <a:br>
              <a:rPr lang="en-US" dirty="0"/>
            </a:br>
            <a:r>
              <a:rPr lang="en-US" sz="2400" dirty="0"/>
              <a:t>[Working on Athena-CTI-Bench: Q4 ‘25 delivery]</a:t>
            </a:r>
            <a:endParaRPr lang="en-US" dirty="0"/>
          </a:p>
        </p:txBody>
      </p:sp>
      <p:sp>
        <p:nvSpPr>
          <p:cNvPr id="4" name="TextBox 3">
            <a:extLst>
              <a:ext uri="{FF2B5EF4-FFF2-40B4-BE49-F238E27FC236}">
                <a16:creationId xmlns:a16="http://schemas.microsoft.com/office/drawing/2014/main" id="{077ACF27-F4D3-315F-89AE-12249E8EEE3A}"/>
              </a:ext>
            </a:extLst>
          </p:cNvPr>
          <p:cNvSpPr txBox="1"/>
          <p:nvPr/>
        </p:nvSpPr>
        <p:spPr>
          <a:xfrm>
            <a:off x="328559" y="1438507"/>
            <a:ext cx="4410709" cy="2839239"/>
          </a:xfrm>
          <a:prstGeom prst="rect">
            <a:avLst/>
          </a:prstGeom>
          <a:noFill/>
        </p:spPr>
        <p:txBody>
          <a:bodyPr wrap="square">
            <a:spAutoFit/>
          </a:bodyPr>
          <a:lstStyle/>
          <a:p>
            <a:pPr>
              <a:buNone/>
            </a:pPr>
            <a:r>
              <a:rPr lang="en-US" sz="1050" dirty="0">
                <a:latin typeface="Arial" panose="020B0604020202020204" pitchFamily="34" charset="0"/>
              </a:rPr>
              <a:t>Abstract: </a:t>
            </a:r>
          </a:p>
          <a:p>
            <a:pPr>
              <a:buNone/>
            </a:pPr>
            <a:endParaRPr lang="en-US" sz="1050" dirty="0">
              <a:latin typeface="Arial" panose="020B0604020202020204" pitchFamily="34" charset="0"/>
            </a:endParaRPr>
          </a:p>
          <a:p>
            <a:pPr>
              <a:buNone/>
            </a:pPr>
            <a:r>
              <a:rPr lang="en-US" sz="1050" dirty="0"/>
              <a:t>Cyber threat intelligence (CTI) is crucial in today's cybersecurity landscape, providing essential insights to understand and mitigate the ever-evolving cyber threats. The recent rise of Large Language Models (LLMs) have shown potential in this domain, but concerns about their reliability, accuracy, and hallucinations persist. While existing benchmarks provide general evaluations of LLMs, there are no benchmarks that address the practical and applied aspects of CTI-specific tasks. To bridge this gap, we introduce CTIBench, a benchmark designed to assess LLMs' performance in CTI applications. CTIBench includes multiple datasets focused on evaluating knowledge acquired by LLMs in the cyber-threat landscape. Our evaluation of several state-of-the-art models on these tasks provides insights into their strengths and weaknesses in CTI contexts, contributing to a better understanding of LLM capabilities in CTI.</a:t>
            </a:r>
          </a:p>
        </p:txBody>
      </p:sp>
      <p:sp>
        <p:nvSpPr>
          <p:cNvPr id="5" name="TextBox 4">
            <a:extLst>
              <a:ext uri="{FF2B5EF4-FFF2-40B4-BE49-F238E27FC236}">
                <a16:creationId xmlns:a16="http://schemas.microsoft.com/office/drawing/2014/main" id="{93AA79CA-E283-E1F4-C50D-F74B67E55750}"/>
              </a:ext>
            </a:extLst>
          </p:cNvPr>
          <p:cNvSpPr txBox="1"/>
          <p:nvPr/>
        </p:nvSpPr>
        <p:spPr>
          <a:xfrm>
            <a:off x="3730679" y="6499531"/>
            <a:ext cx="8392298" cy="246221"/>
          </a:xfrm>
          <a:prstGeom prst="rect">
            <a:avLst/>
          </a:prstGeom>
          <a:noFill/>
        </p:spPr>
        <p:txBody>
          <a:bodyPr wrap="square" rtlCol="0">
            <a:spAutoFit/>
          </a:bodyPr>
          <a:lstStyle/>
          <a:p>
            <a:r>
              <a:rPr lang="en-US" sz="1000" dirty="0"/>
              <a:t>CTIBench: A Benchmark for Evaluating LLMs in Cyber Threat Intelligence; Alam et al, Nov 2024</a:t>
            </a:r>
          </a:p>
        </p:txBody>
      </p:sp>
      <p:sp>
        <p:nvSpPr>
          <p:cNvPr id="6" name="TextBox 5">
            <a:extLst>
              <a:ext uri="{FF2B5EF4-FFF2-40B4-BE49-F238E27FC236}">
                <a16:creationId xmlns:a16="http://schemas.microsoft.com/office/drawing/2014/main" id="{3BD94D70-D091-0AB7-253E-85AA7B26BF35}"/>
              </a:ext>
            </a:extLst>
          </p:cNvPr>
          <p:cNvSpPr txBox="1"/>
          <p:nvPr/>
        </p:nvSpPr>
        <p:spPr>
          <a:xfrm>
            <a:off x="6255326" y="1576295"/>
            <a:ext cx="4874872" cy="1721497"/>
          </a:xfrm>
          <a:prstGeom prst="rect">
            <a:avLst/>
          </a:prstGeom>
          <a:noFill/>
        </p:spPr>
        <p:txBody>
          <a:bodyPr wrap="square">
            <a:spAutoFit/>
          </a:bodyPr>
          <a:lstStyle/>
          <a:p>
            <a:pPr marL="238115" indent="-238115">
              <a:spcAft>
                <a:spcPts val="500"/>
              </a:spcAft>
              <a:buFont typeface="Arial" panose="020B0604020202020204" pitchFamily="34" charset="0"/>
              <a:buChar char="•"/>
            </a:pPr>
            <a:r>
              <a:rPr lang="en-US" sz="1167" b="1" dirty="0">
                <a:latin typeface="Arial" panose="020B0604020202020204" pitchFamily="34" charset="0"/>
              </a:rPr>
              <a:t>CTI-MCQ (Acc)</a:t>
            </a:r>
            <a:r>
              <a:rPr lang="en-US" sz="1167" dirty="0">
                <a:latin typeface="Arial" panose="020B0604020202020204" pitchFamily="34" charset="0"/>
              </a:rPr>
              <a:t>: Multiple-choice question answering on CTI concepts, measured by accuracy. </a:t>
            </a:r>
          </a:p>
          <a:p>
            <a:pPr marL="238115" indent="-238115">
              <a:spcAft>
                <a:spcPts val="500"/>
              </a:spcAft>
              <a:buFont typeface="Arial" panose="020B0604020202020204" pitchFamily="34" charset="0"/>
              <a:buChar char="•"/>
            </a:pPr>
            <a:r>
              <a:rPr lang="en-US" sz="1167" b="1" dirty="0">
                <a:latin typeface="Arial" panose="020B0604020202020204" pitchFamily="34" charset="0"/>
              </a:rPr>
              <a:t>CTI-RCM (Acc)</a:t>
            </a:r>
            <a:r>
              <a:rPr lang="en-US" sz="1167" dirty="0">
                <a:latin typeface="Arial" panose="020B0604020202020204" pitchFamily="34" charset="0"/>
              </a:rPr>
              <a:t>: Response classification matching task, evaluated by accuracy. </a:t>
            </a:r>
          </a:p>
          <a:p>
            <a:pPr marL="238115" indent="-238115">
              <a:spcAft>
                <a:spcPts val="500"/>
              </a:spcAft>
              <a:buFont typeface="Arial" panose="020B0604020202020204" pitchFamily="34" charset="0"/>
              <a:buChar char="•"/>
            </a:pPr>
            <a:r>
              <a:rPr lang="en-US" sz="1167" b="1" dirty="0">
                <a:latin typeface="Arial" panose="020B0604020202020204" pitchFamily="34" charset="0"/>
              </a:rPr>
              <a:t>CTI-VSP (MAD)</a:t>
            </a:r>
            <a:r>
              <a:rPr lang="en-US" sz="1167" dirty="0">
                <a:latin typeface="Arial" panose="020B0604020202020204" pitchFamily="34" charset="0"/>
              </a:rPr>
              <a:t>: Vulnerability severity prediction, assessed using Mean Absolute Deviation (MAD). </a:t>
            </a:r>
          </a:p>
          <a:p>
            <a:pPr marL="238115" indent="-238115">
              <a:spcAft>
                <a:spcPts val="500"/>
              </a:spcAft>
              <a:buFont typeface="Arial" panose="020B0604020202020204" pitchFamily="34" charset="0"/>
              <a:buChar char="•"/>
            </a:pPr>
            <a:r>
              <a:rPr lang="en-US" sz="1167" b="1" dirty="0">
                <a:latin typeface="Arial" panose="020B0604020202020204" pitchFamily="34" charset="0"/>
              </a:rPr>
              <a:t>CTI-ATE (F1-Macro)</a:t>
            </a:r>
            <a:r>
              <a:rPr lang="en-US" sz="1167" dirty="0">
                <a:latin typeface="Arial" panose="020B0604020202020204" pitchFamily="34" charset="0"/>
              </a:rPr>
              <a:t>: Adversary technique extraction, scored with macro-averaged F1. </a:t>
            </a:r>
          </a:p>
        </p:txBody>
      </p:sp>
      <p:pic>
        <p:nvPicPr>
          <p:cNvPr id="3" name="Picture 2">
            <a:extLst>
              <a:ext uri="{FF2B5EF4-FFF2-40B4-BE49-F238E27FC236}">
                <a16:creationId xmlns:a16="http://schemas.microsoft.com/office/drawing/2014/main" id="{B9FB4123-2B74-C141-83E3-D8548E2B53B1}"/>
              </a:ext>
            </a:extLst>
          </p:cNvPr>
          <p:cNvPicPr>
            <a:picLocks noChangeAspect="1"/>
          </p:cNvPicPr>
          <p:nvPr/>
        </p:nvPicPr>
        <p:blipFill>
          <a:blip r:embed="rId2"/>
          <a:stretch>
            <a:fillRect/>
          </a:stretch>
        </p:blipFill>
        <p:spPr>
          <a:xfrm>
            <a:off x="600487" y="4693001"/>
            <a:ext cx="10396293" cy="1237653"/>
          </a:xfrm>
          <a:prstGeom prst="rect">
            <a:avLst/>
          </a:prstGeom>
        </p:spPr>
      </p:pic>
    </p:spTree>
    <p:extLst>
      <p:ext uri="{BB962C8B-B14F-4D97-AF65-F5344CB8AC3E}">
        <p14:creationId xmlns:p14="http://schemas.microsoft.com/office/powerpoint/2010/main" val="75475281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AAEFB3-E3D4-DA9A-8878-86E75AED6B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53BCC3-209D-75CB-E6D0-EDB76B16BEF3}"/>
              </a:ext>
            </a:extLst>
          </p:cNvPr>
          <p:cNvSpPr>
            <a:spLocks noGrp="1"/>
          </p:cNvSpPr>
          <p:nvPr>
            <p:ph type="title"/>
          </p:nvPr>
        </p:nvSpPr>
        <p:spPr>
          <a:xfrm>
            <a:off x="431683" y="243053"/>
            <a:ext cx="8761413" cy="706964"/>
          </a:xfrm>
        </p:spPr>
        <p:txBody>
          <a:bodyPr/>
          <a:lstStyle/>
          <a:p>
            <a:r>
              <a:rPr lang="en-US" sz="2400" i="1" dirty="0"/>
              <a:t>Will include Capabilities around measurement of trailing last 90 days of CTI data…</a:t>
            </a:r>
          </a:p>
        </p:txBody>
      </p:sp>
      <p:sp>
        <p:nvSpPr>
          <p:cNvPr id="4" name="TextBox 3">
            <a:extLst>
              <a:ext uri="{FF2B5EF4-FFF2-40B4-BE49-F238E27FC236}">
                <a16:creationId xmlns:a16="http://schemas.microsoft.com/office/drawing/2014/main" id="{E1F27528-6E49-CDB6-4879-723AA1948A3D}"/>
              </a:ext>
            </a:extLst>
          </p:cNvPr>
          <p:cNvSpPr txBox="1"/>
          <p:nvPr/>
        </p:nvSpPr>
        <p:spPr>
          <a:xfrm>
            <a:off x="339709" y="1418190"/>
            <a:ext cx="7510750" cy="1708160"/>
          </a:xfrm>
          <a:prstGeom prst="rect">
            <a:avLst/>
          </a:prstGeom>
          <a:noFill/>
        </p:spPr>
        <p:txBody>
          <a:bodyPr wrap="square">
            <a:spAutoFit/>
          </a:bodyPr>
          <a:lstStyle/>
          <a:p>
            <a:r>
              <a:rPr lang="en-US" sz="1500" b="1" dirty="0"/>
              <a:t>Last 90 Days </a:t>
            </a:r>
          </a:p>
          <a:p>
            <a:endParaRPr lang="en-US" sz="1500" b="1" dirty="0"/>
          </a:p>
          <a:p>
            <a:r>
              <a:rPr lang="en-US" sz="1500" dirty="0"/>
              <a:t>Tests last 90 day CTI info, most critical aspect of CTI landscape for security professionals. Test last 90 days of vulnerabilities and exploits.</a:t>
            </a:r>
          </a:p>
          <a:p>
            <a:endParaRPr lang="en-US" sz="1500" b="1" dirty="0"/>
          </a:p>
          <a:p>
            <a:r>
              <a:rPr lang="en-US" sz="1500" i="1" dirty="0"/>
              <a:t>If using the larger providers, search must be enabled…</a:t>
            </a:r>
          </a:p>
          <a:p>
            <a:endParaRPr lang="en-US" sz="1500" dirty="0"/>
          </a:p>
        </p:txBody>
      </p:sp>
      <p:pic>
        <p:nvPicPr>
          <p:cNvPr id="3" name="Picture 2">
            <a:extLst>
              <a:ext uri="{FF2B5EF4-FFF2-40B4-BE49-F238E27FC236}">
                <a16:creationId xmlns:a16="http://schemas.microsoft.com/office/drawing/2014/main" id="{567419E6-6C0D-5434-A606-24CC0ADF862B}"/>
              </a:ext>
            </a:extLst>
          </p:cNvPr>
          <p:cNvPicPr>
            <a:picLocks noChangeAspect="1"/>
          </p:cNvPicPr>
          <p:nvPr/>
        </p:nvPicPr>
        <p:blipFill>
          <a:blip r:embed="rId2"/>
          <a:stretch>
            <a:fillRect/>
          </a:stretch>
        </p:blipFill>
        <p:spPr>
          <a:xfrm>
            <a:off x="4095084" y="3731651"/>
            <a:ext cx="5664200" cy="1574800"/>
          </a:xfrm>
          <a:prstGeom prst="rect">
            <a:avLst/>
          </a:prstGeom>
        </p:spPr>
      </p:pic>
    </p:spTree>
    <p:extLst>
      <p:ext uri="{BB962C8B-B14F-4D97-AF65-F5344CB8AC3E}">
        <p14:creationId xmlns:p14="http://schemas.microsoft.com/office/powerpoint/2010/main" val="338637093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6415F9-4DE8-36E2-198E-7853C3BB9F68}"/>
              </a:ext>
            </a:extLst>
          </p:cNvPr>
          <p:cNvSpPr>
            <a:spLocks noGrp="1"/>
          </p:cNvSpPr>
          <p:nvPr>
            <p:ph type="title"/>
          </p:nvPr>
        </p:nvSpPr>
        <p:spPr>
          <a:xfrm>
            <a:off x="257634" y="218587"/>
            <a:ext cx="8761413" cy="706964"/>
          </a:xfrm>
        </p:spPr>
        <p:txBody>
          <a:bodyPr/>
          <a:lstStyle/>
          <a:p>
            <a:r>
              <a:rPr lang="en-US" dirty="0"/>
              <a:t>CyberMetric: </a:t>
            </a:r>
            <a:br>
              <a:rPr lang="en-US" dirty="0"/>
            </a:br>
            <a:r>
              <a:rPr lang="en-US" sz="2800" dirty="0"/>
              <a:t>Additional CTI Benchmarking</a:t>
            </a:r>
            <a:endParaRPr lang="en-US" dirty="0"/>
          </a:p>
        </p:txBody>
      </p:sp>
      <p:sp>
        <p:nvSpPr>
          <p:cNvPr id="4" name="TextBox 3">
            <a:extLst>
              <a:ext uri="{FF2B5EF4-FFF2-40B4-BE49-F238E27FC236}">
                <a16:creationId xmlns:a16="http://schemas.microsoft.com/office/drawing/2014/main" id="{01CCCC81-6FA0-26C5-2161-70AC8ED73B83}"/>
              </a:ext>
            </a:extLst>
          </p:cNvPr>
          <p:cNvSpPr txBox="1"/>
          <p:nvPr/>
        </p:nvSpPr>
        <p:spPr>
          <a:xfrm>
            <a:off x="657921" y="1365028"/>
            <a:ext cx="9110547" cy="2965940"/>
          </a:xfrm>
          <a:prstGeom prst="rect">
            <a:avLst/>
          </a:prstGeom>
          <a:noFill/>
        </p:spPr>
        <p:txBody>
          <a:bodyPr wrap="square">
            <a:spAutoFit/>
          </a:bodyPr>
          <a:lstStyle/>
          <a:p>
            <a:pPr>
              <a:buNone/>
            </a:pPr>
            <a:r>
              <a:rPr lang="en-US" sz="1167" dirty="0">
                <a:latin typeface="Arial" panose="020B0604020202020204" pitchFamily="34" charset="0"/>
              </a:rPr>
              <a:t>Abstract: </a:t>
            </a:r>
          </a:p>
          <a:p>
            <a:pPr>
              <a:buNone/>
            </a:pPr>
            <a:endParaRPr lang="en-US" sz="1167" dirty="0">
              <a:latin typeface="Arial" panose="020B0604020202020204" pitchFamily="34" charset="0"/>
            </a:endParaRPr>
          </a:p>
          <a:p>
            <a:pPr>
              <a:buNone/>
            </a:pPr>
            <a:r>
              <a:rPr lang="en-US" sz="1167" dirty="0"/>
              <a:t>... To accurately test the general knowledge of LLMs in cybersecurity, the research community needs a diverse, accurate, and up-to-date dataset. To address this gap, we present CyberMetric-80, CyberMetric-500, CyberMetric-2000, and CyberMetric-10000, which are multiple-choice Q&amp;A benchmark datasets comprising 80, 500, 2000, and 10,000 questions respectively. By utilizing GPT-3.5 and Retrieval-Augmented Generation (RAG), we collected documents, including NIST standards, research papers, publicly accessible books, RFCs, and other publications in the cybersecurity domain, to generate questions, each with four possible answers. The results underwent several rounds of error checking and refinement. Human experts invested over 200 hours validating the questions and solutions to ensure their accuracy and relevance, and to filter out any questions unrelated to cybersecurity. We have evaluated and compared 25 state-of-the-art LLM models on the CyberMetric datasets. In addition to our primary goal of evaluating LLMs, we involved 30 human participants to solve CyberMetric-80 in a closed-book scenario. The results can serve as a reference for comparing the general cybersecurity knowledge of humans and LLMs. The findings revealed that GPT-4o, GPT-4-turbo, Mixtral-8x7B-Instruct, Falcon-180B-Chat, and GEMINI-pro 1.0 were the best-performing LLMs. Additionally, the top LLMs were more accurate than humans on CyberMetric-80, although highly experienced human experts still outperformed small models such as Llama-3-8B, Phi-2 or Gemma-7b.</a:t>
            </a:r>
          </a:p>
        </p:txBody>
      </p:sp>
      <p:sp>
        <p:nvSpPr>
          <p:cNvPr id="5" name="TextBox 4">
            <a:extLst>
              <a:ext uri="{FF2B5EF4-FFF2-40B4-BE49-F238E27FC236}">
                <a16:creationId xmlns:a16="http://schemas.microsoft.com/office/drawing/2014/main" id="{74EF43FD-F667-4443-E70E-E092CDD3F116}"/>
              </a:ext>
            </a:extLst>
          </p:cNvPr>
          <p:cNvSpPr txBox="1"/>
          <p:nvPr/>
        </p:nvSpPr>
        <p:spPr>
          <a:xfrm>
            <a:off x="2727362" y="6517988"/>
            <a:ext cx="10908690" cy="446276"/>
          </a:xfrm>
          <a:prstGeom prst="rect">
            <a:avLst/>
          </a:prstGeom>
          <a:noFill/>
        </p:spPr>
        <p:txBody>
          <a:bodyPr wrap="square" rtlCol="0">
            <a:spAutoFit/>
          </a:bodyPr>
          <a:lstStyle/>
          <a:p>
            <a:r>
              <a:rPr lang="en-US" sz="900" i="1" dirty="0"/>
              <a:t>CyberMetric: A Benchmark Dataset based on Retrieval-Augmented Generation for Evaluating LLMs in Cybersecurity Knowledge; Tihanyi et al, June 2024</a:t>
            </a:r>
          </a:p>
          <a:p>
            <a:endParaRPr lang="en-US" sz="1400" dirty="0"/>
          </a:p>
        </p:txBody>
      </p:sp>
      <p:pic>
        <p:nvPicPr>
          <p:cNvPr id="8" name="Picture 7">
            <a:extLst>
              <a:ext uri="{FF2B5EF4-FFF2-40B4-BE49-F238E27FC236}">
                <a16:creationId xmlns:a16="http://schemas.microsoft.com/office/drawing/2014/main" id="{084C1FFC-7421-4725-F531-E252DF8DB6DC}"/>
              </a:ext>
            </a:extLst>
          </p:cNvPr>
          <p:cNvPicPr>
            <a:picLocks noChangeAspect="1"/>
          </p:cNvPicPr>
          <p:nvPr/>
        </p:nvPicPr>
        <p:blipFill>
          <a:blip r:embed="rId2"/>
          <a:stretch>
            <a:fillRect/>
          </a:stretch>
        </p:blipFill>
        <p:spPr>
          <a:xfrm>
            <a:off x="442760" y="4612585"/>
            <a:ext cx="10398574" cy="1308712"/>
          </a:xfrm>
          <a:prstGeom prst="rect">
            <a:avLst/>
          </a:prstGeom>
        </p:spPr>
      </p:pic>
    </p:spTree>
    <p:extLst>
      <p:ext uri="{BB962C8B-B14F-4D97-AF65-F5344CB8AC3E}">
        <p14:creationId xmlns:p14="http://schemas.microsoft.com/office/powerpoint/2010/main" val="60227229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2F2774-EBEB-7F12-30FC-95DA23B7A379}"/>
              </a:ext>
            </a:extLst>
          </p:cNvPr>
          <p:cNvSpPr>
            <a:spLocks noGrp="1"/>
          </p:cNvSpPr>
          <p:nvPr>
            <p:ph type="title"/>
          </p:nvPr>
        </p:nvSpPr>
        <p:spPr>
          <a:xfrm>
            <a:off x="367989" y="203973"/>
            <a:ext cx="10835720" cy="706964"/>
          </a:xfrm>
        </p:spPr>
        <p:txBody>
          <a:bodyPr/>
          <a:lstStyle/>
          <a:p>
            <a:r>
              <a:rPr lang="en-US" sz="3200" dirty="0"/>
              <a:t>Natural Language Understanding Benchmarks</a:t>
            </a:r>
            <a:br>
              <a:rPr lang="en-US" sz="3200" dirty="0"/>
            </a:br>
            <a:r>
              <a:rPr lang="en-US" sz="2000" i="1" dirty="0"/>
              <a:t>Avoiding hallucinations (where is the bottom threshold on model size…) </a:t>
            </a:r>
            <a:br>
              <a:rPr lang="en-US" sz="2000" i="1" dirty="0"/>
            </a:br>
            <a:r>
              <a:rPr lang="en-US" sz="2000" i="1" dirty="0"/>
              <a:t>GLUE &amp; SuperGLUE</a:t>
            </a:r>
            <a:endParaRPr lang="en-US" sz="3200" i="1" dirty="0"/>
          </a:p>
        </p:txBody>
      </p:sp>
      <p:sp>
        <p:nvSpPr>
          <p:cNvPr id="3" name="TextBox 2">
            <a:extLst>
              <a:ext uri="{FF2B5EF4-FFF2-40B4-BE49-F238E27FC236}">
                <a16:creationId xmlns:a16="http://schemas.microsoft.com/office/drawing/2014/main" id="{9802728D-F8B6-5289-F8CA-03FF26A2BDBE}"/>
              </a:ext>
            </a:extLst>
          </p:cNvPr>
          <p:cNvSpPr txBox="1"/>
          <p:nvPr/>
        </p:nvSpPr>
        <p:spPr>
          <a:xfrm>
            <a:off x="367989" y="1371600"/>
            <a:ext cx="11050859" cy="2677656"/>
          </a:xfrm>
          <a:prstGeom prst="rect">
            <a:avLst/>
          </a:prstGeom>
          <a:noFill/>
        </p:spPr>
        <p:txBody>
          <a:bodyPr wrap="square" rtlCol="0">
            <a:spAutoFit/>
          </a:bodyPr>
          <a:lstStyle/>
          <a:p>
            <a:r>
              <a:rPr lang="en-US" sz="1200" b="1" dirty="0"/>
              <a:t>GLUE – </a:t>
            </a:r>
            <a:r>
              <a:rPr lang="en-US" sz="1200" b="1" i="1" dirty="0"/>
              <a:t>General Language Understanding Evaluation</a:t>
            </a:r>
            <a:endParaRPr lang="en-US" sz="1200" b="1" dirty="0"/>
          </a:p>
          <a:p>
            <a:r>
              <a:rPr lang="en-US" sz="1200" dirty="0"/>
              <a:t>Introduced in </a:t>
            </a:r>
            <a:r>
              <a:rPr lang="en-US" sz="1200" b="1" dirty="0"/>
              <a:t>2018</a:t>
            </a:r>
            <a:r>
              <a:rPr lang="en-US" sz="1200" dirty="0"/>
              <a:t>, GLUE is a multi‑task benchmark designed to assess foundational natural language understanding capabilities. It combines </a:t>
            </a:r>
            <a:r>
              <a:rPr lang="en-US" sz="1200" b="1" dirty="0"/>
              <a:t>nine diverse tasks</a:t>
            </a:r>
            <a:r>
              <a:rPr lang="en-US" sz="1200" dirty="0"/>
              <a:t>—such as sentiment analysis, textual similarity, entailment, and linguistic acceptability—into a unified evaluation framework, and includes a hand‑crafted diagnostic suite for analyzing model weaknesses.</a:t>
            </a:r>
          </a:p>
          <a:p>
            <a:endParaRPr lang="en-US" sz="1200" dirty="0"/>
          </a:p>
          <a:p>
            <a:endParaRPr lang="en-US" sz="1200" dirty="0"/>
          </a:p>
          <a:p>
            <a:endParaRPr lang="en-US" sz="1200" dirty="0"/>
          </a:p>
          <a:p>
            <a:endParaRPr lang="en-US" sz="1200" dirty="0"/>
          </a:p>
          <a:p>
            <a:endParaRPr lang="en-US" sz="1200" dirty="0"/>
          </a:p>
          <a:p>
            <a:endParaRPr lang="en-US" sz="1200" b="1" dirty="0"/>
          </a:p>
          <a:p>
            <a:r>
              <a:rPr lang="en-US" sz="1200" b="1" dirty="0"/>
              <a:t>SuperGLUE – </a:t>
            </a:r>
            <a:r>
              <a:rPr lang="en-US" sz="1200" b="1" i="1" dirty="0"/>
              <a:t>A Stickier Benchmark for General-Purpose Language Understanding</a:t>
            </a:r>
            <a:endParaRPr lang="en-US" sz="1200" b="1" dirty="0"/>
          </a:p>
          <a:p>
            <a:r>
              <a:rPr lang="en-US" sz="1200" dirty="0"/>
              <a:t>Debuted in </a:t>
            </a:r>
            <a:r>
              <a:rPr lang="en-US" sz="1200" b="1" dirty="0"/>
              <a:t>2019</a:t>
            </a:r>
            <a:r>
              <a:rPr lang="en-US" sz="1200" dirty="0"/>
              <a:t> as a more challenging successor to GLUE, SuperGLUE comprises </a:t>
            </a:r>
            <a:r>
              <a:rPr lang="en-US" sz="1200" b="1" dirty="0"/>
              <a:t>eight higher‑difficulty tasks</a:t>
            </a:r>
            <a:r>
              <a:rPr lang="en-US" sz="1200" dirty="0"/>
              <a:t>, including advanced reading comprehension, natural language inference, coreference resolution, and question answering. It also sets a stronger human baseline and includes an integrated toolkit and public leaderboard.</a:t>
            </a:r>
          </a:p>
        </p:txBody>
      </p:sp>
      <p:pic>
        <p:nvPicPr>
          <p:cNvPr id="5" name="Picture 4">
            <a:extLst>
              <a:ext uri="{FF2B5EF4-FFF2-40B4-BE49-F238E27FC236}">
                <a16:creationId xmlns:a16="http://schemas.microsoft.com/office/drawing/2014/main" id="{858BDC01-C8CE-3C49-88FF-FE1B2F6FB0FA}"/>
              </a:ext>
            </a:extLst>
          </p:cNvPr>
          <p:cNvPicPr>
            <a:picLocks noChangeAspect="1"/>
          </p:cNvPicPr>
          <p:nvPr/>
        </p:nvPicPr>
        <p:blipFill>
          <a:blip r:embed="rId2"/>
          <a:stretch>
            <a:fillRect/>
          </a:stretch>
        </p:blipFill>
        <p:spPr>
          <a:xfrm>
            <a:off x="189308" y="2348536"/>
            <a:ext cx="11408220" cy="723784"/>
          </a:xfrm>
          <a:prstGeom prst="rect">
            <a:avLst/>
          </a:prstGeom>
        </p:spPr>
      </p:pic>
      <p:pic>
        <p:nvPicPr>
          <p:cNvPr id="6" name="Picture 5">
            <a:extLst>
              <a:ext uri="{FF2B5EF4-FFF2-40B4-BE49-F238E27FC236}">
                <a16:creationId xmlns:a16="http://schemas.microsoft.com/office/drawing/2014/main" id="{B63FAE34-EAF2-BBEE-0A15-D060B0A3B939}"/>
              </a:ext>
            </a:extLst>
          </p:cNvPr>
          <p:cNvPicPr>
            <a:picLocks noChangeAspect="1"/>
          </p:cNvPicPr>
          <p:nvPr/>
        </p:nvPicPr>
        <p:blipFill>
          <a:blip r:embed="rId3"/>
          <a:stretch>
            <a:fillRect/>
          </a:stretch>
        </p:blipFill>
        <p:spPr>
          <a:xfrm>
            <a:off x="525002" y="4176539"/>
            <a:ext cx="10249898" cy="851282"/>
          </a:xfrm>
          <a:prstGeom prst="rect">
            <a:avLst/>
          </a:prstGeom>
        </p:spPr>
      </p:pic>
    </p:spTree>
    <p:extLst>
      <p:ext uri="{BB962C8B-B14F-4D97-AF65-F5344CB8AC3E}">
        <p14:creationId xmlns:p14="http://schemas.microsoft.com/office/powerpoint/2010/main" val="317095249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8A574E-CC4E-105A-17FB-3B80A2F52B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395DE0-2F53-F6C3-6291-5ED00A3A77DB}"/>
              </a:ext>
            </a:extLst>
          </p:cNvPr>
          <p:cNvSpPr>
            <a:spLocks noGrp="1"/>
          </p:cNvSpPr>
          <p:nvPr>
            <p:ph type="title"/>
          </p:nvPr>
        </p:nvSpPr>
        <p:spPr>
          <a:xfrm>
            <a:off x="468350" y="215124"/>
            <a:ext cx="10835720" cy="706964"/>
          </a:xfrm>
        </p:spPr>
        <p:txBody>
          <a:bodyPr/>
          <a:lstStyle/>
          <a:p>
            <a:r>
              <a:rPr lang="en-US" sz="3200" dirty="0"/>
              <a:t>NLU Benchmarks (CONT): </a:t>
            </a:r>
            <a:r>
              <a:rPr lang="en-US" sz="3200" i="1" dirty="0"/>
              <a:t>MMLU</a:t>
            </a:r>
          </a:p>
        </p:txBody>
      </p:sp>
      <p:sp>
        <p:nvSpPr>
          <p:cNvPr id="3" name="TextBox 2">
            <a:extLst>
              <a:ext uri="{FF2B5EF4-FFF2-40B4-BE49-F238E27FC236}">
                <a16:creationId xmlns:a16="http://schemas.microsoft.com/office/drawing/2014/main" id="{4E9EDB24-9DB0-B955-A6A7-4AF01FBD397D}"/>
              </a:ext>
            </a:extLst>
          </p:cNvPr>
          <p:cNvSpPr txBox="1"/>
          <p:nvPr/>
        </p:nvSpPr>
        <p:spPr>
          <a:xfrm>
            <a:off x="367989" y="1694623"/>
            <a:ext cx="6289289" cy="1569660"/>
          </a:xfrm>
          <a:prstGeom prst="rect">
            <a:avLst/>
          </a:prstGeom>
          <a:noFill/>
        </p:spPr>
        <p:txBody>
          <a:bodyPr wrap="square" rtlCol="0">
            <a:spAutoFit/>
          </a:bodyPr>
          <a:lstStyle/>
          <a:p>
            <a:r>
              <a:rPr lang="en-US" sz="1200" b="1" dirty="0"/>
              <a:t>MMLU – </a:t>
            </a:r>
            <a:r>
              <a:rPr lang="en-US" sz="1200" b="1" i="1" dirty="0"/>
              <a:t>Measuring Massive Multitask Language Understanding</a:t>
            </a:r>
          </a:p>
          <a:p>
            <a:endParaRPr lang="en-US" sz="1200" b="1" dirty="0"/>
          </a:p>
          <a:p>
            <a:r>
              <a:rPr lang="en-US" sz="1200" dirty="0"/>
              <a:t>MMLU raises the bar significantly with: </a:t>
            </a:r>
            <a:r>
              <a:rPr lang="en-US" sz="1200" b="1" dirty="0"/>
              <a:t>57 subject domains</a:t>
            </a:r>
            <a:r>
              <a:rPr lang="en-US" sz="1200" dirty="0"/>
              <a:t>, ranging from STEM and humanities to professional fields like medicine, law, ethics, and philosophy. Over </a:t>
            </a:r>
            <a:r>
              <a:rPr lang="en-US" sz="1200" b="1" dirty="0"/>
              <a:t>15,900 multiple-choice questions</a:t>
            </a:r>
            <a:r>
              <a:rPr lang="en-US" sz="1200" dirty="0"/>
              <a:t> in total, drawn from undergraduate to professional levels; about </a:t>
            </a:r>
            <a:r>
              <a:rPr lang="en-US" sz="1200" b="1" dirty="0"/>
              <a:t>1,540 questions</a:t>
            </a:r>
            <a:r>
              <a:rPr lang="en-US" sz="1200" dirty="0"/>
              <a:t> are reserved for tuning model settings like temperature or learning rate. A focus on </a:t>
            </a:r>
            <a:r>
              <a:rPr lang="en-US" sz="1200" b="1" dirty="0"/>
              <a:t>zero‑ or few‑shot evaluation</a:t>
            </a:r>
            <a:r>
              <a:rPr lang="en-US" sz="1200" dirty="0"/>
              <a:t>, testing models’ generalization without extensive fine-tuning on task-specific data.</a:t>
            </a:r>
          </a:p>
        </p:txBody>
      </p:sp>
      <p:pic>
        <p:nvPicPr>
          <p:cNvPr id="4" name="Picture 3">
            <a:extLst>
              <a:ext uri="{FF2B5EF4-FFF2-40B4-BE49-F238E27FC236}">
                <a16:creationId xmlns:a16="http://schemas.microsoft.com/office/drawing/2014/main" id="{49290ECC-FDF9-FF20-4D9E-819B0A42FA39}"/>
              </a:ext>
            </a:extLst>
          </p:cNvPr>
          <p:cNvPicPr>
            <a:picLocks noChangeAspect="1"/>
          </p:cNvPicPr>
          <p:nvPr/>
        </p:nvPicPr>
        <p:blipFill>
          <a:blip r:embed="rId2"/>
          <a:stretch>
            <a:fillRect/>
          </a:stretch>
        </p:blipFill>
        <p:spPr>
          <a:xfrm>
            <a:off x="3995698" y="3841903"/>
            <a:ext cx="6120513" cy="1599891"/>
          </a:xfrm>
          <a:prstGeom prst="rect">
            <a:avLst/>
          </a:prstGeom>
        </p:spPr>
      </p:pic>
    </p:spTree>
    <p:extLst>
      <p:ext uri="{BB962C8B-B14F-4D97-AF65-F5344CB8AC3E}">
        <p14:creationId xmlns:p14="http://schemas.microsoft.com/office/powerpoint/2010/main" val="142562084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0D40DD-164B-1541-AA5A-F43FFA7E3369}"/>
              </a:ext>
            </a:extLst>
          </p:cNvPr>
          <p:cNvSpPr>
            <a:spLocks noGrp="1"/>
          </p:cNvSpPr>
          <p:nvPr>
            <p:ph type="title"/>
          </p:nvPr>
        </p:nvSpPr>
        <p:spPr/>
        <p:txBody>
          <a:bodyPr/>
          <a:lstStyle/>
          <a:p>
            <a:r>
              <a:rPr lang="en-US"/>
              <a:t>Summary Value Proposition</a:t>
            </a:r>
          </a:p>
        </p:txBody>
      </p:sp>
      <p:sp>
        <p:nvSpPr>
          <p:cNvPr id="3" name="Content Placeholder 2">
            <a:extLst>
              <a:ext uri="{FF2B5EF4-FFF2-40B4-BE49-F238E27FC236}">
                <a16:creationId xmlns:a16="http://schemas.microsoft.com/office/drawing/2014/main" id="{1BCE456C-FF3C-0609-F5D9-2839A2F5F396}"/>
              </a:ext>
            </a:extLst>
          </p:cNvPr>
          <p:cNvSpPr>
            <a:spLocks noGrp="1"/>
          </p:cNvSpPr>
          <p:nvPr>
            <p:ph idx="1"/>
          </p:nvPr>
        </p:nvSpPr>
        <p:spPr/>
        <p:txBody>
          <a:bodyPr>
            <a:normAutofit fontScale="92500" lnSpcReduction="10000"/>
          </a:bodyPr>
          <a:lstStyle/>
          <a:p>
            <a:pPr>
              <a:buFont typeface="System Font Regular"/>
              <a:buChar char="⍻"/>
            </a:pPr>
            <a:r>
              <a:rPr lang="en-US" sz="2800" dirty="0"/>
              <a:t>Industry Fragmentation yields opportunity with Integrated Approach</a:t>
            </a:r>
          </a:p>
          <a:p>
            <a:pPr>
              <a:buFont typeface="System Font Regular"/>
              <a:buChar char="⍻"/>
            </a:pPr>
            <a:r>
              <a:rPr lang="en-US" sz="2800" dirty="0"/>
              <a:t>Consolidated and normalized threat identification across the entire network infrastructure (Firewall, WAF, SIEM, NIDS, EDR)</a:t>
            </a:r>
          </a:p>
          <a:p>
            <a:pPr>
              <a:buFont typeface="System Font Regular"/>
              <a:buChar char="⍻"/>
            </a:pPr>
            <a:r>
              <a:rPr lang="en-US" sz="2800" dirty="0"/>
              <a:t>Build and train CTI-LLM using state of the art threat intelligence (Flashpoint’s Ignite)</a:t>
            </a:r>
          </a:p>
          <a:p>
            <a:pPr>
              <a:buFont typeface="System Font Regular"/>
              <a:buChar char="⍻"/>
            </a:pPr>
            <a:r>
              <a:rPr lang="en-US" sz="2800" dirty="0"/>
              <a:t>RAG based integration into CTI-LLM for automated contextualized responses</a:t>
            </a:r>
          </a:p>
          <a:p>
            <a:pPr>
              <a:buFont typeface="System Font Regular"/>
              <a:buChar char="⍻"/>
            </a:pPr>
            <a:r>
              <a:rPr lang="en-US" sz="2800" dirty="0"/>
              <a:t>Yield better outcomes both in terms of threat detection and response, a necessary condition for Cyber Defense in the age of AI </a:t>
            </a:r>
          </a:p>
        </p:txBody>
      </p:sp>
    </p:spTree>
    <p:extLst>
      <p:ext uri="{BB962C8B-B14F-4D97-AF65-F5344CB8AC3E}">
        <p14:creationId xmlns:p14="http://schemas.microsoft.com/office/powerpoint/2010/main" val="257006296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937DE4-D372-E9AC-4B63-F0CA7F85CE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89FA57-33AB-B508-4C3E-FBCC5D7B09BC}"/>
              </a:ext>
            </a:extLst>
          </p:cNvPr>
          <p:cNvSpPr>
            <a:spLocks noGrp="1"/>
          </p:cNvSpPr>
          <p:nvPr>
            <p:ph type="ctrTitle"/>
          </p:nvPr>
        </p:nvSpPr>
        <p:spPr>
          <a:xfrm>
            <a:off x="8160773" y="1113062"/>
            <a:ext cx="3382297" cy="3281957"/>
          </a:xfrm>
        </p:spPr>
        <p:txBody>
          <a:bodyPr>
            <a:normAutofit/>
          </a:bodyPr>
          <a:lstStyle/>
          <a:p>
            <a:r>
              <a:rPr lang="en-US">
                <a:solidFill>
                  <a:srgbClr val="EBEBEB"/>
                </a:solidFill>
              </a:rPr>
              <a:t>Athena Software Group</a:t>
            </a:r>
          </a:p>
        </p:txBody>
      </p:sp>
      <p:sp>
        <p:nvSpPr>
          <p:cNvPr id="3" name="Subtitle 2">
            <a:extLst>
              <a:ext uri="{FF2B5EF4-FFF2-40B4-BE49-F238E27FC236}">
                <a16:creationId xmlns:a16="http://schemas.microsoft.com/office/drawing/2014/main" id="{4E92CDE8-CD60-CA2E-223F-76A53504251D}"/>
              </a:ext>
            </a:extLst>
          </p:cNvPr>
          <p:cNvSpPr>
            <a:spLocks noGrp="1"/>
          </p:cNvSpPr>
          <p:nvPr>
            <p:ph type="subTitle" idx="1"/>
          </p:nvPr>
        </p:nvSpPr>
        <p:spPr>
          <a:xfrm>
            <a:off x="8160773" y="4591665"/>
            <a:ext cx="3382298" cy="1150156"/>
          </a:xfrm>
        </p:spPr>
        <p:txBody>
          <a:bodyPr>
            <a:normAutofit/>
          </a:bodyPr>
          <a:lstStyle/>
          <a:p>
            <a:pPr>
              <a:lnSpc>
                <a:spcPct val="90000"/>
              </a:lnSpc>
            </a:pPr>
            <a:r>
              <a:rPr lang="en-US" i="1"/>
              <a:t>Best in Class, AI Enabled, security solutions for Enterprise application providers.</a:t>
            </a:r>
          </a:p>
        </p:txBody>
      </p:sp>
      <p:pic>
        <p:nvPicPr>
          <p:cNvPr id="5" name="Picture 4">
            <a:extLst>
              <a:ext uri="{FF2B5EF4-FFF2-40B4-BE49-F238E27FC236}">
                <a16:creationId xmlns:a16="http://schemas.microsoft.com/office/drawing/2014/main" id="{97678170-9CB9-9E3B-855F-C3C5DAE8265B}"/>
              </a:ext>
            </a:extLst>
          </p:cNvPr>
          <p:cNvPicPr>
            <a:picLocks noChangeAspect="1"/>
          </p:cNvPicPr>
          <p:nvPr/>
        </p:nvPicPr>
        <p:blipFill>
          <a:blip r:embed="rId3"/>
          <a:stretch>
            <a:fillRect/>
          </a:stretch>
        </p:blipFill>
        <p:spPr>
          <a:xfrm>
            <a:off x="1109763" y="1316544"/>
            <a:ext cx="6470907" cy="4221795"/>
          </a:xfrm>
          <a:prstGeom prst="roundRect">
            <a:avLst>
              <a:gd name="adj" fmla="val 1858"/>
            </a:avLst>
          </a:prstGeom>
          <a:effectLst>
            <a:outerShdw blurRad="50800" dist="50800" dir="5400000" algn="tl" rotWithShape="0">
              <a:srgbClr val="000000">
                <a:alpha val="43000"/>
              </a:srgbClr>
            </a:outerShdw>
          </a:effectLst>
        </p:spPr>
      </p:pic>
    </p:spTree>
    <p:extLst>
      <p:ext uri="{BB962C8B-B14F-4D97-AF65-F5344CB8AC3E}">
        <p14:creationId xmlns:p14="http://schemas.microsoft.com/office/powerpoint/2010/main" val="325260497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Green">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Quotable</Template>
  <TotalTime>4925</TotalTime>
  <Words>4321</Words>
  <Application>Microsoft Macintosh PowerPoint</Application>
  <PresentationFormat>Widescreen</PresentationFormat>
  <Paragraphs>384</Paragraphs>
  <Slides>31</Slides>
  <Notes>11</Notes>
  <HiddenSlides>0</HiddenSlides>
  <MMClips>0</MMClips>
  <ScaleCrop>false</ScaleCrop>
  <HeadingPairs>
    <vt:vector size="6" baseType="variant">
      <vt:variant>
        <vt:lpstr>Fonts Used</vt:lpstr>
      </vt:variant>
      <vt:variant>
        <vt:i4>16</vt:i4>
      </vt:variant>
      <vt:variant>
        <vt:lpstr>Theme</vt:lpstr>
      </vt:variant>
      <vt:variant>
        <vt:i4>1</vt:i4>
      </vt:variant>
      <vt:variant>
        <vt:lpstr>Slide Titles</vt:lpstr>
      </vt:variant>
      <vt:variant>
        <vt:i4>31</vt:i4>
      </vt:variant>
    </vt:vector>
  </HeadingPairs>
  <TitlesOfParts>
    <vt:vector size="48" baseType="lpstr">
      <vt:lpstr>Aptos</vt:lpstr>
      <vt:lpstr>Aptos Narrow</vt:lpstr>
      <vt:lpstr>Arial</vt:lpstr>
      <vt:lpstr>Arimo</vt:lpstr>
      <vt:lpstr>Calibri Light</vt:lpstr>
      <vt:lpstr>Century Gothic</vt:lpstr>
      <vt:lpstr>Inter</vt:lpstr>
      <vt:lpstr>Open Sans</vt:lpstr>
      <vt:lpstr>Optima</vt:lpstr>
      <vt:lpstr>Outfit Extra Bold</vt:lpstr>
      <vt:lpstr>Plus Jakarta Sans</vt:lpstr>
      <vt:lpstr>Segoe UI Black</vt:lpstr>
      <vt:lpstr>System Font Regular</vt:lpstr>
      <vt:lpstr>Unbounded Bold</vt:lpstr>
      <vt:lpstr>Wingdings</vt:lpstr>
      <vt:lpstr>Wingdings 3</vt:lpstr>
      <vt:lpstr>Ion Boardroom</vt:lpstr>
      <vt:lpstr>Athena-CTI-LLM Overview aka Glaukopis  Foundational Cyber Threat Intelligence Language Model for the next generation SOC</vt:lpstr>
      <vt:lpstr>PowerPoint Presentation</vt:lpstr>
      <vt:lpstr>Athena Security Group</vt:lpstr>
      <vt:lpstr>Athena Security Group</vt:lpstr>
      <vt:lpstr>PowerPoint Presentation</vt:lpstr>
      <vt:lpstr>PowerPoint Presentation</vt:lpstr>
      <vt:lpstr>PowerPoint Presentation</vt:lpstr>
      <vt:lpstr>PowerPoint Presentation</vt:lpstr>
      <vt:lpstr>AI Enablement</vt:lpstr>
      <vt:lpstr>Enterprise Grade Security</vt:lpstr>
      <vt:lpstr>PowerPoint Presentation</vt:lpstr>
      <vt:lpstr>PowerPoint Presentation</vt:lpstr>
      <vt:lpstr>Athena-CTI-LLM</vt:lpstr>
      <vt:lpstr>Foundational Use Cases for Cyber Security Language Models </vt:lpstr>
      <vt:lpstr>Cyber Security Language Models</vt:lpstr>
      <vt:lpstr>Evaluating the Performance of Cyber Security LLMs Benchmarks for Cyber Security Language Models</vt:lpstr>
      <vt:lpstr>Athena’s Cyber Threat Intelligence LLM Injecting AI directly into the Threat Response Pipeline</vt:lpstr>
      <vt:lpstr>Holistic LLM Design &amp; Integration Strategy</vt:lpstr>
      <vt:lpstr>Instruction Finetuning (IFT)</vt:lpstr>
      <vt:lpstr>Ariadne: Graph Model</vt:lpstr>
      <vt:lpstr>Flashpoint Ignite Data</vt:lpstr>
      <vt:lpstr>Athena-CTI-LLM IFT Design</vt:lpstr>
      <vt:lpstr>Athena-CTI-LLM Product Lifecycle</vt:lpstr>
      <vt:lpstr>PowerPoint Presentation</vt:lpstr>
      <vt:lpstr>CTIBench v1.0 [Working on Athena-CTI-Bench: Q4 ‘25 delivery]</vt:lpstr>
      <vt:lpstr>Will include Capabilities around measurement of trailing last 90 days of CTI data…</vt:lpstr>
      <vt:lpstr>CyberMetric:  Additional CTI Benchmarking</vt:lpstr>
      <vt:lpstr>Natural Language Understanding Benchmarks Avoiding hallucinations (where is the bottom threshold on model size…)  GLUE &amp; SuperGLUE</vt:lpstr>
      <vt:lpstr>NLU Benchmarks (CONT): MMLU</vt:lpstr>
      <vt:lpstr>Summary Value Proposition</vt:lpstr>
      <vt:lpstr>Athena Software Group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Peter Worth</dc:creator>
  <cp:lastModifiedBy>Peter Worth</cp:lastModifiedBy>
  <cp:revision>2</cp:revision>
  <dcterms:created xsi:type="dcterms:W3CDTF">2025-02-21T13:12:15Z</dcterms:created>
  <dcterms:modified xsi:type="dcterms:W3CDTF">2025-09-01T21:46:41Z</dcterms:modified>
</cp:coreProperties>
</file>