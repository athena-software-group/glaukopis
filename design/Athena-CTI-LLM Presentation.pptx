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Cormorant Garamond"/>
      <p:bold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CormorantGaramond-boldItalic.fntdata"/><Relationship Id="rId10" Type="http://schemas.openxmlformats.org/officeDocument/2006/relationships/font" Target="fonts/CormorantGaramond-bold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363e4ea46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6363e4ea46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363e4ea46_2_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6363e4ea46_2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363e4ea46_2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6363e4ea46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7924686" y="4788420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2" y="0"/>
                </a:lnTo>
                <a:lnTo>
                  <a:pt x="3115252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76200" y="1862838"/>
            <a:ext cx="4135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8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Athena-CTI-LLM</a:t>
            </a:r>
            <a:endParaRPr sz="700"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9900" y="361950"/>
            <a:ext cx="6134100" cy="4267200"/>
          </a:xfrm>
          <a:prstGeom prst="rect">
            <a:avLst/>
          </a:prstGeom>
          <a:noFill/>
          <a:ln cap="flat" cmpd="sng" w="9525">
            <a:solidFill>
              <a:srgbClr val="F4F8F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" dir="5400000" dist="38100">
              <a:schemeClr val="lt1">
                <a:alpha val="40000"/>
              </a:scheme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10948" y="9979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7" l="0" r="0" t="-9258"/>
            </a:stretch>
          </a:blipFill>
          <a:ln>
            <a:noFill/>
          </a:ln>
        </p:spPr>
      </p:sp>
      <p:sp>
        <p:nvSpPr>
          <p:cNvPr id="137" name="Google Shape;137;p26"/>
          <p:cNvSpPr txBox="1"/>
          <p:nvPr/>
        </p:nvSpPr>
        <p:spPr>
          <a:xfrm>
            <a:off x="265811" y="71215"/>
            <a:ext cx="727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Gathering &amp; Preprocessing Pipeline</a:t>
            </a:r>
            <a:endParaRPr b="1" i="0" sz="3300" u="none" cap="none" strike="noStrike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38" name="Google Shape;138;p26"/>
          <p:cNvSpPr/>
          <p:nvPr/>
        </p:nvSpPr>
        <p:spPr>
          <a:xfrm rot="10800000">
            <a:off x="7718894" y="4725056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3" y="0"/>
                </a:lnTo>
                <a:lnTo>
                  <a:pt x="3115253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6"/>
          <p:cNvSpPr txBox="1"/>
          <p:nvPr/>
        </p:nvSpPr>
        <p:spPr>
          <a:xfrm>
            <a:off x="244644" y="666750"/>
            <a:ext cx="69648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Following are the steps that are included in data gathering and preprocessing pipeline: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Gathering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Collect data from Cybersecurity websites.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Filter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Filters and only keeps useful data related to CTI.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Data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Generate Question-Answer pairs from filtered data.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Classification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Classifies data in relevant cybersecurity categories.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Review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Human review of Instruction-response pairs.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Alignment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Enhance dataset with real scenarios.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Assembler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Merges final data, removes duplicates.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7211601" y="640492"/>
            <a:ext cx="1837500" cy="39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9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Gathering</a:t>
            </a:r>
            <a:endParaRPr sz="695"/>
          </a:p>
        </p:txBody>
      </p:sp>
      <p:cxnSp>
        <p:nvCxnSpPr>
          <p:cNvPr id="141" name="Google Shape;141;p26"/>
          <p:cNvCxnSpPr/>
          <p:nvPr/>
        </p:nvCxnSpPr>
        <p:spPr>
          <a:xfrm>
            <a:off x="8100669" y="1046468"/>
            <a:ext cx="0" cy="20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p26"/>
          <p:cNvCxnSpPr/>
          <p:nvPr/>
        </p:nvCxnSpPr>
        <p:spPr>
          <a:xfrm>
            <a:off x="8099828" y="1620812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26"/>
          <p:cNvCxnSpPr/>
          <p:nvPr/>
        </p:nvCxnSpPr>
        <p:spPr>
          <a:xfrm>
            <a:off x="8097262" y="2881655"/>
            <a:ext cx="0" cy="23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26"/>
          <p:cNvCxnSpPr/>
          <p:nvPr/>
        </p:nvCxnSpPr>
        <p:spPr>
          <a:xfrm>
            <a:off x="8104133" y="4123495"/>
            <a:ext cx="0" cy="19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26"/>
          <p:cNvCxnSpPr/>
          <p:nvPr/>
        </p:nvCxnSpPr>
        <p:spPr>
          <a:xfrm>
            <a:off x="8098981" y="3499348"/>
            <a:ext cx="0" cy="23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6" name="Google Shape;146;p26"/>
          <p:cNvCxnSpPr/>
          <p:nvPr/>
        </p:nvCxnSpPr>
        <p:spPr>
          <a:xfrm>
            <a:off x="8098981" y="2285909"/>
            <a:ext cx="0" cy="20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26"/>
          <p:cNvSpPr/>
          <p:nvPr/>
        </p:nvSpPr>
        <p:spPr>
          <a:xfrm>
            <a:off x="7205251" y="1237267"/>
            <a:ext cx="1837500" cy="3945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Filter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7193667" y="1893833"/>
            <a:ext cx="1837500" cy="376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 Data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7187317" y="2501317"/>
            <a:ext cx="1837500" cy="376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Classification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7180967" y="3119383"/>
            <a:ext cx="1837500" cy="376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Review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7174617" y="3737450"/>
            <a:ext cx="1837500" cy="376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Alignment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7168267" y="4323766"/>
            <a:ext cx="1837500" cy="376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Assembler</a:t>
            </a:r>
            <a:endParaRPr sz="14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257" l="0" r="0" t="-9258"/>
            </a:stretch>
          </a:blip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27"/>
          <p:cNvSpPr txBox="1"/>
          <p:nvPr/>
        </p:nvSpPr>
        <p:spPr>
          <a:xfrm>
            <a:off x="350478" y="71215"/>
            <a:ext cx="727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Fine Tuning</a:t>
            </a:r>
            <a:endParaRPr b="1" i="0" sz="3300" u="none" cap="none" strike="noStrike">
              <a:solidFill>
                <a:srgbClr val="000000"/>
              </a:solidFill>
              <a:latin typeface="Cormorant Garamond"/>
              <a:ea typeface="Cormorant Garamond"/>
              <a:cs typeface="Cormorant Garamond"/>
              <a:sym typeface="Cormorant Garamond"/>
            </a:endParaRPr>
          </a:p>
        </p:txBody>
      </p:sp>
      <p:sp>
        <p:nvSpPr>
          <p:cNvPr id="159" name="Google Shape;159;p27"/>
          <p:cNvSpPr/>
          <p:nvPr/>
        </p:nvSpPr>
        <p:spPr>
          <a:xfrm rot="10800000">
            <a:off x="7718894" y="4725056"/>
            <a:ext cx="1557626" cy="271876"/>
          </a:xfrm>
          <a:custGeom>
            <a:rect b="b" l="l" r="r" t="t"/>
            <a:pathLst>
              <a:path extrusionOk="0" h="543753" w="3115252">
                <a:moveTo>
                  <a:pt x="0" y="0"/>
                </a:moveTo>
                <a:lnTo>
                  <a:pt x="3115253" y="0"/>
                </a:lnTo>
                <a:lnTo>
                  <a:pt x="3115253" y="543753"/>
                </a:lnTo>
                <a:lnTo>
                  <a:pt x="0" y="543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27"/>
          <p:cNvSpPr txBox="1"/>
          <p:nvPr/>
        </p:nvSpPr>
        <p:spPr>
          <a:xfrm>
            <a:off x="190500" y="600358"/>
            <a:ext cx="6964800" cy="4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Following are the steps that are included in LLM Fine Tuning: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Architecture, Objectives, and Scope for Athena-CTI-LLM.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Collect and prepare data as proposed in our data processing pipeline.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Train the base language model on a large corpus focused on CTI to learn domain-specific patterns.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Parameter-Efficient Fine-Tuning (PEFT) to adapt the model for specific CTI tasks with Instruction-Response data.</a:t>
            </a:r>
            <a:endParaRPr sz="700"/>
          </a:p>
          <a:p>
            <a:pPr indent="-2476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eriod"/>
            </a:pPr>
            <a:r>
              <a:rPr b="1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RLHF</a:t>
            </a:r>
            <a:r>
              <a:rPr b="0" i="0" lang="en-GB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(Optional): Apply reinforcement learning with human feedback to refine model responses for better alignment with expert expectations.</a:t>
            </a:r>
            <a:endParaRPr sz="7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7356523" y="820875"/>
            <a:ext cx="1598100" cy="47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695"/>
          </a:p>
        </p:txBody>
      </p:sp>
      <p:cxnSp>
        <p:nvCxnSpPr>
          <p:cNvPr id="162" name="Google Shape;162;p27"/>
          <p:cNvCxnSpPr/>
          <p:nvPr/>
        </p:nvCxnSpPr>
        <p:spPr>
          <a:xfrm>
            <a:off x="8142083" y="1309351"/>
            <a:ext cx="0" cy="24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27"/>
          <p:cNvCxnSpPr/>
          <p:nvPr/>
        </p:nvCxnSpPr>
        <p:spPr>
          <a:xfrm>
            <a:off x="8141242" y="2000410"/>
            <a:ext cx="0" cy="30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27"/>
          <p:cNvCxnSpPr/>
          <p:nvPr/>
        </p:nvCxnSpPr>
        <p:spPr>
          <a:xfrm>
            <a:off x="8138677" y="3517472"/>
            <a:ext cx="0" cy="28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27"/>
          <p:cNvCxnSpPr/>
          <p:nvPr/>
        </p:nvCxnSpPr>
        <p:spPr>
          <a:xfrm>
            <a:off x="8140395" y="2799592"/>
            <a:ext cx="0" cy="24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p27"/>
          <p:cNvSpPr/>
          <p:nvPr/>
        </p:nvSpPr>
        <p:spPr>
          <a:xfrm>
            <a:off x="7353199" y="2313792"/>
            <a:ext cx="1598100" cy="47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sz="695"/>
          </a:p>
        </p:txBody>
      </p:sp>
      <p:sp>
        <p:nvSpPr>
          <p:cNvPr id="167" name="Google Shape;167;p27"/>
          <p:cNvSpPr/>
          <p:nvPr/>
        </p:nvSpPr>
        <p:spPr>
          <a:xfrm>
            <a:off x="7384024" y="3043511"/>
            <a:ext cx="1557600" cy="47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Fine-Tuning</a:t>
            </a:r>
            <a:endParaRPr sz="695"/>
          </a:p>
        </p:txBody>
      </p:sp>
      <p:sp>
        <p:nvSpPr>
          <p:cNvPr id="168" name="Google Shape;168;p27"/>
          <p:cNvSpPr/>
          <p:nvPr/>
        </p:nvSpPr>
        <p:spPr>
          <a:xfrm>
            <a:off x="7377725" y="3795549"/>
            <a:ext cx="1557600" cy="47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RLHF</a:t>
            </a:r>
            <a:endParaRPr sz="695"/>
          </a:p>
        </p:txBody>
      </p:sp>
      <p:sp>
        <p:nvSpPr>
          <p:cNvPr id="169" name="Google Shape;169;p27"/>
          <p:cNvSpPr/>
          <p:nvPr/>
        </p:nvSpPr>
        <p:spPr>
          <a:xfrm>
            <a:off x="7336266" y="1577192"/>
            <a:ext cx="1598100" cy="474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6DDE7"/>
              </a:gs>
              <a:gs pos="46000">
                <a:srgbClr val="53AFC8"/>
              </a:gs>
              <a:gs pos="100000">
                <a:srgbClr val="276A7C"/>
              </a:gs>
            </a:gsLst>
            <a:path path="circle">
              <a:fillToRect b="50%" l="50%" r="50%" t="50%"/>
            </a:path>
            <a:tileRect/>
          </a:gradFill>
          <a:ln cap="flat" cmpd="sng" w="18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725" lIns="45450" spcFirstLastPara="1" rIns="45450" wrap="square" tIns="22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sz="695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