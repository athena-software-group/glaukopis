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703" r:id="rId1"/>
  </p:sldMasterIdLst>
  <p:notesMasterIdLst>
    <p:notesMasterId r:id="rId15"/>
  </p:notesMasterIdLst>
  <p:handoutMasterIdLst>
    <p:handoutMasterId r:id="rId16"/>
  </p:handoutMasterIdLst>
  <p:sldIdLst>
    <p:sldId id="256" r:id="rId2"/>
    <p:sldId id="281" r:id="rId3"/>
    <p:sldId id="288" r:id="rId4"/>
    <p:sldId id="305" r:id="rId5"/>
    <p:sldId id="310" r:id="rId6"/>
    <p:sldId id="309" r:id="rId7"/>
    <p:sldId id="311" r:id="rId8"/>
    <p:sldId id="314" r:id="rId9"/>
    <p:sldId id="313" r:id="rId10"/>
    <p:sldId id="308" r:id="rId11"/>
    <p:sldId id="304" r:id="rId12"/>
    <p:sldId id="297" r:id="rId13"/>
    <p:sldId id="303" r:id="rId1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0681"/>
    <p:restoredTop sz="86422"/>
  </p:normalViewPr>
  <p:slideViewPr>
    <p:cSldViewPr snapToGrid="0">
      <p:cViewPr>
        <p:scale>
          <a:sx n="130" d="100"/>
          <a:sy n="130" d="100"/>
        </p:scale>
        <p:origin x="1544" y="728"/>
      </p:cViewPr>
      <p:guideLst/>
    </p:cSldViewPr>
  </p:slideViewPr>
  <p:outlineViewPr>
    <p:cViewPr>
      <p:scale>
        <a:sx n="33" d="100"/>
        <a:sy n="33" d="100"/>
      </p:scale>
      <p:origin x="0" y="0"/>
    </p:cViewPr>
  </p:outlineViewPr>
  <p:notesTextViewPr>
    <p:cViewPr>
      <p:scale>
        <a:sx n="1" d="1"/>
        <a:sy n="1" d="1"/>
      </p:scale>
      <p:origin x="0" y="0"/>
    </p:cViewPr>
  </p:notesTextViewPr>
  <p:sorterViewPr>
    <p:cViewPr>
      <p:scale>
        <a:sx n="80" d="100"/>
        <a:sy n="80" d="100"/>
      </p:scale>
      <p:origin x="0" y="0"/>
    </p:cViewPr>
  </p:sorterViewPr>
  <p:notesViewPr>
    <p:cSldViewPr snapToGrid="0">
      <p:cViewPr varScale="1">
        <p:scale>
          <a:sx n="97" d="100"/>
          <a:sy n="97" d="100"/>
        </p:scale>
        <p:origin x="3120" y="20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handoutMaster" Target="handoutMasters/handout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4E03BD63-559D-3A65-C2E2-3094AF2A0E20}"/>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194C289E-5B77-7C7F-C72B-0A38A48D0097}"/>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40B60C55-DA89-A743-AEC4-D5CDB8585989}" type="datetimeFigureOut">
              <a:rPr lang="en-US" smtClean="0"/>
              <a:t>4/18/25</a:t>
            </a:fld>
            <a:endParaRPr lang="en-US"/>
          </a:p>
        </p:txBody>
      </p:sp>
      <p:sp>
        <p:nvSpPr>
          <p:cNvPr id="4" name="Footer Placeholder 3">
            <a:extLst>
              <a:ext uri="{FF2B5EF4-FFF2-40B4-BE49-F238E27FC236}">
                <a16:creationId xmlns:a16="http://schemas.microsoft.com/office/drawing/2014/main" id="{FB6BFC54-C61F-FE63-C261-7099469BB19B}"/>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7C750CD4-05D6-B8E6-8E90-0C212549E794}"/>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E107E640-CE89-B54B-9586-B6FC8349755D}" type="slidenum">
              <a:rPr lang="en-US" smtClean="0"/>
              <a:t>‹#›</a:t>
            </a:fld>
            <a:endParaRPr lang="en-US"/>
          </a:p>
        </p:txBody>
      </p:sp>
    </p:spTree>
    <p:extLst>
      <p:ext uri="{BB962C8B-B14F-4D97-AF65-F5344CB8AC3E}">
        <p14:creationId xmlns:p14="http://schemas.microsoft.com/office/powerpoint/2010/main" val="375744124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27691A4-062C-1345-8352-2ABD21CF9B05}" type="datetimeFigureOut">
              <a:rPr lang="en-US" smtClean="0"/>
              <a:t>4/18/25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5881564-0C77-C641-92EE-90D8B4FBB46A}" type="slidenum">
              <a:rPr lang="en-US" smtClean="0"/>
              <a:t>‹#›</a:t>
            </a:fld>
            <a:endParaRPr lang="en-US"/>
          </a:p>
        </p:txBody>
      </p:sp>
    </p:spTree>
    <p:extLst>
      <p:ext uri="{BB962C8B-B14F-4D97-AF65-F5344CB8AC3E}">
        <p14:creationId xmlns:p14="http://schemas.microsoft.com/office/powerpoint/2010/main" val="343790575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0" y="0"/>
            <a:ext cx="12192000" cy="6858000"/>
            <a:chOff x="0" y="0"/>
            <a:chExt cx="12192000" cy="6858000"/>
          </a:xfrm>
        </p:grpSpPr>
        <p:sp>
          <p:nvSpPr>
            <p:cNvPr id="9" name="Rectangle 8"/>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0"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ctrTitle"/>
          </p:nvPr>
        </p:nvSpPr>
        <p:spPr>
          <a:xfrm>
            <a:off x="1154955" y="2099733"/>
            <a:ext cx="8825658" cy="2677648"/>
          </a:xfrm>
        </p:spPr>
        <p:txBody>
          <a:bodyPr anchor="b"/>
          <a:lstStyle>
            <a:lvl1pPr>
              <a:defRPr sz="5400"/>
            </a:lvl1pPr>
          </a:lstStyle>
          <a:p>
            <a:r>
              <a:rPr lang="en-US"/>
              <a:t>Click to edit Master title style</a:t>
            </a:r>
            <a:endParaRPr lang="en-US" dirty="0"/>
          </a:p>
        </p:txBody>
      </p:sp>
      <p:sp>
        <p:nvSpPr>
          <p:cNvPr id="3" name="Subtitle 2"/>
          <p:cNvSpPr>
            <a:spLocks noGrp="1"/>
          </p:cNvSpPr>
          <p:nvPr>
            <p:ph type="subTitle" idx="1"/>
          </p:nvPr>
        </p:nvSpPr>
        <p:spPr bwMode="gray">
          <a:xfrm>
            <a:off x="1154955" y="4777380"/>
            <a:ext cx="8825658" cy="861420"/>
          </a:xfrm>
        </p:spPr>
        <p:txBody>
          <a:bodyPr anchor="t"/>
          <a:lstStyle>
            <a:lvl1pPr marL="0" indent="0" algn="l">
              <a:buNone/>
              <a:defRPr cap="all">
                <a:solidFill>
                  <a:schemeClr val="accent1">
                    <a:lumMod val="60000"/>
                    <a:lumOff val="4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Footer Placeholder 4">
            <a:extLst>
              <a:ext uri="{FF2B5EF4-FFF2-40B4-BE49-F238E27FC236}">
                <a16:creationId xmlns:a16="http://schemas.microsoft.com/office/drawing/2014/main" id="{5E45AD0F-4E17-69EF-FFEF-5A27BE10EFD0}"/>
              </a:ext>
            </a:extLst>
          </p:cNvPr>
          <p:cNvSpPr txBox="1">
            <a:spLocks/>
          </p:cNvSpPr>
          <p:nvPr userDrawn="1"/>
        </p:nvSpPr>
        <p:spPr>
          <a:xfrm rot="16200000">
            <a:off x="9214810" y="2913201"/>
            <a:ext cx="5447499" cy="345796"/>
          </a:xfrm>
          <a:prstGeom prst="rect">
            <a:avLst/>
          </a:prstGeom>
        </p:spPr>
        <p:txBody>
          <a:bodyPr vert="horz" lIns="91440" tIns="45720" rIns="91440" bIns="45720" rtlCol="0" anchor="ctr"/>
          <a:lstStyle>
            <a:defPPr>
              <a:defRPr lang="en-US"/>
            </a:defPPr>
            <a:lvl1pPr marL="0" algn="ctr" defTabSz="457200" rtl="0" eaLnBrk="1" latinLnBrk="0" hangingPunct="1">
              <a:defRPr sz="1200" kern="1200">
                <a:solidFill>
                  <a:schemeClr val="tx1">
                    <a:lumMod val="65000"/>
                    <a:lumOff val="3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US" sz="700" b="1" i="1" dirty="0"/>
              <a:t>© 2025 Athena Software Group Inc. Confidential &amp; Proprietary. Do not distribute without express permission.</a:t>
            </a:r>
          </a:p>
        </p:txBody>
      </p:sp>
    </p:spTree>
    <p:extLst>
      <p:ext uri="{BB962C8B-B14F-4D97-AF65-F5344CB8AC3E}">
        <p14:creationId xmlns:p14="http://schemas.microsoft.com/office/powerpoint/2010/main" val="1894367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3" name="Content Placeholder 2"/>
          <p:cNvSpPr>
            <a:spLocks noGrp="1"/>
          </p:cNvSpPr>
          <p:nvPr>
            <p:ph idx="1"/>
          </p:nvPr>
        </p:nvSpPr>
        <p:spPr>
          <a:xfrm>
            <a:off x="761549" y="1497713"/>
            <a:ext cx="10264414" cy="477549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p:cNvSpPr>
            <a:spLocks noGrp="1"/>
          </p:cNvSpPr>
          <p:nvPr>
            <p:ph type="ftr" sz="quarter" idx="11"/>
          </p:nvPr>
        </p:nvSpPr>
        <p:spPr>
          <a:xfrm>
            <a:off x="8205920" y="6495651"/>
            <a:ext cx="3859795" cy="304801"/>
          </a:xfrm>
        </p:spPr>
        <p:txBody>
          <a:bodyPr/>
          <a:lstStyle/>
          <a:p>
            <a:pPr algn="r"/>
            <a:fld id="{9C4FC681-3263-2441-8D4E-1B966C167F1A}" type="slidenum">
              <a:rPr lang="en-US" smtClean="0"/>
              <a:pPr algn="r"/>
              <a:t>‹#›</a:t>
            </a:fld>
            <a:endParaRPr lang="en-US" dirty="0"/>
          </a:p>
        </p:txBody>
      </p:sp>
    </p:spTree>
    <p:extLst>
      <p:ext uri="{BB962C8B-B14F-4D97-AF65-F5344CB8AC3E}">
        <p14:creationId xmlns:p14="http://schemas.microsoft.com/office/powerpoint/2010/main" val="120900957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grpSp>
        <p:nvGrpSpPr>
          <p:cNvPr id="8" name="Group 7"/>
          <p:cNvGrpSpPr/>
          <p:nvPr userDrawn="1"/>
        </p:nvGrpSpPr>
        <p:grpSpPr>
          <a:xfrm>
            <a:off x="0" y="0"/>
            <a:ext cx="12192000" cy="6858000"/>
            <a:chOff x="0" y="0"/>
            <a:chExt cx="12192000" cy="6858000"/>
          </a:xfrm>
        </p:grpSpPr>
        <p:sp>
          <p:nvSpPr>
            <p:cNvPr id="14" name="Rectangle 13"/>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0" name="Rectangle 9"/>
            <p:cNvSpPr/>
            <p:nvPr/>
          </p:nvSpPr>
          <p:spPr bwMode="gray">
            <a:xfrm>
              <a:off x="7289800" y="402165"/>
              <a:ext cx="4478865"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1" name="Freeform 5"/>
            <p:cNvSpPr/>
            <p:nvPr/>
          </p:nvSpPr>
          <p:spPr bwMode="gray">
            <a:xfrm rot="16200000">
              <a:off x="3787244"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2" name="Freeform 5"/>
            <p:cNvSpPr/>
            <p:nvPr/>
          </p:nvSpPr>
          <p:spPr bwMode="gray">
            <a:xfrm rot="15922489">
              <a:off x="4698352"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2677645"/>
            <a:ext cx="4351025" cy="2283824"/>
          </a:xfrm>
        </p:spPr>
        <p:txBody>
          <a:bodyPr anchor="ctr"/>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895559" y="2677644"/>
            <a:ext cx="3757545" cy="2283824"/>
          </a:xfrm>
        </p:spPr>
        <p:txBody>
          <a:bodyPr anchor="ctr"/>
          <a:lstStyle>
            <a:lvl1pPr marL="0" indent="0" algn="l">
              <a:buNone/>
              <a:defRPr sz="2000" cap="all">
                <a:solidFill>
                  <a:schemeClr val="accent1">
                    <a:lumMod val="60000"/>
                    <a:lumOff val="4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10989733" y="6425608"/>
            <a:ext cx="990599" cy="304799"/>
          </a:xfrm>
          <a:prstGeom prst="rect">
            <a:avLst/>
          </a:prstGeom>
        </p:spPr>
        <p:txBody>
          <a:bodyPr/>
          <a:lstStyle>
            <a:lvl1pPr algn="r">
              <a:defRPr sz="900" i="1"/>
            </a:lvl1pPr>
          </a:lstStyle>
          <a:p>
            <a:fld id="{F7BBDEBC-094A-3E44-A10F-D4B92F503C5D}" type="slidenum">
              <a:rPr lang="en-US" smtClean="0"/>
              <a:pPr/>
              <a:t>‹#›</a:t>
            </a:fld>
            <a:endParaRPr lang="en-US" dirty="0"/>
          </a:p>
        </p:txBody>
      </p:sp>
      <p:sp>
        <p:nvSpPr>
          <p:cNvPr id="6" name="Footer Placeholder 4">
            <a:extLst>
              <a:ext uri="{FF2B5EF4-FFF2-40B4-BE49-F238E27FC236}">
                <a16:creationId xmlns:a16="http://schemas.microsoft.com/office/drawing/2014/main" id="{B6D4F4C4-A7D4-7CE9-F738-F8C153960C3F}"/>
              </a:ext>
            </a:extLst>
          </p:cNvPr>
          <p:cNvSpPr txBox="1">
            <a:spLocks/>
          </p:cNvSpPr>
          <p:nvPr userDrawn="1"/>
        </p:nvSpPr>
        <p:spPr>
          <a:xfrm rot="16200000">
            <a:off x="9246707" y="2913201"/>
            <a:ext cx="5447499" cy="345796"/>
          </a:xfrm>
          <a:prstGeom prst="rect">
            <a:avLst/>
          </a:prstGeom>
        </p:spPr>
        <p:txBody>
          <a:bodyPr vert="horz" lIns="91440" tIns="45720" rIns="91440" bIns="45720" rtlCol="0" anchor="ctr"/>
          <a:lstStyle>
            <a:defPPr>
              <a:defRPr lang="en-US"/>
            </a:defPPr>
            <a:lvl1pPr marL="0" algn="ctr" defTabSz="457200" rtl="0" eaLnBrk="1" latinLnBrk="0" hangingPunct="1">
              <a:defRPr sz="1200" kern="1200">
                <a:solidFill>
                  <a:schemeClr val="tx1">
                    <a:lumMod val="65000"/>
                    <a:lumOff val="3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US" sz="700" b="1" i="1" dirty="0"/>
              <a:t>© 2025 Athena Software Group Inc. Confidential &amp; Proprietary. Do not distribute without express permission.</a:t>
            </a:r>
          </a:p>
        </p:txBody>
      </p:sp>
    </p:spTree>
    <p:extLst>
      <p:ext uri="{BB962C8B-B14F-4D97-AF65-F5344CB8AC3E}">
        <p14:creationId xmlns:p14="http://schemas.microsoft.com/office/powerpoint/2010/main" val="320962343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772180" y="1561512"/>
            <a:ext cx="5168126" cy="4328926"/>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51244" y="1561511"/>
            <a:ext cx="5168127" cy="4328925"/>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p:cNvSpPr>
            <a:spLocks noGrp="1"/>
          </p:cNvSpPr>
          <p:nvPr>
            <p:ph type="ftr" sz="quarter" idx="11"/>
          </p:nvPr>
        </p:nvSpPr>
        <p:spPr>
          <a:xfrm>
            <a:off x="10334847" y="6394937"/>
            <a:ext cx="1518217" cy="304801"/>
          </a:xfrm>
        </p:spPr>
        <p:txBody>
          <a:bodyPr/>
          <a:lstStyle/>
          <a:p>
            <a:pPr algn="r"/>
            <a:fld id="{1C9CC63D-7044-BB42-81DD-D2F8934B041B}" type="slidenum">
              <a:rPr lang="en-US" smtClean="0"/>
              <a:pPr algn="r"/>
              <a:t>‹#›</a:t>
            </a:fld>
            <a:endParaRPr lang="en-US" dirty="0"/>
          </a:p>
        </p:txBody>
      </p:sp>
    </p:spTree>
    <p:extLst>
      <p:ext uri="{BB962C8B-B14F-4D97-AF65-F5344CB8AC3E}">
        <p14:creationId xmlns:p14="http://schemas.microsoft.com/office/powerpoint/2010/main" val="16202743"/>
      </p:ext>
    </p:extLst>
  </p:cSld>
  <p:clrMapOvr>
    <a:masterClrMapping/>
  </p:clrMapOvr>
  <p:extLst>
    <p:ext uri="{DCECCB84-F9BA-43D5-87BE-67443E8EF086}">
      <p15:sldGuideLst xmlns:p15="http://schemas.microsoft.com/office/powerpoint/2012/main"/>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740282" y="1476445"/>
            <a:ext cx="4825157"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p:cNvSpPr>
            <a:spLocks noGrp="1"/>
          </p:cNvSpPr>
          <p:nvPr>
            <p:ph sz="half" idx="2"/>
          </p:nvPr>
        </p:nvSpPr>
        <p:spPr>
          <a:xfrm>
            <a:off x="740281" y="2052707"/>
            <a:ext cx="5072431" cy="3901526"/>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081121" y="1476445"/>
            <a:ext cx="4825159"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081121" y="2052707"/>
            <a:ext cx="5072432" cy="3901526"/>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Footer Placeholder 7"/>
          <p:cNvSpPr>
            <a:spLocks noGrp="1"/>
          </p:cNvSpPr>
          <p:nvPr>
            <p:ph type="ftr" sz="quarter" idx="11"/>
          </p:nvPr>
        </p:nvSpPr>
        <p:spPr/>
        <p:txBody>
          <a:bodyPr/>
          <a:lstStyle/>
          <a:p>
            <a:pPr algn="r"/>
            <a:fld id="{B3C9BB79-FD74-4C49-A196-2BEE401B79B8}" type="slidenum">
              <a:rPr lang="en-US" smtClean="0"/>
              <a:pPr algn="r"/>
              <a:t>‹#›</a:t>
            </a:fld>
            <a:endParaRPr lang="en-US" dirty="0"/>
          </a:p>
        </p:txBody>
      </p:sp>
    </p:spTree>
    <p:extLst>
      <p:ext uri="{BB962C8B-B14F-4D97-AF65-F5344CB8AC3E}">
        <p14:creationId xmlns:p14="http://schemas.microsoft.com/office/powerpoint/2010/main" val="56407849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9" name="Title 1"/>
          <p:cNvSpPr>
            <a:spLocks noGrp="1"/>
          </p:cNvSpPr>
          <p:nvPr>
            <p:ph type="title"/>
          </p:nvPr>
        </p:nvSpPr>
        <p:spPr>
          <a:xfrm>
            <a:off x="761548" y="293183"/>
            <a:ext cx="8761413" cy="706964"/>
          </a:xfrm>
        </p:spPr>
        <p:txBody>
          <a:bodyPr/>
          <a:lstStyle>
            <a:lvl1pPr>
              <a:defRPr/>
            </a:lvl1pPr>
          </a:lstStyle>
          <a:p>
            <a:r>
              <a:rPr lang="en-US"/>
              <a:t>Click to edit Master title style</a:t>
            </a:r>
            <a:endParaRPr lang="en-US" dirty="0"/>
          </a:p>
        </p:txBody>
      </p:sp>
      <p:sp>
        <p:nvSpPr>
          <p:cNvPr id="4" name="Footer Placeholder 3"/>
          <p:cNvSpPr>
            <a:spLocks noGrp="1"/>
          </p:cNvSpPr>
          <p:nvPr>
            <p:ph type="ftr" sz="quarter" idx="11"/>
          </p:nvPr>
        </p:nvSpPr>
        <p:spPr/>
        <p:txBody>
          <a:bodyPr/>
          <a:lstStyle/>
          <a:p>
            <a:pPr algn="r"/>
            <a:fld id="{B5C64A5F-1F59-3C4E-89E0-4BD8C4499B92}" type="slidenum">
              <a:rPr lang="en-US" smtClean="0"/>
              <a:pPr algn="r"/>
              <a:t>‹#›</a:t>
            </a:fld>
            <a:endParaRPr lang="en-US" dirty="0"/>
          </a:p>
        </p:txBody>
      </p:sp>
    </p:spTree>
    <p:extLst>
      <p:ext uri="{BB962C8B-B14F-4D97-AF65-F5344CB8AC3E}">
        <p14:creationId xmlns:p14="http://schemas.microsoft.com/office/powerpoint/2010/main" val="159746966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3" name="Footer Placeholder 2"/>
          <p:cNvSpPr>
            <a:spLocks noGrp="1"/>
          </p:cNvSpPr>
          <p:nvPr>
            <p:ph type="ftr" sz="quarter" idx="11"/>
          </p:nvPr>
        </p:nvSpPr>
        <p:spPr/>
        <p:txBody>
          <a:bodyPr/>
          <a:lstStyle/>
          <a:p>
            <a:pPr algn="r"/>
            <a:fld id="{EA810688-59B9-8947-83B3-402BE705B2AB}" type="slidenum">
              <a:rPr lang="en-US" smtClean="0"/>
              <a:pPr algn="r"/>
              <a:t>‹#›</a:t>
            </a:fld>
            <a:endParaRPr lang="en-US" dirty="0"/>
          </a:p>
        </p:txBody>
      </p:sp>
      <p:sp>
        <p:nvSpPr>
          <p:cNvPr id="4" name="Footer Placeholder 4">
            <a:extLst>
              <a:ext uri="{FF2B5EF4-FFF2-40B4-BE49-F238E27FC236}">
                <a16:creationId xmlns:a16="http://schemas.microsoft.com/office/drawing/2014/main" id="{309F5638-830F-4095-4730-FC2AF7CB5628}"/>
              </a:ext>
            </a:extLst>
          </p:cNvPr>
          <p:cNvSpPr txBox="1">
            <a:spLocks/>
          </p:cNvSpPr>
          <p:nvPr userDrawn="1"/>
        </p:nvSpPr>
        <p:spPr>
          <a:xfrm rot="16200000">
            <a:off x="9295353" y="2934466"/>
            <a:ext cx="5447499" cy="345796"/>
          </a:xfrm>
          <a:prstGeom prst="rect">
            <a:avLst/>
          </a:prstGeom>
        </p:spPr>
        <p:txBody>
          <a:bodyPr vert="horz" lIns="91440" tIns="45720" rIns="91440" bIns="45720" rtlCol="0" anchor="ctr"/>
          <a:lstStyle>
            <a:defPPr>
              <a:defRPr lang="en-US"/>
            </a:defPPr>
            <a:lvl1pPr marL="0" algn="ctr" defTabSz="457200" rtl="0" eaLnBrk="1" latinLnBrk="0" hangingPunct="1">
              <a:defRPr sz="1200" kern="1200">
                <a:solidFill>
                  <a:schemeClr val="tx1">
                    <a:lumMod val="65000"/>
                    <a:lumOff val="3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US" sz="700" b="1" i="1" dirty="0"/>
              <a:t>© 2025 Athena Software Group Inc. Confidential &amp; Proprietary. Do not distribute without express permission.</a:t>
            </a:r>
          </a:p>
        </p:txBody>
      </p:sp>
      <p:pic>
        <p:nvPicPr>
          <p:cNvPr id="5" name="Picture 4">
            <a:extLst>
              <a:ext uri="{FF2B5EF4-FFF2-40B4-BE49-F238E27FC236}">
                <a16:creationId xmlns:a16="http://schemas.microsoft.com/office/drawing/2014/main" id="{FE857522-7A0E-871F-1012-E443B74AC09B}"/>
              </a:ext>
            </a:extLst>
          </p:cNvPr>
          <p:cNvPicPr>
            <a:picLocks noChangeAspect="1"/>
          </p:cNvPicPr>
          <p:nvPr userDrawn="1"/>
        </p:nvPicPr>
        <p:blipFill>
          <a:blip r:embed="rId2"/>
          <a:stretch>
            <a:fillRect/>
          </a:stretch>
        </p:blipFill>
        <p:spPr>
          <a:xfrm>
            <a:off x="76049" y="6368544"/>
            <a:ext cx="1048663" cy="368796"/>
          </a:xfrm>
          <a:prstGeom prst="rect">
            <a:avLst/>
          </a:prstGeom>
        </p:spPr>
      </p:pic>
    </p:spTree>
    <p:extLst>
      <p:ext uri="{BB962C8B-B14F-4D97-AF65-F5344CB8AC3E}">
        <p14:creationId xmlns:p14="http://schemas.microsoft.com/office/powerpoint/2010/main" val="322658286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4" name="Rectangle 13"/>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2" name="Oval 21"/>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bwMode="gray">
            <a:xfrm>
              <a:off x="5713412" y="402165"/>
              <a:ext cx="6055253"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8" name="Freeform 5"/>
            <p:cNvSpPr/>
            <p:nvPr/>
          </p:nvSpPr>
          <p:spPr bwMode="gray">
            <a:xfrm rot="15922489">
              <a:off x="3140485"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2" name="Freeform 5"/>
            <p:cNvSpPr/>
            <p:nvPr/>
          </p:nvSpPr>
          <p:spPr bwMode="gray">
            <a:xfrm rot="16200000">
              <a:off x="2229377"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5" y="1295400"/>
            <a:ext cx="2793158" cy="1600200"/>
          </a:xfrm>
        </p:spPr>
        <p:txBody>
          <a:bodyPr anchor="b"/>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5781146" y="1447800"/>
            <a:ext cx="5190066" cy="4572000"/>
          </a:xfrm>
        </p:spPr>
        <p:txBody>
          <a:bodyPr anchor="ctr">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p:cNvSpPr>
            <a:spLocks noGrp="1"/>
          </p:cNvSpPr>
          <p:nvPr>
            <p:ph type="body" sz="half" idx="2"/>
          </p:nvPr>
        </p:nvSpPr>
        <p:spPr bwMode="gray">
          <a:xfrm>
            <a:off x="1154954" y="3129280"/>
            <a:ext cx="2793158" cy="2895599"/>
          </a:xfrm>
        </p:spPr>
        <p:txBody>
          <a:bodyPr/>
          <a:lstStyle>
            <a:lvl1pPr marL="0" indent="0">
              <a:buNone/>
              <a:defRPr sz="14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10870287" y="6385780"/>
            <a:ext cx="1254558" cy="217039"/>
          </a:xfrm>
          <a:prstGeom prst="rect">
            <a:avLst/>
          </a:prstGeom>
        </p:spPr>
        <p:txBody>
          <a:bodyPr/>
          <a:lstStyle>
            <a:lvl1pPr algn="r">
              <a:defRPr sz="900" i="1"/>
            </a:lvl1pPr>
          </a:lstStyle>
          <a:p>
            <a:fld id="{C4ACEAA9-3A0B-3642-9455-D05A4C65DD03}" type="slidenum">
              <a:rPr lang="en-US" smtClean="0"/>
              <a:pPr/>
              <a:t>‹#›</a:t>
            </a:fld>
            <a:endParaRPr lang="en-US" dirty="0"/>
          </a:p>
        </p:txBody>
      </p:sp>
      <p:sp>
        <p:nvSpPr>
          <p:cNvPr id="6" name="Footer Placeholder 4">
            <a:extLst>
              <a:ext uri="{FF2B5EF4-FFF2-40B4-BE49-F238E27FC236}">
                <a16:creationId xmlns:a16="http://schemas.microsoft.com/office/drawing/2014/main" id="{743B1D88-2AB0-D058-7545-1123638EAF59}"/>
              </a:ext>
            </a:extLst>
          </p:cNvPr>
          <p:cNvSpPr txBox="1">
            <a:spLocks/>
          </p:cNvSpPr>
          <p:nvPr userDrawn="1"/>
        </p:nvSpPr>
        <p:spPr>
          <a:xfrm rot="16200000">
            <a:off x="9295353" y="2913201"/>
            <a:ext cx="5447499" cy="345796"/>
          </a:xfrm>
          <a:prstGeom prst="rect">
            <a:avLst/>
          </a:prstGeom>
        </p:spPr>
        <p:txBody>
          <a:bodyPr vert="horz" lIns="91440" tIns="45720" rIns="91440" bIns="45720" rtlCol="0" anchor="ctr"/>
          <a:lstStyle>
            <a:defPPr>
              <a:defRPr lang="en-US"/>
            </a:defPPr>
            <a:lvl1pPr marL="0" algn="ctr" defTabSz="457200" rtl="0" eaLnBrk="1" latinLnBrk="0" hangingPunct="1">
              <a:defRPr sz="1200" kern="1200">
                <a:solidFill>
                  <a:schemeClr val="tx1">
                    <a:lumMod val="65000"/>
                    <a:lumOff val="3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US" sz="700" b="1" i="1" dirty="0"/>
              <a:t>© 2025 Athena Software Group Inc. Confidential &amp; Proprietary. Do not distribute without express permission.</a:t>
            </a:r>
          </a:p>
        </p:txBody>
      </p:sp>
    </p:spTree>
    <p:extLst>
      <p:ext uri="{BB962C8B-B14F-4D97-AF65-F5344CB8AC3E}">
        <p14:creationId xmlns:p14="http://schemas.microsoft.com/office/powerpoint/2010/main" val="932320774"/>
      </p:ext>
    </p:extLst>
  </p:cSld>
  <p:clrMapOvr>
    <a:masterClrMapping/>
  </p:clrMapOvr>
  <p:extLst>
    <p:ext uri="{DCECCB84-F9BA-43D5-87BE-67443E8EF086}">
      <p15:sldGuideLst xmlns:p15="http://schemas.microsoft.com/office/powerpoint/2012/main"/>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grpSp>
        <p:nvGrpSpPr>
          <p:cNvPr id="9" name="Group 8"/>
          <p:cNvGrpSpPr/>
          <p:nvPr/>
        </p:nvGrpSpPr>
        <p:grpSpPr>
          <a:xfrm>
            <a:off x="9793" y="0"/>
            <a:ext cx="12268200" cy="6864877"/>
            <a:chOff x="0" y="0"/>
            <a:chExt cx="12268200" cy="6864877"/>
          </a:xfrm>
        </p:grpSpPr>
        <p:sp>
          <p:nvSpPr>
            <p:cNvPr id="14" name="Rectangle 13"/>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bwMode="gray">
            <a:xfrm>
              <a:off x="6172200" y="402165"/>
              <a:ext cx="5596465"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22" name="Freeform 5"/>
            <p:cNvSpPr/>
            <p:nvPr/>
          </p:nvSpPr>
          <p:spPr bwMode="gray">
            <a:xfrm rot="15922489">
              <a:off x="4203594"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2" name="Freeform 5"/>
            <p:cNvSpPr/>
            <p:nvPr/>
          </p:nvSpPr>
          <p:spPr bwMode="gray">
            <a:xfrm rot="16200000">
              <a:off x="3295432"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5" name="Freeform 5"/>
            <p:cNvSpPr>
              <a:spLocks noEditPoints="1"/>
            </p:cNvSpPr>
            <p:nvPr/>
          </p:nvSpPr>
          <p:spPr bwMode="gray">
            <a:xfrm>
              <a:off x="76200" y="8464"/>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5" y="1693333"/>
            <a:ext cx="3865134" cy="1735667"/>
          </a:xfrm>
        </p:spPr>
        <p:txBody>
          <a:bodyPr anchor="b">
            <a:normAutofit/>
          </a:bodyPr>
          <a:lstStyle>
            <a:lvl1pPr algn="l">
              <a:defRPr sz="36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547870" y="1143000"/>
            <a:ext cx="3227193"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marL="0" lvl="0" indent="0" algn="ctr">
              <a:buNone/>
            </a:pPr>
            <a:r>
              <a:rPr lang="en-US"/>
              <a:t>Click icon to add picture</a:t>
            </a:r>
            <a:endParaRPr lang="en-US" dirty="0"/>
          </a:p>
        </p:txBody>
      </p:sp>
      <p:sp>
        <p:nvSpPr>
          <p:cNvPr id="4" name="Text Placeholder 3"/>
          <p:cNvSpPr>
            <a:spLocks noGrp="1"/>
          </p:cNvSpPr>
          <p:nvPr>
            <p:ph type="body" sz="half" idx="2"/>
          </p:nvPr>
        </p:nvSpPr>
        <p:spPr bwMode="gray">
          <a:xfrm>
            <a:off x="1154954" y="3657600"/>
            <a:ext cx="3859212" cy="1371600"/>
          </a:xfrm>
        </p:spPr>
        <p:txBody>
          <a:bodyPr>
            <a:normAutofit/>
          </a:bodyPr>
          <a:lstStyle>
            <a:lvl1pPr marL="0" indent="0">
              <a:buNone/>
              <a:defRPr sz="14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6" name="Footer Placeholder 5"/>
          <p:cNvSpPr>
            <a:spLocks noGrp="1"/>
          </p:cNvSpPr>
          <p:nvPr>
            <p:ph type="ftr" sz="quarter" idx="11"/>
          </p:nvPr>
        </p:nvSpPr>
        <p:spPr/>
        <p:txBody>
          <a:bodyPr/>
          <a:lstStyle/>
          <a:p>
            <a:pPr algn="r"/>
            <a:fld id="{10B50D97-ADDF-3D43-906B-48D9973569F9}" type="slidenum">
              <a:rPr lang="en-US" smtClean="0"/>
              <a:pPr algn="r"/>
              <a:t>‹#›</a:t>
            </a:fld>
            <a:endParaRPr lang="en-US" dirty="0"/>
          </a:p>
        </p:txBody>
      </p:sp>
      <p:sp>
        <p:nvSpPr>
          <p:cNvPr id="7" name="Footer Placeholder 4">
            <a:extLst>
              <a:ext uri="{FF2B5EF4-FFF2-40B4-BE49-F238E27FC236}">
                <a16:creationId xmlns:a16="http://schemas.microsoft.com/office/drawing/2014/main" id="{17AE52F1-D969-AAD5-8463-35F5D60A997B}"/>
              </a:ext>
            </a:extLst>
          </p:cNvPr>
          <p:cNvSpPr txBox="1">
            <a:spLocks/>
          </p:cNvSpPr>
          <p:nvPr userDrawn="1"/>
        </p:nvSpPr>
        <p:spPr>
          <a:xfrm rot="16200000">
            <a:off x="9266377" y="2913201"/>
            <a:ext cx="5447499" cy="345796"/>
          </a:xfrm>
          <a:prstGeom prst="rect">
            <a:avLst/>
          </a:prstGeom>
        </p:spPr>
        <p:txBody>
          <a:bodyPr vert="horz" lIns="91440" tIns="45720" rIns="91440" bIns="45720" rtlCol="0" anchor="ctr"/>
          <a:lstStyle>
            <a:defPPr>
              <a:defRPr lang="en-US"/>
            </a:defPPr>
            <a:lvl1pPr marL="0" algn="ctr" defTabSz="457200" rtl="0" eaLnBrk="1" latinLnBrk="0" hangingPunct="1">
              <a:defRPr sz="1200" kern="1200">
                <a:solidFill>
                  <a:schemeClr val="tx1">
                    <a:lumMod val="65000"/>
                    <a:lumOff val="3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US" sz="700" b="1" i="1" dirty="0"/>
              <a:t>© 2025 Athena Software Group Inc. Confidential &amp; Proprietary. Do not distribute without express permission.</a:t>
            </a:r>
          </a:p>
        </p:txBody>
      </p:sp>
    </p:spTree>
    <p:extLst>
      <p:ext uri="{BB962C8B-B14F-4D97-AF65-F5344CB8AC3E}">
        <p14:creationId xmlns:p14="http://schemas.microsoft.com/office/powerpoint/2010/main" val="399588332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4" y="4969927"/>
            <a:ext cx="8825659"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54954" y="685800"/>
            <a:ext cx="8825659" cy="3429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54954" y="5536665"/>
            <a:ext cx="8825658" cy="493712"/>
          </a:xfrm>
        </p:spPr>
        <p:txBody>
          <a:bodyPr>
            <a:normAutofit/>
          </a:bodyPr>
          <a:lstStyle>
            <a:lvl1pPr marL="0" indent="0">
              <a:buNone/>
              <a:defRPr sz="12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6" name="Footer Placeholder 5"/>
          <p:cNvSpPr>
            <a:spLocks noGrp="1"/>
          </p:cNvSpPr>
          <p:nvPr>
            <p:ph type="ftr" sz="quarter" idx="11"/>
          </p:nvPr>
        </p:nvSpPr>
        <p:spPr/>
        <p:txBody>
          <a:bodyPr/>
          <a:lstStyle/>
          <a:p>
            <a:pPr algn="r"/>
            <a:fld id="{45889B20-706B-AB40-B6C3-4ABCE1FF1F4F}" type="slidenum">
              <a:rPr lang="en-US" smtClean="0"/>
              <a:pPr algn="r"/>
              <a:t>‹#›</a:t>
            </a:fld>
            <a:endParaRPr lang="en-US" dirty="0"/>
          </a:p>
        </p:txBody>
      </p:sp>
    </p:spTree>
    <p:extLst>
      <p:ext uri="{BB962C8B-B14F-4D97-AF65-F5344CB8AC3E}">
        <p14:creationId xmlns:p14="http://schemas.microsoft.com/office/powerpoint/2010/main" val="413578857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Title and Caption">
    <p:spTree>
      <p:nvGrpSpPr>
        <p:cNvPr id="1" name=""/>
        <p:cNvGrpSpPr/>
        <p:nvPr/>
      </p:nvGrpSpPr>
      <p:grpSpPr>
        <a:xfrm>
          <a:off x="0" y="0"/>
          <a:ext cx="0" cy="0"/>
          <a:chOff x="0" y="0"/>
          <a:chExt cx="0" cy="0"/>
        </a:xfrm>
      </p:grpSpPr>
      <p:grpSp>
        <p:nvGrpSpPr>
          <p:cNvPr id="7" name="Group 6"/>
          <p:cNvGrpSpPr/>
          <p:nvPr/>
        </p:nvGrpSpPr>
        <p:grpSpPr>
          <a:xfrm>
            <a:off x="0" y="0"/>
            <a:ext cx="12192000" cy="6858000"/>
            <a:chOff x="0" y="0"/>
            <a:chExt cx="12192000" cy="6858000"/>
          </a:xfrm>
        </p:grpSpPr>
        <p:sp>
          <p:nvSpPr>
            <p:cNvPr id="11" name="Rectangle 10"/>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4" name="Oval 13"/>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5" name="Freeform 5"/>
            <p:cNvSpPr/>
            <p:nvPr/>
          </p:nvSpPr>
          <p:spPr bwMode="gray">
            <a:xfrm rot="21010068">
              <a:off x="8490951" y="2714874"/>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7" name="Freeform 5"/>
            <p:cNvSpPr/>
            <p:nvPr/>
          </p:nvSpPr>
          <p:spPr bwMode="gray">
            <a:xfrm>
              <a:off x="455612" y="2801319"/>
              <a:ext cx="11277600" cy="3602637"/>
            </a:xfrm>
            <a:custGeom>
              <a:avLst/>
              <a:gdLst/>
              <a:ahLst/>
              <a:cxnLst/>
              <a:rect l="l" t="t" r="r" b="b"/>
              <a:pathLst>
                <a:path w="10000" h="7946">
                  <a:moveTo>
                    <a:pt x="0" y="0"/>
                  </a:moveTo>
                  <a:lnTo>
                    <a:pt x="0" y="7945"/>
                  </a:lnTo>
                  <a:lnTo>
                    <a:pt x="10000" y="7946"/>
                  </a:lnTo>
                  <a:lnTo>
                    <a:pt x="10000" y="4"/>
                  </a:lnTo>
                  <a:lnTo>
                    <a:pt x="10000" y="4"/>
                  </a:lnTo>
                  <a:lnTo>
                    <a:pt x="9773" y="91"/>
                  </a:lnTo>
                  <a:lnTo>
                    <a:pt x="9547" y="175"/>
                  </a:lnTo>
                  <a:lnTo>
                    <a:pt x="9320" y="256"/>
                  </a:lnTo>
                  <a:lnTo>
                    <a:pt x="9092" y="326"/>
                  </a:lnTo>
                  <a:lnTo>
                    <a:pt x="8865" y="396"/>
                  </a:lnTo>
                  <a:lnTo>
                    <a:pt x="8637" y="462"/>
                  </a:lnTo>
                  <a:lnTo>
                    <a:pt x="8412" y="518"/>
                  </a:lnTo>
                  <a:lnTo>
                    <a:pt x="8184" y="571"/>
                  </a:lnTo>
                  <a:lnTo>
                    <a:pt x="7957" y="620"/>
                  </a:lnTo>
                  <a:lnTo>
                    <a:pt x="7734" y="662"/>
                  </a:lnTo>
                  <a:lnTo>
                    <a:pt x="7508" y="704"/>
                  </a:lnTo>
                  <a:lnTo>
                    <a:pt x="7285" y="739"/>
                  </a:lnTo>
                  <a:lnTo>
                    <a:pt x="7062" y="767"/>
                  </a:lnTo>
                  <a:lnTo>
                    <a:pt x="6840" y="795"/>
                  </a:lnTo>
                  <a:lnTo>
                    <a:pt x="6620" y="819"/>
                  </a:lnTo>
                  <a:lnTo>
                    <a:pt x="6402" y="837"/>
                  </a:lnTo>
                  <a:lnTo>
                    <a:pt x="6184" y="851"/>
                  </a:lnTo>
                  <a:lnTo>
                    <a:pt x="5968" y="865"/>
                  </a:lnTo>
                  <a:lnTo>
                    <a:pt x="5755" y="872"/>
                  </a:lnTo>
                  <a:lnTo>
                    <a:pt x="5542" y="879"/>
                  </a:lnTo>
                  <a:lnTo>
                    <a:pt x="5332" y="882"/>
                  </a:lnTo>
                  <a:lnTo>
                    <a:pt x="5124" y="879"/>
                  </a:lnTo>
                  <a:lnTo>
                    <a:pt x="4918" y="879"/>
                  </a:lnTo>
                  <a:lnTo>
                    <a:pt x="4714" y="872"/>
                  </a:lnTo>
                  <a:lnTo>
                    <a:pt x="4514" y="861"/>
                  </a:lnTo>
                  <a:lnTo>
                    <a:pt x="4316" y="851"/>
                  </a:lnTo>
                  <a:lnTo>
                    <a:pt x="4122" y="840"/>
                  </a:lnTo>
                  <a:lnTo>
                    <a:pt x="3929" y="823"/>
                  </a:lnTo>
                  <a:lnTo>
                    <a:pt x="3739" y="805"/>
                  </a:lnTo>
                  <a:lnTo>
                    <a:pt x="3553" y="788"/>
                  </a:lnTo>
                  <a:lnTo>
                    <a:pt x="3190" y="742"/>
                  </a:lnTo>
                  <a:lnTo>
                    <a:pt x="2842" y="693"/>
                  </a:lnTo>
                  <a:lnTo>
                    <a:pt x="2508" y="641"/>
                  </a:lnTo>
                  <a:lnTo>
                    <a:pt x="2192" y="585"/>
                  </a:lnTo>
                  <a:lnTo>
                    <a:pt x="1890" y="525"/>
                  </a:lnTo>
                  <a:lnTo>
                    <a:pt x="1610" y="462"/>
                  </a:lnTo>
                  <a:lnTo>
                    <a:pt x="1347" y="399"/>
                  </a:lnTo>
                  <a:lnTo>
                    <a:pt x="1105" y="336"/>
                  </a:lnTo>
                  <a:lnTo>
                    <a:pt x="883" y="277"/>
                  </a:lnTo>
                  <a:lnTo>
                    <a:pt x="686" y="221"/>
                  </a:lnTo>
                  <a:lnTo>
                    <a:pt x="508" y="168"/>
                  </a:lnTo>
                  <a:lnTo>
                    <a:pt x="358" y="123"/>
                  </a:lnTo>
                  <a:lnTo>
                    <a:pt x="232" y="81"/>
                  </a:lnTo>
                  <a:lnTo>
                    <a:pt x="59" y="21"/>
                  </a:lnTo>
                  <a:lnTo>
                    <a:pt x="0" y="0"/>
                  </a:lnTo>
                  <a:lnTo>
                    <a:pt x="0" y="0"/>
                  </a:lnTo>
                  <a:close/>
                </a:path>
              </a:pathLst>
            </a:custGeom>
            <a:solidFill>
              <a:schemeClr val="bg1"/>
            </a:solidFill>
            <a:ln>
              <a:noFill/>
            </a:ln>
          </p:spPr>
        </p:sp>
        <p:sp>
          <p:nvSpPr>
            <p:cNvPr id="12"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48798" y="1063417"/>
            <a:ext cx="8831816" cy="1372986"/>
          </a:xfrm>
        </p:spPr>
        <p:txBody>
          <a:bodyPr/>
          <a:lstStyle>
            <a:lvl1pPr>
              <a:defRPr sz="4000"/>
            </a:lvl1pPr>
          </a:lstStyle>
          <a:p>
            <a:r>
              <a:rPr lang="en-US"/>
              <a:t>Click to edit Master title style</a:t>
            </a:r>
            <a:endParaRPr lang="en-US" dirty="0"/>
          </a:p>
        </p:txBody>
      </p:sp>
      <p:sp>
        <p:nvSpPr>
          <p:cNvPr id="8" name="Text Placeholder 3"/>
          <p:cNvSpPr>
            <a:spLocks noGrp="1"/>
          </p:cNvSpPr>
          <p:nvPr>
            <p:ph type="body" sz="half" idx="2"/>
          </p:nvPr>
        </p:nvSpPr>
        <p:spPr>
          <a:xfrm>
            <a:off x="1154954" y="3543300"/>
            <a:ext cx="8825659" cy="24765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Footer Placeholder 4"/>
          <p:cNvSpPr>
            <a:spLocks noGrp="1"/>
          </p:cNvSpPr>
          <p:nvPr>
            <p:ph type="ftr" sz="quarter" idx="11"/>
          </p:nvPr>
        </p:nvSpPr>
        <p:spPr/>
        <p:txBody>
          <a:bodyPr/>
          <a:lstStyle/>
          <a:p>
            <a:pPr algn="r"/>
            <a:fld id="{9D43E63A-512E-8940-A727-CCEAF33A22F7}" type="slidenum">
              <a:rPr lang="en-US" smtClean="0"/>
              <a:pPr algn="r"/>
              <a:t>‹#›</a:t>
            </a:fld>
            <a:endParaRPr lang="en-US" dirty="0"/>
          </a:p>
        </p:txBody>
      </p:sp>
      <p:sp>
        <p:nvSpPr>
          <p:cNvPr id="6" name="Footer Placeholder 4">
            <a:extLst>
              <a:ext uri="{FF2B5EF4-FFF2-40B4-BE49-F238E27FC236}">
                <a16:creationId xmlns:a16="http://schemas.microsoft.com/office/drawing/2014/main" id="{1372A244-1032-9CDF-176A-9A61E28A1ED3}"/>
              </a:ext>
            </a:extLst>
          </p:cNvPr>
          <p:cNvSpPr txBox="1">
            <a:spLocks/>
          </p:cNvSpPr>
          <p:nvPr userDrawn="1"/>
        </p:nvSpPr>
        <p:spPr>
          <a:xfrm rot="16200000">
            <a:off x="9330634" y="2913201"/>
            <a:ext cx="5447499" cy="345796"/>
          </a:xfrm>
          <a:prstGeom prst="rect">
            <a:avLst/>
          </a:prstGeom>
        </p:spPr>
        <p:txBody>
          <a:bodyPr vert="horz" lIns="91440" tIns="45720" rIns="91440" bIns="45720" rtlCol="0" anchor="ctr"/>
          <a:lstStyle>
            <a:defPPr>
              <a:defRPr lang="en-US"/>
            </a:defPPr>
            <a:lvl1pPr marL="0" algn="ctr" defTabSz="457200" rtl="0" eaLnBrk="1" latinLnBrk="0" hangingPunct="1">
              <a:defRPr sz="1200" kern="1200">
                <a:solidFill>
                  <a:schemeClr val="tx1">
                    <a:lumMod val="65000"/>
                    <a:lumOff val="3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US" sz="700" b="1" i="1" dirty="0"/>
              <a:t>© 2025 Athena Software Group Inc. Confidential &amp; Proprietary. Do not distribute without express permission.</a:t>
            </a:r>
          </a:p>
        </p:txBody>
      </p:sp>
    </p:spTree>
    <p:extLst>
      <p:ext uri="{BB962C8B-B14F-4D97-AF65-F5344CB8AC3E}">
        <p14:creationId xmlns:p14="http://schemas.microsoft.com/office/powerpoint/2010/main" val="367103252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Quote with Caption">
    <p:spTree>
      <p:nvGrpSpPr>
        <p:cNvPr id="1" name=""/>
        <p:cNvGrpSpPr/>
        <p:nvPr/>
      </p:nvGrpSpPr>
      <p:grpSpPr>
        <a:xfrm>
          <a:off x="0" y="0"/>
          <a:ext cx="0" cy="0"/>
          <a:chOff x="0" y="0"/>
          <a:chExt cx="0" cy="0"/>
        </a:xfrm>
      </p:grpSpPr>
      <p:grpSp>
        <p:nvGrpSpPr>
          <p:cNvPr id="3" name="Group 2"/>
          <p:cNvGrpSpPr/>
          <p:nvPr/>
        </p:nvGrpSpPr>
        <p:grpSpPr>
          <a:xfrm>
            <a:off x="0" y="0"/>
            <a:ext cx="12192000" cy="6858000"/>
            <a:chOff x="0" y="0"/>
            <a:chExt cx="12192000" cy="6858000"/>
          </a:xfrm>
        </p:grpSpPr>
        <p:sp>
          <p:nvSpPr>
            <p:cNvPr id="17" name="Rectangle 16"/>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0" name="Oval 19"/>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2" name="Oval 21"/>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3" name="Oval 22"/>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4" name="Oval 23"/>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5" name="Oval 24"/>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Freeform 5"/>
            <p:cNvSpPr/>
            <p:nvPr/>
          </p:nvSpPr>
          <p:spPr bwMode="gray">
            <a:xfrm rot="21010068">
              <a:off x="8490951" y="418511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2" name="Freeform 5"/>
            <p:cNvSpPr/>
            <p:nvPr/>
          </p:nvSpPr>
          <p:spPr bwMode="gray">
            <a:xfrm>
              <a:off x="455612" y="4241801"/>
              <a:ext cx="11277600" cy="2337161"/>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8"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16" name="TextBox 15"/>
          <p:cNvSpPr txBox="1"/>
          <p:nvPr/>
        </p:nvSpPr>
        <p:spPr bwMode="gray">
          <a:xfrm>
            <a:off x="881566" y="607336"/>
            <a:ext cx="801912" cy="1569660"/>
          </a:xfrm>
          <a:prstGeom prst="rect">
            <a:avLst/>
          </a:prstGeom>
          <a:noFill/>
        </p:spPr>
        <p:txBody>
          <a:bodyPr wrap="square" rtlCol="0">
            <a:spAutoFit/>
          </a:bodyPr>
          <a:lstStyle/>
          <a:p>
            <a:pPr algn="r"/>
            <a:r>
              <a:rPr lang="en-US" sz="9600" b="0" i="0" dirty="0">
                <a:solidFill>
                  <a:schemeClr val="accent1">
                    <a:lumMod val="60000"/>
                    <a:lumOff val="40000"/>
                  </a:schemeClr>
                </a:solidFill>
                <a:latin typeface="Arial"/>
                <a:cs typeface="Arial"/>
              </a:rPr>
              <a:t>“</a:t>
            </a:r>
          </a:p>
        </p:txBody>
      </p:sp>
      <p:sp>
        <p:nvSpPr>
          <p:cNvPr id="13" name="TextBox 12"/>
          <p:cNvSpPr txBox="1"/>
          <p:nvPr/>
        </p:nvSpPr>
        <p:spPr bwMode="gray">
          <a:xfrm>
            <a:off x="9884458" y="2613787"/>
            <a:ext cx="652763" cy="1569660"/>
          </a:xfrm>
          <a:prstGeom prst="rect">
            <a:avLst/>
          </a:prstGeom>
          <a:noFill/>
        </p:spPr>
        <p:txBody>
          <a:bodyPr wrap="square" rtlCol="0">
            <a:spAutoFit/>
          </a:bodyPr>
          <a:lstStyle/>
          <a:p>
            <a:pPr algn="r"/>
            <a:r>
              <a:rPr lang="en-US" sz="9600" b="0" i="0" dirty="0">
                <a:solidFill>
                  <a:schemeClr val="accent1">
                    <a:lumMod val="60000"/>
                    <a:lumOff val="40000"/>
                  </a:schemeClr>
                </a:solidFill>
                <a:latin typeface="Arial"/>
                <a:cs typeface="Arial"/>
              </a:rPr>
              <a:t>”</a:t>
            </a:r>
          </a:p>
        </p:txBody>
      </p:sp>
      <p:sp>
        <p:nvSpPr>
          <p:cNvPr id="2" name="Title 1"/>
          <p:cNvSpPr>
            <a:spLocks noGrp="1"/>
          </p:cNvSpPr>
          <p:nvPr>
            <p:ph type="title"/>
          </p:nvPr>
        </p:nvSpPr>
        <p:spPr>
          <a:xfrm>
            <a:off x="1581878" y="982134"/>
            <a:ext cx="8453906" cy="2696632"/>
          </a:xfrm>
        </p:spPr>
        <p:txBody>
          <a:bodyPr/>
          <a:lstStyle>
            <a:lvl1pPr>
              <a:defRPr sz="4000"/>
            </a:lvl1pPr>
          </a:lstStyle>
          <a:p>
            <a:r>
              <a:rPr lang="en-US"/>
              <a:t>Click to edit Master title style</a:t>
            </a:r>
            <a:endParaRPr lang="en-US" dirty="0"/>
          </a:p>
        </p:txBody>
      </p:sp>
      <p:sp>
        <p:nvSpPr>
          <p:cNvPr id="14" name="Text Placeholder 3"/>
          <p:cNvSpPr>
            <a:spLocks noGrp="1"/>
          </p:cNvSpPr>
          <p:nvPr>
            <p:ph type="body" sz="half" idx="13"/>
          </p:nvPr>
        </p:nvSpPr>
        <p:spPr bwMode="gray">
          <a:xfrm>
            <a:off x="1945945" y="3678766"/>
            <a:ext cx="7731219" cy="342174"/>
          </a:xfrm>
        </p:spPr>
        <p:txBody>
          <a:bodyPr anchor="t">
            <a:normAutofit/>
          </a:bodyPr>
          <a:lstStyle>
            <a:lvl1pPr marL="0" indent="0">
              <a:buNone/>
              <a:defRPr lang="en-US" sz="1400" b="0" i="0" kern="1200" cap="small" dirty="0">
                <a:solidFill>
                  <a:schemeClr val="accent1">
                    <a:lumMod val="60000"/>
                    <a:lumOff val="40000"/>
                  </a:schemeClr>
                </a:solidFill>
                <a:latin typeface="+mn-lt"/>
                <a:ea typeface="+mn-ea"/>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0" name="Text Placeholder 3"/>
          <p:cNvSpPr>
            <a:spLocks noGrp="1"/>
          </p:cNvSpPr>
          <p:nvPr>
            <p:ph type="body" sz="half" idx="2"/>
          </p:nvPr>
        </p:nvSpPr>
        <p:spPr>
          <a:xfrm>
            <a:off x="1154954" y="5029199"/>
            <a:ext cx="9244897" cy="997857"/>
          </a:xfrm>
        </p:spPr>
        <p:txBody>
          <a:bodyPr anchor="ct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Footer Placeholder 4"/>
          <p:cNvSpPr>
            <a:spLocks noGrp="1"/>
          </p:cNvSpPr>
          <p:nvPr>
            <p:ph type="ftr" sz="quarter" idx="11"/>
          </p:nvPr>
        </p:nvSpPr>
        <p:spPr/>
        <p:txBody>
          <a:bodyPr/>
          <a:lstStyle>
            <a:lvl1pPr algn="r">
              <a:defRPr/>
            </a:lvl1pPr>
          </a:lstStyle>
          <a:p>
            <a:fld id="{A274A649-B3F2-9E4B-BDA8-A9B0A7DCA3B1}" type="slidenum">
              <a:rPr lang="en-US" smtClean="0"/>
              <a:pPr/>
              <a:t>‹#›</a:t>
            </a:fld>
            <a:endParaRPr lang="en-US" dirty="0"/>
          </a:p>
        </p:txBody>
      </p:sp>
      <p:sp>
        <p:nvSpPr>
          <p:cNvPr id="6" name="Footer Placeholder 4">
            <a:extLst>
              <a:ext uri="{FF2B5EF4-FFF2-40B4-BE49-F238E27FC236}">
                <a16:creationId xmlns:a16="http://schemas.microsoft.com/office/drawing/2014/main" id="{D6AC0054-AD44-A4AB-4C9F-91885597AB4B}"/>
              </a:ext>
            </a:extLst>
          </p:cNvPr>
          <p:cNvSpPr txBox="1">
            <a:spLocks/>
          </p:cNvSpPr>
          <p:nvPr userDrawn="1"/>
        </p:nvSpPr>
        <p:spPr>
          <a:xfrm rot="16200000">
            <a:off x="9295353" y="2970752"/>
            <a:ext cx="5447499" cy="345796"/>
          </a:xfrm>
          <a:prstGeom prst="rect">
            <a:avLst/>
          </a:prstGeom>
        </p:spPr>
        <p:txBody>
          <a:bodyPr vert="horz" lIns="91440" tIns="45720" rIns="91440" bIns="45720" rtlCol="0" anchor="ctr"/>
          <a:lstStyle>
            <a:defPPr>
              <a:defRPr lang="en-US"/>
            </a:defPPr>
            <a:lvl1pPr marL="0" algn="ctr" defTabSz="457200" rtl="0" eaLnBrk="1" latinLnBrk="0" hangingPunct="1">
              <a:defRPr sz="1200" kern="1200">
                <a:solidFill>
                  <a:schemeClr val="tx1">
                    <a:lumMod val="65000"/>
                    <a:lumOff val="3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US" sz="700" b="1" i="1" dirty="0"/>
              <a:t>© 2025 Athena Software Group Inc. Confidential &amp; Proprietary. Do not distribute without express permission.</a:t>
            </a:r>
          </a:p>
        </p:txBody>
      </p:sp>
    </p:spTree>
    <p:extLst>
      <p:ext uri="{BB962C8B-B14F-4D97-AF65-F5344CB8AC3E}">
        <p14:creationId xmlns:p14="http://schemas.microsoft.com/office/powerpoint/2010/main" val="298976956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p:cSld name="Name Card">
    <p:spTree>
      <p:nvGrpSpPr>
        <p:cNvPr id="1" name=""/>
        <p:cNvGrpSpPr/>
        <p:nvPr/>
      </p:nvGrpSpPr>
      <p:grpSpPr>
        <a:xfrm>
          <a:off x="0" y="0"/>
          <a:ext cx="0" cy="0"/>
          <a:chOff x="0" y="0"/>
          <a:chExt cx="0" cy="0"/>
        </a:xfrm>
      </p:grpSpPr>
      <p:grpSp>
        <p:nvGrpSpPr>
          <p:cNvPr id="9" name="Group 8"/>
          <p:cNvGrpSpPr/>
          <p:nvPr/>
        </p:nvGrpSpPr>
        <p:grpSpPr>
          <a:xfrm>
            <a:off x="2182" y="0"/>
            <a:ext cx="12192000" cy="6858000"/>
            <a:chOff x="0" y="0"/>
            <a:chExt cx="12192000" cy="6858000"/>
          </a:xfrm>
        </p:grpSpPr>
        <p:sp>
          <p:nvSpPr>
            <p:cNvPr id="11" name="Rectangle 10"/>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Oval 14"/>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3" name="Freeform 5"/>
            <p:cNvSpPr/>
            <p:nvPr/>
          </p:nvSpPr>
          <p:spPr bwMode="gray">
            <a:xfrm rot="21010068">
              <a:off x="8490951" y="4193583"/>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8" name="Freeform 5"/>
            <p:cNvSpPr/>
            <p:nvPr/>
          </p:nvSpPr>
          <p:spPr bwMode="gray">
            <a:xfrm>
              <a:off x="455612" y="4241801"/>
              <a:ext cx="11277600" cy="2337161"/>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2"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2370667"/>
            <a:ext cx="8825660" cy="1822514"/>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4" y="5024967"/>
            <a:ext cx="8825659" cy="860400"/>
          </a:xfrm>
        </p:spPr>
        <p:txBody>
          <a:bodyPr anchor="t"/>
          <a:lstStyle>
            <a:lvl1pPr marL="0" indent="0" algn="l">
              <a:buNone/>
              <a:defRPr sz="2000" cap="none">
                <a:solidFill>
                  <a:schemeClr val="accent1">
                    <a:lumMod val="60000"/>
                    <a:lumOff val="4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5" name="Footer Placeholder 4"/>
          <p:cNvSpPr>
            <a:spLocks noGrp="1"/>
          </p:cNvSpPr>
          <p:nvPr>
            <p:ph type="ftr" sz="quarter" idx="11"/>
          </p:nvPr>
        </p:nvSpPr>
        <p:spPr/>
        <p:txBody>
          <a:bodyPr/>
          <a:lstStyle/>
          <a:p>
            <a:pPr algn="r"/>
            <a:fld id="{919DD00B-78BB-A446-B130-0D7CB0629925}" type="slidenum">
              <a:rPr lang="en-US" smtClean="0"/>
              <a:pPr algn="r"/>
              <a:t>‹#›</a:t>
            </a:fld>
            <a:endParaRPr lang="en-US" dirty="0"/>
          </a:p>
        </p:txBody>
      </p:sp>
      <p:sp>
        <p:nvSpPr>
          <p:cNvPr id="6" name="Footer Placeholder 4">
            <a:extLst>
              <a:ext uri="{FF2B5EF4-FFF2-40B4-BE49-F238E27FC236}">
                <a16:creationId xmlns:a16="http://schemas.microsoft.com/office/drawing/2014/main" id="{A02A7EC0-02E6-77E2-C80D-BDA4D58801DB}"/>
              </a:ext>
            </a:extLst>
          </p:cNvPr>
          <p:cNvSpPr txBox="1">
            <a:spLocks/>
          </p:cNvSpPr>
          <p:nvPr userDrawn="1"/>
        </p:nvSpPr>
        <p:spPr>
          <a:xfrm rot="16200000">
            <a:off x="9295353" y="2913201"/>
            <a:ext cx="5447499" cy="345796"/>
          </a:xfrm>
          <a:prstGeom prst="rect">
            <a:avLst/>
          </a:prstGeom>
        </p:spPr>
        <p:txBody>
          <a:bodyPr vert="horz" lIns="91440" tIns="45720" rIns="91440" bIns="45720" rtlCol="0" anchor="ctr"/>
          <a:lstStyle>
            <a:defPPr>
              <a:defRPr lang="en-US"/>
            </a:defPPr>
            <a:lvl1pPr marL="0" algn="ctr" defTabSz="457200" rtl="0" eaLnBrk="1" latinLnBrk="0" hangingPunct="1">
              <a:defRPr sz="1200" kern="1200">
                <a:solidFill>
                  <a:schemeClr val="tx1">
                    <a:lumMod val="65000"/>
                    <a:lumOff val="3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US" sz="700" b="1" i="1" dirty="0"/>
              <a:t>© 2025 Athena Software Group Inc. Confidential &amp; Proprietary. Do not distribute without express permission.</a:t>
            </a:r>
          </a:p>
        </p:txBody>
      </p:sp>
    </p:spTree>
    <p:extLst>
      <p:ext uri="{BB962C8B-B14F-4D97-AF65-F5344CB8AC3E}">
        <p14:creationId xmlns:p14="http://schemas.microsoft.com/office/powerpoint/2010/main" val="40987649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2" name="Title 1"/>
          <p:cNvSpPr>
            <a:spLocks noGrp="1"/>
          </p:cNvSpPr>
          <p:nvPr>
            <p:ph type="title"/>
          </p:nvPr>
        </p:nvSpPr>
        <p:spPr>
          <a:xfrm>
            <a:off x="761545" y="420771"/>
            <a:ext cx="8825659" cy="706964"/>
          </a:xfrm>
        </p:spPr>
        <p:txBody>
          <a:bodyPr/>
          <a:lstStyle>
            <a:lvl1pPr>
              <a:defRPr sz="3600"/>
            </a:lvl1pPr>
          </a:lstStyle>
          <a:p>
            <a:r>
              <a:rPr lang="en-US" dirty="0"/>
              <a:t>Click to edit Master title style</a:t>
            </a:r>
          </a:p>
        </p:txBody>
      </p:sp>
      <p:sp>
        <p:nvSpPr>
          <p:cNvPr id="3" name="Text Placeholder 2"/>
          <p:cNvSpPr>
            <a:spLocks noGrp="1"/>
          </p:cNvSpPr>
          <p:nvPr>
            <p:ph type="body" idx="1"/>
          </p:nvPr>
        </p:nvSpPr>
        <p:spPr>
          <a:xfrm>
            <a:off x="804078" y="1604038"/>
            <a:ext cx="3141878"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16" name="Text Placeholder 3"/>
          <p:cNvSpPr>
            <a:spLocks noGrp="1"/>
          </p:cNvSpPr>
          <p:nvPr>
            <p:ph type="body" sz="half" idx="15"/>
          </p:nvPr>
        </p:nvSpPr>
        <p:spPr>
          <a:xfrm>
            <a:off x="804077" y="2180300"/>
            <a:ext cx="3141879" cy="367824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4268175" y="1604036"/>
            <a:ext cx="3147009"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19" name="Text Placeholder 3"/>
          <p:cNvSpPr>
            <a:spLocks noGrp="1"/>
          </p:cNvSpPr>
          <p:nvPr>
            <p:ph type="body" sz="half" idx="16"/>
          </p:nvPr>
        </p:nvSpPr>
        <p:spPr>
          <a:xfrm>
            <a:off x="4268175" y="2180299"/>
            <a:ext cx="3147009" cy="367824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749919" y="1604037"/>
            <a:ext cx="3145730"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20" name="Text Placeholder 3"/>
          <p:cNvSpPr>
            <a:spLocks noGrp="1"/>
          </p:cNvSpPr>
          <p:nvPr>
            <p:ph type="body" sz="half" idx="17"/>
          </p:nvPr>
        </p:nvSpPr>
        <p:spPr>
          <a:xfrm>
            <a:off x="7750113" y="2180298"/>
            <a:ext cx="3145536" cy="367824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7" name="Straight Connector 16"/>
          <p:cNvCxnSpPr/>
          <p:nvPr/>
        </p:nvCxnSpPr>
        <p:spPr>
          <a:xfrm>
            <a:off x="4116893" y="1570169"/>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7581016" y="1570169"/>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8" name="Footer Placeholder 7"/>
          <p:cNvSpPr>
            <a:spLocks noGrp="1"/>
          </p:cNvSpPr>
          <p:nvPr>
            <p:ph type="ftr" sz="quarter" idx="11"/>
          </p:nvPr>
        </p:nvSpPr>
        <p:spPr/>
        <p:txBody>
          <a:bodyPr/>
          <a:lstStyle>
            <a:lvl1pPr algn="r">
              <a:defRPr/>
            </a:lvl1pPr>
          </a:lstStyle>
          <a:p>
            <a:fld id="{E9DC7B75-34B3-9E4F-948B-B421779104D5}" type="slidenum">
              <a:rPr lang="en-US" smtClean="0"/>
              <a:pPr/>
              <a:t>‹#›</a:t>
            </a:fld>
            <a:endParaRPr lang="en-US" dirty="0"/>
          </a:p>
        </p:txBody>
      </p:sp>
    </p:spTree>
    <p:extLst>
      <p:ext uri="{BB962C8B-B14F-4D97-AF65-F5344CB8AC3E}">
        <p14:creationId xmlns:p14="http://schemas.microsoft.com/office/powerpoint/2010/main" val="251041058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a:xfrm>
            <a:off x="772177" y="367610"/>
            <a:ext cx="8825659" cy="706964"/>
          </a:xfrm>
        </p:spPr>
        <p:txBody>
          <a:bodyPr/>
          <a:lstStyle>
            <a:lvl1pPr>
              <a:defRPr sz="3600"/>
            </a:lvl1pPr>
          </a:lstStyle>
          <a:p>
            <a:r>
              <a:rPr lang="en-US"/>
              <a:t>Click to edit Master title style</a:t>
            </a:r>
            <a:endParaRPr lang="en-US" dirty="0"/>
          </a:p>
        </p:txBody>
      </p:sp>
      <p:sp>
        <p:nvSpPr>
          <p:cNvPr id="3" name="Text Placeholder 2"/>
          <p:cNvSpPr>
            <a:spLocks noGrp="1"/>
          </p:cNvSpPr>
          <p:nvPr>
            <p:ph type="body" idx="1"/>
          </p:nvPr>
        </p:nvSpPr>
        <p:spPr>
          <a:xfrm>
            <a:off x="846612" y="3809832"/>
            <a:ext cx="3050438"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9" name="Picture Placeholder 2"/>
          <p:cNvSpPr>
            <a:spLocks noGrp="1" noChangeAspect="1"/>
          </p:cNvSpPr>
          <p:nvPr>
            <p:ph type="pic" idx="15"/>
          </p:nvPr>
        </p:nvSpPr>
        <p:spPr>
          <a:xfrm>
            <a:off x="1026211" y="1880488"/>
            <a:ext cx="2691242"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dirty="0"/>
              <a:t>Click icon to add picture</a:t>
            </a:r>
          </a:p>
        </p:txBody>
      </p:sp>
      <p:sp>
        <p:nvSpPr>
          <p:cNvPr id="22" name="Text Placeholder 3"/>
          <p:cNvSpPr>
            <a:spLocks noGrp="1"/>
          </p:cNvSpPr>
          <p:nvPr>
            <p:ph type="body" sz="half" idx="18"/>
          </p:nvPr>
        </p:nvSpPr>
        <p:spPr>
          <a:xfrm>
            <a:off x="846612" y="4386094"/>
            <a:ext cx="3050438" cy="91795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4260523" y="3809832"/>
            <a:ext cx="3050438" cy="576263"/>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1" name="Picture Placeholder 2"/>
          <p:cNvSpPr>
            <a:spLocks noGrp="1" noChangeAspect="1"/>
          </p:cNvSpPr>
          <p:nvPr>
            <p:ph type="pic" idx="21"/>
          </p:nvPr>
        </p:nvSpPr>
        <p:spPr>
          <a:xfrm>
            <a:off x="4440120" y="1880488"/>
            <a:ext cx="2691243"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3" name="Text Placeholder 3"/>
          <p:cNvSpPr>
            <a:spLocks noGrp="1"/>
          </p:cNvSpPr>
          <p:nvPr>
            <p:ph type="body" sz="half" idx="19"/>
          </p:nvPr>
        </p:nvSpPr>
        <p:spPr>
          <a:xfrm>
            <a:off x="4261830" y="4386093"/>
            <a:ext cx="3050438" cy="91795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674433" y="3809833"/>
            <a:ext cx="3051095"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2" name="Picture Placeholder 2"/>
          <p:cNvSpPr>
            <a:spLocks noGrp="1" noChangeAspect="1"/>
          </p:cNvSpPr>
          <p:nvPr>
            <p:ph type="pic" idx="22"/>
          </p:nvPr>
        </p:nvSpPr>
        <p:spPr>
          <a:xfrm>
            <a:off x="7854689" y="1880488"/>
            <a:ext cx="2691242"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20"/>
          </p:nvPr>
        </p:nvSpPr>
        <p:spPr>
          <a:xfrm>
            <a:off x="7674433" y="4386092"/>
            <a:ext cx="3051096" cy="91795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43" name="Straight Connector 42"/>
          <p:cNvCxnSpPr/>
          <p:nvPr/>
        </p:nvCxnSpPr>
        <p:spPr>
          <a:xfrm>
            <a:off x="4086853" y="1952944"/>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44" name="Straight Connector 43"/>
          <p:cNvCxnSpPr/>
          <p:nvPr/>
        </p:nvCxnSpPr>
        <p:spPr>
          <a:xfrm>
            <a:off x="7478824" y="1952944"/>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8" name="Footer Placeholder 7"/>
          <p:cNvSpPr>
            <a:spLocks noGrp="1"/>
          </p:cNvSpPr>
          <p:nvPr>
            <p:ph type="ftr" sz="quarter" idx="11"/>
          </p:nvPr>
        </p:nvSpPr>
        <p:spPr>
          <a:xfrm>
            <a:off x="8301614" y="6413103"/>
            <a:ext cx="3644282" cy="304801"/>
          </a:xfrm>
        </p:spPr>
        <p:txBody>
          <a:bodyPr/>
          <a:lstStyle/>
          <a:p>
            <a:pPr algn="r"/>
            <a:fld id="{0FC58B0A-47B8-8447-86D0-77C22456110A}" type="slidenum">
              <a:rPr lang="en-US" smtClean="0"/>
              <a:pPr algn="r"/>
              <a:t>‹#›</a:t>
            </a:fld>
            <a:endParaRPr lang="en-US" dirty="0"/>
          </a:p>
        </p:txBody>
      </p:sp>
    </p:spTree>
    <p:extLst>
      <p:ext uri="{BB962C8B-B14F-4D97-AF65-F5344CB8AC3E}">
        <p14:creationId xmlns:p14="http://schemas.microsoft.com/office/powerpoint/2010/main" val="202211433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Service">
    <p:spTree>
      <p:nvGrpSpPr>
        <p:cNvPr id="1" name=""/>
        <p:cNvGrpSpPr/>
        <p:nvPr/>
      </p:nvGrpSpPr>
      <p:grpSpPr>
        <a:xfrm>
          <a:off x="0" y="0"/>
          <a:ext cx="0" cy="0"/>
          <a:chOff x="0" y="0"/>
          <a:chExt cx="0" cy="0"/>
        </a:xfrm>
      </p:grpSpPr>
      <p:sp>
        <p:nvSpPr>
          <p:cNvPr id="4" name="Footer Placeholder 3"/>
          <p:cNvSpPr>
            <a:spLocks noGrp="1"/>
          </p:cNvSpPr>
          <p:nvPr>
            <p:ph type="ftr" sz="quarter" idx="11"/>
          </p:nvPr>
        </p:nvSpPr>
        <p:spPr>
          <a:xfrm>
            <a:off x="9219973" y="6356352"/>
            <a:ext cx="2365444" cy="365125"/>
          </a:xfrm>
        </p:spPr>
        <p:txBody>
          <a:bodyPr/>
          <a:lstStyle>
            <a:lvl1pPr algn="r">
              <a:defRPr>
                <a:solidFill>
                  <a:schemeClr val="tx1">
                    <a:lumMod val="50000"/>
                    <a:lumOff val="50000"/>
                  </a:schemeClr>
                </a:solidFill>
              </a:defRPr>
            </a:lvl1pPr>
          </a:lstStyle>
          <a:p>
            <a:fld id="{5421F489-ECA4-1846-9337-5F636F2B499F}" type="slidenum">
              <a:rPr lang="en-US" smtClean="0"/>
              <a:pPr/>
              <a:t>‹#›</a:t>
            </a:fld>
            <a:endParaRPr lang="en-US" dirty="0"/>
          </a:p>
        </p:txBody>
      </p:sp>
      <p:sp>
        <p:nvSpPr>
          <p:cNvPr id="8" name="Freeform: Shape 7">
            <a:extLst>
              <a:ext uri="{FF2B5EF4-FFF2-40B4-BE49-F238E27FC236}">
                <a16:creationId xmlns:a16="http://schemas.microsoft.com/office/drawing/2014/main" id="{8BEA795B-86DE-7FDD-829C-72225EB12DE5}"/>
              </a:ext>
            </a:extLst>
          </p:cNvPr>
          <p:cNvSpPr/>
          <p:nvPr/>
        </p:nvSpPr>
        <p:spPr>
          <a:xfrm>
            <a:off x="339609" y="306153"/>
            <a:ext cx="1259209" cy="1258881"/>
          </a:xfrm>
          <a:custGeom>
            <a:avLst/>
            <a:gdLst>
              <a:gd name="connsiteX0" fmla="*/ 0 w 2866967"/>
              <a:gd name="connsiteY0" fmla="*/ 0 h 2866967"/>
              <a:gd name="connsiteX1" fmla="*/ 2866967 w 2866967"/>
              <a:gd name="connsiteY1" fmla="*/ 0 h 2866967"/>
              <a:gd name="connsiteX2" fmla="*/ 2866967 w 2866967"/>
              <a:gd name="connsiteY2" fmla="*/ 1175489 h 2866967"/>
              <a:gd name="connsiteX3" fmla="*/ 742122 w 2866967"/>
              <a:gd name="connsiteY3" fmla="*/ 1175489 h 2866967"/>
              <a:gd name="connsiteX4" fmla="*/ 742122 w 2866967"/>
              <a:gd name="connsiteY4" fmla="*/ 2866967 h 2866967"/>
              <a:gd name="connsiteX5" fmla="*/ 0 w 2866967"/>
              <a:gd name="connsiteY5" fmla="*/ 2866967 h 2866967"/>
              <a:gd name="connsiteX6" fmla="*/ 0 w 2866967"/>
              <a:gd name="connsiteY6" fmla="*/ 0 h 2866967"/>
              <a:gd name="connsiteX0" fmla="*/ 742122 w 2866967"/>
              <a:gd name="connsiteY0" fmla="*/ 1175489 h 2866967"/>
              <a:gd name="connsiteX1" fmla="*/ 742122 w 2866967"/>
              <a:gd name="connsiteY1" fmla="*/ 2866967 h 2866967"/>
              <a:gd name="connsiteX2" fmla="*/ 0 w 2866967"/>
              <a:gd name="connsiteY2" fmla="*/ 2866967 h 2866967"/>
              <a:gd name="connsiteX3" fmla="*/ 0 w 2866967"/>
              <a:gd name="connsiteY3" fmla="*/ 0 h 2866967"/>
              <a:gd name="connsiteX4" fmla="*/ 2866967 w 2866967"/>
              <a:gd name="connsiteY4" fmla="*/ 0 h 2866967"/>
              <a:gd name="connsiteX5" fmla="*/ 2866967 w 2866967"/>
              <a:gd name="connsiteY5" fmla="*/ 1175489 h 2866967"/>
              <a:gd name="connsiteX6" fmla="*/ 833562 w 2866967"/>
              <a:gd name="connsiteY6" fmla="*/ 1266929 h 2866967"/>
              <a:gd name="connsiteX0" fmla="*/ 742122 w 2866967"/>
              <a:gd name="connsiteY0" fmla="*/ 1175489 h 2866967"/>
              <a:gd name="connsiteX1" fmla="*/ 742122 w 2866967"/>
              <a:gd name="connsiteY1" fmla="*/ 2866967 h 2866967"/>
              <a:gd name="connsiteX2" fmla="*/ 0 w 2866967"/>
              <a:gd name="connsiteY2" fmla="*/ 2866967 h 2866967"/>
              <a:gd name="connsiteX3" fmla="*/ 0 w 2866967"/>
              <a:gd name="connsiteY3" fmla="*/ 0 h 2866967"/>
              <a:gd name="connsiteX4" fmla="*/ 2866967 w 2866967"/>
              <a:gd name="connsiteY4" fmla="*/ 0 h 2866967"/>
              <a:gd name="connsiteX5" fmla="*/ 2866967 w 2866967"/>
              <a:gd name="connsiteY5" fmla="*/ 1175489 h 2866967"/>
              <a:gd name="connsiteX0" fmla="*/ 742122 w 2866967"/>
              <a:gd name="connsiteY0" fmla="*/ 2866967 h 2866967"/>
              <a:gd name="connsiteX1" fmla="*/ 0 w 2866967"/>
              <a:gd name="connsiteY1" fmla="*/ 2866967 h 2866967"/>
              <a:gd name="connsiteX2" fmla="*/ 0 w 2866967"/>
              <a:gd name="connsiteY2" fmla="*/ 0 h 2866967"/>
              <a:gd name="connsiteX3" fmla="*/ 2866967 w 2866967"/>
              <a:gd name="connsiteY3" fmla="*/ 0 h 2866967"/>
              <a:gd name="connsiteX4" fmla="*/ 2866967 w 2866967"/>
              <a:gd name="connsiteY4" fmla="*/ 1175489 h 286696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66967" h="2866967">
                <a:moveTo>
                  <a:pt x="742122" y="2866967"/>
                </a:moveTo>
                <a:lnTo>
                  <a:pt x="0" y="2866967"/>
                </a:lnTo>
                <a:lnTo>
                  <a:pt x="0" y="0"/>
                </a:lnTo>
                <a:lnTo>
                  <a:pt x="2866967" y="0"/>
                </a:lnTo>
                <a:lnTo>
                  <a:pt x="2866967" y="1175489"/>
                </a:lnTo>
              </a:path>
            </a:pathLst>
          </a:custGeom>
          <a:noFill/>
          <a:ln w="50800">
            <a:solidFill>
              <a:schemeClr val="accent1"/>
            </a:solidFill>
            <a:miter lim="800000"/>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800"/>
          </a:p>
        </p:txBody>
      </p:sp>
      <p:sp>
        <p:nvSpPr>
          <p:cNvPr id="9" name="Title 1">
            <a:extLst>
              <a:ext uri="{FF2B5EF4-FFF2-40B4-BE49-F238E27FC236}">
                <a16:creationId xmlns:a16="http://schemas.microsoft.com/office/drawing/2014/main" id="{6E8A15B2-F404-5D92-2136-F7B935BA6D8C}"/>
              </a:ext>
            </a:extLst>
          </p:cNvPr>
          <p:cNvSpPr>
            <a:spLocks noGrp="1"/>
          </p:cNvSpPr>
          <p:nvPr>
            <p:ph type="title" hasCustomPrompt="1"/>
          </p:nvPr>
        </p:nvSpPr>
        <p:spPr>
          <a:xfrm>
            <a:off x="676037" y="791474"/>
            <a:ext cx="4195508" cy="711081"/>
          </a:xfrm>
        </p:spPr>
        <p:txBody>
          <a:bodyPr>
            <a:noAutofit/>
          </a:bodyPr>
          <a:lstStyle>
            <a:lvl1pPr>
              <a:defRPr sz="4000" b="1">
                <a:solidFill>
                  <a:schemeClr val="tx2"/>
                </a:solidFill>
                <a:latin typeface="Segoe UI Black" panose="020B0A02040204020203" pitchFamily="34" charset="0"/>
                <a:ea typeface="Segoe UI Black" panose="020B0A02040204020203" pitchFamily="34" charset="0"/>
              </a:defRPr>
            </a:lvl1pPr>
          </a:lstStyle>
          <a:p>
            <a:r>
              <a:rPr lang="en-US" dirty="0"/>
              <a:t>CLICK TO EDIT</a:t>
            </a:r>
          </a:p>
        </p:txBody>
      </p:sp>
      <p:cxnSp>
        <p:nvCxnSpPr>
          <p:cNvPr id="16" name="Straight Connector 15">
            <a:extLst>
              <a:ext uri="{FF2B5EF4-FFF2-40B4-BE49-F238E27FC236}">
                <a16:creationId xmlns:a16="http://schemas.microsoft.com/office/drawing/2014/main" id="{814364D7-4C11-26C8-59DC-C326E807CD28}"/>
              </a:ext>
            </a:extLst>
          </p:cNvPr>
          <p:cNvCxnSpPr>
            <a:cxnSpLocks/>
          </p:cNvCxnSpPr>
          <p:nvPr userDrawn="1"/>
        </p:nvCxnSpPr>
        <p:spPr>
          <a:xfrm>
            <a:off x="1082848" y="6538913"/>
            <a:ext cx="8137125"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7" name="Picture Placeholder 6">
            <a:extLst>
              <a:ext uri="{FF2B5EF4-FFF2-40B4-BE49-F238E27FC236}">
                <a16:creationId xmlns:a16="http://schemas.microsoft.com/office/drawing/2014/main" id="{7C58743F-E9A9-C70F-8F6C-F1974B02D3BF}"/>
              </a:ext>
            </a:extLst>
          </p:cNvPr>
          <p:cNvSpPr>
            <a:spLocks noGrp="1"/>
          </p:cNvSpPr>
          <p:nvPr>
            <p:ph type="pic" sz="quarter" idx="13"/>
          </p:nvPr>
        </p:nvSpPr>
        <p:spPr>
          <a:xfrm>
            <a:off x="3572856" y="2189487"/>
            <a:ext cx="2422109" cy="2786550"/>
          </a:xfrm>
          <a:custGeom>
            <a:avLst/>
            <a:gdLst>
              <a:gd name="connsiteX0" fmla="*/ 0 w 2421478"/>
              <a:gd name="connsiteY0" fmla="*/ 0 h 2786550"/>
              <a:gd name="connsiteX1" fmla="*/ 2421478 w 2421478"/>
              <a:gd name="connsiteY1" fmla="*/ 0 h 2786550"/>
              <a:gd name="connsiteX2" fmla="*/ 2421478 w 2421478"/>
              <a:gd name="connsiteY2" fmla="*/ 2786550 h 2786550"/>
              <a:gd name="connsiteX3" fmla="*/ 0 w 2421478"/>
              <a:gd name="connsiteY3" fmla="*/ 2786550 h 2786550"/>
            </a:gdLst>
            <a:ahLst/>
            <a:cxnLst>
              <a:cxn ang="0">
                <a:pos x="connsiteX0" y="connsiteY0"/>
              </a:cxn>
              <a:cxn ang="0">
                <a:pos x="connsiteX1" y="connsiteY1"/>
              </a:cxn>
              <a:cxn ang="0">
                <a:pos x="connsiteX2" y="connsiteY2"/>
              </a:cxn>
              <a:cxn ang="0">
                <a:pos x="connsiteX3" y="connsiteY3"/>
              </a:cxn>
            </a:cxnLst>
            <a:rect l="l" t="t" r="r" b="b"/>
            <a:pathLst>
              <a:path w="2421478" h="2786550">
                <a:moveTo>
                  <a:pt x="0" y="0"/>
                </a:moveTo>
                <a:lnTo>
                  <a:pt x="2421478" y="0"/>
                </a:lnTo>
                <a:lnTo>
                  <a:pt x="2421478" y="2786550"/>
                </a:lnTo>
                <a:lnTo>
                  <a:pt x="0" y="2786550"/>
                </a:lnTo>
                <a:close/>
              </a:path>
            </a:pathLst>
          </a:custGeom>
        </p:spPr>
        <p:txBody>
          <a:bodyPr wrap="square" anchor="ctr">
            <a:noAutofit/>
          </a:bodyPr>
          <a:lstStyle>
            <a:lvl1pPr marL="0" indent="0" algn="ctr">
              <a:buFontTx/>
              <a:buNone/>
              <a:defRPr sz="2400"/>
            </a:lvl1pPr>
          </a:lstStyle>
          <a:p>
            <a:endParaRPr lang="en-US"/>
          </a:p>
        </p:txBody>
      </p:sp>
    </p:spTree>
    <p:extLst>
      <p:ext uri="{BB962C8B-B14F-4D97-AF65-F5344CB8AC3E}">
        <p14:creationId xmlns:p14="http://schemas.microsoft.com/office/powerpoint/2010/main" val="224872863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Departments And Teams">
    <p:spTree>
      <p:nvGrpSpPr>
        <p:cNvPr id="1" name=""/>
        <p:cNvGrpSpPr/>
        <p:nvPr/>
      </p:nvGrpSpPr>
      <p:grpSpPr>
        <a:xfrm>
          <a:off x="0" y="0"/>
          <a:ext cx="0" cy="0"/>
          <a:chOff x="0" y="0"/>
          <a:chExt cx="0" cy="0"/>
        </a:xfrm>
      </p:grpSpPr>
      <p:sp>
        <p:nvSpPr>
          <p:cNvPr id="2" name="Title 1"/>
          <p:cNvSpPr>
            <a:spLocks noGrp="1"/>
          </p:cNvSpPr>
          <p:nvPr>
            <p:ph type="title"/>
          </p:nvPr>
        </p:nvSpPr>
        <p:spPr>
          <a:xfrm>
            <a:off x="609600" y="235728"/>
            <a:ext cx="10972801" cy="711081"/>
          </a:xfrm>
        </p:spPr>
        <p:txBody>
          <a:bodyPr>
            <a:noAutofit/>
          </a:bodyPr>
          <a:lstStyle>
            <a:lvl1pPr>
              <a:defRPr sz="3200"/>
            </a:lvl1pPr>
          </a:lstStyle>
          <a:p>
            <a:r>
              <a:rPr lang="en-US" dirty="0"/>
              <a:t>Click to edit Master title style</a:t>
            </a:r>
          </a:p>
        </p:txBody>
      </p:sp>
      <p:cxnSp>
        <p:nvCxnSpPr>
          <p:cNvPr id="7" name="Straight Connector 6">
            <a:extLst>
              <a:ext uri="{FF2B5EF4-FFF2-40B4-BE49-F238E27FC236}">
                <a16:creationId xmlns:a16="http://schemas.microsoft.com/office/drawing/2014/main" id="{F9A6E2B6-6789-47DF-A542-D3F307E792A0}"/>
              </a:ext>
            </a:extLst>
          </p:cNvPr>
          <p:cNvCxnSpPr>
            <a:cxnSpLocks/>
          </p:cNvCxnSpPr>
          <p:nvPr userDrawn="1"/>
        </p:nvCxnSpPr>
        <p:spPr>
          <a:xfrm flipH="1">
            <a:off x="2782769" y="6391488"/>
            <a:ext cx="8243703" cy="0"/>
          </a:xfrm>
          <a:prstGeom prst="line">
            <a:avLst/>
          </a:prstGeom>
          <a:ln w="3175">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83BC1952-E550-45B7-BB6B-1FB5F22535EE}"/>
              </a:ext>
            </a:extLst>
          </p:cNvPr>
          <p:cNvCxnSpPr>
            <a:cxnSpLocks/>
          </p:cNvCxnSpPr>
          <p:nvPr userDrawn="1"/>
        </p:nvCxnSpPr>
        <p:spPr>
          <a:xfrm>
            <a:off x="755507" y="1007522"/>
            <a:ext cx="1440535" cy="0"/>
          </a:xfrm>
          <a:prstGeom prst="line">
            <a:avLst/>
          </a:prstGeom>
          <a:ln w="57150">
            <a:solidFill>
              <a:schemeClr val="accent6"/>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07322197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bwMode="gray">
          <a:xfrm>
            <a:off x="761549" y="362349"/>
            <a:ext cx="8761413" cy="706964"/>
          </a:xfrm>
          <a:prstGeom prst="rect">
            <a:avLst/>
          </a:prstGeom>
        </p:spPr>
        <p:txBody>
          <a:bodyPr vert="horz" lIns="91440" tIns="45720" rIns="91440" bIns="45720" rtlCol="0" anchor="ctr">
            <a:noAutofit/>
          </a:bodyPr>
          <a:lstStyle/>
          <a:p>
            <a:r>
              <a:rPr lang="en-US" dirty="0"/>
              <a:t>Click to edit Master title style</a:t>
            </a:r>
          </a:p>
        </p:txBody>
      </p:sp>
      <p:sp>
        <p:nvSpPr>
          <p:cNvPr id="3" name="Text Placeholder 2"/>
          <p:cNvSpPr>
            <a:spLocks noGrp="1"/>
          </p:cNvSpPr>
          <p:nvPr>
            <p:ph type="body" idx="1"/>
          </p:nvPr>
        </p:nvSpPr>
        <p:spPr>
          <a:xfrm>
            <a:off x="761549" y="1424763"/>
            <a:ext cx="9637093" cy="4518837"/>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p:cNvSpPr>
            <a:spLocks noGrp="1"/>
          </p:cNvSpPr>
          <p:nvPr>
            <p:ph type="ftr" sz="quarter" idx="3"/>
          </p:nvPr>
        </p:nvSpPr>
        <p:spPr>
          <a:xfrm>
            <a:off x="8187871" y="6343250"/>
            <a:ext cx="3859795" cy="304801"/>
          </a:xfrm>
          <a:prstGeom prst="rect">
            <a:avLst/>
          </a:prstGeom>
        </p:spPr>
        <p:txBody>
          <a:bodyPr vert="horz" lIns="91440" tIns="45720" rIns="91440" bIns="45720" rtlCol="0" anchor="ctr"/>
          <a:lstStyle>
            <a:lvl1pPr algn="l">
              <a:defRPr sz="1000" b="1" i="0">
                <a:solidFill>
                  <a:schemeClr val="accent1"/>
                </a:solidFill>
              </a:defRPr>
            </a:lvl1pPr>
          </a:lstStyle>
          <a:p>
            <a:pPr algn="r"/>
            <a:fld id="{E3DCA0BB-AA62-BD48-9250-28200D5E50EA}" type="slidenum">
              <a:rPr lang="en-US" smtClean="0"/>
              <a:pPr algn="r"/>
              <a:t>‹#›</a:t>
            </a:fld>
            <a:endParaRPr lang="en-US" dirty="0"/>
          </a:p>
        </p:txBody>
      </p:sp>
      <p:sp>
        <p:nvSpPr>
          <p:cNvPr id="10" name="Footer Placeholder 4">
            <a:extLst>
              <a:ext uri="{FF2B5EF4-FFF2-40B4-BE49-F238E27FC236}">
                <a16:creationId xmlns:a16="http://schemas.microsoft.com/office/drawing/2014/main" id="{19C13D6A-A08A-DE54-94B2-23085A7AAC05}"/>
              </a:ext>
            </a:extLst>
          </p:cNvPr>
          <p:cNvSpPr txBox="1">
            <a:spLocks/>
          </p:cNvSpPr>
          <p:nvPr userDrawn="1"/>
        </p:nvSpPr>
        <p:spPr>
          <a:xfrm rot="16200000">
            <a:off x="9151018" y="2913201"/>
            <a:ext cx="5447499" cy="345796"/>
          </a:xfrm>
          <a:prstGeom prst="rect">
            <a:avLst/>
          </a:prstGeom>
        </p:spPr>
        <p:txBody>
          <a:bodyPr vert="horz" lIns="91440" tIns="45720" rIns="91440" bIns="45720" rtlCol="0" anchor="ctr"/>
          <a:lstStyle>
            <a:defPPr>
              <a:defRPr lang="en-US"/>
            </a:defPPr>
            <a:lvl1pPr marL="0" algn="ctr" defTabSz="457200" rtl="0" eaLnBrk="1" latinLnBrk="0" hangingPunct="1">
              <a:defRPr sz="1200" kern="1200">
                <a:solidFill>
                  <a:schemeClr val="tx1">
                    <a:lumMod val="65000"/>
                    <a:lumOff val="3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US" sz="700" b="1" i="1" dirty="0"/>
              <a:t>© 2025 Athena Software Group Inc. Confidential &amp; Proprietary. Do not distribute without express permission.</a:t>
            </a:r>
          </a:p>
        </p:txBody>
      </p:sp>
      <p:cxnSp>
        <p:nvCxnSpPr>
          <p:cNvPr id="6" name="Straight Connector 5">
            <a:extLst>
              <a:ext uri="{FF2B5EF4-FFF2-40B4-BE49-F238E27FC236}">
                <a16:creationId xmlns:a16="http://schemas.microsoft.com/office/drawing/2014/main" id="{BFAA1BF0-B78D-DCA3-8948-9C8FD86AC674}"/>
              </a:ext>
            </a:extLst>
          </p:cNvPr>
          <p:cNvCxnSpPr/>
          <p:nvPr userDrawn="1"/>
        </p:nvCxnSpPr>
        <p:spPr>
          <a:xfrm>
            <a:off x="761549" y="1222744"/>
            <a:ext cx="8967242" cy="0"/>
          </a:xfrm>
          <a:prstGeom prst="line">
            <a:avLst/>
          </a:prstGeom>
          <a:ln>
            <a:solidFill>
              <a:schemeClr val="accent3"/>
            </a:solidFill>
          </a:ln>
          <a:effectLst>
            <a:outerShdw blurRad="50800" dist="38100" algn="l" rotWithShape="0">
              <a:prstClr val="black">
                <a:alpha val="40000"/>
              </a:prstClr>
            </a:outerShdw>
          </a:effectLst>
          <a:scene3d>
            <a:camera prst="perspectiveFront"/>
            <a:lightRig rig="threePt" dir="t"/>
          </a:scene3d>
        </p:spPr>
        <p:style>
          <a:lnRef idx="1">
            <a:schemeClr val="accent1"/>
          </a:lnRef>
          <a:fillRef idx="0">
            <a:schemeClr val="accent1"/>
          </a:fillRef>
          <a:effectRef idx="0">
            <a:schemeClr val="accent1"/>
          </a:effectRef>
          <a:fontRef idx="minor">
            <a:schemeClr val="tx1"/>
          </a:fontRef>
        </p:style>
      </p:cxnSp>
      <p:pic>
        <p:nvPicPr>
          <p:cNvPr id="11" name="Picture 10">
            <a:extLst>
              <a:ext uri="{FF2B5EF4-FFF2-40B4-BE49-F238E27FC236}">
                <a16:creationId xmlns:a16="http://schemas.microsoft.com/office/drawing/2014/main" id="{751115A7-A2F8-56EA-CCAD-EB812257965E}"/>
              </a:ext>
            </a:extLst>
          </p:cNvPr>
          <p:cNvPicPr>
            <a:picLocks noChangeAspect="1"/>
          </p:cNvPicPr>
          <p:nvPr userDrawn="1"/>
        </p:nvPicPr>
        <p:blipFill>
          <a:blip r:embed="rId19"/>
          <a:stretch>
            <a:fillRect/>
          </a:stretch>
        </p:blipFill>
        <p:spPr>
          <a:xfrm>
            <a:off x="76049" y="6368544"/>
            <a:ext cx="1048663" cy="368796"/>
          </a:xfrm>
          <a:prstGeom prst="rect">
            <a:avLst/>
          </a:prstGeom>
        </p:spPr>
      </p:pic>
    </p:spTree>
    <p:extLst>
      <p:ext uri="{BB962C8B-B14F-4D97-AF65-F5344CB8AC3E}">
        <p14:creationId xmlns:p14="http://schemas.microsoft.com/office/powerpoint/2010/main" val="1962655418"/>
      </p:ext>
    </p:extLst>
  </p:cSld>
  <p:clrMap bg1="lt1" tx1="dk1" bg2="lt2" tx2="dk2" accent1="accent1" accent2="accent2" accent3="accent3" accent4="accent4" accent5="accent5" accent6="accent6" hlink="hlink" folHlink="folHlink"/>
  <p:sldLayoutIdLst>
    <p:sldLayoutId id="2147483704" r:id="rId1"/>
    <p:sldLayoutId id="2147483705" r:id="rId2"/>
    <p:sldLayoutId id="2147483706" r:id="rId3"/>
    <p:sldLayoutId id="2147483707" r:id="rId4"/>
    <p:sldLayoutId id="2147483708" r:id="rId5"/>
    <p:sldLayoutId id="2147483709" r:id="rId6"/>
    <p:sldLayoutId id="2147483710" r:id="rId7"/>
    <p:sldLayoutId id="2147483711" r:id="rId8"/>
    <p:sldLayoutId id="2147483712" r:id="rId9"/>
    <p:sldLayoutId id="2147483713" r:id="rId10"/>
    <p:sldLayoutId id="2147483714" r:id="rId11"/>
    <p:sldLayoutId id="2147483715" r:id="rId12"/>
    <p:sldLayoutId id="2147483716" r:id="rId13"/>
    <p:sldLayoutId id="2147483717" r:id="rId14"/>
    <p:sldLayoutId id="2147483718" r:id="rId15"/>
    <p:sldLayoutId id="2147483724" r:id="rId16"/>
    <p:sldLayoutId id="2147483725" r:id="rId17"/>
  </p:sldLayoutIdLst>
  <p:txStyles>
    <p:titleStyle>
      <a:lvl1pPr algn="l" defTabSz="457200" rtl="0" eaLnBrk="1" latinLnBrk="0" hangingPunct="1">
        <a:spcBef>
          <a:spcPct val="0"/>
        </a:spcBef>
        <a:buNone/>
        <a:defRPr sz="3600" b="0" i="0" u="none" kern="1200">
          <a:solidFill>
            <a:schemeClr val="tx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b="0" i="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b="0" i="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image" Target="../media/image10.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91" name="Rectangle 2090">
            <a:extLst>
              <a:ext uri="{FF2B5EF4-FFF2-40B4-BE49-F238E27FC236}">
                <a16:creationId xmlns:a16="http://schemas.microsoft.com/office/drawing/2014/main" id="{2668F1A4-6DBB-4F0B-A679-6EE5483638F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entury Gothic" panose="020B0502020202020204"/>
              <a:ea typeface="+mn-ea"/>
              <a:cs typeface="+mn-cs"/>
            </a:endParaRPr>
          </a:p>
        </p:txBody>
      </p:sp>
      <p:pic>
        <p:nvPicPr>
          <p:cNvPr id="2050" name="Picture 2" descr="Illustration representing cybersecurity.">
            <a:extLst>
              <a:ext uri="{FF2B5EF4-FFF2-40B4-BE49-F238E27FC236}">
                <a16:creationId xmlns:a16="http://schemas.microsoft.com/office/drawing/2014/main" id="{9725A72F-5946-0A38-DE0D-E61858027DC3}"/>
              </a:ext>
            </a:extLst>
          </p:cNvPr>
          <p:cNvPicPr>
            <a:picLocks noChangeAspect="1" noChangeArrowheads="1"/>
          </p:cNvPicPr>
          <p:nvPr/>
        </p:nvPicPr>
        <p:blipFill>
          <a:blip r:embed="rId2">
            <a:alphaModFix amt="35000"/>
            <a:extLst>
              <a:ext uri="{28A0092B-C50C-407E-A947-70E740481C1C}">
                <a14:useLocalDpi xmlns:a14="http://schemas.microsoft.com/office/drawing/2010/main" val="0"/>
              </a:ext>
            </a:extLst>
          </a:blip>
          <a:srcRect l="24133" r="22340" b="-2"/>
          <a:stretch/>
        </p:blipFill>
        <p:spPr bwMode="auto">
          <a:xfrm>
            <a:off x="6094307" y="471953"/>
            <a:ext cx="5623560" cy="5909733"/>
          </a:xfrm>
          <a:prstGeom prst="rect">
            <a:avLst/>
          </a:prstGeom>
          <a:noFill/>
          <a:extLst>
            <a:ext uri="{909E8E84-426E-40DD-AFC4-6F175D3DCCD1}">
              <a14:hiddenFill xmlns:a14="http://schemas.microsoft.com/office/drawing/2010/main">
                <a:solidFill>
                  <a:srgbClr val="FFFFFF"/>
                </a:solidFill>
              </a14:hiddenFill>
            </a:ext>
          </a:extLst>
        </p:spPr>
      </p:pic>
      <p:sp>
        <p:nvSpPr>
          <p:cNvPr id="2092" name="Freeform 5">
            <a:extLst>
              <a:ext uri="{FF2B5EF4-FFF2-40B4-BE49-F238E27FC236}">
                <a16:creationId xmlns:a16="http://schemas.microsoft.com/office/drawing/2014/main" id="{B8DBF1C0-B8F1-4AAC-8704-256BA0E9D63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a:off x="0" y="794"/>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txBody>
          <a:bodyPr/>
          <a:lstStyle/>
          <a:p>
            <a:endParaRPr lang="en-US"/>
          </a:p>
        </p:txBody>
      </p:sp>
      <p:pic>
        <p:nvPicPr>
          <p:cNvPr id="5" name="Picture 4" descr="A close up of a logo&#10;&#10;AI-generated content may be incorrect.">
            <a:extLst>
              <a:ext uri="{FF2B5EF4-FFF2-40B4-BE49-F238E27FC236}">
                <a16:creationId xmlns:a16="http://schemas.microsoft.com/office/drawing/2014/main" id="{DFC25AA7-5A01-6B6F-9CE4-6911E96B10D2}"/>
              </a:ext>
            </a:extLst>
          </p:cNvPr>
          <p:cNvPicPr>
            <a:picLocks noChangeAspect="1"/>
          </p:cNvPicPr>
          <p:nvPr/>
        </p:nvPicPr>
        <p:blipFill>
          <a:blip r:embed="rId3">
            <a:alphaModFix amt="35000"/>
          </a:blip>
          <a:srcRect l="26067" r="42833" b="-2"/>
          <a:stretch/>
        </p:blipFill>
        <p:spPr>
          <a:xfrm>
            <a:off x="474133" y="474133"/>
            <a:ext cx="5620174" cy="5909733"/>
          </a:xfrm>
          <a:prstGeom prst="rect">
            <a:avLst/>
          </a:prstGeom>
        </p:spPr>
      </p:pic>
      <p:sp>
        <p:nvSpPr>
          <p:cNvPr id="2" name="Title 1">
            <a:extLst>
              <a:ext uri="{FF2B5EF4-FFF2-40B4-BE49-F238E27FC236}">
                <a16:creationId xmlns:a16="http://schemas.microsoft.com/office/drawing/2014/main" id="{4EF3BC5C-3B03-FB0A-4D57-59B23F3427A3}"/>
              </a:ext>
            </a:extLst>
          </p:cNvPr>
          <p:cNvSpPr>
            <a:spLocks noGrp="1"/>
          </p:cNvSpPr>
          <p:nvPr>
            <p:ph type="ctrTitle"/>
          </p:nvPr>
        </p:nvSpPr>
        <p:spPr>
          <a:xfrm>
            <a:off x="1154954" y="2099733"/>
            <a:ext cx="9413809" cy="2677648"/>
          </a:xfrm>
        </p:spPr>
        <p:txBody>
          <a:bodyPr>
            <a:normAutofit/>
          </a:bodyPr>
          <a:lstStyle/>
          <a:p>
            <a:r>
              <a:rPr lang="en-US" sz="4400" i="1" dirty="0">
                <a:solidFill>
                  <a:srgbClr val="FFFFFF"/>
                </a:solidFill>
              </a:rPr>
              <a:t>Cyber Security Language Models</a:t>
            </a:r>
            <a:br>
              <a:rPr lang="en-US" sz="4400" i="1" dirty="0">
                <a:solidFill>
                  <a:srgbClr val="FFFFFF"/>
                </a:solidFill>
              </a:rPr>
            </a:br>
            <a:r>
              <a:rPr lang="en-US" sz="2400" i="1" dirty="0">
                <a:solidFill>
                  <a:srgbClr val="FFFFFF"/>
                </a:solidFill>
              </a:rPr>
              <a:t>Adapting Cyber Defense to the Advance of AI</a:t>
            </a:r>
            <a:endParaRPr lang="en-US" i="1" dirty="0">
              <a:solidFill>
                <a:srgbClr val="FFFFFF"/>
              </a:solidFill>
            </a:endParaRPr>
          </a:p>
        </p:txBody>
      </p:sp>
      <p:sp>
        <p:nvSpPr>
          <p:cNvPr id="3" name="Subtitle 2">
            <a:extLst>
              <a:ext uri="{FF2B5EF4-FFF2-40B4-BE49-F238E27FC236}">
                <a16:creationId xmlns:a16="http://schemas.microsoft.com/office/drawing/2014/main" id="{FF623A66-3031-3E4C-8E63-A83084317564}"/>
              </a:ext>
            </a:extLst>
          </p:cNvPr>
          <p:cNvSpPr>
            <a:spLocks noGrp="1"/>
          </p:cNvSpPr>
          <p:nvPr>
            <p:ph type="subTitle" idx="1"/>
          </p:nvPr>
        </p:nvSpPr>
        <p:spPr>
          <a:xfrm>
            <a:off x="1154954" y="5248540"/>
            <a:ext cx="4939353" cy="652530"/>
          </a:xfrm>
        </p:spPr>
        <p:txBody>
          <a:bodyPr>
            <a:noAutofit/>
          </a:bodyPr>
          <a:lstStyle/>
          <a:p>
            <a:pPr algn="r"/>
            <a:r>
              <a:rPr lang="en-US" sz="900" i="1" dirty="0">
                <a:solidFill>
                  <a:srgbClr val="FFFFFF"/>
                </a:solidFill>
              </a:rPr>
              <a:t>By Peter J Worth Jr</a:t>
            </a:r>
          </a:p>
          <a:p>
            <a:pPr algn="r"/>
            <a:r>
              <a:rPr lang="en-US" sz="900" i="1" dirty="0">
                <a:solidFill>
                  <a:srgbClr val="FFFFFF"/>
                </a:solidFill>
              </a:rPr>
              <a:t>President &amp; CEO, Athena Software Group</a:t>
            </a:r>
          </a:p>
        </p:txBody>
      </p:sp>
      <p:sp>
        <p:nvSpPr>
          <p:cNvPr id="2090" name="Rectangle 2089">
            <a:extLst>
              <a:ext uri="{FF2B5EF4-FFF2-40B4-BE49-F238E27FC236}">
                <a16:creationId xmlns:a16="http://schemas.microsoft.com/office/drawing/2014/main" id="{B70F7E59-C971-4F55-8E3A-1E583B65FCB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4" name="Footer Placeholder 4">
            <a:extLst>
              <a:ext uri="{FF2B5EF4-FFF2-40B4-BE49-F238E27FC236}">
                <a16:creationId xmlns:a16="http://schemas.microsoft.com/office/drawing/2014/main" id="{8D5CDD25-9D5A-9FED-D197-1A0B1A4E93A8}"/>
              </a:ext>
            </a:extLst>
          </p:cNvPr>
          <p:cNvSpPr txBox="1">
            <a:spLocks/>
          </p:cNvSpPr>
          <p:nvPr/>
        </p:nvSpPr>
        <p:spPr>
          <a:xfrm rot="16200000">
            <a:off x="9246709" y="3125855"/>
            <a:ext cx="5447499" cy="345796"/>
          </a:xfrm>
          <a:prstGeom prst="rect">
            <a:avLst/>
          </a:prstGeom>
        </p:spPr>
        <p:txBody>
          <a:bodyPr vert="horz" lIns="91440" tIns="45720" rIns="91440" bIns="45720" rtlCol="0" anchor="ctr"/>
          <a:lstStyle>
            <a:defPPr>
              <a:defRPr lang="en-US"/>
            </a:defPPr>
            <a:lvl1pPr marL="0" algn="ctr" defTabSz="457200" rtl="0" eaLnBrk="1" latinLnBrk="0" hangingPunct="1">
              <a:defRPr sz="1200" kern="1200">
                <a:solidFill>
                  <a:schemeClr val="tx1">
                    <a:lumMod val="65000"/>
                    <a:lumOff val="3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US" sz="700" i="1" dirty="0"/>
              <a:t>© 2025 Athena Software Group Inc. Confidential &amp; Proprietary. Do not distribute without express permission.</a:t>
            </a:r>
          </a:p>
        </p:txBody>
      </p:sp>
    </p:spTree>
    <p:extLst>
      <p:ext uri="{BB962C8B-B14F-4D97-AF65-F5344CB8AC3E}">
        <p14:creationId xmlns:p14="http://schemas.microsoft.com/office/powerpoint/2010/main" val="29472020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par>
                                <p:cTn id="8" presetID="10" presetClass="entr" presetSubtype="0" fill="hold" grpId="0" nodeType="withEffect">
                                  <p:stCondLst>
                                    <p:cond delay="1500"/>
                                  </p:stCondLst>
                                  <p:iterate>
                                    <p:tmPct val="10000"/>
                                  </p:iterate>
                                  <p:childTnLst>
                                    <p:set>
                                      <p:cBhvr>
                                        <p:cTn id="9" dur="1" fill="hold">
                                          <p:stCondLst>
                                            <p:cond delay="0"/>
                                          </p:stCondLst>
                                        </p:cTn>
                                        <p:tgtEl>
                                          <p:spTgt spid="3">
                                            <p:txEl>
                                              <p:pRg st="0" end="0"/>
                                            </p:txEl>
                                          </p:spTgt>
                                        </p:tgtEl>
                                        <p:attrNameLst>
                                          <p:attrName>style.visibility</p:attrName>
                                        </p:attrNameLst>
                                      </p:cBhvr>
                                      <p:to>
                                        <p:strVal val="visible"/>
                                      </p:to>
                                    </p:set>
                                    <p:animEffect transition="in" filter="fade">
                                      <p:cBhvr>
                                        <p:cTn id="10" dur="700"/>
                                        <p:tgtEl>
                                          <p:spTgt spid="3">
                                            <p:txEl>
                                              <p:pRg st="0" end="0"/>
                                            </p:txEl>
                                          </p:spTgt>
                                        </p:tgtEl>
                                      </p:cBhvr>
                                    </p:animEffect>
                                  </p:childTnLst>
                                </p:cTn>
                              </p:par>
                              <p:par>
                                <p:cTn id="11" presetID="10" presetClass="entr" presetSubtype="0" fill="hold" grpId="0" nodeType="withEffect">
                                  <p:stCondLst>
                                    <p:cond delay="1500"/>
                                  </p:stCondLst>
                                  <p:iterate>
                                    <p:tmPct val="10000"/>
                                  </p:iterate>
                                  <p:childTnLst>
                                    <p:set>
                                      <p:cBhvr>
                                        <p:cTn id="12" dur="1" fill="hold">
                                          <p:stCondLst>
                                            <p:cond delay="0"/>
                                          </p:stCondLst>
                                        </p:cTn>
                                        <p:tgtEl>
                                          <p:spTgt spid="3">
                                            <p:txEl>
                                              <p:pRg st="1" end="1"/>
                                            </p:txEl>
                                          </p:spTgt>
                                        </p:tgtEl>
                                        <p:attrNameLst>
                                          <p:attrName>style.visibility</p:attrName>
                                        </p:attrNameLst>
                                      </p:cBhvr>
                                      <p:to>
                                        <p:strVal val="visible"/>
                                      </p:to>
                                    </p:set>
                                    <p:animEffect transition="in" filter="fade">
                                      <p:cBhvr>
                                        <p:cTn id="13" dur="700"/>
                                        <p:tgtEl>
                                          <p:spTgt spid="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CCE0DFFE-C716-4CB4-3208-782BF398E2C1}"/>
              </a:ext>
            </a:extLst>
          </p:cNvPr>
          <p:cNvPicPr>
            <a:picLocks noChangeAspect="1"/>
          </p:cNvPicPr>
          <p:nvPr/>
        </p:nvPicPr>
        <p:blipFill>
          <a:blip r:embed="rId2"/>
          <a:stretch>
            <a:fillRect/>
          </a:stretch>
        </p:blipFill>
        <p:spPr>
          <a:xfrm>
            <a:off x="111670" y="44467"/>
            <a:ext cx="3271143" cy="1150402"/>
          </a:xfrm>
          <a:prstGeom prst="rect">
            <a:avLst/>
          </a:prstGeom>
        </p:spPr>
      </p:pic>
      <p:sp>
        <p:nvSpPr>
          <p:cNvPr id="2" name="Oval 12">
            <a:extLst>
              <a:ext uri="{FF2B5EF4-FFF2-40B4-BE49-F238E27FC236}">
                <a16:creationId xmlns:a16="http://schemas.microsoft.com/office/drawing/2014/main" id="{7655BD9F-B36B-4F0C-9F56-0C8056B0D244}"/>
              </a:ext>
            </a:extLst>
          </p:cNvPr>
          <p:cNvSpPr>
            <a:spLocks noChangeArrowheads="1"/>
          </p:cNvSpPr>
          <p:nvPr/>
        </p:nvSpPr>
        <p:spPr bwMode="auto">
          <a:xfrm>
            <a:off x="1674936" y="2148096"/>
            <a:ext cx="2548856" cy="2548852"/>
          </a:xfrm>
          <a:prstGeom prst="ellipse">
            <a:avLst/>
          </a:prstGeom>
          <a:noFill/>
          <a:ln w="9525">
            <a:solidFill>
              <a:schemeClr val="tx1">
                <a:lumMod val="50000"/>
                <a:lumOff val="50000"/>
              </a:schemeClr>
            </a:solidFill>
            <a:round/>
            <a:headEnd/>
            <a:tailEnd/>
          </a:ln>
        </p:spPr>
        <p:txBody>
          <a:bodyPr vert="horz" wrap="square" lIns="91440" tIns="45720" rIns="91440" bIns="45720" numCol="1" anchor="ctr" anchorCtr="0" compatLnSpc="1">
            <a:prstTxWarp prst="textNoShape">
              <a:avLst/>
            </a:prstTxWarp>
          </a:bodyPr>
          <a:lstStyle/>
          <a:p>
            <a:pPr algn="ctr"/>
            <a:endParaRPr lang="en-IN" sz="2000" dirty="0">
              <a:solidFill>
                <a:schemeClr val="tx1">
                  <a:lumMod val="75000"/>
                  <a:lumOff val="25000"/>
                </a:schemeClr>
              </a:solidFill>
              <a:latin typeface="Open Sans" panose="020B0606030504020204" pitchFamily="34" charset="0"/>
              <a:ea typeface="Open Sans" panose="020B0606030504020204" pitchFamily="34" charset="0"/>
              <a:cs typeface="Open Sans" panose="020B0606030504020204" pitchFamily="34" charset="0"/>
            </a:endParaRPr>
          </a:p>
        </p:txBody>
      </p:sp>
      <p:sp>
        <p:nvSpPr>
          <p:cNvPr id="133" name="Freeform 5">
            <a:extLst>
              <a:ext uri="{FF2B5EF4-FFF2-40B4-BE49-F238E27FC236}">
                <a16:creationId xmlns:a16="http://schemas.microsoft.com/office/drawing/2014/main" id="{D9BD4A1E-6E49-47EB-88D9-732C03332CC4}"/>
              </a:ext>
            </a:extLst>
          </p:cNvPr>
          <p:cNvSpPr>
            <a:spLocks/>
          </p:cNvSpPr>
          <p:nvPr/>
        </p:nvSpPr>
        <p:spPr bwMode="auto">
          <a:xfrm rot="2261061">
            <a:off x="3194443" y="2701345"/>
            <a:ext cx="1001569" cy="1152143"/>
          </a:xfrm>
          <a:custGeom>
            <a:avLst/>
            <a:gdLst>
              <a:gd name="T0" fmla="*/ 298 w 298"/>
              <a:gd name="T1" fmla="*/ 106 h 343"/>
              <a:gd name="T2" fmla="*/ 165 w 298"/>
              <a:gd name="T3" fmla="*/ 0 h 343"/>
              <a:gd name="T4" fmla="*/ 0 w 298"/>
              <a:gd name="T5" fmla="*/ 343 h 343"/>
              <a:gd name="T6" fmla="*/ 298 w 298"/>
              <a:gd name="T7" fmla="*/ 106 h 343"/>
            </a:gdLst>
            <a:ahLst/>
            <a:cxnLst>
              <a:cxn ang="0">
                <a:pos x="T0" y="T1"/>
              </a:cxn>
              <a:cxn ang="0">
                <a:pos x="T2" y="T3"/>
              </a:cxn>
              <a:cxn ang="0">
                <a:pos x="T4" y="T5"/>
              </a:cxn>
              <a:cxn ang="0">
                <a:pos x="T6" y="T7"/>
              </a:cxn>
            </a:cxnLst>
            <a:rect l="0" t="0" r="r" b="b"/>
            <a:pathLst>
              <a:path w="298" h="343">
                <a:moveTo>
                  <a:pt x="298" y="106"/>
                </a:moveTo>
                <a:cubicBezTo>
                  <a:pt x="262" y="62"/>
                  <a:pt x="217" y="25"/>
                  <a:pt x="165" y="0"/>
                </a:cubicBezTo>
                <a:cubicBezTo>
                  <a:pt x="0" y="343"/>
                  <a:pt x="0" y="343"/>
                  <a:pt x="0" y="343"/>
                </a:cubicBezTo>
                <a:lnTo>
                  <a:pt x="298" y="106"/>
                </a:lnTo>
                <a:close/>
              </a:path>
            </a:pathLst>
          </a:custGeom>
          <a:solidFill>
            <a:schemeClr val="accent1"/>
          </a:solidFill>
          <a:ln w="9525">
            <a:noFill/>
            <a:round/>
            <a:headEnd/>
            <a:tailEnd/>
          </a:ln>
        </p:spPr>
        <p:txBody>
          <a:bodyPr vert="horz" wrap="square" lIns="91440" tIns="45720" rIns="91440" bIns="45720" numCol="1" anchor="t" anchorCtr="0" compatLnSpc="1">
            <a:prstTxWarp prst="textNoShape">
              <a:avLst/>
            </a:prstTxWarp>
          </a:bodyPr>
          <a:lstStyle/>
          <a:p>
            <a:endParaRPr lang="en-IN"/>
          </a:p>
        </p:txBody>
      </p:sp>
      <p:sp>
        <p:nvSpPr>
          <p:cNvPr id="134" name="Freeform 6">
            <a:extLst>
              <a:ext uri="{FF2B5EF4-FFF2-40B4-BE49-F238E27FC236}">
                <a16:creationId xmlns:a16="http://schemas.microsoft.com/office/drawing/2014/main" id="{C712740F-CBAC-4743-B203-D004D23395FB}"/>
              </a:ext>
            </a:extLst>
          </p:cNvPr>
          <p:cNvSpPr>
            <a:spLocks/>
          </p:cNvSpPr>
          <p:nvPr/>
        </p:nvSpPr>
        <p:spPr bwMode="auto">
          <a:xfrm rot="2261061">
            <a:off x="2811452" y="3534360"/>
            <a:ext cx="1277339" cy="571842"/>
          </a:xfrm>
          <a:custGeom>
            <a:avLst/>
            <a:gdLst>
              <a:gd name="T0" fmla="*/ 371 w 380"/>
              <a:gd name="T1" fmla="*/ 0 h 170"/>
              <a:gd name="T2" fmla="*/ 0 w 380"/>
              <a:gd name="T3" fmla="*/ 84 h 170"/>
              <a:gd name="T4" fmla="*/ 371 w 380"/>
              <a:gd name="T5" fmla="*/ 170 h 170"/>
              <a:gd name="T6" fmla="*/ 380 w 380"/>
              <a:gd name="T7" fmla="*/ 84 h 170"/>
              <a:gd name="T8" fmla="*/ 371 w 380"/>
              <a:gd name="T9" fmla="*/ 0 h 170"/>
            </a:gdLst>
            <a:ahLst/>
            <a:cxnLst>
              <a:cxn ang="0">
                <a:pos x="T0" y="T1"/>
              </a:cxn>
              <a:cxn ang="0">
                <a:pos x="T2" y="T3"/>
              </a:cxn>
              <a:cxn ang="0">
                <a:pos x="T4" y="T5"/>
              </a:cxn>
              <a:cxn ang="0">
                <a:pos x="T6" y="T7"/>
              </a:cxn>
              <a:cxn ang="0">
                <a:pos x="T8" y="T9"/>
              </a:cxn>
            </a:cxnLst>
            <a:rect l="0" t="0" r="r" b="b"/>
            <a:pathLst>
              <a:path w="380" h="170">
                <a:moveTo>
                  <a:pt x="371" y="0"/>
                </a:moveTo>
                <a:cubicBezTo>
                  <a:pt x="0" y="84"/>
                  <a:pt x="0" y="84"/>
                  <a:pt x="0" y="84"/>
                </a:cubicBezTo>
                <a:cubicBezTo>
                  <a:pt x="371" y="170"/>
                  <a:pt x="371" y="170"/>
                  <a:pt x="371" y="170"/>
                </a:cubicBezTo>
                <a:cubicBezTo>
                  <a:pt x="377" y="143"/>
                  <a:pt x="380" y="114"/>
                  <a:pt x="380" y="84"/>
                </a:cubicBezTo>
                <a:cubicBezTo>
                  <a:pt x="380" y="55"/>
                  <a:pt x="377" y="27"/>
                  <a:pt x="371" y="0"/>
                </a:cubicBezTo>
                <a:close/>
              </a:path>
            </a:pathLst>
          </a:custGeom>
          <a:solidFill>
            <a:schemeClr val="accent6"/>
          </a:solidFill>
          <a:ln w="9525">
            <a:noFill/>
            <a:round/>
            <a:headEnd/>
            <a:tailEnd/>
          </a:ln>
        </p:spPr>
        <p:txBody>
          <a:bodyPr vert="horz" wrap="square" lIns="91440" tIns="45720" rIns="91440" bIns="45720" numCol="1" anchor="t" anchorCtr="0" compatLnSpc="1">
            <a:prstTxWarp prst="textNoShape">
              <a:avLst/>
            </a:prstTxWarp>
          </a:bodyPr>
          <a:lstStyle/>
          <a:p>
            <a:endParaRPr lang="en-IN"/>
          </a:p>
        </p:txBody>
      </p:sp>
      <p:sp>
        <p:nvSpPr>
          <p:cNvPr id="135" name="Freeform 7">
            <a:extLst>
              <a:ext uri="{FF2B5EF4-FFF2-40B4-BE49-F238E27FC236}">
                <a16:creationId xmlns:a16="http://schemas.microsoft.com/office/drawing/2014/main" id="{E095438A-5B82-4532-A41C-EA0F13EEEDEF}"/>
              </a:ext>
            </a:extLst>
          </p:cNvPr>
          <p:cNvSpPr>
            <a:spLocks/>
          </p:cNvSpPr>
          <p:nvPr/>
        </p:nvSpPr>
        <p:spPr bwMode="auto">
          <a:xfrm rot="2261061">
            <a:off x="3280331" y="2449657"/>
            <a:ext cx="554923" cy="1280723"/>
          </a:xfrm>
          <a:custGeom>
            <a:avLst/>
            <a:gdLst>
              <a:gd name="T0" fmla="*/ 165 w 165"/>
              <a:gd name="T1" fmla="*/ 38 h 381"/>
              <a:gd name="T2" fmla="*/ 0 w 165"/>
              <a:gd name="T3" fmla="*/ 0 h 381"/>
              <a:gd name="T4" fmla="*/ 0 w 165"/>
              <a:gd name="T5" fmla="*/ 0 h 381"/>
              <a:gd name="T6" fmla="*/ 0 w 165"/>
              <a:gd name="T7" fmla="*/ 381 h 381"/>
              <a:gd name="T8" fmla="*/ 165 w 165"/>
              <a:gd name="T9" fmla="*/ 38 h 381"/>
            </a:gdLst>
            <a:ahLst/>
            <a:cxnLst>
              <a:cxn ang="0">
                <a:pos x="T0" y="T1"/>
              </a:cxn>
              <a:cxn ang="0">
                <a:pos x="T2" y="T3"/>
              </a:cxn>
              <a:cxn ang="0">
                <a:pos x="T4" y="T5"/>
              </a:cxn>
              <a:cxn ang="0">
                <a:pos x="T6" y="T7"/>
              </a:cxn>
              <a:cxn ang="0">
                <a:pos x="T8" y="T9"/>
              </a:cxn>
            </a:cxnLst>
            <a:rect l="0" t="0" r="r" b="b"/>
            <a:pathLst>
              <a:path w="165" h="381">
                <a:moveTo>
                  <a:pt x="165" y="38"/>
                </a:moveTo>
                <a:cubicBezTo>
                  <a:pt x="115" y="14"/>
                  <a:pt x="59" y="0"/>
                  <a:pt x="0" y="0"/>
                </a:cubicBezTo>
                <a:cubicBezTo>
                  <a:pt x="0" y="0"/>
                  <a:pt x="0" y="0"/>
                  <a:pt x="0" y="0"/>
                </a:cubicBezTo>
                <a:cubicBezTo>
                  <a:pt x="0" y="381"/>
                  <a:pt x="0" y="381"/>
                  <a:pt x="0" y="381"/>
                </a:cubicBezTo>
                <a:lnTo>
                  <a:pt x="165" y="38"/>
                </a:lnTo>
                <a:close/>
              </a:path>
            </a:pathLst>
          </a:custGeom>
          <a:solidFill>
            <a:schemeClr val="accent2"/>
          </a:solidFill>
          <a:ln w="9525">
            <a:noFill/>
            <a:round/>
            <a:headEnd/>
            <a:tailEnd/>
          </a:ln>
        </p:spPr>
        <p:txBody>
          <a:bodyPr vert="horz" wrap="square" lIns="91440" tIns="45720" rIns="91440" bIns="45720" numCol="1" anchor="t" anchorCtr="0" compatLnSpc="1">
            <a:prstTxWarp prst="textNoShape">
              <a:avLst/>
            </a:prstTxWarp>
          </a:bodyPr>
          <a:lstStyle/>
          <a:p>
            <a:endParaRPr lang="en-IN"/>
          </a:p>
        </p:txBody>
      </p:sp>
      <p:sp>
        <p:nvSpPr>
          <p:cNvPr id="136" name="Freeform 8">
            <a:extLst>
              <a:ext uri="{FF2B5EF4-FFF2-40B4-BE49-F238E27FC236}">
                <a16:creationId xmlns:a16="http://schemas.microsoft.com/office/drawing/2014/main" id="{4081E9E4-75E2-44F7-B61E-73B749A357EB}"/>
              </a:ext>
            </a:extLst>
          </p:cNvPr>
          <p:cNvSpPr>
            <a:spLocks/>
          </p:cNvSpPr>
          <p:nvPr/>
        </p:nvSpPr>
        <p:spPr bwMode="auto">
          <a:xfrm rot="2261061">
            <a:off x="3060259" y="3094556"/>
            <a:ext cx="1246886" cy="796857"/>
          </a:xfrm>
          <a:custGeom>
            <a:avLst/>
            <a:gdLst>
              <a:gd name="T0" fmla="*/ 371 w 371"/>
              <a:gd name="T1" fmla="*/ 153 h 237"/>
              <a:gd name="T2" fmla="*/ 298 w 371"/>
              <a:gd name="T3" fmla="*/ 0 h 237"/>
              <a:gd name="T4" fmla="*/ 0 w 371"/>
              <a:gd name="T5" fmla="*/ 237 h 237"/>
              <a:gd name="T6" fmla="*/ 371 w 371"/>
              <a:gd name="T7" fmla="*/ 153 h 237"/>
            </a:gdLst>
            <a:ahLst/>
            <a:cxnLst>
              <a:cxn ang="0">
                <a:pos x="T0" y="T1"/>
              </a:cxn>
              <a:cxn ang="0">
                <a:pos x="T2" y="T3"/>
              </a:cxn>
              <a:cxn ang="0">
                <a:pos x="T4" y="T5"/>
              </a:cxn>
              <a:cxn ang="0">
                <a:pos x="T6" y="T7"/>
              </a:cxn>
            </a:cxnLst>
            <a:rect l="0" t="0" r="r" b="b"/>
            <a:pathLst>
              <a:path w="371" h="237">
                <a:moveTo>
                  <a:pt x="371" y="153"/>
                </a:moveTo>
                <a:cubicBezTo>
                  <a:pt x="358" y="96"/>
                  <a:pt x="333" y="44"/>
                  <a:pt x="298" y="0"/>
                </a:cubicBezTo>
                <a:cubicBezTo>
                  <a:pt x="0" y="237"/>
                  <a:pt x="0" y="237"/>
                  <a:pt x="0" y="237"/>
                </a:cubicBezTo>
                <a:lnTo>
                  <a:pt x="371" y="153"/>
                </a:lnTo>
                <a:close/>
              </a:path>
            </a:pathLst>
          </a:custGeom>
          <a:solidFill>
            <a:schemeClr val="accent4"/>
          </a:solidFill>
          <a:ln w="9525">
            <a:noFill/>
            <a:round/>
            <a:headEnd/>
            <a:tailEnd/>
          </a:ln>
        </p:spPr>
        <p:txBody>
          <a:bodyPr vert="horz" wrap="square" lIns="91440" tIns="45720" rIns="91440" bIns="45720" numCol="1" anchor="t" anchorCtr="0" compatLnSpc="1">
            <a:prstTxWarp prst="textNoShape">
              <a:avLst/>
            </a:prstTxWarp>
          </a:bodyPr>
          <a:lstStyle/>
          <a:p>
            <a:endParaRPr lang="en-IN"/>
          </a:p>
        </p:txBody>
      </p:sp>
      <p:sp>
        <p:nvSpPr>
          <p:cNvPr id="138" name="Freeform 10">
            <a:extLst>
              <a:ext uri="{FF2B5EF4-FFF2-40B4-BE49-F238E27FC236}">
                <a16:creationId xmlns:a16="http://schemas.microsoft.com/office/drawing/2014/main" id="{F184C038-5A3D-49E8-8595-8BF7B41BAD8D}"/>
              </a:ext>
            </a:extLst>
          </p:cNvPr>
          <p:cNvSpPr>
            <a:spLocks/>
          </p:cNvSpPr>
          <p:nvPr/>
        </p:nvSpPr>
        <p:spPr bwMode="auto">
          <a:xfrm rot="2261061">
            <a:off x="2571063" y="3724474"/>
            <a:ext cx="1246886" cy="803624"/>
          </a:xfrm>
          <a:custGeom>
            <a:avLst/>
            <a:gdLst>
              <a:gd name="T0" fmla="*/ 296 w 371"/>
              <a:gd name="T1" fmla="*/ 239 h 239"/>
              <a:gd name="T2" fmla="*/ 371 w 371"/>
              <a:gd name="T3" fmla="*/ 86 h 239"/>
              <a:gd name="T4" fmla="*/ 0 w 371"/>
              <a:gd name="T5" fmla="*/ 0 h 239"/>
              <a:gd name="T6" fmla="*/ 296 w 371"/>
              <a:gd name="T7" fmla="*/ 239 h 239"/>
            </a:gdLst>
            <a:ahLst/>
            <a:cxnLst>
              <a:cxn ang="0">
                <a:pos x="T0" y="T1"/>
              </a:cxn>
              <a:cxn ang="0">
                <a:pos x="T2" y="T3"/>
              </a:cxn>
              <a:cxn ang="0">
                <a:pos x="T4" y="T5"/>
              </a:cxn>
              <a:cxn ang="0">
                <a:pos x="T6" y="T7"/>
              </a:cxn>
            </a:cxnLst>
            <a:rect l="0" t="0" r="r" b="b"/>
            <a:pathLst>
              <a:path w="371" h="239">
                <a:moveTo>
                  <a:pt x="296" y="239"/>
                </a:moveTo>
                <a:cubicBezTo>
                  <a:pt x="332" y="195"/>
                  <a:pt x="358" y="143"/>
                  <a:pt x="371" y="86"/>
                </a:cubicBezTo>
                <a:cubicBezTo>
                  <a:pt x="0" y="0"/>
                  <a:pt x="0" y="0"/>
                  <a:pt x="0" y="0"/>
                </a:cubicBezTo>
                <a:lnTo>
                  <a:pt x="296" y="239"/>
                </a:lnTo>
                <a:close/>
              </a:path>
            </a:pathLst>
          </a:custGeom>
          <a:solidFill>
            <a:schemeClr val="accent1">
              <a:lumMod val="75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IN"/>
          </a:p>
        </p:txBody>
      </p:sp>
      <p:sp>
        <p:nvSpPr>
          <p:cNvPr id="143" name="Freeform 7">
            <a:extLst>
              <a:ext uri="{FF2B5EF4-FFF2-40B4-BE49-F238E27FC236}">
                <a16:creationId xmlns:a16="http://schemas.microsoft.com/office/drawing/2014/main" id="{FB37BA1B-93DF-428F-AB76-37145143F7B4}"/>
              </a:ext>
            </a:extLst>
          </p:cNvPr>
          <p:cNvSpPr>
            <a:spLocks/>
          </p:cNvSpPr>
          <p:nvPr/>
        </p:nvSpPr>
        <p:spPr bwMode="auto">
          <a:xfrm rot="2261061" flipH="1">
            <a:off x="2842959" y="2113434"/>
            <a:ext cx="554923" cy="1280723"/>
          </a:xfrm>
          <a:custGeom>
            <a:avLst/>
            <a:gdLst>
              <a:gd name="T0" fmla="*/ 165 w 165"/>
              <a:gd name="T1" fmla="*/ 38 h 381"/>
              <a:gd name="T2" fmla="*/ 0 w 165"/>
              <a:gd name="T3" fmla="*/ 0 h 381"/>
              <a:gd name="T4" fmla="*/ 0 w 165"/>
              <a:gd name="T5" fmla="*/ 0 h 381"/>
              <a:gd name="T6" fmla="*/ 0 w 165"/>
              <a:gd name="T7" fmla="*/ 381 h 381"/>
              <a:gd name="T8" fmla="*/ 165 w 165"/>
              <a:gd name="T9" fmla="*/ 38 h 381"/>
            </a:gdLst>
            <a:ahLst/>
            <a:cxnLst>
              <a:cxn ang="0">
                <a:pos x="T0" y="T1"/>
              </a:cxn>
              <a:cxn ang="0">
                <a:pos x="T2" y="T3"/>
              </a:cxn>
              <a:cxn ang="0">
                <a:pos x="T4" y="T5"/>
              </a:cxn>
              <a:cxn ang="0">
                <a:pos x="T6" y="T7"/>
              </a:cxn>
              <a:cxn ang="0">
                <a:pos x="T8" y="T9"/>
              </a:cxn>
            </a:cxnLst>
            <a:rect l="0" t="0" r="r" b="b"/>
            <a:pathLst>
              <a:path w="165" h="381">
                <a:moveTo>
                  <a:pt x="165" y="38"/>
                </a:moveTo>
                <a:cubicBezTo>
                  <a:pt x="115" y="14"/>
                  <a:pt x="59" y="0"/>
                  <a:pt x="0" y="0"/>
                </a:cubicBezTo>
                <a:cubicBezTo>
                  <a:pt x="0" y="0"/>
                  <a:pt x="0" y="0"/>
                  <a:pt x="0" y="0"/>
                </a:cubicBezTo>
                <a:cubicBezTo>
                  <a:pt x="0" y="381"/>
                  <a:pt x="0" y="381"/>
                  <a:pt x="0" y="381"/>
                </a:cubicBezTo>
                <a:lnTo>
                  <a:pt x="165" y="38"/>
                </a:lnTo>
                <a:close/>
              </a:path>
            </a:pathLst>
          </a:custGeom>
          <a:solidFill>
            <a:schemeClr val="accent3"/>
          </a:solidFill>
          <a:ln w="9525">
            <a:noFill/>
            <a:round/>
            <a:headEnd/>
            <a:tailEnd/>
          </a:ln>
        </p:spPr>
        <p:txBody>
          <a:bodyPr vert="horz" wrap="square" lIns="91440" tIns="45720" rIns="91440" bIns="45720" numCol="1" anchor="t" anchorCtr="0" compatLnSpc="1">
            <a:prstTxWarp prst="textNoShape">
              <a:avLst/>
            </a:prstTxWarp>
          </a:bodyPr>
          <a:lstStyle/>
          <a:p>
            <a:endParaRPr lang="en-IN"/>
          </a:p>
        </p:txBody>
      </p:sp>
      <p:cxnSp>
        <p:nvCxnSpPr>
          <p:cNvPr id="129" name="Straight Connector 128">
            <a:extLst>
              <a:ext uri="{FF2B5EF4-FFF2-40B4-BE49-F238E27FC236}">
                <a16:creationId xmlns:a16="http://schemas.microsoft.com/office/drawing/2014/main" id="{84605042-82B0-42B8-B4EC-23B0E26D09E7}"/>
              </a:ext>
            </a:extLst>
          </p:cNvPr>
          <p:cNvCxnSpPr>
            <a:cxnSpLocks/>
          </p:cNvCxnSpPr>
          <p:nvPr/>
        </p:nvCxnSpPr>
        <p:spPr>
          <a:xfrm flipV="1">
            <a:off x="3713864" y="1034728"/>
            <a:ext cx="765600" cy="420031"/>
          </a:xfrm>
          <a:prstGeom prst="line">
            <a:avLst/>
          </a:prstGeom>
          <a:ln w="28575">
            <a:solidFill>
              <a:schemeClr val="bg1"/>
            </a:solidFill>
          </a:ln>
          <a:effectLst>
            <a:outerShdw blurRad="50800" dist="63500" dir="2700000" algn="tl" rotWithShape="0">
              <a:prstClr val="black">
                <a:alpha val="10000"/>
              </a:prstClr>
            </a:outerShdw>
          </a:effectLst>
        </p:spPr>
        <p:style>
          <a:lnRef idx="1">
            <a:schemeClr val="accent1"/>
          </a:lnRef>
          <a:fillRef idx="0">
            <a:schemeClr val="accent1"/>
          </a:fillRef>
          <a:effectRef idx="0">
            <a:schemeClr val="accent1"/>
          </a:effectRef>
          <a:fontRef idx="minor">
            <a:schemeClr val="tx1"/>
          </a:fontRef>
        </p:style>
      </p:cxnSp>
      <p:cxnSp>
        <p:nvCxnSpPr>
          <p:cNvPr id="55" name="Straight Connector 54">
            <a:extLst>
              <a:ext uri="{FF2B5EF4-FFF2-40B4-BE49-F238E27FC236}">
                <a16:creationId xmlns:a16="http://schemas.microsoft.com/office/drawing/2014/main" id="{02FF61DF-7940-41F0-95AE-635092261ECE}"/>
              </a:ext>
            </a:extLst>
          </p:cNvPr>
          <p:cNvCxnSpPr>
            <a:cxnSpLocks/>
          </p:cNvCxnSpPr>
          <p:nvPr/>
        </p:nvCxnSpPr>
        <p:spPr>
          <a:xfrm flipH="1" flipV="1">
            <a:off x="4951116" y="3934618"/>
            <a:ext cx="818792" cy="4903"/>
          </a:xfrm>
          <a:prstGeom prst="line">
            <a:avLst/>
          </a:prstGeom>
          <a:ln w="28575">
            <a:solidFill>
              <a:schemeClr val="bg1"/>
            </a:solidFill>
          </a:ln>
          <a:effectLst>
            <a:outerShdw blurRad="50800" dist="63500" dir="2700000" algn="tl" rotWithShape="0">
              <a:prstClr val="black">
                <a:alpha val="10000"/>
              </a:prstClr>
            </a:outerShdw>
          </a:effectLst>
        </p:spPr>
        <p:style>
          <a:lnRef idx="1">
            <a:schemeClr val="accent1"/>
          </a:lnRef>
          <a:fillRef idx="0">
            <a:schemeClr val="accent1"/>
          </a:fillRef>
          <a:effectRef idx="0">
            <a:schemeClr val="accent1"/>
          </a:effectRef>
          <a:fontRef idx="minor">
            <a:schemeClr val="tx1"/>
          </a:fontRef>
        </p:style>
      </p:cxnSp>
      <p:cxnSp>
        <p:nvCxnSpPr>
          <p:cNvPr id="61" name="Straight Connector 60">
            <a:extLst>
              <a:ext uri="{FF2B5EF4-FFF2-40B4-BE49-F238E27FC236}">
                <a16:creationId xmlns:a16="http://schemas.microsoft.com/office/drawing/2014/main" id="{78342B87-5447-4E36-8316-556570096E54}"/>
              </a:ext>
            </a:extLst>
          </p:cNvPr>
          <p:cNvCxnSpPr>
            <a:cxnSpLocks/>
          </p:cNvCxnSpPr>
          <p:nvPr/>
        </p:nvCxnSpPr>
        <p:spPr>
          <a:xfrm flipV="1">
            <a:off x="4509465" y="1949381"/>
            <a:ext cx="787605" cy="118197"/>
          </a:xfrm>
          <a:prstGeom prst="line">
            <a:avLst/>
          </a:prstGeom>
          <a:ln w="28575">
            <a:solidFill>
              <a:schemeClr val="bg1"/>
            </a:solidFill>
          </a:ln>
          <a:effectLst>
            <a:outerShdw blurRad="50800" dist="63500" dir="2700000" algn="tl" rotWithShape="0">
              <a:prstClr val="black">
                <a:alpha val="10000"/>
              </a:prstClr>
            </a:outerShdw>
          </a:effectLst>
        </p:spPr>
        <p:style>
          <a:lnRef idx="1">
            <a:schemeClr val="accent1"/>
          </a:lnRef>
          <a:fillRef idx="0">
            <a:schemeClr val="accent1"/>
          </a:fillRef>
          <a:effectRef idx="0">
            <a:schemeClr val="accent1"/>
          </a:effectRef>
          <a:fontRef idx="minor">
            <a:schemeClr val="tx1"/>
          </a:fontRef>
        </p:style>
      </p:cxnSp>
      <p:cxnSp>
        <p:nvCxnSpPr>
          <p:cNvPr id="63" name="Straight Connector 62">
            <a:extLst>
              <a:ext uri="{FF2B5EF4-FFF2-40B4-BE49-F238E27FC236}">
                <a16:creationId xmlns:a16="http://schemas.microsoft.com/office/drawing/2014/main" id="{8B549150-63D2-40DC-8DE2-F3EA303D5929}"/>
              </a:ext>
            </a:extLst>
          </p:cNvPr>
          <p:cNvCxnSpPr>
            <a:cxnSpLocks/>
          </p:cNvCxnSpPr>
          <p:nvPr/>
        </p:nvCxnSpPr>
        <p:spPr>
          <a:xfrm flipV="1">
            <a:off x="4956018" y="2936867"/>
            <a:ext cx="804084" cy="51481"/>
          </a:xfrm>
          <a:prstGeom prst="line">
            <a:avLst/>
          </a:prstGeom>
          <a:ln w="28575">
            <a:solidFill>
              <a:schemeClr val="bg1"/>
            </a:solidFill>
          </a:ln>
          <a:effectLst>
            <a:outerShdw blurRad="50800" dist="63500" dir="2700000" algn="tl" rotWithShape="0">
              <a:prstClr val="black">
                <a:alpha val="10000"/>
              </a:prstClr>
            </a:outerShdw>
          </a:effectLst>
        </p:spPr>
        <p:style>
          <a:lnRef idx="1">
            <a:schemeClr val="accent1"/>
          </a:lnRef>
          <a:fillRef idx="0">
            <a:schemeClr val="accent1"/>
          </a:fillRef>
          <a:effectRef idx="0">
            <a:schemeClr val="accent1"/>
          </a:effectRef>
          <a:fontRef idx="minor">
            <a:schemeClr val="tx1"/>
          </a:fontRef>
        </p:style>
      </p:cxnSp>
      <p:cxnSp>
        <p:nvCxnSpPr>
          <p:cNvPr id="64" name="Straight Connector 63">
            <a:extLst>
              <a:ext uri="{FF2B5EF4-FFF2-40B4-BE49-F238E27FC236}">
                <a16:creationId xmlns:a16="http://schemas.microsoft.com/office/drawing/2014/main" id="{0CB16BC8-4B77-4A9C-909E-2ABC367A12D5}"/>
              </a:ext>
            </a:extLst>
          </p:cNvPr>
          <p:cNvCxnSpPr>
            <a:cxnSpLocks/>
          </p:cNvCxnSpPr>
          <p:nvPr/>
        </p:nvCxnSpPr>
        <p:spPr>
          <a:xfrm>
            <a:off x="4518827" y="4762826"/>
            <a:ext cx="760787" cy="125415"/>
          </a:xfrm>
          <a:prstGeom prst="line">
            <a:avLst/>
          </a:prstGeom>
          <a:ln w="28575">
            <a:solidFill>
              <a:schemeClr val="bg1"/>
            </a:solidFill>
          </a:ln>
          <a:effectLst>
            <a:outerShdw blurRad="50800" dist="63500" dir="2700000" algn="tl" rotWithShape="0">
              <a:prstClr val="black">
                <a:alpha val="10000"/>
              </a:prstClr>
            </a:outerShdw>
          </a:effectLst>
        </p:spPr>
        <p:style>
          <a:lnRef idx="1">
            <a:schemeClr val="accent1"/>
          </a:lnRef>
          <a:fillRef idx="0">
            <a:schemeClr val="accent1"/>
          </a:fillRef>
          <a:effectRef idx="0">
            <a:schemeClr val="accent1"/>
          </a:effectRef>
          <a:fontRef idx="minor">
            <a:schemeClr val="tx1"/>
          </a:fontRef>
        </p:style>
      </p:cxnSp>
      <p:cxnSp>
        <p:nvCxnSpPr>
          <p:cNvPr id="131" name="Straight Connector 130">
            <a:extLst>
              <a:ext uri="{FF2B5EF4-FFF2-40B4-BE49-F238E27FC236}">
                <a16:creationId xmlns:a16="http://schemas.microsoft.com/office/drawing/2014/main" id="{B36A4A06-6FE1-47B6-B9A8-A537BE880531}"/>
              </a:ext>
            </a:extLst>
          </p:cNvPr>
          <p:cNvCxnSpPr>
            <a:cxnSpLocks/>
          </p:cNvCxnSpPr>
          <p:nvPr/>
        </p:nvCxnSpPr>
        <p:spPr>
          <a:xfrm>
            <a:off x="3707520" y="5381389"/>
            <a:ext cx="794350" cy="400846"/>
          </a:xfrm>
          <a:prstGeom prst="line">
            <a:avLst/>
          </a:prstGeom>
          <a:ln w="28575">
            <a:solidFill>
              <a:schemeClr val="bg1"/>
            </a:solidFill>
          </a:ln>
          <a:effectLst>
            <a:outerShdw blurRad="50800" dist="63500" dir="2700000" algn="tl" rotWithShape="0">
              <a:prstClr val="black">
                <a:alpha val="10000"/>
              </a:prstClr>
            </a:outerShdw>
          </a:effectLst>
        </p:spPr>
        <p:style>
          <a:lnRef idx="1">
            <a:schemeClr val="accent1"/>
          </a:lnRef>
          <a:fillRef idx="0">
            <a:schemeClr val="accent1"/>
          </a:fillRef>
          <a:effectRef idx="0">
            <a:schemeClr val="accent1"/>
          </a:effectRef>
          <a:fontRef idx="minor">
            <a:schemeClr val="tx1"/>
          </a:fontRef>
        </p:style>
      </p:cxnSp>
      <p:sp>
        <p:nvSpPr>
          <p:cNvPr id="26" name="Oval 25">
            <a:extLst>
              <a:ext uri="{FF2B5EF4-FFF2-40B4-BE49-F238E27FC236}">
                <a16:creationId xmlns:a16="http://schemas.microsoft.com/office/drawing/2014/main" id="{7658948B-6400-4947-A46E-AE5C146E965E}"/>
              </a:ext>
            </a:extLst>
          </p:cNvPr>
          <p:cNvSpPr/>
          <p:nvPr/>
        </p:nvSpPr>
        <p:spPr>
          <a:xfrm>
            <a:off x="2910883" y="1330669"/>
            <a:ext cx="2094438" cy="4188876"/>
          </a:xfrm>
          <a:custGeom>
            <a:avLst/>
            <a:gdLst>
              <a:gd name="connsiteX0" fmla="*/ 0 w 4850078"/>
              <a:gd name="connsiteY0" fmla="*/ 2425039 h 4850078"/>
              <a:gd name="connsiteX1" fmla="*/ 2425039 w 4850078"/>
              <a:gd name="connsiteY1" fmla="*/ 0 h 4850078"/>
              <a:gd name="connsiteX2" fmla="*/ 4850078 w 4850078"/>
              <a:gd name="connsiteY2" fmla="*/ 2425039 h 4850078"/>
              <a:gd name="connsiteX3" fmla="*/ 2425039 w 4850078"/>
              <a:gd name="connsiteY3" fmla="*/ 4850078 h 4850078"/>
              <a:gd name="connsiteX4" fmla="*/ 0 w 4850078"/>
              <a:gd name="connsiteY4" fmla="*/ 2425039 h 4850078"/>
              <a:gd name="connsiteX0" fmla="*/ 0 w 4850078"/>
              <a:gd name="connsiteY0" fmla="*/ 2425039 h 4850078"/>
              <a:gd name="connsiteX1" fmla="*/ 2425039 w 4850078"/>
              <a:gd name="connsiteY1" fmla="*/ 0 h 4850078"/>
              <a:gd name="connsiteX2" fmla="*/ 4850078 w 4850078"/>
              <a:gd name="connsiteY2" fmla="*/ 2425039 h 4850078"/>
              <a:gd name="connsiteX3" fmla="*/ 2425039 w 4850078"/>
              <a:gd name="connsiteY3" fmla="*/ 4850078 h 4850078"/>
              <a:gd name="connsiteX4" fmla="*/ 91440 w 4850078"/>
              <a:gd name="connsiteY4" fmla="*/ 2516479 h 4850078"/>
              <a:gd name="connsiteX0" fmla="*/ 0 w 4850078"/>
              <a:gd name="connsiteY0" fmla="*/ 2425039 h 4850078"/>
              <a:gd name="connsiteX1" fmla="*/ 2425039 w 4850078"/>
              <a:gd name="connsiteY1" fmla="*/ 0 h 4850078"/>
              <a:gd name="connsiteX2" fmla="*/ 4850078 w 4850078"/>
              <a:gd name="connsiteY2" fmla="*/ 2425039 h 4850078"/>
              <a:gd name="connsiteX3" fmla="*/ 2425039 w 4850078"/>
              <a:gd name="connsiteY3" fmla="*/ 4850078 h 4850078"/>
              <a:gd name="connsiteX0" fmla="*/ 0 w 2425039"/>
              <a:gd name="connsiteY0" fmla="*/ 0 h 4850078"/>
              <a:gd name="connsiteX1" fmla="*/ 2425039 w 2425039"/>
              <a:gd name="connsiteY1" fmla="*/ 2425039 h 4850078"/>
              <a:gd name="connsiteX2" fmla="*/ 0 w 2425039"/>
              <a:gd name="connsiteY2" fmla="*/ 4850078 h 4850078"/>
            </a:gdLst>
            <a:ahLst/>
            <a:cxnLst>
              <a:cxn ang="0">
                <a:pos x="connsiteX0" y="connsiteY0"/>
              </a:cxn>
              <a:cxn ang="0">
                <a:pos x="connsiteX1" y="connsiteY1"/>
              </a:cxn>
              <a:cxn ang="0">
                <a:pos x="connsiteX2" y="connsiteY2"/>
              </a:cxn>
            </a:cxnLst>
            <a:rect l="l" t="t" r="r" b="b"/>
            <a:pathLst>
              <a:path w="2425039" h="4850078">
                <a:moveTo>
                  <a:pt x="0" y="0"/>
                </a:moveTo>
                <a:cubicBezTo>
                  <a:pt x="1339312" y="0"/>
                  <a:pt x="2425039" y="1085727"/>
                  <a:pt x="2425039" y="2425039"/>
                </a:cubicBezTo>
                <a:cubicBezTo>
                  <a:pt x="2425039" y="3764351"/>
                  <a:pt x="1339312" y="4850078"/>
                  <a:pt x="0" y="4850078"/>
                </a:cubicBezTo>
              </a:path>
            </a:pathLst>
          </a:custGeom>
          <a:noFill/>
          <a:ln w="38100" cap="rnd">
            <a:solidFill>
              <a:schemeClr val="bg1"/>
            </a:solidFill>
          </a:ln>
          <a:effectLst>
            <a:outerShdw blurRad="50800" dist="63500" dir="2700000" algn="tl"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7" name="Oval 26">
            <a:extLst>
              <a:ext uri="{FF2B5EF4-FFF2-40B4-BE49-F238E27FC236}">
                <a16:creationId xmlns:a16="http://schemas.microsoft.com/office/drawing/2014/main" id="{FC513F39-9800-4013-904F-FAA76DB47329}"/>
              </a:ext>
            </a:extLst>
          </p:cNvPr>
          <p:cNvSpPr/>
          <p:nvPr/>
        </p:nvSpPr>
        <p:spPr>
          <a:xfrm>
            <a:off x="2858448" y="1280161"/>
            <a:ext cx="104870" cy="104871"/>
          </a:xfrm>
          <a:prstGeom prst="ellipse">
            <a:avLst/>
          </a:prstGeom>
          <a:solidFill>
            <a:schemeClr val="bg1"/>
          </a:solidFill>
          <a:ln>
            <a:noFill/>
          </a:ln>
          <a:effectLst>
            <a:outerShdw blurRad="50800" dist="63500" dir="2700000" algn="tl"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8" name="Oval 27">
            <a:extLst>
              <a:ext uri="{FF2B5EF4-FFF2-40B4-BE49-F238E27FC236}">
                <a16:creationId xmlns:a16="http://schemas.microsoft.com/office/drawing/2014/main" id="{081FD6DC-DF1E-4423-B649-2BC02C0084ED}"/>
              </a:ext>
            </a:extLst>
          </p:cNvPr>
          <p:cNvSpPr/>
          <p:nvPr/>
        </p:nvSpPr>
        <p:spPr>
          <a:xfrm>
            <a:off x="2858448" y="5472970"/>
            <a:ext cx="104870" cy="104871"/>
          </a:xfrm>
          <a:prstGeom prst="ellipse">
            <a:avLst/>
          </a:prstGeom>
          <a:solidFill>
            <a:schemeClr val="bg1"/>
          </a:solidFill>
          <a:ln>
            <a:noFill/>
          </a:ln>
          <a:effectLst>
            <a:outerShdw blurRad="50800" dist="63500" dir="2700000" algn="tl"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76" name="Oval 75">
            <a:extLst>
              <a:ext uri="{FF2B5EF4-FFF2-40B4-BE49-F238E27FC236}">
                <a16:creationId xmlns:a16="http://schemas.microsoft.com/office/drawing/2014/main" id="{E6694893-FADB-4772-A629-12F924D02B89}"/>
              </a:ext>
            </a:extLst>
          </p:cNvPr>
          <p:cNvSpPr/>
          <p:nvPr/>
        </p:nvSpPr>
        <p:spPr>
          <a:xfrm>
            <a:off x="4441949" y="1995876"/>
            <a:ext cx="150046" cy="150046"/>
          </a:xfrm>
          <a:prstGeom prst="ellipse">
            <a:avLst/>
          </a:prstGeom>
          <a:solidFill>
            <a:schemeClr val="accent2"/>
          </a:solidFill>
          <a:ln w="38100">
            <a:solidFill>
              <a:schemeClr val="bg1"/>
            </a:solidFill>
          </a:ln>
          <a:effectLst>
            <a:outerShdw blurRad="50800" dist="63500" dir="2700000" algn="tl"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77" name="Oval 76">
            <a:extLst>
              <a:ext uri="{FF2B5EF4-FFF2-40B4-BE49-F238E27FC236}">
                <a16:creationId xmlns:a16="http://schemas.microsoft.com/office/drawing/2014/main" id="{B8776F7B-C4BF-4922-9A1A-0DA071E42B76}"/>
              </a:ext>
            </a:extLst>
          </p:cNvPr>
          <p:cNvSpPr/>
          <p:nvPr/>
        </p:nvSpPr>
        <p:spPr>
          <a:xfrm>
            <a:off x="4878376" y="2912535"/>
            <a:ext cx="150046" cy="150046"/>
          </a:xfrm>
          <a:prstGeom prst="ellipse">
            <a:avLst/>
          </a:prstGeom>
          <a:solidFill>
            <a:schemeClr val="accent1"/>
          </a:solidFill>
          <a:ln w="38100">
            <a:solidFill>
              <a:schemeClr val="bg1"/>
            </a:solidFill>
          </a:ln>
          <a:effectLst>
            <a:outerShdw blurRad="50800" dist="63500" dir="2700000" algn="tl"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78" name="Oval 77">
            <a:extLst>
              <a:ext uri="{FF2B5EF4-FFF2-40B4-BE49-F238E27FC236}">
                <a16:creationId xmlns:a16="http://schemas.microsoft.com/office/drawing/2014/main" id="{F98D58A9-2446-4E46-B138-733C736F4DAA}"/>
              </a:ext>
            </a:extLst>
          </p:cNvPr>
          <p:cNvSpPr/>
          <p:nvPr/>
        </p:nvSpPr>
        <p:spPr>
          <a:xfrm>
            <a:off x="4878376" y="3859351"/>
            <a:ext cx="150046" cy="150046"/>
          </a:xfrm>
          <a:prstGeom prst="ellipse">
            <a:avLst/>
          </a:prstGeom>
          <a:solidFill>
            <a:schemeClr val="accent4"/>
          </a:solidFill>
          <a:ln w="38100">
            <a:solidFill>
              <a:schemeClr val="bg1"/>
            </a:solidFill>
          </a:ln>
          <a:effectLst>
            <a:outerShdw blurRad="50800" dist="63500" dir="2700000" algn="tl"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79" name="Rectangle: Rounded Corners 78">
            <a:extLst>
              <a:ext uri="{FF2B5EF4-FFF2-40B4-BE49-F238E27FC236}">
                <a16:creationId xmlns:a16="http://schemas.microsoft.com/office/drawing/2014/main" id="{A8275473-0AD5-45D3-8F04-91E6E7367348}"/>
              </a:ext>
            </a:extLst>
          </p:cNvPr>
          <p:cNvSpPr/>
          <p:nvPr/>
        </p:nvSpPr>
        <p:spPr>
          <a:xfrm>
            <a:off x="5616629" y="1489228"/>
            <a:ext cx="4645018" cy="847295"/>
          </a:xfrm>
          <a:prstGeom prst="roundRect">
            <a:avLst>
              <a:gd name="adj" fmla="val 50000"/>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80" name="Oval 79">
            <a:extLst>
              <a:ext uri="{FF2B5EF4-FFF2-40B4-BE49-F238E27FC236}">
                <a16:creationId xmlns:a16="http://schemas.microsoft.com/office/drawing/2014/main" id="{C6F9BE63-7DC9-4D8F-A65E-6E5F01FDEE5D}"/>
              </a:ext>
            </a:extLst>
          </p:cNvPr>
          <p:cNvSpPr/>
          <p:nvPr/>
        </p:nvSpPr>
        <p:spPr>
          <a:xfrm>
            <a:off x="5245484" y="1571923"/>
            <a:ext cx="681902" cy="681902"/>
          </a:xfrm>
          <a:prstGeom prst="ellipse">
            <a:avLst/>
          </a:prstGeom>
          <a:gradFill flip="none" rotWithShape="1">
            <a:gsLst>
              <a:gs pos="61000">
                <a:schemeClr val="bg1"/>
              </a:gs>
              <a:gs pos="100000">
                <a:schemeClr val="bg1">
                  <a:lumMod val="95000"/>
                </a:schemeClr>
              </a:gs>
            </a:gsLst>
            <a:lin ang="5400000" scaled="1"/>
            <a:tileRect/>
          </a:gradFill>
          <a:ln>
            <a:noFill/>
          </a:ln>
          <a:effectLst>
            <a:outerShdw blurRad="88900" dist="63500" algn="l"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IN" dirty="0">
                <a:solidFill>
                  <a:schemeClr val="accent2"/>
                </a:solidFill>
              </a:rPr>
              <a:t>02</a:t>
            </a:r>
          </a:p>
        </p:txBody>
      </p:sp>
      <p:sp>
        <p:nvSpPr>
          <p:cNvPr id="81" name="Rectangle 80">
            <a:extLst>
              <a:ext uri="{FF2B5EF4-FFF2-40B4-BE49-F238E27FC236}">
                <a16:creationId xmlns:a16="http://schemas.microsoft.com/office/drawing/2014/main" id="{CC1884A0-B60E-41E3-A429-6A19DA69FB51}"/>
              </a:ext>
            </a:extLst>
          </p:cNvPr>
          <p:cNvSpPr/>
          <p:nvPr/>
        </p:nvSpPr>
        <p:spPr>
          <a:xfrm>
            <a:off x="6258437" y="1800824"/>
            <a:ext cx="3440155" cy="224100"/>
          </a:xfrm>
          <a:prstGeom prst="rect">
            <a:avLst/>
          </a:prstGeom>
        </p:spPr>
        <p:txBody>
          <a:bodyPr wrap="square" lIns="0" tIns="0" rIns="0" bIns="0" anchor="ctr">
            <a:spAutoFit/>
          </a:bodyPr>
          <a:lstStyle/>
          <a:p>
            <a:pPr>
              <a:lnSpc>
                <a:spcPct val="110000"/>
              </a:lnSpc>
            </a:pPr>
            <a:r>
              <a:rPr lang="en-IN" sz="1400" dirty="0">
                <a:solidFill>
                  <a:schemeClr val="bg1"/>
                </a:solidFill>
                <a:latin typeface="Open Sans" panose="020B0606030504020204" pitchFamily="34" charset="0"/>
                <a:ea typeface="Open Sans" panose="020B0606030504020204" pitchFamily="34" charset="0"/>
                <a:cs typeface="Open Sans" panose="020B0606030504020204" pitchFamily="34" charset="0"/>
              </a:rPr>
              <a:t>Market Opportunity</a:t>
            </a:r>
          </a:p>
        </p:txBody>
      </p:sp>
      <p:sp>
        <p:nvSpPr>
          <p:cNvPr id="66" name="Rectangle: Rounded Corners 65">
            <a:extLst>
              <a:ext uri="{FF2B5EF4-FFF2-40B4-BE49-F238E27FC236}">
                <a16:creationId xmlns:a16="http://schemas.microsoft.com/office/drawing/2014/main" id="{D783ED81-DA3A-4051-BA58-100A2C62427C}"/>
              </a:ext>
            </a:extLst>
          </p:cNvPr>
          <p:cNvSpPr/>
          <p:nvPr/>
        </p:nvSpPr>
        <p:spPr>
          <a:xfrm>
            <a:off x="6120685" y="2499978"/>
            <a:ext cx="4645018" cy="847295"/>
          </a:xfrm>
          <a:prstGeom prst="roundRect">
            <a:avLst>
              <a:gd name="adj" fmla="val 5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7" name="Oval 66">
            <a:extLst>
              <a:ext uri="{FF2B5EF4-FFF2-40B4-BE49-F238E27FC236}">
                <a16:creationId xmlns:a16="http://schemas.microsoft.com/office/drawing/2014/main" id="{2718954B-DF3D-422F-B68B-5EF30C982594}"/>
              </a:ext>
            </a:extLst>
          </p:cNvPr>
          <p:cNvSpPr/>
          <p:nvPr/>
        </p:nvSpPr>
        <p:spPr>
          <a:xfrm>
            <a:off x="5728084" y="2582673"/>
            <a:ext cx="681902" cy="681902"/>
          </a:xfrm>
          <a:prstGeom prst="ellipse">
            <a:avLst/>
          </a:prstGeom>
          <a:gradFill flip="none" rotWithShape="1">
            <a:gsLst>
              <a:gs pos="61000">
                <a:schemeClr val="bg1"/>
              </a:gs>
              <a:gs pos="100000">
                <a:schemeClr val="bg1">
                  <a:lumMod val="95000"/>
                </a:schemeClr>
              </a:gs>
            </a:gsLst>
            <a:lin ang="5400000" scaled="1"/>
            <a:tileRect/>
          </a:gradFill>
          <a:ln>
            <a:noFill/>
          </a:ln>
          <a:effectLst>
            <a:outerShdw blurRad="88900" dist="63500" algn="l"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IN" dirty="0">
                <a:solidFill>
                  <a:schemeClr val="accent1"/>
                </a:solidFill>
              </a:rPr>
              <a:t>03</a:t>
            </a:r>
          </a:p>
        </p:txBody>
      </p:sp>
      <p:sp>
        <p:nvSpPr>
          <p:cNvPr id="68" name="Rectangle 67">
            <a:extLst>
              <a:ext uri="{FF2B5EF4-FFF2-40B4-BE49-F238E27FC236}">
                <a16:creationId xmlns:a16="http://schemas.microsoft.com/office/drawing/2014/main" id="{17653028-981F-444D-995E-282124D87E96}"/>
              </a:ext>
            </a:extLst>
          </p:cNvPr>
          <p:cNvSpPr/>
          <p:nvPr/>
        </p:nvSpPr>
        <p:spPr>
          <a:xfrm>
            <a:off x="6766437" y="2811574"/>
            <a:ext cx="3440155" cy="224100"/>
          </a:xfrm>
          <a:prstGeom prst="rect">
            <a:avLst/>
          </a:prstGeom>
        </p:spPr>
        <p:txBody>
          <a:bodyPr wrap="square" lIns="0" tIns="0" rIns="0" bIns="0" anchor="ctr">
            <a:spAutoFit/>
          </a:bodyPr>
          <a:lstStyle/>
          <a:p>
            <a:pPr>
              <a:lnSpc>
                <a:spcPct val="110000"/>
              </a:lnSpc>
            </a:pPr>
            <a:r>
              <a:rPr lang="en-IN" sz="1400" dirty="0">
                <a:solidFill>
                  <a:schemeClr val="bg1"/>
                </a:solidFill>
                <a:latin typeface="Open Sans" panose="020B0606030504020204" pitchFamily="34" charset="0"/>
                <a:ea typeface="Open Sans" panose="020B0606030504020204" pitchFamily="34" charset="0"/>
                <a:cs typeface="Open Sans" panose="020B0606030504020204" pitchFamily="34" charset="0"/>
              </a:rPr>
              <a:t>Who we are and what we do</a:t>
            </a:r>
          </a:p>
        </p:txBody>
      </p:sp>
      <p:sp>
        <p:nvSpPr>
          <p:cNvPr id="82" name="Rectangle: Rounded Corners 81">
            <a:extLst>
              <a:ext uri="{FF2B5EF4-FFF2-40B4-BE49-F238E27FC236}">
                <a16:creationId xmlns:a16="http://schemas.microsoft.com/office/drawing/2014/main" id="{55061DC2-6177-4AF2-B8D7-0C8A62DA27F0}"/>
              </a:ext>
            </a:extLst>
          </p:cNvPr>
          <p:cNvSpPr/>
          <p:nvPr/>
        </p:nvSpPr>
        <p:spPr>
          <a:xfrm>
            <a:off x="5616629" y="4521478"/>
            <a:ext cx="4645018" cy="847295"/>
          </a:xfrm>
          <a:prstGeom prst="roundRect">
            <a:avLst>
              <a:gd name="adj" fmla="val 50000"/>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83" name="Oval 82">
            <a:extLst>
              <a:ext uri="{FF2B5EF4-FFF2-40B4-BE49-F238E27FC236}">
                <a16:creationId xmlns:a16="http://schemas.microsoft.com/office/drawing/2014/main" id="{C1AC8196-0264-4A2A-85C7-BB7D511208BF}"/>
              </a:ext>
            </a:extLst>
          </p:cNvPr>
          <p:cNvSpPr/>
          <p:nvPr/>
        </p:nvSpPr>
        <p:spPr>
          <a:xfrm>
            <a:off x="5245484" y="4604173"/>
            <a:ext cx="681902" cy="681902"/>
          </a:xfrm>
          <a:prstGeom prst="ellipse">
            <a:avLst/>
          </a:prstGeom>
          <a:gradFill flip="none" rotWithShape="1">
            <a:gsLst>
              <a:gs pos="61000">
                <a:schemeClr val="bg1"/>
              </a:gs>
              <a:gs pos="100000">
                <a:schemeClr val="bg1">
                  <a:lumMod val="95000"/>
                </a:schemeClr>
              </a:gs>
            </a:gsLst>
            <a:lin ang="5400000" scaled="1"/>
            <a:tileRect/>
          </a:gradFill>
          <a:ln>
            <a:noFill/>
          </a:ln>
          <a:effectLst>
            <a:outerShdw blurRad="88900" dist="63500" algn="l"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IN" dirty="0">
                <a:solidFill>
                  <a:schemeClr val="accent2"/>
                </a:solidFill>
              </a:rPr>
              <a:t>05</a:t>
            </a:r>
          </a:p>
        </p:txBody>
      </p:sp>
      <p:sp>
        <p:nvSpPr>
          <p:cNvPr id="84" name="Rectangle 83">
            <a:extLst>
              <a:ext uri="{FF2B5EF4-FFF2-40B4-BE49-F238E27FC236}">
                <a16:creationId xmlns:a16="http://schemas.microsoft.com/office/drawing/2014/main" id="{750A0077-20AA-410E-A8F3-11DFE80EE8E2}"/>
              </a:ext>
            </a:extLst>
          </p:cNvPr>
          <p:cNvSpPr/>
          <p:nvPr/>
        </p:nvSpPr>
        <p:spPr>
          <a:xfrm>
            <a:off x="6258437" y="4833074"/>
            <a:ext cx="3440155" cy="224100"/>
          </a:xfrm>
          <a:prstGeom prst="rect">
            <a:avLst/>
          </a:prstGeom>
        </p:spPr>
        <p:txBody>
          <a:bodyPr wrap="square" lIns="0" tIns="0" rIns="0" bIns="0" anchor="ctr">
            <a:spAutoFit/>
          </a:bodyPr>
          <a:lstStyle/>
          <a:p>
            <a:pPr>
              <a:lnSpc>
                <a:spcPct val="110000"/>
              </a:lnSpc>
            </a:pPr>
            <a:r>
              <a:rPr lang="en-IN" sz="1400" dirty="0">
                <a:solidFill>
                  <a:schemeClr val="bg1"/>
                </a:solidFill>
                <a:latin typeface="Open Sans" panose="020B0606030504020204" pitchFamily="34" charset="0"/>
                <a:ea typeface="Open Sans" panose="020B0606030504020204" pitchFamily="34" charset="0"/>
                <a:cs typeface="Open Sans" panose="020B0606030504020204" pitchFamily="34" charset="0"/>
              </a:rPr>
              <a:t>Leadership Team</a:t>
            </a:r>
          </a:p>
        </p:txBody>
      </p:sp>
      <p:sp>
        <p:nvSpPr>
          <p:cNvPr id="69" name="Rectangle: Rounded Corners 68">
            <a:extLst>
              <a:ext uri="{FF2B5EF4-FFF2-40B4-BE49-F238E27FC236}">
                <a16:creationId xmlns:a16="http://schemas.microsoft.com/office/drawing/2014/main" id="{EFC2BB35-1826-496F-8822-3AA9ACFC6444}"/>
              </a:ext>
            </a:extLst>
          </p:cNvPr>
          <p:cNvSpPr/>
          <p:nvPr/>
        </p:nvSpPr>
        <p:spPr>
          <a:xfrm>
            <a:off x="6118291" y="3510728"/>
            <a:ext cx="4645018" cy="847295"/>
          </a:xfrm>
          <a:prstGeom prst="roundRect">
            <a:avLst>
              <a:gd name="adj" fmla="val 50000"/>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70" name="Oval 69">
            <a:extLst>
              <a:ext uri="{FF2B5EF4-FFF2-40B4-BE49-F238E27FC236}">
                <a16:creationId xmlns:a16="http://schemas.microsoft.com/office/drawing/2014/main" id="{510DBCB6-18CE-4E19-97F9-A009EE99D3BE}"/>
              </a:ext>
            </a:extLst>
          </p:cNvPr>
          <p:cNvSpPr/>
          <p:nvPr/>
        </p:nvSpPr>
        <p:spPr>
          <a:xfrm>
            <a:off x="5728084" y="3593423"/>
            <a:ext cx="681902" cy="681902"/>
          </a:xfrm>
          <a:prstGeom prst="ellipse">
            <a:avLst/>
          </a:prstGeom>
          <a:gradFill flip="none" rotWithShape="1">
            <a:gsLst>
              <a:gs pos="61000">
                <a:schemeClr val="bg1"/>
              </a:gs>
              <a:gs pos="100000">
                <a:schemeClr val="bg1">
                  <a:lumMod val="95000"/>
                </a:schemeClr>
              </a:gs>
            </a:gsLst>
            <a:lin ang="5400000" scaled="1"/>
            <a:tileRect/>
          </a:gradFill>
          <a:ln>
            <a:noFill/>
          </a:ln>
          <a:effectLst>
            <a:outerShdw blurRad="88900" dist="63500" algn="l"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IN" dirty="0">
                <a:solidFill>
                  <a:schemeClr val="accent4"/>
                </a:solidFill>
              </a:rPr>
              <a:t>04</a:t>
            </a:r>
          </a:p>
        </p:txBody>
      </p:sp>
      <p:sp>
        <p:nvSpPr>
          <p:cNvPr id="72" name="Rectangle 71">
            <a:extLst>
              <a:ext uri="{FF2B5EF4-FFF2-40B4-BE49-F238E27FC236}">
                <a16:creationId xmlns:a16="http://schemas.microsoft.com/office/drawing/2014/main" id="{BCF47C04-A4AA-4FCE-B920-DC082893104D}"/>
              </a:ext>
            </a:extLst>
          </p:cNvPr>
          <p:cNvSpPr/>
          <p:nvPr/>
        </p:nvSpPr>
        <p:spPr>
          <a:xfrm>
            <a:off x="6787146" y="3822324"/>
            <a:ext cx="3440155" cy="224100"/>
          </a:xfrm>
          <a:prstGeom prst="rect">
            <a:avLst/>
          </a:prstGeom>
        </p:spPr>
        <p:txBody>
          <a:bodyPr wrap="square" lIns="0" tIns="0" rIns="0" bIns="0" anchor="ctr">
            <a:spAutoFit/>
          </a:bodyPr>
          <a:lstStyle/>
          <a:p>
            <a:pPr>
              <a:lnSpc>
                <a:spcPct val="110000"/>
              </a:lnSpc>
            </a:pPr>
            <a:r>
              <a:rPr lang="en-IN" sz="1400" dirty="0">
                <a:solidFill>
                  <a:schemeClr val="bg1"/>
                </a:solidFill>
                <a:latin typeface="Open Sans" panose="020B0606030504020204" pitchFamily="34" charset="0"/>
                <a:ea typeface="Open Sans" panose="020B0606030504020204" pitchFamily="34" charset="0"/>
                <a:cs typeface="Open Sans" panose="020B0606030504020204" pitchFamily="34" charset="0"/>
              </a:rPr>
              <a:t>Products &amp; Services</a:t>
            </a:r>
          </a:p>
        </p:txBody>
      </p:sp>
      <p:sp>
        <p:nvSpPr>
          <p:cNvPr id="102" name="Oval 101">
            <a:extLst>
              <a:ext uri="{FF2B5EF4-FFF2-40B4-BE49-F238E27FC236}">
                <a16:creationId xmlns:a16="http://schemas.microsoft.com/office/drawing/2014/main" id="{D14BEA8A-8B9C-4589-8558-51BCD94F2F71}"/>
              </a:ext>
            </a:extLst>
          </p:cNvPr>
          <p:cNvSpPr/>
          <p:nvPr/>
        </p:nvSpPr>
        <p:spPr>
          <a:xfrm>
            <a:off x="3626332" y="1399106"/>
            <a:ext cx="150046" cy="150046"/>
          </a:xfrm>
          <a:prstGeom prst="ellipse">
            <a:avLst/>
          </a:prstGeom>
          <a:solidFill>
            <a:schemeClr val="accent3"/>
          </a:solidFill>
          <a:ln w="38100">
            <a:solidFill>
              <a:schemeClr val="bg1"/>
            </a:solidFill>
          </a:ln>
          <a:effectLst>
            <a:outerShdw blurRad="50800" dist="63500" dir="2700000" algn="tl"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04" name="Oval 103">
            <a:extLst>
              <a:ext uri="{FF2B5EF4-FFF2-40B4-BE49-F238E27FC236}">
                <a16:creationId xmlns:a16="http://schemas.microsoft.com/office/drawing/2014/main" id="{7CD62A60-BC6A-48AA-BE79-FD4F3D51882F}"/>
              </a:ext>
            </a:extLst>
          </p:cNvPr>
          <p:cNvSpPr/>
          <p:nvPr/>
        </p:nvSpPr>
        <p:spPr>
          <a:xfrm>
            <a:off x="3621850" y="5297321"/>
            <a:ext cx="150046" cy="150046"/>
          </a:xfrm>
          <a:prstGeom prst="ellipse">
            <a:avLst/>
          </a:prstGeom>
          <a:solidFill>
            <a:schemeClr val="accent1">
              <a:lumMod val="75000"/>
            </a:schemeClr>
          </a:solidFill>
          <a:ln w="38100">
            <a:solidFill>
              <a:schemeClr val="bg1"/>
            </a:solidFill>
          </a:ln>
          <a:effectLst>
            <a:outerShdw blurRad="50800" dist="63500" dir="2700000" algn="tl"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06" name="Rectangle: Rounded Corners 105">
            <a:extLst>
              <a:ext uri="{FF2B5EF4-FFF2-40B4-BE49-F238E27FC236}">
                <a16:creationId xmlns:a16="http://schemas.microsoft.com/office/drawing/2014/main" id="{137C3552-BD4B-4981-A137-7E046C8EFB5C}"/>
              </a:ext>
            </a:extLst>
          </p:cNvPr>
          <p:cNvSpPr/>
          <p:nvPr/>
        </p:nvSpPr>
        <p:spPr>
          <a:xfrm>
            <a:off x="4777643" y="478478"/>
            <a:ext cx="4645018" cy="847295"/>
          </a:xfrm>
          <a:prstGeom prst="roundRect">
            <a:avLst>
              <a:gd name="adj" fmla="val 50000"/>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07" name="Oval 106">
            <a:extLst>
              <a:ext uri="{FF2B5EF4-FFF2-40B4-BE49-F238E27FC236}">
                <a16:creationId xmlns:a16="http://schemas.microsoft.com/office/drawing/2014/main" id="{C9224741-E84A-4B1D-9E88-3030E148EF9A}"/>
              </a:ext>
            </a:extLst>
          </p:cNvPr>
          <p:cNvSpPr/>
          <p:nvPr/>
        </p:nvSpPr>
        <p:spPr>
          <a:xfrm>
            <a:off x="4406498" y="561173"/>
            <a:ext cx="681902" cy="681902"/>
          </a:xfrm>
          <a:prstGeom prst="ellipse">
            <a:avLst/>
          </a:prstGeom>
          <a:gradFill flip="none" rotWithShape="1">
            <a:gsLst>
              <a:gs pos="61000">
                <a:schemeClr val="bg1"/>
              </a:gs>
              <a:gs pos="100000">
                <a:schemeClr val="bg1">
                  <a:lumMod val="95000"/>
                </a:schemeClr>
              </a:gs>
            </a:gsLst>
            <a:lin ang="5400000" scaled="1"/>
            <a:tileRect/>
          </a:gradFill>
          <a:ln>
            <a:noFill/>
          </a:ln>
          <a:effectLst>
            <a:outerShdw blurRad="88900" dist="63500" algn="l"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IN" dirty="0">
                <a:solidFill>
                  <a:schemeClr val="accent3"/>
                </a:solidFill>
              </a:rPr>
              <a:t>01</a:t>
            </a:r>
          </a:p>
        </p:txBody>
      </p:sp>
      <p:sp>
        <p:nvSpPr>
          <p:cNvPr id="112" name="Rectangle 111">
            <a:extLst>
              <a:ext uri="{FF2B5EF4-FFF2-40B4-BE49-F238E27FC236}">
                <a16:creationId xmlns:a16="http://schemas.microsoft.com/office/drawing/2014/main" id="{47141795-FDA6-41DE-ACC9-EE0799026F7A}"/>
              </a:ext>
            </a:extLst>
          </p:cNvPr>
          <p:cNvSpPr/>
          <p:nvPr/>
        </p:nvSpPr>
        <p:spPr>
          <a:xfrm>
            <a:off x="5419451" y="790074"/>
            <a:ext cx="3440155" cy="224100"/>
          </a:xfrm>
          <a:prstGeom prst="rect">
            <a:avLst/>
          </a:prstGeom>
        </p:spPr>
        <p:txBody>
          <a:bodyPr wrap="square" lIns="0" tIns="0" rIns="0" bIns="0" anchor="ctr">
            <a:spAutoFit/>
          </a:bodyPr>
          <a:lstStyle/>
          <a:p>
            <a:pPr>
              <a:lnSpc>
                <a:spcPct val="110000"/>
              </a:lnSpc>
            </a:pPr>
            <a:r>
              <a:rPr lang="en-IN" sz="1400" dirty="0">
                <a:solidFill>
                  <a:schemeClr val="bg1"/>
                </a:solidFill>
                <a:latin typeface="Open Sans" panose="020B0606030504020204" pitchFamily="34" charset="0"/>
                <a:ea typeface="Open Sans" panose="020B0606030504020204" pitchFamily="34" charset="0"/>
                <a:cs typeface="Open Sans" panose="020B0606030504020204" pitchFamily="34" charset="0"/>
              </a:rPr>
              <a:t>Mission Statement</a:t>
            </a:r>
          </a:p>
        </p:txBody>
      </p:sp>
      <p:sp>
        <p:nvSpPr>
          <p:cNvPr id="115" name="Rectangle: Rounded Corners 114">
            <a:extLst>
              <a:ext uri="{FF2B5EF4-FFF2-40B4-BE49-F238E27FC236}">
                <a16:creationId xmlns:a16="http://schemas.microsoft.com/office/drawing/2014/main" id="{46739440-8D8D-4B2C-A77F-6669E6B0C777}"/>
              </a:ext>
            </a:extLst>
          </p:cNvPr>
          <p:cNvSpPr/>
          <p:nvPr/>
        </p:nvSpPr>
        <p:spPr>
          <a:xfrm>
            <a:off x="4777643" y="5532230"/>
            <a:ext cx="4645018" cy="847295"/>
          </a:xfrm>
          <a:prstGeom prst="roundRect">
            <a:avLst>
              <a:gd name="adj" fmla="val 50000"/>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26" name="Oval 125">
            <a:extLst>
              <a:ext uri="{FF2B5EF4-FFF2-40B4-BE49-F238E27FC236}">
                <a16:creationId xmlns:a16="http://schemas.microsoft.com/office/drawing/2014/main" id="{4C64F813-2C29-4816-B7D8-C70E19301B91}"/>
              </a:ext>
            </a:extLst>
          </p:cNvPr>
          <p:cNvSpPr/>
          <p:nvPr/>
        </p:nvSpPr>
        <p:spPr>
          <a:xfrm>
            <a:off x="4406498" y="5614925"/>
            <a:ext cx="681902" cy="681902"/>
          </a:xfrm>
          <a:prstGeom prst="ellipse">
            <a:avLst/>
          </a:prstGeom>
          <a:gradFill flip="none" rotWithShape="1">
            <a:gsLst>
              <a:gs pos="61000">
                <a:schemeClr val="bg1"/>
              </a:gs>
              <a:gs pos="100000">
                <a:schemeClr val="bg1">
                  <a:lumMod val="95000"/>
                </a:schemeClr>
              </a:gs>
            </a:gsLst>
            <a:lin ang="5400000" scaled="1"/>
            <a:tileRect/>
          </a:gradFill>
          <a:ln>
            <a:noFill/>
          </a:ln>
          <a:effectLst>
            <a:outerShdw blurRad="88900" dist="63500" algn="l"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IN" dirty="0">
                <a:solidFill>
                  <a:schemeClr val="accent1">
                    <a:lumMod val="75000"/>
                  </a:schemeClr>
                </a:solidFill>
              </a:rPr>
              <a:t>06</a:t>
            </a:r>
          </a:p>
        </p:txBody>
      </p:sp>
      <p:sp>
        <p:nvSpPr>
          <p:cNvPr id="127" name="Rectangle 126">
            <a:extLst>
              <a:ext uri="{FF2B5EF4-FFF2-40B4-BE49-F238E27FC236}">
                <a16:creationId xmlns:a16="http://schemas.microsoft.com/office/drawing/2014/main" id="{D003E9EE-EB5D-4D2B-8B08-24B04CA6B3D2}"/>
              </a:ext>
            </a:extLst>
          </p:cNvPr>
          <p:cNvSpPr/>
          <p:nvPr/>
        </p:nvSpPr>
        <p:spPr>
          <a:xfrm>
            <a:off x="5419451" y="5843826"/>
            <a:ext cx="3440155" cy="224100"/>
          </a:xfrm>
          <a:prstGeom prst="rect">
            <a:avLst/>
          </a:prstGeom>
        </p:spPr>
        <p:txBody>
          <a:bodyPr wrap="square" lIns="0" tIns="0" rIns="0" bIns="0" anchor="ctr">
            <a:spAutoFit/>
          </a:bodyPr>
          <a:lstStyle/>
          <a:p>
            <a:pPr>
              <a:lnSpc>
                <a:spcPct val="110000"/>
              </a:lnSpc>
            </a:pPr>
            <a:r>
              <a:rPr lang="en-IN" sz="1400" dirty="0">
                <a:solidFill>
                  <a:schemeClr val="bg1"/>
                </a:solidFill>
                <a:latin typeface="Open Sans" panose="020B0606030504020204" pitchFamily="34" charset="0"/>
                <a:ea typeface="Open Sans" panose="020B0606030504020204" pitchFamily="34" charset="0"/>
                <a:cs typeface="Open Sans" panose="020B0606030504020204" pitchFamily="34" charset="0"/>
              </a:rPr>
              <a:t>Financial Model</a:t>
            </a:r>
          </a:p>
        </p:txBody>
      </p:sp>
      <p:sp>
        <p:nvSpPr>
          <p:cNvPr id="130" name="Oval 129">
            <a:extLst>
              <a:ext uri="{FF2B5EF4-FFF2-40B4-BE49-F238E27FC236}">
                <a16:creationId xmlns:a16="http://schemas.microsoft.com/office/drawing/2014/main" id="{1AC223FA-CFF8-4492-B789-F3A297D04866}"/>
              </a:ext>
            </a:extLst>
          </p:cNvPr>
          <p:cNvSpPr/>
          <p:nvPr/>
        </p:nvSpPr>
        <p:spPr>
          <a:xfrm>
            <a:off x="4441949" y="4689199"/>
            <a:ext cx="150046" cy="150046"/>
          </a:xfrm>
          <a:prstGeom prst="ellipse">
            <a:avLst/>
          </a:prstGeom>
          <a:solidFill>
            <a:schemeClr val="accent6"/>
          </a:solidFill>
          <a:ln w="38100">
            <a:solidFill>
              <a:schemeClr val="bg1"/>
            </a:solidFill>
          </a:ln>
          <a:effectLst>
            <a:outerShdw blurRad="50800" dist="63500" dir="2700000" algn="tl"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6" name="Oval 12">
            <a:extLst>
              <a:ext uri="{FF2B5EF4-FFF2-40B4-BE49-F238E27FC236}">
                <a16:creationId xmlns:a16="http://schemas.microsoft.com/office/drawing/2014/main" id="{F77421BA-406B-4452-83AE-424049E3B4BC}"/>
              </a:ext>
            </a:extLst>
          </p:cNvPr>
          <p:cNvSpPr>
            <a:spLocks noChangeArrowheads="1"/>
          </p:cNvSpPr>
          <p:nvPr/>
        </p:nvSpPr>
        <p:spPr bwMode="auto">
          <a:xfrm>
            <a:off x="1821269" y="2304504"/>
            <a:ext cx="2248995" cy="2248992"/>
          </a:xfrm>
          <a:prstGeom prst="ellipse">
            <a:avLst/>
          </a:prstGeom>
          <a:solidFill>
            <a:schemeClr val="bg1"/>
          </a:solidFill>
          <a:ln w="9525">
            <a:noFill/>
            <a:round/>
            <a:headEnd/>
            <a:tailEnd/>
          </a:ln>
        </p:spPr>
        <p:txBody>
          <a:bodyPr vert="horz" wrap="square" lIns="91440" tIns="45720" rIns="91440" bIns="45720" numCol="1" anchor="ctr" anchorCtr="0" compatLnSpc="1">
            <a:prstTxWarp prst="textNoShape">
              <a:avLst/>
            </a:prstTxWarp>
          </a:bodyPr>
          <a:lstStyle/>
          <a:p>
            <a:pPr algn="ctr"/>
            <a:r>
              <a:rPr lang="en-IN" sz="2000" dirty="0">
                <a:solidFill>
                  <a:schemeClr val="tx1">
                    <a:lumMod val="75000"/>
                    <a:lumOff val="25000"/>
                  </a:schemeClr>
                </a:solidFill>
                <a:latin typeface="Open Sans" panose="020B0606030504020204" pitchFamily="34" charset="0"/>
                <a:ea typeface="Open Sans" panose="020B0606030504020204" pitchFamily="34" charset="0"/>
                <a:cs typeface="Open Sans" panose="020B0606030504020204" pitchFamily="34" charset="0"/>
              </a:rPr>
              <a:t>ASG Overview</a:t>
            </a:r>
          </a:p>
        </p:txBody>
      </p:sp>
    </p:spTree>
    <p:extLst>
      <p:ext uri="{BB962C8B-B14F-4D97-AF65-F5344CB8AC3E}">
        <p14:creationId xmlns:p14="http://schemas.microsoft.com/office/powerpoint/2010/main" val="83739531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B219AE65-9B94-44EA-BEF3-EF4BFA169C8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a:extLst>
              <a:ext uri="{FF2B5EF4-FFF2-40B4-BE49-F238E27FC236}">
                <a16:creationId xmlns:a16="http://schemas.microsoft.com/office/drawing/2014/main" id="{F0C81A57-9CD5-461B-8FFE-4A8CB6CFBE0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017539" y="467397"/>
            <a:ext cx="695829" cy="5919116"/>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grpSp>
        <p:nvGrpSpPr>
          <p:cNvPr id="21" name="Group 20">
            <a:extLst>
              <a:ext uri="{FF2B5EF4-FFF2-40B4-BE49-F238E27FC236}">
                <a16:creationId xmlns:a16="http://schemas.microsoft.com/office/drawing/2014/main" id="{3086C462-37F4-494D-8292-CCB95221CC1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12192000" cy="6858000"/>
            <a:chOff x="0" y="0"/>
            <a:chExt cx="12192000" cy="6858000"/>
          </a:xfrm>
          <a:solidFill>
            <a:srgbClr val="FFFFFF"/>
          </a:solidFill>
        </p:grpSpPr>
        <p:sp>
          <p:nvSpPr>
            <p:cNvPr id="22" name="Rectangle 21">
              <a:extLst>
                <a:ext uri="{FF2B5EF4-FFF2-40B4-BE49-F238E27FC236}">
                  <a16:creationId xmlns:a16="http://schemas.microsoft.com/office/drawing/2014/main" id="{2C7D2D64-353F-4802-AA48-A70CE6020B9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0"/>
              <a:ext cx="12192000"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3" name="Freeform 5">
              <a:extLst>
                <a:ext uri="{FF2B5EF4-FFF2-40B4-BE49-F238E27FC236}">
                  <a16:creationId xmlns:a16="http://schemas.microsoft.com/office/drawing/2014/main" id="{30A6328F-CAA3-4052-BF4C-14BD47706E65}"/>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ln>
              <a:noFill/>
            </a:ln>
          </p:spPr>
          <p:style>
            <a:lnRef idx="0">
              <a:scrgbClr r="0" g="0" b="0"/>
            </a:lnRef>
            <a:fillRef idx="1002">
              <a:schemeClr val="dk2"/>
            </a:fillRef>
            <a:effectRef idx="0">
              <a:scrgbClr r="0" g="0" b="0"/>
            </a:effectRef>
            <a:fontRef idx="major"/>
          </p:style>
          <p:txBody>
            <a:bodyPr/>
            <a:lstStyle/>
            <a:p>
              <a:endParaRPr lang="en-US"/>
            </a:p>
          </p:txBody>
        </p:sp>
      </p:grpSp>
      <p:sp>
        <p:nvSpPr>
          <p:cNvPr id="2" name="Title 1">
            <a:extLst>
              <a:ext uri="{FF2B5EF4-FFF2-40B4-BE49-F238E27FC236}">
                <a16:creationId xmlns:a16="http://schemas.microsoft.com/office/drawing/2014/main" id="{DA5C94A2-B12D-0FC3-CDF7-B7315B5904AB}"/>
              </a:ext>
            </a:extLst>
          </p:cNvPr>
          <p:cNvSpPr>
            <a:spLocks noGrp="1"/>
          </p:cNvSpPr>
          <p:nvPr>
            <p:ph type="title"/>
          </p:nvPr>
        </p:nvSpPr>
        <p:spPr>
          <a:xfrm>
            <a:off x="1000372" y="1209957"/>
            <a:ext cx="3034580" cy="4438087"/>
          </a:xfrm>
        </p:spPr>
        <p:txBody>
          <a:bodyPr anchor="ctr">
            <a:normAutofit/>
          </a:bodyPr>
          <a:lstStyle/>
          <a:p>
            <a:pPr algn="r"/>
            <a:r>
              <a:rPr lang="en-US" sz="3200"/>
              <a:t>Athena Software Group Inc.</a:t>
            </a:r>
          </a:p>
        </p:txBody>
      </p:sp>
      <p:cxnSp>
        <p:nvCxnSpPr>
          <p:cNvPr id="24" name="Straight Connector 23">
            <a:extLst>
              <a:ext uri="{FF2B5EF4-FFF2-40B4-BE49-F238E27FC236}">
                <a16:creationId xmlns:a16="http://schemas.microsoft.com/office/drawing/2014/main" id="{AD23B2CD-009B-425A-9616-1E1AD1D5AB46}"/>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356687" y="1930986"/>
            <a:ext cx="0" cy="3200400"/>
          </a:xfrm>
          <a:prstGeom prst="line">
            <a:avLst/>
          </a:prstGeom>
          <a:ln w="15875" cap="sq">
            <a:solidFill>
              <a:schemeClr val="tx2"/>
            </a:solidFill>
            <a:miter lim="800000"/>
          </a:ln>
        </p:spPr>
        <p:style>
          <a:lnRef idx="1">
            <a:schemeClr val="accent1"/>
          </a:lnRef>
          <a:fillRef idx="0">
            <a:schemeClr val="accent1"/>
          </a:fillRef>
          <a:effectRef idx="0">
            <a:schemeClr val="accent1"/>
          </a:effectRef>
          <a:fontRef idx="minor">
            <a:schemeClr val="tx1"/>
          </a:fontRef>
        </p:style>
      </p:cxnSp>
      <p:sp>
        <p:nvSpPr>
          <p:cNvPr id="25" name="Content Placeholder 2">
            <a:extLst>
              <a:ext uri="{FF2B5EF4-FFF2-40B4-BE49-F238E27FC236}">
                <a16:creationId xmlns:a16="http://schemas.microsoft.com/office/drawing/2014/main" id="{8F26F023-E979-BF7F-8669-50610F99DF69}"/>
              </a:ext>
            </a:extLst>
          </p:cNvPr>
          <p:cNvSpPr>
            <a:spLocks noGrp="1"/>
          </p:cNvSpPr>
          <p:nvPr>
            <p:ph idx="1"/>
          </p:nvPr>
        </p:nvSpPr>
        <p:spPr>
          <a:xfrm>
            <a:off x="4678424" y="1059025"/>
            <a:ext cx="5302189" cy="4739950"/>
          </a:xfrm>
        </p:spPr>
        <p:txBody>
          <a:bodyPr anchor="ctr">
            <a:normAutofit/>
          </a:bodyPr>
          <a:lstStyle/>
          <a:p>
            <a:pPr marL="0" indent="0">
              <a:lnSpc>
                <a:spcPct val="90000"/>
              </a:lnSpc>
              <a:buNone/>
            </a:pPr>
            <a:r>
              <a:rPr lang="en-US" sz="1500" b="0" i="1" u="none" strike="noStrike">
                <a:solidFill>
                  <a:schemeClr val="tx1"/>
                </a:solidFill>
                <a:effectLst/>
                <a:latin typeface="-apple-system-font"/>
              </a:rPr>
              <a:t>A company founded under the principles of integrating Cyber Security best practices, high end custom enterprise software and artificial intelligence (LLMs). </a:t>
            </a:r>
          </a:p>
          <a:p>
            <a:pPr marL="0" indent="0">
              <a:lnSpc>
                <a:spcPct val="90000"/>
              </a:lnSpc>
              <a:buNone/>
            </a:pPr>
            <a:r>
              <a:rPr lang="en-US" sz="1500" b="0" i="1" u="none" strike="noStrike">
                <a:solidFill>
                  <a:schemeClr val="tx1"/>
                </a:solidFill>
                <a:effectLst/>
                <a:latin typeface="-apple-system-font"/>
              </a:rPr>
              <a:t>Athena Software Group brings together some of the best minds in computer science, cyber defense and SaaS to design solutions </a:t>
            </a:r>
            <a:r>
              <a:rPr lang="en-US" sz="1500" i="1">
                <a:solidFill>
                  <a:schemeClr val="tx1"/>
                </a:solidFill>
                <a:latin typeface="-apple-system-font"/>
              </a:rPr>
              <a:t>specifically </a:t>
            </a:r>
            <a:r>
              <a:rPr lang="en-US" sz="1500" b="0" i="1" u="none" strike="noStrike">
                <a:solidFill>
                  <a:schemeClr val="tx1"/>
                </a:solidFill>
                <a:effectLst/>
                <a:latin typeface="-apple-system-font"/>
              </a:rPr>
              <a:t>for application service providers. </a:t>
            </a:r>
          </a:p>
          <a:p>
            <a:pPr marL="0" indent="0">
              <a:lnSpc>
                <a:spcPct val="90000"/>
              </a:lnSpc>
              <a:buNone/>
            </a:pPr>
            <a:r>
              <a:rPr lang="en-US" sz="1500" b="0" i="1" u="none" strike="noStrike">
                <a:solidFill>
                  <a:schemeClr val="tx1"/>
                </a:solidFill>
                <a:effectLst/>
                <a:latin typeface="-apple-system-font"/>
              </a:rPr>
              <a:t>We take a fully integrated and analytical approach to Cyber Security defense, knowing through experience that the best Cyber Defense strategies arise from providing the best analysts with the best tools from within a fully integrated cyber security infrastructure that is informed by the latest cyber and t</a:t>
            </a:r>
          </a:p>
          <a:p>
            <a:pPr marL="0" indent="0">
              <a:lnSpc>
                <a:spcPct val="90000"/>
              </a:lnSpc>
              <a:buNone/>
            </a:pPr>
            <a:r>
              <a:rPr lang="en-US" sz="1500" b="0" i="1" u="none" strike="noStrike">
                <a:solidFill>
                  <a:schemeClr val="tx1"/>
                </a:solidFill>
                <a:effectLst/>
                <a:latin typeface="-apple-system-font"/>
              </a:rPr>
              <a:t>We intend to set a new bar in Cyber </a:t>
            </a:r>
            <a:r>
              <a:rPr lang="en-US" sz="1500" i="1">
                <a:solidFill>
                  <a:schemeClr val="tx1"/>
                </a:solidFill>
                <a:latin typeface="-apple-system-font"/>
              </a:rPr>
              <a:t>defense by providing tools along the entire Cyber defense stack which are fully integrated with Cyber specific trained LLMs that both understand the global threat landscape AND are informed by the technical specifications which underpin the application specific infrastructure environment </a:t>
            </a:r>
            <a:r>
              <a:rPr lang="en-US" sz="1500" b="0" i="1" u="none" strike="noStrike">
                <a:solidFill>
                  <a:schemeClr val="tx1"/>
                </a:solidFill>
                <a:effectLst/>
                <a:latin typeface="-apple-system-font"/>
              </a:rPr>
              <a:t>facilitating higher quality, more rapid and informed outcomes with respect to threat and anomaly detection, response management, vulnerability management and compliance.</a:t>
            </a:r>
          </a:p>
        </p:txBody>
      </p:sp>
    </p:spTree>
    <p:extLst>
      <p:ext uri="{BB962C8B-B14F-4D97-AF65-F5344CB8AC3E}">
        <p14:creationId xmlns:p14="http://schemas.microsoft.com/office/powerpoint/2010/main" val="11227940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ECF0AD-B28C-11E7-E164-BB974EEC07DC}"/>
              </a:ext>
            </a:extLst>
          </p:cNvPr>
          <p:cNvSpPr>
            <a:spLocks noGrp="1"/>
          </p:cNvSpPr>
          <p:nvPr>
            <p:ph type="title" idx="4294967295"/>
          </p:nvPr>
        </p:nvSpPr>
        <p:spPr>
          <a:xfrm>
            <a:off x="1444021" y="60071"/>
            <a:ext cx="8761413" cy="708025"/>
          </a:xfrm>
        </p:spPr>
        <p:txBody>
          <a:bodyPr/>
          <a:lstStyle/>
          <a:p>
            <a:pPr algn="ctr"/>
            <a:r>
              <a:rPr lang="en-US" sz="2000" dirty="0">
                <a:solidFill>
                  <a:schemeClr val="tx1"/>
                </a:solidFill>
              </a:rPr>
              <a:t>Foundational Use Cases for Cyber Security Language Models</a:t>
            </a:r>
            <a:r>
              <a:rPr lang="en-US" sz="2800" dirty="0">
                <a:solidFill>
                  <a:schemeClr val="tx1"/>
                </a:solidFill>
              </a:rPr>
              <a:t> </a:t>
            </a:r>
          </a:p>
        </p:txBody>
      </p:sp>
      <p:sp>
        <p:nvSpPr>
          <p:cNvPr id="4" name="Content Placeholder 3">
            <a:extLst>
              <a:ext uri="{FF2B5EF4-FFF2-40B4-BE49-F238E27FC236}">
                <a16:creationId xmlns:a16="http://schemas.microsoft.com/office/drawing/2014/main" id="{CD34934C-AC74-2982-E07D-63A13530FEAE}"/>
              </a:ext>
            </a:extLst>
          </p:cNvPr>
          <p:cNvSpPr>
            <a:spLocks noGrp="1"/>
          </p:cNvSpPr>
          <p:nvPr>
            <p:ph sz="half" idx="4294967295"/>
          </p:nvPr>
        </p:nvSpPr>
        <p:spPr>
          <a:xfrm>
            <a:off x="5922264" y="873029"/>
            <a:ext cx="5413375" cy="4479925"/>
          </a:xfrm>
        </p:spPr>
        <p:txBody>
          <a:bodyPr>
            <a:noAutofit/>
          </a:bodyPr>
          <a:lstStyle/>
          <a:p>
            <a:pPr>
              <a:spcBef>
                <a:spcPts val="600"/>
              </a:spcBef>
              <a:buNone/>
            </a:pPr>
            <a:r>
              <a:rPr lang="en-US" sz="900" b="1" dirty="0"/>
              <a:t>6. Intelligent Threat Intelligence</a:t>
            </a:r>
          </a:p>
          <a:p>
            <a:pPr marL="0" indent="0">
              <a:spcBef>
                <a:spcPts val="600"/>
              </a:spcBef>
              <a:buNone/>
            </a:pPr>
            <a:r>
              <a:rPr lang="en-US" sz="900" dirty="0"/>
              <a:t>Parsing vast amounts of threat intelligence data to provide concise, actionable insights tailored to an organization's unique threat landscape. Automatically generating intelligence reports or briefings about emerging threats and their implications for the organization.</a:t>
            </a:r>
          </a:p>
          <a:p>
            <a:pPr>
              <a:spcBef>
                <a:spcPts val="600"/>
              </a:spcBef>
              <a:buNone/>
            </a:pPr>
            <a:endParaRPr lang="en-US" sz="900" b="1" dirty="0"/>
          </a:p>
          <a:p>
            <a:pPr>
              <a:spcBef>
                <a:spcPts val="600"/>
              </a:spcBef>
              <a:buNone/>
            </a:pPr>
            <a:r>
              <a:rPr lang="en-US" sz="900" b="1" dirty="0"/>
              <a:t>7. Cybersecurity Assistant (Chatbot/Virtual Analyst)</a:t>
            </a:r>
          </a:p>
          <a:p>
            <a:pPr marL="0" indent="0">
              <a:spcBef>
                <a:spcPts val="600"/>
              </a:spcBef>
              <a:buNone/>
            </a:pPr>
            <a:r>
              <a:rPr lang="en-US" sz="900" dirty="0"/>
              <a:t>Serving as a first-line assistant that provides cybersecurity support, answering questions about policies, procedures, recent threats, or incident response guidelines. Assisting cybersecurity analysts by summarizing logs, incidents, or threat intelligence data to expedite informed decision-making.</a:t>
            </a:r>
          </a:p>
          <a:p>
            <a:pPr>
              <a:spcBef>
                <a:spcPts val="600"/>
              </a:spcBef>
              <a:buNone/>
            </a:pPr>
            <a:endParaRPr lang="en-US" sz="900" b="1" dirty="0"/>
          </a:p>
          <a:p>
            <a:pPr>
              <a:spcBef>
                <a:spcPts val="600"/>
              </a:spcBef>
              <a:buNone/>
            </a:pPr>
            <a:r>
              <a:rPr lang="en-US" sz="900" b="1" dirty="0"/>
              <a:t>8. Code and Software Security Analysis</a:t>
            </a:r>
          </a:p>
          <a:p>
            <a:pPr marL="0" indent="0">
              <a:spcBef>
                <a:spcPts val="600"/>
              </a:spcBef>
              <a:buNone/>
            </a:pPr>
            <a:r>
              <a:rPr lang="en-US" sz="900" dirty="0"/>
              <a:t>Reviewing code repositories, documentation, and logs to identify potential security weaknesses, such as insecure coding patterns, hardcoded credentials, or risky configuration settings. Suggesting secure coding practices and generating contextual remediation steps.</a:t>
            </a:r>
          </a:p>
          <a:p>
            <a:pPr>
              <a:spcBef>
                <a:spcPts val="600"/>
              </a:spcBef>
              <a:buNone/>
            </a:pPr>
            <a:endParaRPr lang="en-US" sz="900" b="1" dirty="0"/>
          </a:p>
          <a:p>
            <a:pPr>
              <a:spcBef>
                <a:spcPts val="600"/>
              </a:spcBef>
              <a:buNone/>
            </a:pPr>
            <a:r>
              <a:rPr lang="en-US" sz="900" b="1" dirty="0"/>
              <a:t>9. Enhanced SIEM and Log Analysis</a:t>
            </a:r>
          </a:p>
          <a:p>
            <a:pPr marL="0" indent="0">
              <a:spcBef>
                <a:spcPts val="600"/>
              </a:spcBef>
              <a:buNone/>
            </a:pPr>
            <a:r>
              <a:rPr lang="en-US" sz="900" dirty="0"/>
              <a:t>Integrating LLMs with Security Information and Event Management (SIEM) platforms to provide enhanced semantic understanding of security logs, correlate events, and reduce false positives through natural language analysis. Improving root-cause analysis by interpreting event logs and contextualizing security events.</a:t>
            </a:r>
          </a:p>
          <a:p>
            <a:pPr>
              <a:spcBef>
                <a:spcPts val="600"/>
              </a:spcBef>
              <a:buNone/>
            </a:pPr>
            <a:endParaRPr lang="en-US" sz="900" b="1" dirty="0"/>
          </a:p>
          <a:p>
            <a:pPr>
              <a:spcBef>
                <a:spcPts val="600"/>
              </a:spcBef>
              <a:buNone/>
            </a:pPr>
            <a:r>
              <a:rPr lang="en-US" sz="900" b="1" dirty="0"/>
              <a:t>10. Retrieval-Augmented Generation (RAG) for Security</a:t>
            </a:r>
          </a:p>
          <a:p>
            <a:pPr marL="0" indent="0">
              <a:spcBef>
                <a:spcPts val="600"/>
              </a:spcBef>
              <a:buNone/>
            </a:pPr>
            <a:r>
              <a:rPr lang="en-US" sz="900" dirty="0"/>
              <a:t>Employing RAG models to access up-to-date cybersecurity knowledge bases or internal documentation, providing timely, accurate, and contextually relevant answers during security incidents or routine operations.</a:t>
            </a:r>
          </a:p>
        </p:txBody>
      </p:sp>
      <p:sp>
        <p:nvSpPr>
          <p:cNvPr id="3" name="Content Placeholder 2">
            <a:extLst>
              <a:ext uri="{FF2B5EF4-FFF2-40B4-BE49-F238E27FC236}">
                <a16:creationId xmlns:a16="http://schemas.microsoft.com/office/drawing/2014/main" id="{36030E77-D0D5-319B-FBAA-B3CC779F0D28}"/>
              </a:ext>
            </a:extLst>
          </p:cNvPr>
          <p:cNvSpPr>
            <a:spLocks noGrp="1"/>
          </p:cNvSpPr>
          <p:nvPr>
            <p:ph sz="half" idx="4294967295"/>
          </p:nvPr>
        </p:nvSpPr>
        <p:spPr>
          <a:xfrm>
            <a:off x="338328" y="873029"/>
            <a:ext cx="5212080" cy="5271739"/>
          </a:xfrm>
        </p:spPr>
        <p:txBody>
          <a:bodyPr>
            <a:noAutofit/>
          </a:bodyPr>
          <a:lstStyle/>
          <a:p>
            <a:pPr>
              <a:spcBef>
                <a:spcPts val="600"/>
              </a:spcBef>
              <a:buNone/>
            </a:pPr>
            <a:r>
              <a:rPr lang="en-US" sz="900" b="1" dirty="0"/>
              <a:t>1. Threat Detection and Anomaly Identification</a:t>
            </a:r>
          </a:p>
          <a:p>
            <a:pPr marL="0" indent="0">
              <a:spcBef>
                <a:spcPts val="600"/>
              </a:spcBef>
              <a:buNone/>
            </a:pPr>
            <a:r>
              <a:rPr lang="en-US" sz="900" dirty="0"/>
              <a:t>LLMs can analyze extensive logs, network events, and telemetry data, recognizing subtle patterns indicative of cyber threats or anomalies. They provide contextual understanding of suspicious activity, correlating seemingly unrelated events to identify potential breaches or attacks.</a:t>
            </a:r>
          </a:p>
          <a:p>
            <a:pPr marL="0" indent="0">
              <a:spcBef>
                <a:spcPts val="600"/>
              </a:spcBef>
              <a:buNone/>
            </a:pPr>
            <a:endParaRPr lang="en-US" sz="900" dirty="0"/>
          </a:p>
          <a:p>
            <a:pPr>
              <a:spcBef>
                <a:spcPts val="600"/>
              </a:spcBef>
              <a:buNone/>
            </a:pPr>
            <a:r>
              <a:rPr lang="en-US" sz="900" b="1" dirty="0"/>
              <a:t>2. Security Incident Response Automation</a:t>
            </a:r>
          </a:p>
          <a:p>
            <a:pPr marL="0" indent="0">
              <a:spcBef>
                <a:spcPts val="600"/>
              </a:spcBef>
              <a:buNone/>
            </a:pPr>
            <a:r>
              <a:rPr lang="en-US" sz="900" dirty="0"/>
              <a:t>Automating responses to standard security incidents by interpreting alerts, analyzing context, and suggesting or executing initial remediation steps. Streamlining the triage process to quickly prioritize critical threats based on context derived from past incidents.</a:t>
            </a:r>
          </a:p>
          <a:p>
            <a:pPr>
              <a:spcBef>
                <a:spcPts val="600"/>
              </a:spcBef>
              <a:buNone/>
            </a:pPr>
            <a:endParaRPr lang="en-US" sz="900" b="1" dirty="0"/>
          </a:p>
          <a:p>
            <a:pPr>
              <a:spcBef>
                <a:spcPts val="600"/>
              </a:spcBef>
              <a:buNone/>
            </a:pPr>
            <a:r>
              <a:rPr lang="en-US" sz="900" b="1" dirty="0"/>
              <a:t>3. Vulnerability Assessment and Management</a:t>
            </a:r>
          </a:p>
          <a:p>
            <a:pPr marL="0" indent="0">
              <a:spcBef>
                <a:spcPts val="600"/>
              </a:spcBef>
              <a:buNone/>
            </a:pPr>
            <a:r>
              <a:rPr lang="en-US" sz="900" dirty="0"/>
              <a:t>Parsing security bulletins, advisories, and CVE databases to summarize and highlight critical vulnerabilities relevant to an organization's infrastructure. Generating actionable mitigation strategies and prioritization recommendations tailored to the organization's specific technologies and risk profile.</a:t>
            </a:r>
          </a:p>
          <a:p>
            <a:pPr>
              <a:spcBef>
                <a:spcPts val="600"/>
              </a:spcBef>
              <a:buNone/>
            </a:pPr>
            <a:endParaRPr lang="en-US" sz="900" b="1" dirty="0"/>
          </a:p>
          <a:p>
            <a:pPr>
              <a:spcBef>
                <a:spcPts val="600"/>
              </a:spcBef>
              <a:buNone/>
            </a:pPr>
            <a:r>
              <a:rPr lang="en-US" sz="900" b="1" dirty="0"/>
              <a:t>4. Phishing and Social Engineering Detection</a:t>
            </a:r>
          </a:p>
          <a:p>
            <a:pPr marL="0" indent="0">
              <a:spcBef>
                <a:spcPts val="600"/>
              </a:spcBef>
              <a:buNone/>
            </a:pPr>
            <a:r>
              <a:rPr lang="en-US" sz="900" dirty="0"/>
              <a:t>Identifying suspicious patterns in emails, text messages, and other communication platforms by leveraging natural language understanding to detect phishing, impersonation, or manipulative techniques. Educating users by generating realistic phishing simulations or context-aware cybersecurity training content.</a:t>
            </a:r>
          </a:p>
          <a:p>
            <a:pPr>
              <a:spcBef>
                <a:spcPts val="600"/>
              </a:spcBef>
              <a:buNone/>
            </a:pPr>
            <a:endParaRPr lang="en-US" sz="900" b="1" dirty="0"/>
          </a:p>
          <a:p>
            <a:pPr>
              <a:spcBef>
                <a:spcPts val="600"/>
              </a:spcBef>
              <a:buNone/>
            </a:pPr>
            <a:r>
              <a:rPr lang="en-US" sz="900" b="1" dirty="0"/>
              <a:t>5. Cybersecurity Documentation and Compliance Automation</a:t>
            </a:r>
          </a:p>
          <a:p>
            <a:pPr marL="0" indent="0">
              <a:spcBef>
                <a:spcPts val="600"/>
              </a:spcBef>
              <a:buNone/>
            </a:pPr>
            <a:r>
              <a:rPr lang="en-US" sz="900" dirty="0"/>
              <a:t>Generating compliance reports, incident documentation, and audit logs automatically, reducing the manual burden associated with regulatory requirements (e.g., GDPR, NYSDFS 23 NYCRR 500).Assisting in the interpretation of regulatory texts, summarizing complex cybersecurity requirements, and suggesting compliance actions.</a:t>
            </a:r>
          </a:p>
        </p:txBody>
      </p:sp>
      <p:sp>
        <p:nvSpPr>
          <p:cNvPr id="6" name="TextBox 5">
            <a:extLst>
              <a:ext uri="{FF2B5EF4-FFF2-40B4-BE49-F238E27FC236}">
                <a16:creationId xmlns:a16="http://schemas.microsoft.com/office/drawing/2014/main" id="{B4C5E023-D0EB-50FB-1BDF-C0FE2338117A}"/>
              </a:ext>
            </a:extLst>
          </p:cNvPr>
          <p:cNvSpPr txBox="1"/>
          <p:nvPr/>
        </p:nvSpPr>
        <p:spPr>
          <a:xfrm>
            <a:off x="2529713" y="6030691"/>
            <a:ext cx="9323959" cy="646331"/>
          </a:xfrm>
          <a:prstGeom prst="rect">
            <a:avLst/>
          </a:prstGeom>
          <a:noFill/>
        </p:spPr>
        <p:txBody>
          <a:bodyPr wrap="square" rtlCol="0">
            <a:spAutoFit/>
          </a:bodyPr>
          <a:lstStyle/>
          <a:p>
            <a:pPr algn="ctr"/>
            <a:r>
              <a:rPr lang="en-US" sz="1200" i="1" dirty="0"/>
              <a:t>Threat intelligence application is the target for first phase, with incident response, compliance automation, analysts support and RAG integration (1, 2, 5, 7 and 10) as potential targets thereafter. Models must be trained on Cyber security data (public + private) and then plugged into the environment for proper contextualization and customization of output </a:t>
            </a:r>
          </a:p>
        </p:txBody>
      </p:sp>
    </p:spTree>
    <p:extLst>
      <p:ext uri="{BB962C8B-B14F-4D97-AF65-F5344CB8AC3E}">
        <p14:creationId xmlns:p14="http://schemas.microsoft.com/office/powerpoint/2010/main" val="363626299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5B7A7B-4568-3D20-11C3-196DDFCB617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AB7A5FA-4822-3F0B-2D5E-907BB92C78F5}"/>
              </a:ext>
            </a:extLst>
          </p:cNvPr>
          <p:cNvSpPr>
            <a:spLocks noGrp="1"/>
          </p:cNvSpPr>
          <p:nvPr>
            <p:ph type="title" idx="4294967295"/>
          </p:nvPr>
        </p:nvSpPr>
        <p:spPr>
          <a:xfrm>
            <a:off x="1052622" y="155976"/>
            <a:ext cx="8761413" cy="708025"/>
          </a:xfrm>
        </p:spPr>
        <p:txBody>
          <a:bodyPr/>
          <a:lstStyle/>
          <a:p>
            <a:pPr algn="ctr"/>
            <a:r>
              <a:rPr lang="en-US" sz="2800" dirty="0">
                <a:solidFill>
                  <a:schemeClr val="tx1"/>
                </a:solidFill>
              </a:rPr>
              <a:t>Cyber Security Language Models</a:t>
            </a:r>
          </a:p>
        </p:txBody>
      </p:sp>
      <p:graphicFrame>
        <p:nvGraphicFramePr>
          <p:cNvPr id="3" name="Table 2">
            <a:extLst>
              <a:ext uri="{FF2B5EF4-FFF2-40B4-BE49-F238E27FC236}">
                <a16:creationId xmlns:a16="http://schemas.microsoft.com/office/drawing/2014/main" id="{725C5B1F-C897-8651-9A7C-330C8E50B30A}"/>
              </a:ext>
            </a:extLst>
          </p:cNvPr>
          <p:cNvGraphicFramePr>
            <a:graphicFrameLocks noGrp="1"/>
          </p:cNvGraphicFramePr>
          <p:nvPr>
            <p:extLst>
              <p:ext uri="{D42A27DB-BD31-4B8C-83A1-F6EECF244321}">
                <p14:modId xmlns:p14="http://schemas.microsoft.com/office/powerpoint/2010/main" val="708461660"/>
              </p:ext>
            </p:extLst>
          </p:nvPr>
        </p:nvGraphicFramePr>
        <p:xfrm>
          <a:off x="563526" y="937770"/>
          <a:ext cx="10674451" cy="5188709"/>
        </p:xfrm>
        <a:graphic>
          <a:graphicData uri="http://schemas.openxmlformats.org/drawingml/2006/table">
            <a:tbl>
              <a:tblPr firstRow="1" bandRow="1">
                <a:noFill/>
                <a:tableStyleId>{5C22544A-7EE6-4342-B048-85BDC9FD1C3A}</a:tableStyleId>
              </a:tblPr>
              <a:tblGrid>
                <a:gridCol w="1162015">
                  <a:extLst>
                    <a:ext uri="{9D8B030D-6E8A-4147-A177-3AD203B41FA5}">
                      <a16:colId xmlns:a16="http://schemas.microsoft.com/office/drawing/2014/main" val="3147494107"/>
                    </a:ext>
                  </a:extLst>
                </a:gridCol>
                <a:gridCol w="899489">
                  <a:extLst>
                    <a:ext uri="{9D8B030D-6E8A-4147-A177-3AD203B41FA5}">
                      <a16:colId xmlns:a16="http://schemas.microsoft.com/office/drawing/2014/main" val="3934316649"/>
                    </a:ext>
                  </a:extLst>
                </a:gridCol>
                <a:gridCol w="1324032">
                  <a:extLst>
                    <a:ext uri="{9D8B030D-6E8A-4147-A177-3AD203B41FA5}">
                      <a16:colId xmlns:a16="http://schemas.microsoft.com/office/drawing/2014/main" val="3860505591"/>
                    </a:ext>
                  </a:extLst>
                </a:gridCol>
                <a:gridCol w="1085506">
                  <a:extLst>
                    <a:ext uri="{9D8B030D-6E8A-4147-A177-3AD203B41FA5}">
                      <a16:colId xmlns:a16="http://schemas.microsoft.com/office/drawing/2014/main" val="1119723414"/>
                    </a:ext>
                  </a:extLst>
                </a:gridCol>
                <a:gridCol w="3130207">
                  <a:extLst>
                    <a:ext uri="{9D8B030D-6E8A-4147-A177-3AD203B41FA5}">
                      <a16:colId xmlns:a16="http://schemas.microsoft.com/office/drawing/2014/main" val="3430417174"/>
                    </a:ext>
                  </a:extLst>
                </a:gridCol>
                <a:gridCol w="3073202">
                  <a:extLst>
                    <a:ext uri="{9D8B030D-6E8A-4147-A177-3AD203B41FA5}">
                      <a16:colId xmlns:a16="http://schemas.microsoft.com/office/drawing/2014/main" val="1825153481"/>
                    </a:ext>
                  </a:extLst>
                </a:gridCol>
              </a:tblGrid>
              <a:tr h="431911">
                <a:tc>
                  <a:txBody>
                    <a:bodyPr/>
                    <a:lstStyle/>
                    <a:p>
                      <a:pPr algn="ctr" fontAlgn="b"/>
                      <a:r>
                        <a:rPr lang="en-US" sz="1000" b="1" u="sng" strike="noStrike" cap="none" spc="0" dirty="0">
                          <a:solidFill>
                            <a:schemeClr val="tx1"/>
                          </a:solidFill>
                          <a:effectLst/>
                        </a:rPr>
                        <a:t>Model Name</a:t>
                      </a:r>
                      <a:endParaRPr lang="en-US" sz="1000" b="1" i="0" u="sng" strike="noStrike" cap="none" spc="0" dirty="0">
                        <a:solidFill>
                          <a:schemeClr val="tx1"/>
                        </a:solidFill>
                        <a:effectLst/>
                        <a:latin typeface="Aptos Narrow" panose="020B0004020202020204" pitchFamily="34" charset="0"/>
                      </a:endParaRPr>
                    </a:p>
                  </a:txBody>
                  <a:tcPr marL="3803" marR="3803" marT="36510" marB="36510" anchor="b">
                    <a:lnL w="12700" cmpd="sng">
                      <a:noFill/>
                    </a:lnL>
                    <a:lnR w="12700" cmpd="sng">
                      <a:noFill/>
                    </a:lnR>
                    <a:lnT w="28575" cap="flat" cmpd="sng" algn="ctr">
                      <a:solidFill>
                        <a:schemeClr val="tx1"/>
                      </a:solidFill>
                      <a:prstDash val="solid"/>
                    </a:lnT>
                    <a:lnB w="38100" cmpd="sng">
                      <a:noFill/>
                    </a:lnB>
                    <a:noFill/>
                  </a:tcPr>
                </a:tc>
                <a:tc>
                  <a:txBody>
                    <a:bodyPr/>
                    <a:lstStyle/>
                    <a:p>
                      <a:pPr algn="ctr" fontAlgn="b"/>
                      <a:r>
                        <a:rPr lang="en-US" sz="1000" b="1" u="sng" strike="noStrike" cap="none" spc="0" dirty="0">
                          <a:solidFill>
                            <a:schemeClr val="tx1"/>
                          </a:solidFill>
                          <a:effectLst/>
                        </a:rPr>
                        <a:t>Introduced</a:t>
                      </a:r>
                      <a:endParaRPr lang="en-US" sz="1000" b="1" i="0" u="sng" strike="noStrike" cap="none" spc="0" dirty="0">
                        <a:solidFill>
                          <a:schemeClr val="tx1"/>
                        </a:solidFill>
                        <a:effectLst/>
                        <a:latin typeface="Aptos Narrow" panose="020B0004020202020204" pitchFamily="34" charset="0"/>
                      </a:endParaRPr>
                    </a:p>
                  </a:txBody>
                  <a:tcPr marL="3803" marR="3803" marT="36510" marB="36510" anchor="b">
                    <a:lnL w="12700" cmpd="sng">
                      <a:noFill/>
                    </a:lnL>
                    <a:lnR w="12700" cmpd="sng">
                      <a:noFill/>
                    </a:lnR>
                    <a:lnT w="28575" cap="flat" cmpd="sng" algn="ctr">
                      <a:solidFill>
                        <a:schemeClr val="tx1"/>
                      </a:solidFill>
                      <a:prstDash val="solid"/>
                    </a:lnT>
                    <a:lnB w="38100" cmpd="sng">
                      <a:noFill/>
                    </a:lnB>
                    <a:noFill/>
                  </a:tcPr>
                </a:tc>
                <a:tc>
                  <a:txBody>
                    <a:bodyPr/>
                    <a:lstStyle/>
                    <a:p>
                      <a:pPr algn="ctr" fontAlgn="b"/>
                      <a:r>
                        <a:rPr lang="en-US" sz="1000" b="1" u="sng" strike="noStrike" cap="none" spc="0" dirty="0">
                          <a:solidFill>
                            <a:schemeClr val="tx1"/>
                          </a:solidFill>
                          <a:effectLst/>
                        </a:rPr>
                        <a:t>Developer(s)</a:t>
                      </a:r>
                      <a:endParaRPr lang="en-US" sz="1000" b="1" i="0" u="sng" strike="noStrike" cap="none" spc="0" dirty="0">
                        <a:solidFill>
                          <a:schemeClr val="tx1"/>
                        </a:solidFill>
                        <a:effectLst/>
                        <a:latin typeface="Aptos Narrow" panose="020B0004020202020204" pitchFamily="34" charset="0"/>
                      </a:endParaRPr>
                    </a:p>
                  </a:txBody>
                  <a:tcPr marL="3803" marR="3803" marT="36510" marB="36510" anchor="b">
                    <a:lnL w="12700" cmpd="sng">
                      <a:noFill/>
                    </a:lnL>
                    <a:lnR w="12700" cmpd="sng">
                      <a:noFill/>
                    </a:lnR>
                    <a:lnT w="28575" cap="flat" cmpd="sng" algn="ctr">
                      <a:solidFill>
                        <a:schemeClr val="tx1"/>
                      </a:solidFill>
                      <a:prstDash val="solid"/>
                    </a:lnT>
                    <a:lnB w="38100" cmpd="sng">
                      <a:noFill/>
                    </a:lnB>
                    <a:noFill/>
                  </a:tcPr>
                </a:tc>
                <a:tc>
                  <a:txBody>
                    <a:bodyPr/>
                    <a:lstStyle/>
                    <a:p>
                      <a:pPr algn="ctr" fontAlgn="b"/>
                      <a:r>
                        <a:rPr lang="en-US" sz="1000" b="1" u="sng" strike="noStrike" cap="none" spc="0" dirty="0">
                          <a:solidFill>
                            <a:schemeClr val="tx1"/>
                          </a:solidFill>
                          <a:effectLst/>
                        </a:rPr>
                        <a:t>Base Model</a:t>
                      </a:r>
                      <a:endParaRPr lang="en-US" sz="1000" b="1" i="0" u="sng" strike="noStrike" cap="none" spc="0" dirty="0">
                        <a:solidFill>
                          <a:schemeClr val="tx1"/>
                        </a:solidFill>
                        <a:effectLst/>
                        <a:latin typeface="Aptos Narrow" panose="020B0004020202020204" pitchFamily="34" charset="0"/>
                      </a:endParaRPr>
                    </a:p>
                  </a:txBody>
                  <a:tcPr marL="3803" marR="3803" marT="36510" marB="36510" anchor="b">
                    <a:lnL w="12700" cmpd="sng">
                      <a:noFill/>
                    </a:lnL>
                    <a:lnR w="12700" cmpd="sng">
                      <a:noFill/>
                    </a:lnR>
                    <a:lnT w="28575" cap="flat" cmpd="sng" algn="ctr">
                      <a:solidFill>
                        <a:schemeClr val="tx1"/>
                      </a:solidFill>
                      <a:prstDash val="solid"/>
                    </a:lnT>
                    <a:lnB w="38100" cmpd="sng">
                      <a:noFill/>
                    </a:lnB>
                    <a:noFill/>
                  </a:tcPr>
                </a:tc>
                <a:tc>
                  <a:txBody>
                    <a:bodyPr/>
                    <a:lstStyle/>
                    <a:p>
                      <a:pPr algn="ctr" fontAlgn="b"/>
                      <a:r>
                        <a:rPr lang="en-US" sz="1000" b="1" u="sng" strike="noStrike" cap="none" spc="0" dirty="0">
                          <a:solidFill>
                            <a:schemeClr val="tx1"/>
                          </a:solidFill>
                          <a:effectLst/>
                        </a:rPr>
                        <a:t>Training Methodology</a:t>
                      </a:r>
                      <a:endParaRPr lang="en-US" sz="1000" b="1" i="0" u="sng" strike="noStrike" cap="none" spc="0" dirty="0">
                        <a:solidFill>
                          <a:schemeClr val="tx1"/>
                        </a:solidFill>
                        <a:effectLst/>
                        <a:latin typeface="Aptos Narrow" panose="020B0004020202020204" pitchFamily="34" charset="0"/>
                      </a:endParaRPr>
                    </a:p>
                  </a:txBody>
                  <a:tcPr marL="3803" marR="3803" marT="36510" marB="36510" anchor="b">
                    <a:lnL w="12700" cmpd="sng">
                      <a:noFill/>
                    </a:lnL>
                    <a:lnR w="12700" cmpd="sng">
                      <a:noFill/>
                    </a:lnR>
                    <a:lnT w="28575" cap="flat" cmpd="sng" algn="ctr">
                      <a:solidFill>
                        <a:schemeClr val="tx1"/>
                      </a:solidFill>
                      <a:prstDash val="solid"/>
                    </a:lnT>
                    <a:lnB w="38100" cmpd="sng">
                      <a:noFill/>
                    </a:lnB>
                    <a:noFill/>
                  </a:tcPr>
                </a:tc>
                <a:tc>
                  <a:txBody>
                    <a:bodyPr/>
                    <a:lstStyle/>
                    <a:p>
                      <a:pPr algn="ctr" fontAlgn="b"/>
                      <a:r>
                        <a:rPr lang="en-US" sz="1000" b="1" u="sng" strike="noStrike" cap="none" spc="0" dirty="0">
                          <a:solidFill>
                            <a:schemeClr val="tx1"/>
                          </a:solidFill>
                          <a:effectLst/>
                        </a:rPr>
                        <a:t>Targeted Domains</a:t>
                      </a:r>
                      <a:endParaRPr lang="en-US" sz="1000" b="1" i="0" u="sng" strike="noStrike" cap="none" spc="0" dirty="0">
                        <a:solidFill>
                          <a:schemeClr val="tx1"/>
                        </a:solidFill>
                        <a:effectLst/>
                        <a:latin typeface="Aptos Narrow" panose="020B0004020202020204" pitchFamily="34" charset="0"/>
                      </a:endParaRPr>
                    </a:p>
                  </a:txBody>
                  <a:tcPr marL="3803" marR="3803" marT="36510" marB="36510" anchor="b">
                    <a:lnL w="12700" cmpd="sng">
                      <a:noFill/>
                    </a:lnL>
                    <a:lnR w="12700" cmpd="sng">
                      <a:noFill/>
                    </a:lnR>
                    <a:lnT w="28575" cap="flat" cmpd="sng" algn="ctr">
                      <a:solidFill>
                        <a:schemeClr val="tx1"/>
                      </a:solidFill>
                      <a:prstDash val="solid"/>
                    </a:lnT>
                    <a:lnB w="38100" cmpd="sng">
                      <a:noFill/>
                    </a:lnB>
                    <a:noFill/>
                  </a:tcPr>
                </a:tc>
                <a:extLst>
                  <a:ext uri="{0D108BD9-81ED-4DB2-BD59-A6C34878D82A}">
                    <a16:rowId xmlns:a16="http://schemas.microsoft.com/office/drawing/2014/main" val="2139084753"/>
                  </a:ext>
                </a:extLst>
              </a:tr>
              <a:tr h="625638">
                <a:tc>
                  <a:txBody>
                    <a:bodyPr/>
                    <a:lstStyle/>
                    <a:p>
                      <a:pPr algn="l" fontAlgn="b"/>
                      <a:r>
                        <a:rPr lang="en-US" sz="900" i="1" u="none" strike="noStrike" cap="none" spc="0" dirty="0">
                          <a:solidFill>
                            <a:schemeClr val="tx1"/>
                          </a:solidFill>
                          <a:effectLst/>
                        </a:rPr>
                        <a:t>CyberPal.AI</a:t>
                      </a:r>
                      <a:endParaRPr lang="en-US" sz="900" b="1" i="1" u="none" strike="noStrike" cap="none" spc="0" dirty="0">
                        <a:solidFill>
                          <a:schemeClr val="tx1"/>
                        </a:solidFill>
                        <a:effectLst/>
                        <a:latin typeface="Aptos Narrow" panose="020B0004020202020204" pitchFamily="34" charset="0"/>
                      </a:endParaRPr>
                    </a:p>
                  </a:txBody>
                  <a:tcPr marL="3803" marR="3803" marT="36510" marB="36510" anchor="b">
                    <a:lnL w="28575" cap="flat" cmpd="sng" algn="ctr">
                      <a:noFill/>
                      <a:prstDash val="solid"/>
                    </a:lnL>
                    <a:lnR w="12700" cmpd="sng">
                      <a:noFill/>
                      <a:prstDash val="solid"/>
                    </a:lnR>
                    <a:lnT w="38100" cmpd="sng">
                      <a:noFill/>
                    </a:lnT>
                    <a:lnB w="12700" cap="flat" cmpd="sng" algn="ctr">
                      <a:noFill/>
                      <a:prstDash val="solid"/>
                    </a:lnB>
                    <a:noFill/>
                  </a:tcPr>
                </a:tc>
                <a:tc>
                  <a:txBody>
                    <a:bodyPr/>
                    <a:lstStyle/>
                    <a:p>
                      <a:pPr algn="ctr" fontAlgn="b"/>
                      <a:r>
                        <a:rPr lang="en-US" sz="900" u="none" strike="noStrike" cap="none" spc="0" dirty="0">
                          <a:solidFill>
                            <a:schemeClr val="tx1"/>
                          </a:solidFill>
                          <a:effectLst/>
                        </a:rPr>
                        <a:t>Aug-24</a:t>
                      </a:r>
                      <a:endParaRPr lang="en-US" sz="900" b="0" i="0" u="none" strike="noStrike" cap="none" spc="0" dirty="0">
                        <a:solidFill>
                          <a:schemeClr val="tx1"/>
                        </a:solidFill>
                        <a:effectLst/>
                        <a:latin typeface="Aptos Narrow" panose="020B0004020202020204" pitchFamily="34" charset="0"/>
                      </a:endParaRPr>
                    </a:p>
                  </a:txBody>
                  <a:tcPr marL="3803" marR="3803" marT="36510" marB="36510" anchor="b">
                    <a:lnL w="12700" cmpd="sng">
                      <a:noFill/>
                      <a:prstDash val="solid"/>
                    </a:lnL>
                    <a:lnR w="12700" cmpd="sng">
                      <a:noFill/>
                      <a:prstDash val="solid"/>
                    </a:lnR>
                    <a:lnT w="38100" cmpd="sng">
                      <a:noFill/>
                    </a:lnT>
                    <a:lnB w="12700" cap="flat" cmpd="sng" algn="ctr">
                      <a:noFill/>
                      <a:prstDash val="solid"/>
                    </a:lnB>
                    <a:noFill/>
                  </a:tcPr>
                </a:tc>
                <a:tc>
                  <a:txBody>
                    <a:bodyPr/>
                    <a:lstStyle/>
                    <a:p>
                      <a:pPr algn="l" fontAlgn="b"/>
                      <a:r>
                        <a:rPr lang="en-US" sz="900" u="none" strike="noStrike" cap="none" spc="0">
                          <a:solidFill>
                            <a:schemeClr val="tx1"/>
                          </a:solidFill>
                          <a:effectLst/>
                        </a:rPr>
                        <a:t>Matan Levi et al.</a:t>
                      </a:r>
                      <a:endParaRPr lang="en-US" sz="900" b="0" i="0" u="none" strike="noStrike" cap="none" spc="0" dirty="0">
                        <a:solidFill>
                          <a:schemeClr val="tx1"/>
                        </a:solidFill>
                        <a:effectLst/>
                        <a:latin typeface="Aptos Narrow" panose="020B0004020202020204" pitchFamily="34" charset="0"/>
                      </a:endParaRPr>
                    </a:p>
                  </a:txBody>
                  <a:tcPr marL="3803" marR="3803" marT="36510" marB="36510" anchor="b">
                    <a:lnL w="12700" cmpd="sng">
                      <a:noFill/>
                      <a:prstDash val="solid"/>
                    </a:lnL>
                    <a:lnR w="12700" cmpd="sng">
                      <a:noFill/>
                      <a:prstDash val="solid"/>
                    </a:lnR>
                    <a:lnT w="38100" cmpd="sng">
                      <a:noFill/>
                    </a:lnT>
                    <a:lnB w="12700" cap="flat" cmpd="sng" algn="ctr">
                      <a:noFill/>
                      <a:prstDash val="solid"/>
                    </a:lnB>
                    <a:noFill/>
                  </a:tcPr>
                </a:tc>
                <a:tc>
                  <a:txBody>
                    <a:bodyPr/>
                    <a:lstStyle/>
                    <a:p>
                      <a:pPr algn="l" fontAlgn="b"/>
                      <a:r>
                        <a:rPr lang="en-US" sz="900" u="none" strike="noStrike" cap="none" spc="0" dirty="0">
                          <a:solidFill>
                            <a:schemeClr val="tx1"/>
                          </a:solidFill>
                          <a:effectLst/>
                        </a:rPr>
                        <a:t>Not specified</a:t>
                      </a:r>
                      <a:endParaRPr lang="en-US" sz="900" b="0" i="0" u="none" strike="noStrike" cap="none" spc="0" dirty="0">
                        <a:solidFill>
                          <a:schemeClr val="tx1"/>
                        </a:solidFill>
                        <a:effectLst/>
                        <a:latin typeface="Aptos Narrow" panose="020B0004020202020204" pitchFamily="34" charset="0"/>
                      </a:endParaRPr>
                    </a:p>
                  </a:txBody>
                  <a:tcPr marL="3803" marR="3803" marT="36510" marB="36510" anchor="b">
                    <a:lnL w="12700" cmpd="sng">
                      <a:noFill/>
                      <a:prstDash val="solid"/>
                    </a:lnL>
                    <a:lnR w="12700" cmpd="sng">
                      <a:noFill/>
                      <a:prstDash val="solid"/>
                    </a:lnR>
                    <a:lnT w="38100" cmpd="sng">
                      <a:noFill/>
                    </a:lnT>
                    <a:lnB w="12700" cap="flat" cmpd="sng" algn="ctr">
                      <a:noFill/>
                      <a:prstDash val="solid"/>
                    </a:lnB>
                    <a:noFill/>
                  </a:tcPr>
                </a:tc>
                <a:tc>
                  <a:txBody>
                    <a:bodyPr/>
                    <a:lstStyle/>
                    <a:p>
                      <a:pPr algn="l" fontAlgn="b"/>
                      <a:r>
                        <a:rPr lang="en-US" sz="900" u="none" strike="noStrike" cap="none" spc="0" dirty="0">
                          <a:solidFill>
                            <a:schemeClr val="tx1"/>
                          </a:solidFill>
                          <a:effectLst/>
                        </a:rPr>
                        <a:t>Instruction tuning with SecKnowledge dataset; evaluated using SecKnowledge-Eval benchmark</a:t>
                      </a:r>
                      <a:endParaRPr lang="en-US" sz="900" b="0" i="0" u="none" strike="noStrike" cap="none" spc="0" dirty="0">
                        <a:solidFill>
                          <a:schemeClr val="tx1"/>
                        </a:solidFill>
                        <a:effectLst/>
                        <a:latin typeface="Aptos Narrow" panose="020B0004020202020204" pitchFamily="34" charset="0"/>
                      </a:endParaRPr>
                    </a:p>
                  </a:txBody>
                  <a:tcPr marL="3803" marR="3803" marT="36510" marB="36510" anchor="b">
                    <a:lnL w="12700" cmpd="sng">
                      <a:noFill/>
                      <a:prstDash val="solid"/>
                    </a:lnL>
                    <a:lnR w="12700" cmpd="sng">
                      <a:noFill/>
                      <a:prstDash val="solid"/>
                    </a:lnR>
                    <a:lnT w="38100" cmpd="sng">
                      <a:noFill/>
                    </a:lnT>
                    <a:lnB w="12700" cap="flat" cmpd="sng" algn="ctr">
                      <a:noFill/>
                      <a:prstDash val="solid"/>
                    </a:lnB>
                    <a:noFill/>
                  </a:tcPr>
                </a:tc>
                <a:tc>
                  <a:txBody>
                    <a:bodyPr/>
                    <a:lstStyle/>
                    <a:p>
                      <a:pPr algn="l" fontAlgn="b"/>
                      <a:r>
                        <a:rPr lang="en-US" sz="900" u="none" strike="noStrike" cap="none" spc="0">
                          <a:solidFill>
                            <a:schemeClr val="tx1"/>
                          </a:solidFill>
                          <a:effectLst/>
                        </a:rPr>
                        <a:t>Threat hunting, malware analysis, vulnerability assessment, incident response</a:t>
                      </a:r>
                      <a:endParaRPr lang="en-US" sz="900" b="0" i="0" u="none" strike="noStrike" cap="none" spc="0">
                        <a:solidFill>
                          <a:schemeClr val="tx1"/>
                        </a:solidFill>
                        <a:effectLst/>
                        <a:latin typeface="Aptos Narrow" panose="020B0004020202020204" pitchFamily="34" charset="0"/>
                      </a:endParaRPr>
                    </a:p>
                  </a:txBody>
                  <a:tcPr marL="3803" marR="3803" marT="36510" marB="36510" anchor="b">
                    <a:lnL w="12700" cmpd="sng">
                      <a:noFill/>
                      <a:prstDash val="solid"/>
                    </a:lnL>
                    <a:lnR w="28575" cap="flat" cmpd="sng" algn="ctr">
                      <a:noFill/>
                      <a:prstDash val="solid"/>
                    </a:lnR>
                    <a:lnT w="38100" cmpd="sng">
                      <a:noFill/>
                    </a:lnT>
                    <a:lnB w="12700" cap="flat" cmpd="sng" algn="ctr">
                      <a:noFill/>
                      <a:prstDash val="solid"/>
                    </a:lnB>
                    <a:noFill/>
                  </a:tcPr>
                </a:tc>
                <a:extLst>
                  <a:ext uri="{0D108BD9-81ED-4DB2-BD59-A6C34878D82A}">
                    <a16:rowId xmlns:a16="http://schemas.microsoft.com/office/drawing/2014/main" val="355934464"/>
                  </a:ext>
                </a:extLst>
              </a:tr>
              <a:tr h="535781">
                <a:tc>
                  <a:txBody>
                    <a:bodyPr/>
                    <a:lstStyle/>
                    <a:p>
                      <a:pPr algn="l" fontAlgn="b"/>
                      <a:r>
                        <a:rPr lang="en-US" sz="900" i="1" u="none" strike="noStrike" cap="none" spc="0" dirty="0">
                          <a:solidFill>
                            <a:schemeClr val="tx1"/>
                          </a:solidFill>
                          <a:effectLst/>
                        </a:rPr>
                        <a:t>Llama-Primus</a:t>
                      </a:r>
                      <a:endParaRPr lang="en-US" sz="900" b="1" i="1" u="none" strike="noStrike" cap="none" spc="0" dirty="0">
                        <a:solidFill>
                          <a:schemeClr val="tx1"/>
                        </a:solidFill>
                        <a:effectLst/>
                        <a:latin typeface="Aptos Narrow" panose="020B0004020202020204" pitchFamily="34" charset="0"/>
                      </a:endParaRPr>
                    </a:p>
                  </a:txBody>
                  <a:tcPr marL="3803" marR="3803" marT="36510" marB="36510" anchor="b">
                    <a:lnL w="12700" cmpd="sng">
                      <a:noFill/>
                      <a:prstDash val="solid"/>
                    </a:lnL>
                    <a:lnR w="12700" cmpd="sng">
                      <a:noFill/>
                      <a:prstDash val="solid"/>
                    </a:lnR>
                    <a:lnT w="12700" cap="flat" cmpd="sng" algn="ctr">
                      <a:noFill/>
                      <a:prstDash val="solid"/>
                    </a:lnT>
                    <a:lnB w="12700" cmpd="sng">
                      <a:noFill/>
                      <a:prstDash val="solid"/>
                    </a:lnB>
                    <a:solidFill>
                      <a:schemeClr val="bg1">
                        <a:lumMod val="95000"/>
                      </a:schemeClr>
                    </a:solidFill>
                  </a:tcPr>
                </a:tc>
                <a:tc>
                  <a:txBody>
                    <a:bodyPr/>
                    <a:lstStyle/>
                    <a:p>
                      <a:pPr algn="ctr" fontAlgn="b"/>
                      <a:r>
                        <a:rPr lang="en-US" sz="900" u="none" strike="noStrike" cap="none" spc="0" dirty="0">
                          <a:solidFill>
                            <a:schemeClr val="tx1"/>
                          </a:solidFill>
                          <a:effectLst/>
                        </a:rPr>
                        <a:t>Feb-25</a:t>
                      </a:r>
                      <a:endParaRPr lang="en-US" sz="900" b="0" i="0" u="none" strike="noStrike" cap="none" spc="0" dirty="0">
                        <a:solidFill>
                          <a:schemeClr val="tx1"/>
                        </a:solidFill>
                        <a:effectLst/>
                        <a:latin typeface="Aptos Narrow" panose="020B0004020202020204" pitchFamily="34" charset="0"/>
                      </a:endParaRPr>
                    </a:p>
                  </a:txBody>
                  <a:tcPr marL="3803" marR="3803" marT="36510" marB="36510" anchor="b">
                    <a:lnL w="12700" cmpd="sng">
                      <a:noFill/>
                      <a:prstDash val="solid"/>
                    </a:lnL>
                    <a:lnR w="12700" cmpd="sng">
                      <a:noFill/>
                      <a:prstDash val="solid"/>
                    </a:lnR>
                    <a:lnT w="12700" cap="flat" cmpd="sng" algn="ctr">
                      <a:noFill/>
                      <a:prstDash val="solid"/>
                    </a:lnT>
                    <a:lnB w="12700" cmpd="sng">
                      <a:noFill/>
                      <a:prstDash val="solid"/>
                    </a:lnB>
                    <a:solidFill>
                      <a:schemeClr val="bg1">
                        <a:lumMod val="95000"/>
                      </a:schemeClr>
                    </a:solidFill>
                  </a:tcPr>
                </a:tc>
                <a:tc>
                  <a:txBody>
                    <a:bodyPr/>
                    <a:lstStyle/>
                    <a:p>
                      <a:pPr algn="l" fontAlgn="b"/>
                      <a:r>
                        <a:rPr lang="en-US" sz="900" u="none" strike="noStrike" cap="none" spc="0">
                          <a:solidFill>
                            <a:schemeClr val="tx1"/>
                          </a:solidFill>
                          <a:effectLst/>
                        </a:rPr>
                        <a:t>Trend Micro AI Lab</a:t>
                      </a:r>
                      <a:endParaRPr lang="en-US" sz="900" b="0" i="0" u="none" strike="noStrike" cap="none" spc="0" dirty="0">
                        <a:solidFill>
                          <a:schemeClr val="tx1"/>
                        </a:solidFill>
                        <a:effectLst/>
                        <a:latin typeface="Aptos Narrow" panose="020B0004020202020204" pitchFamily="34" charset="0"/>
                      </a:endParaRPr>
                    </a:p>
                  </a:txBody>
                  <a:tcPr marL="3803" marR="3803" marT="36510" marB="36510" anchor="b">
                    <a:lnL w="12700" cmpd="sng">
                      <a:noFill/>
                      <a:prstDash val="solid"/>
                    </a:lnL>
                    <a:lnR w="12700" cmpd="sng">
                      <a:noFill/>
                      <a:prstDash val="solid"/>
                    </a:lnR>
                    <a:lnT w="12700" cap="flat" cmpd="sng" algn="ctr">
                      <a:noFill/>
                      <a:prstDash val="solid"/>
                    </a:lnT>
                    <a:lnB w="12700" cmpd="sng">
                      <a:noFill/>
                      <a:prstDash val="solid"/>
                    </a:lnB>
                    <a:solidFill>
                      <a:schemeClr val="bg1">
                        <a:lumMod val="95000"/>
                      </a:schemeClr>
                    </a:solidFill>
                  </a:tcPr>
                </a:tc>
                <a:tc>
                  <a:txBody>
                    <a:bodyPr/>
                    <a:lstStyle/>
                    <a:p>
                      <a:pPr algn="l" fontAlgn="b"/>
                      <a:r>
                        <a:rPr lang="en-US" sz="900" u="none" strike="noStrike" cap="none" spc="0" dirty="0">
                          <a:solidFill>
                            <a:schemeClr val="tx1"/>
                          </a:solidFill>
                          <a:effectLst/>
                        </a:rPr>
                        <a:t>Llama-3.1-8B-Instruct</a:t>
                      </a:r>
                      <a:endParaRPr lang="en-US" sz="900" b="0" i="0" u="none" strike="noStrike" cap="none" spc="0" dirty="0">
                        <a:solidFill>
                          <a:schemeClr val="tx1"/>
                        </a:solidFill>
                        <a:effectLst/>
                        <a:latin typeface="Aptos Narrow" panose="020B0004020202020204" pitchFamily="34" charset="0"/>
                      </a:endParaRPr>
                    </a:p>
                  </a:txBody>
                  <a:tcPr marL="3803" marR="3803" marT="36510" marB="36510" anchor="b">
                    <a:lnL w="12700" cmpd="sng">
                      <a:noFill/>
                      <a:prstDash val="solid"/>
                    </a:lnL>
                    <a:lnR w="12700" cmpd="sng">
                      <a:noFill/>
                      <a:prstDash val="solid"/>
                    </a:lnR>
                    <a:lnT w="12700" cap="flat" cmpd="sng" algn="ctr">
                      <a:noFill/>
                      <a:prstDash val="solid"/>
                    </a:lnT>
                    <a:lnB w="12700" cmpd="sng">
                      <a:noFill/>
                      <a:prstDash val="solid"/>
                    </a:lnB>
                    <a:solidFill>
                      <a:schemeClr val="bg1">
                        <a:lumMod val="95000"/>
                      </a:schemeClr>
                    </a:solidFill>
                  </a:tcPr>
                </a:tc>
                <a:tc>
                  <a:txBody>
                    <a:bodyPr/>
                    <a:lstStyle/>
                    <a:p>
                      <a:pPr algn="l" fontAlgn="b"/>
                      <a:r>
                        <a:rPr lang="en-US" sz="900" u="none" strike="noStrike" cap="none" spc="0" dirty="0">
                          <a:solidFill>
                            <a:schemeClr val="tx1"/>
                          </a:solidFill>
                          <a:effectLst/>
                        </a:rPr>
                        <a:t>Continual pretraining on cybersecurity corpus; instruction fine-tuning with curated QA tasks</a:t>
                      </a:r>
                      <a:endParaRPr lang="en-US" sz="900" b="0" i="0" u="none" strike="noStrike" cap="none" spc="0" dirty="0">
                        <a:solidFill>
                          <a:schemeClr val="tx1"/>
                        </a:solidFill>
                        <a:effectLst/>
                        <a:latin typeface="Aptos Narrow" panose="020B0004020202020204" pitchFamily="34" charset="0"/>
                      </a:endParaRPr>
                    </a:p>
                  </a:txBody>
                  <a:tcPr marL="3803" marR="3803" marT="36510" marB="36510" anchor="b">
                    <a:lnL w="12700" cmpd="sng">
                      <a:noFill/>
                      <a:prstDash val="solid"/>
                    </a:lnL>
                    <a:lnR w="12700" cmpd="sng">
                      <a:noFill/>
                      <a:prstDash val="solid"/>
                    </a:lnR>
                    <a:lnT w="12700" cap="flat" cmpd="sng" algn="ctr">
                      <a:noFill/>
                      <a:prstDash val="solid"/>
                    </a:lnT>
                    <a:lnB w="12700" cmpd="sng">
                      <a:noFill/>
                      <a:prstDash val="solid"/>
                    </a:lnB>
                    <a:solidFill>
                      <a:schemeClr val="bg1">
                        <a:lumMod val="95000"/>
                      </a:schemeClr>
                    </a:solidFill>
                  </a:tcPr>
                </a:tc>
                <a:tc>
                  <a:txBody>
                    <a:bodyPr/>
                    <a:lstStyle/>
                    <a:p>
                      <a:pPr algn="l" fontAlgn="b"/>
                      <a:r>
                        <a:rPr lang="en-US" sz="900" u="none" strike="noStrike" cap="none" spc="0">
                          <a:solidFill>
                            <a:schemeClr val="tx1"/>
                          </a:solidFill>
                          <a:effectLst/>
                        </a:rPr>
                        <a:t>Cyber threat intelligence, vulnerability classification, security certification preparation</a:t>
                      </a:r>
                      <a:endParaRPr lang="en-US" sz="900" b="0" i="0" u="none" strike="noStrike" cap="none" spc="0">
                        <a:solidFill>
                          <a:schemeClr val="tx1"/>
                        </a:solidFill>
                        <a:effectLst/>
                        <a:latin typeface="Aptos Narrow" panose="020B0004020202020204" pitchFamily="34" charset="0"/>
                      </a:endParaRPr>
                    </a:p>
                  </a:txBody>
                  <a:tcPr marL="3803" marR="3803" marT="36510" marB="36510" anchor="b">
                    <a:lnL w="12700" cmpd="sng">
                      <a:noFill/>
                      <a:prstDash val="solid"/>
                    </a:lnL>
                    <a:lnR w="12700" cmpd="sng">
                      <a:noFill/>
                      <a:prstDash val="solid"/>
                    </a:lnR>
                    <a:lnT w="12700" cap="flat" cmpd="sng" algn="ctr">
                      <a:noFill/>
                      <a:prstDash val="solid"/>
                    </a:lnT>
                    <a:lnB w="12700" cmpd="sng">
                      <a:noFill/>
                      <a:prstDash val="solid"/>
                    </a:lnB>
                    <a:solidFill>
                      <a:schemeClr val="bg1">
                        <a:lumMod val="95000"/>
                      </a:schemeClr>
                    </a:solidFill>
                  </a:tcPr>
                </a:tc>
                <a:extLst>
                  <a:ext uri="{0D108BD9-81ED-4DB2-BD59-A6C34878D82A}">
                    <a16:rowId xmlns:a16="http://schemas.microsoft.com/office/drawing/2014/main" val="1575695743"/>
                  </a:ext>
                </a:extLst>
              </a:tr>
              <a:tr h="930480">
                <a:tc>
                  <a:txBody>
                    <a:bodyPr/>
                    <a:lstStyle/>
                    <a:p>
                      <a:pPr algn="l" fontAlgn="b"/>
                      <a:r>
                        <a:rPr lang="en-US" sz="900" i="1" u="none" strike="noStrike" cap="none" spc="0" dirty="0" err="1">
                          <a:solidFill>
                            <a:schemeClr val="tx1"/>
                          </a:solidFill>
                          <a:effectLst/>
                        </a:rPr>
                        <a:t>SecBERT</a:t>
                      </a:r>
                      <a:endParaRPr lang="en-US" sz="900" b="1" i="1" u="none" strike="noStrike" cap="none" spc="0" dirty="0">
                        <a:solidFill>
                          <a:schemeClr val="tx1"/>
                        </a:solidFill>
                        <a:effectLst/>
                        <a:latin typeface="Aptos Narrow" panose="020B0004020202020204" pitchFamily="34" charset="0"/>
                      </a:endParaRPr>
                    </a:p>
                  </a:txBody>
                  <a:tcPr marL="3803" marR="3803" marT="36510" marB="36510" anchor="b">
                    <a:lnL w="28575" cap="flat" cmpd="sng" algn="ctr">
                      <a:noFill/>
                      <a:prstDash val="solid"/>
                    </a:lnL>
                    <a:lnR w="12700" cmpd="sng">
                      <a:noFill/>
                      <a:prstDash val="solid"/>
                    </a:lnR>
                    <a:lnT w="12700" cmpd="sng">
                      <a:noFill/>
                      <a:prstDash val="solid"/>
                    </a:lnT>
                    <a:lnB w="12700" cap="flat" cmpd="sng" algn="ctr">
                      <a:noFill/>
                      <a:prstDash val="solid"/>
                    </a:lnB>
                    <a:noFill/>
                  </a:tcPr>
                </a:tc>
                <a:tc>
                  <a:txBody>
                    <a:bodyPr/>
                    <a:lstStyle/>
                    <a:p>
                      <a:pPr algn="ctr" fontAlgn="b"/>
                      <a:r>
                        <a:rPr lang="en-US" sz="900" u="none" strike="noStrike" cap="none" spc="0">
                          <a:solidFill>
                            <a:schemeClr val="tx1"/>
                          </a:solidFill>
                          <a:effectLst/>
                        </a:rPr>
                        <a:t>2022</a:t>
                      </a:r>
                      <a:endParaRPr lang="en-US" sz="900" b="0" i="0" u="none" strike="noStrike" cap="none" spc="0">
                        <a:solidFill>
                          <a:schemeClr val="tx1"/>
                        </a:solidFill>
                        <a:effectLst/>
                        <a:latin typeface="Aptos Narrow" panose="020B0004020202020204" pitchFamily="34" charset="0"/>
                      </a:endParaRPr>
                    </a:p>
                  </a:txBody>
                  <a:tcPr marL="3803" marR="3803" marT="36510" marB="36510" anchor="b">
                    <a:lnL w="12700" cmpd="sng">
                      <a:noFill/>
                      <a:prstDash val="solid"/>
                    </a:lnL>
                    <a:lnR w="12700" cmpd="sng">
                      <a:noFill/>
                      <a:prstDash val="solid"/>
                    </a:lnR>
                    <a:lnT w="12700" cmpd="sng">
                      <a:noFill/>
                      <a:prstDash val="solid"/>
                    </a:lnT>
                    <a:lnB w="12700" cap="flat" cmpd="sng" algn="ctr">
                      <a:noFill/>
                      <a:prstDash val="solid"/>
                    </a:lnB>
                    <a:noFill/>
                  </a:tcPr>
                </a:tc>
                <a:tc>
                  <a:txBody>
                    <a:bodyPr/>
                    <a:lstStyle/>
                    <a:p>
                      <a:pPr algn="l" fontAlgn="b"/>
                      <a:r>
                        <a:rPr lang="en-US" sz="900" u="none" strike="noStrike" cap="none" spc="0">
                          <a:solidFill>
                            <a:schemeClr val="tx1"/>
                          </a:solidFill>
                          <a:effectLst/>
                        </a:rPr>
                        <a:t>jackaduma</a:t>
                      </a:r>
                      <a:endParaRPr lang="en-US" sz="900" b="0" i="0" u="none" strike="noStrike" cap="none" spc="0" dirty="0">
                        <a:solidFill>
                          <a:schemeClr val="tx1"/>
                        </a:solidFill>
                        <a:effectLst/>
                        <a:latin typeface="Aptos Narrow" panose="020B0004020202020204" pitchFamily="34" charset="0"/>
                      </a:endParaRPr>
                    </a:p>
                  </a:txBody>
                  <a:tcPr marL="3803" marR="3803" marT="36510" marB="36510" anchor="b">
                    <a:lnL w="12700" cmpd="sng">
                      <a:noFill/>
                      <a:prstDash val="solid"/>
                    </a:lnL>
                    <a:lnR w="12700" cmpd="sng">
                      <a:noFill/>
                      <a:prstDash val="solid"/>
                    </a:lnR>
                    <a:lnT w="12700" cmpd="sng">
                      <a:noFill/>
                      <a:prstDash val="solid"/>
                    </a:lnT>
                    <a:lnB w="12700" cap="flat" cmpd="sng" algn="ctr">
                      <a:noFill/>
                      <a:prstDash val="solid"/>
                    </a:lnB>
                    <a:noFill/>
                  </a:tcPr>
                </a:tc>
                <a:tc>
                  <a:txBody>
                    <a:bodyPr/>
                    <a:lstStyle/>
                    <a:p>
                      <a:pPr algn="l" fontAlgn="b"/>
                      <a:r>
                        <a:rPr lang="en-US" sz="900" u="none" strike="noStrike" cap="none" spc="0" dirty="0">
                          <a:solidFill>
                            <a:schemeClr val="tx1"/>
                          </a:solidFill>
                          <a:effectLst/>
                        </a:rPr>
                        <a:t>BERT</a:t>
                      </a:r>
                      <a:endParaRPr lang="en-US" sz="900" b="0" i="0" u="none" strike="noStrike" cap="none" spc="0" dirty="0">
                        <a:solidFill>
                          <a:schemeClr val="tx1"/>
                        </a:solidFill>
                        <a:effectLst/>
                        <a:latin typeface="Aptos Narrow" panose="020B0004020202020204" pitchFamily="34" charset="0"/>
                      </a:endParaRPr>
                    </a:p>
                  </a:txBody>
                  <a:tcPr marL="3803" marR="3803" marT="36510" marB="36510" anchor="b">
                    <a:lnL w="12700" cmpd="sng">
                      <a:noFill/>
                      <a:prstDash val="solid"/>
                    </a:lnL>
                    <a:lnR w="12700" cmpd="sng">
                      <a:noFill/>
                      <a:prstDash val="solid"/>
                    </a:lnR>
                    <a:lnT w="12700" cmpd="sng">
                      <a:noFill/>
                      <a:prstDash val="solid"/>
                    </a:lnT>
                    <a:lnB w="12700" cap="flat" cmpd="sng" algn="ctr">
                      <a:noFill/>
                      <a:prstDash val="solid"/>
                    </a:lnB>
                    <a:noFill/>
                  </a:tcPr>
                </a:tc>
                <a:tc>
                  <a:txBody>
                    <a:bodyPr/>
                    <a:lstStyle/>
                    <a:p>
                      <a:pPr algn="l" fontAlgn="b"/>
                      <a:r>
                        <a:rPr lang="en-US" sz="900" u="none" strike="noStrike" cap="none" spc="0" dirty="0">
                          <a:solidFill>
                            <a:schemeClr val="tx1"/>
                          </a:solidFill>
                          <a:effectLst/>
                        </a:rPr>
                        <a:t>Pretrained from scratch on cybersecurity texts including </a:t>
                      </a:r>
                      <a:r>
                        <a:rPr lang="en-US" sz="900" u="none" strike="noStrike" cap="none" spc="0" dirty="0" err="1">
                          <a:solidFill>
                            <a:schemeClr val="tx1"/>
                          </a:solidFill>
                          <a:effectLst/>
                        </a:rPr>
                        <a:t>APTnotes</a:t>
                      </a:r>
                      <a:r>
                        <a:rPr lang="en-US" sz="900" u="none" strike="noStrike" cap="none" spc="0" dirty="0">
                          <a:solidFill>
                            <a:schemeClr val="tx1"/>
                          </a:solidFill>
                          <a:effectLst/>
                        </a:rPr>
                        <a:t>, Stucco-Data, CASIE, and SemEval-2018 Task 8; custom vocabulary</a:t>
                      </a:r>
                      <a:endParaRPr lang="en-US" sz="900" b="0" i="0" u="none" strike="noStrike" cap="none" spc="0" dirty="0">
                        <a:solidFill>
                          <a:schemeClr val="tx1"/>
                        </a:solidFill>
                        <a:effectLst/>
                        <a:latin typeface="Aptos Narrow" panose="020B0004020202020204" pitchFamily="34" charset="0"/>
                      </a:endParaRPr>
                    </a:p>
                  </a:txBody>
                  <a:tcPr marL="3803" marR="3803" marT="36510" marB="36510" anchor="b">
                    <a:lnL w="12700" cmpd="sng">
                      <a:noFill/>
                      <a:prstDash val="solid"/>
                    </a:lnL>
                    <a:lnR w="12700" cmpd="sng">
                      <a:noFill/>
                      <a:prstDash val="solid"/>
                    </a:lnR>
                    <a:lnT w="12700" cmpd="sng">
                      <a:noFill/>
                      <a:prstDash val="solid"/>
                    </a:lnT>
                    <a:lnB w="12700" cap="flat" cmpd="sng" algn="ctr">
                      <a:noFill/>
                      <a:prstDash val="solid"/>
                    </a:lnB>
                    <a:noFill/>
                  </a:tcPr>
                </a:tc>
                <a:tc>
                  <a:txBody>
                    <a:bodyPr/>
                    <a:lstStyle/>
                    <a:p>
                      <a:pPr algn="l" fontAlgn="b"/>
                      <a:r>
                        <a:rPr lang="en-US" sz="900" u="none" strike="noStrike" cap="none" spc="0">
                          <a:solidFill>
                            <a:schemeClr val="tx1"/>
                          </a:solidFill>
                          <a:effectLst/>
                        </a:rPr>
                        <a:t>Threat intelligence, NER, text classification, semantic understanding, Q&amp;A in cybersecurity context</a:t>
                      </a:r>
                      <a:endParaRPr lang="en-US" sz="900" b="0" i="0" u="none" strike="noStrike" cap="none" spc="0">
                        <a:solidFill>
                          <a:schemeClr val="tx1"/>
                        </a:solidFill>
                        <a:effectLst/>
                        <a:latin typeface="Aptos Narrow" panose="020B0004020202020204" pitchFamily="34" charset="0"/>
                      </a:endParaRPr>
                    </a:p>
                  </a:txBody>
                  <a:tcPr marL="3803" marR="3803" marT="36510" marB="36510" anchor="b">
                    <a:lnL w="12700" cmpd="sng">
                      <a:noFill/>
                      <a:prstDash val="solid"/>
                    </a:lnL>
                    <a:lnR w="28575" cap="flat" cmpd="sng" algn="ctr">
                      <a:noFill/>
                      <a:prstDash val="solid"/>
                    </a:lnR>
                    <a:lnT w="12700" cmpd="sng">
                      <a:noFill/>
                      <a:prstDash val="solid"/>
                    </a:lnT>
                    <a:lnB w="12700" cap="flat" cmpd="sng" algn="ctr">
                      <a:noFill/>
                      <a:prstDash val="solid"/>
                    </a:lnB>
                    <a:noFill/>
                  </a:tcPr>
                </a:tc>
                <a:extLst>
                  <a:ext uri="{0D108BD9-81ED-4DB2-BD59-A6C34878D82A}">
                    <a16:rowId xmlns:a16="http://schemas.microsoft.com/office/drawing/2014/main" val="4019052514"/>
                  </a:ext>
                </a:extLst>
              </a:tr>
              <a:tr h="554541">
                <a:tc>
                  <a:txBody>
                    <a:bodyPr/>
                    <a:lstStyle/>
                    <a:p>
                      <a:pPr algn="l" fontAlgn="b"/>
                      <a:r>
                        <a:rPr lang="en-US" sz="900" i="1" u="none" strike="noStrike" cap="none" spc="0" dirty="0" err="1">
                          <a:solidFill>
                            <a:schemeClr val="tx1"/>
                          </a:solidFill>
                          <a:effectLst/>
                        </a:rPr>
                        <a:t>SecureBERT</a:t>
                      </a:r>
                      <a:endParaRPr lang="en-US" sz="900" b="1" i="1" u="none" strike="noStrike" cap="none" spc="0" dirty="0">
                        <a:solidFill>
                          <a:schemeClr val="tx1"/>
                        </a:solidFill>
                        <a:effectLst/>
                        <a:latin typeface="Aptos Narrow" panose="020B0004020202020204" pitchFamily="34" charset="0"/>
                      </a:endParaRPr>
                    </a:p>
                  </a:txBody>
                  <a:tcPr marL="3803" marR="3803" marT="36510" marB="36510" anchor="b">
                    <a:lnL w="12700" cmpd="sng">
                      <a:noFill/>
                      <a:prstDash val="solid"/>
                    </a:lnL>
                    <a:lnR w="12700" cmpd="sng">
                      <a:noFill/>
                      <a:prstDash val="solid"/>
                    </a:lnR>
                    <a:lnT w="12700" cap="flat" cmpd="sng" algn="ctr">
                      <a:noFill/>
                      <a:prstDash val="solid"/>
                    </a:lnT>
                    <a:lnB w="12700" cmpd="sng">
                      <a:noFill/>
                      <a:prstDash val="solid"/>
                    </a:lnB>
                    <a:solidFill>
                      <a:schemeClr val="bg1">
                        <a:lumMod val="95000"/>
                      </a:schemeClr>
                    </a:solidFill>
                  </a:tcPr>
                </a:tc>
                <a:tc>
                  <a:txBody>
                    <a:bodyPr/>
                    <a:lstStyle/>
                    <a:p>
                      <a:pPr algn="ctr" fontAlgn="b"/>
                      <a:r>
                        <a:rPr lang="en-US" sz="900" u="none" strike="noStrike" cap="none" spc="0">
                          <a:solidFill>
                            <a:schemeClr val="tx1"/>
                          </a:solidFill>
                          <a:effectLst/>
                        </a:rPr>
                        <a:t>2022</a:t>
                      </a:r>
                      <a:endParaRPr lang="en-US" sz="900" b="0" i="0" u="none" strike="noStrike" cap="none" spc="0">
                        <a:solidFill>
                          <a:schemeClr val="tx1"/>
                        </a:solidFill>
                        <a:effectLst/>
                        <a:latin typeface="Aptos Narrow" panose="020B0004020202020204" pitchFamily="34" charset="0"/>
                      </a:endParaRPr>
                    </a:p>
                  </a:txBody>
                  <a:tcPr marL="3803" marR="3803" marT="36510" marB="36510" anchor="b">
                    <a:lnL w="12700" cmpd="sng">
                      <a:noFill/>
                      <a:prstDash val="solid"/>
                    </a:lnL>
                    <a:lnR w="12700" cmpd="sng">
                      <a:noFill/>
                      <a:prstDash val="solid"/>
                    </a:lnR>
                    <a:lnT w="12700" cap="flat" cmpd="sng" algn="ctr">
                      <a:noFill/>
                      <a:prstDash val="solid"/>
                    </a:lnT>
                    <a:lnB w="12700" cmpd="sng">
                      <a:noFill/>
                      <a:prstDash val="solid"/>
                    </a:lnB>
                    <a:solidFill>
                      <a:schemeClr val="bg1">
                        <a:lumMod val="95000"/>
                      </a:schemeClr>
                    </a:solidFill>
                  </a:tcPr>
                </a:tc>
                <a:tc>
                  <a:txBody>
                    <a:bodyPr/>
                    <a:lstStyle/>
                    <a:p>
                      <a:pPr algn="l" fontAlgn="b"/>
                      <a:r>
                        <a:rPr lang="en-US" sz="900" u="none" strike="noStrike" cap="none" spc="0">
                          <a:solidFill>
                            <a:schemeClr val="tx1"/>
                          </a:solidFill>
                          <a:effectLst/>
                        </a:rPr>
                        <a:t>Ehsan Aghaei et al. (UNC Charlotte)</a:t>
                      </a:r>
                      <a:endParaRPr lang="en-US" sz="900" b="0" i="0" u="none" strike="noStrike" cap="none" spc="0" dirty="0">
                        <a:solidFill>
                          <a:schemeClr val="tx1"/>
                        </a:solidFill>
                        <a:effectLst/>
                        <a:latin typeface="Aptos Narrow" panose="020B0004020202020204" pitchFamily="34" charset="0"/>
                      </a:endParaRPr>
                    </a:p>
                  </a:txBody>
                  <a:tcPr marL="3803" marR="3803" marT="36510" marB="36510" anchor="b">
                    <a:lnL w="12700" cmpd="sng">
                      <a:noFill/>
                      <a:prstDash val="solid"/>
                    </a:lnL>
                    <a:lnR w="12700" cmpd="sng">
                      <a:noFill/>
                      <a:prstDash val="solid"/>
                    </a:lnR>
                    <a:lnT w="12700" cap="flat" cmpd="sng" algn="ctr">
                      <a:noFill/>
                      <a:prstDash val="solid"/>
                    </a:lnT>
                    <a:lnB w="12700" cmpd="sng">
                      <a:noFill/>
                      <a:prstDash val="solid"/>
                    </a:lnB>
                    <a:solidFill>
                      <a:schemeClr val="bg1">
                        <a:lumMod val="95000"/>
                      </a:schemeClr>
                    </a:solidFill>
                  </a:tcPr>
                </a:tc>
                <a:tc>
                  <a:txBody>
                    <a:bodyPr/>
                    <a:lstStyle/>
                    <a:p>
                      <a:pPr algn="l" fontAlgn="b"/>
                      <a:r>
                        <a:rPr lang="en-US" sz="900" u="none" strike="noStrike" cap="none" spc="0" dirty="0">
                          <a:solidFill>
                            <a:schemeClr val="tx1"/>
                          </a:solidFill>
                          <a:effectLst/>
                        </a:rPr>
                        <a:t>BERT</a:t>
                      </a:r>
                      <a:endParaRPr lang="en-US" sz="900" b="0" i="0" u="none" strike="noStrike" cap="none" spc="0" dirty="0">
                        <a:solidFill>
                          <a:schemeClr val="tx1"/>
                        </a:solidFill>
                        <a:effectLst/>
                        <a:latin typeface="Aptos Narrow" panose="020B0004020202020204" pitchFamily="34" charset="0"/>
                      </a:endParaRPr>
                    </a:p>
                  </a:txBody>
                  <a:tcPr marL="3803" marR="3803" marT="36510" marB="36510" anchor="b">
                    <a:lnL w="12700" cmpd="sng">
                      <a:noFill/>
                      <a:prstDash val="solid"/>
                    </a:lnL>
                    <a:lnR w="12700" cmpd="sng">
                      <a:noFill/>
                      <a:prstDash val="solid"/>
                    </a:lnR>
                    <a:lnT w="12700" cap="flat" cmpd="sng" algn="ctr">
                      <a:noFill/>
                      <a:prstDash val="solid"/>
                    </a:lnT>
                    <a:lnB w="12700" cmpd="sng">
                      <a:noFill/>
                      <a:prstDash val="solid"/>
                    </a:lnB>
                    <a:solidFill>
                      <a:schemeClr val="bg1">
                        <a:lumMod val="95000"/>
                      </a:schemeClr>
                    </a:solidFill>
                  </a:tcPr>
                </a:tc>
                <a:tc>
                  <a:txBody>
                    <a:bodyPr/>
                    <a:lstStyle/>
                    <a:p>
                      <a:pPr algn="l" fontAlgn="b"/>
                      <a:r>
                        <a:rPr lang="en-US" sz="900" u="none" strike="noStrike" cap="none" spc="0" dirty="0">
                          <a:solidFill>
                            <a:schemeClr val="tx1"/>
                          </a:solidFill>
                          <a:effectLst/>
                        </a:rPr>
                        <a:t>Continual pretraining with customized tokenizer on large corpus of cybersecurity text</a:t>
                      </a:r>
                      <a:endParaRPr lang="en-US" sz="900" b="0" i="0" u="none" strike="noStrike" cap="none" spc="0" dirty="0">
                        <a:solidFill>
                          <a:schemeClr val="tx1"/>
                        </a:solidFill>
                        <a:effectLst/>
                        <a:latin typeface="Aptos Narrow" panose="020B0004020202020204" pitchFamily="34" charset="0"/>
                      </a:endParaRPr>
                    </a:p>
                  </a:txBody>
                  <a:tcPr marL="3803" marR="3803" marT="36510" marB="36510" anchor="b">
                    <a:lnL w="12700" cmpd="sng">
                      <a:noFill/>
                      <a:prstDash val="solid"/>
                    </a:lnL>
                    <a:lnR w="12700" cmpd="sng">
                      <a:noFill/>
                      <a:prstDash val="solid"/>
                    </a:lnR>
                    <a:lnT w="12700" cap="flat" cmpd="sng" algn="ctr">
                      <a:noFill/>
                      <a:prstDash val="solid"/>
                    </a:lnT>
                    <a:lnB w="12700" cmpd="sng">
                      <a:noFill/>
                      <a:prstDash val="solid"/>
                    </a:lnB>
                    <a:solidFill>
                      <a:schemeClr val="bg1">
                        <a:lumMod val="95000"/>
                      </a:schemeClr>
                    </a:solidFill>
                  </a:tcPr>
                </a:tc>
                <a:tc>
                  <a:txBody>
                    <a:bodyPr/>
                    <a:lstStyle/>
                    <a:p>
                      <a:pPr algn="l" fontAlgn="b"/>
                      <a:r>
                        <a:rPr lang="en-US" sz="900" u="none" strike="noStrike" cap="none" spc="0">
                          <a:solidFill>
                            <a:schemeClr val="tx1"/>
                          </a:solidFill>
                          <a:effectLst/>
                        </a:rPr>
                        <a:t>Cyber threat intelligence, cyber automation, phishing detection, code and malware analysis, intrusion detection</a:t>
                      </a:r>
                      <a:endParaRPr lang="en-US" sz="900" b="0" i="0" u="none" strike="noStrike" cap="none" spc="0">
                        <a:solidFill>
                          <a:schemeClr val="tx1"/>
                        </a:solidFill>
                        <a:effectLst/>
                        <a:latin typeface="Aptos Narrow" panose="020B0004020202020204" pitchFamily="34" charset="0"/>
                      </a:endParaRPr>
                    </a:p>
                  </a:txBody>
                  <a:tcPr marL="3803" marR="3803" marT="36510" marB="36510" anchor="b">
                    <a:lnL w="12700" cmpd="sng">
                      <a:noFill/>
                      <a:prstDash val="solid"/>
                    </a:lnL>
                    <a:lnR w="12700" cmpd="sng">
                      <a:noFill/>
                      <a:prstDash val="solid"/>
                    </a:lnR>
                    <a:lnT w="12700" cap="flat" cmpd="sng" algn="ctr">
                      <a:noFill/>
                      <a:prstDash val="solid"/>
                    </a:lnT>
                    <a:lnB w="12700" cmpd="sng">
                      <a:noFill/>
                      <a:prstDash val="solid"/>
                    </a:lnB>
                    <a:solidFill>
                      <a:schemeClr val="bg1">
                        <a:lumMod val="95000"/>
                      </a:schemeClr>
                    </a:solidFill>
                  </a:tcPr>
                </a:tc>
                <a:extLst>
                  <a:ext uri="{0D108BD9-81ED-4DB2-BD59-A6C34878D82A}">
                    <a16:rowId xmlns:a16="http://schemas.microsoft.com/office/drawing/2014/main" val="3009529436"/>
                  </a:ext>
                </a:extLst>
              </a:tr>
              <a:tr h="764291">
                <a:tc>
                  <a:txBody>
                    <a:bodyPr/>
                    <a:lstStyle/>
                    <a:p>
                      <a:pPr algn="l" fontAlgn="b"/>
                      <a:r>
                        <a:rPr lang="en-US" sz="900" i="1" u="none" strike="noStrike" cap="none" spc="0" dirty="0">
                          <a:solidFill>
                            <a:schemeClr val="tx1"/>
                          </a:solidFill>
                          <a:effectLst/>
                        </a:rPr>
                        <a:t>CTI-BERT</a:t>
                      </a:r>
                      <a:endParaRPr lang="en-US" sz="900" b="1" i="1" u="none" strike="noStrike" cap="none" spc="0" dirty="0">
                        <a:solidFill>
                          <a:schemeClr val="tx1"/>
                        </a:solidFill>
                        <a:effectLst/>
                        <a:latin typeface="Aptos Narrow" panose="020B0004020202020204" pitchFamily="34" charset="0"/>
                      </a:endParaRPr>
                    </a:p>
                  </a:txBody>
                  <a:tcPr marL="3803" marR="3803" marT="36510" marB="36510" anchor="b">
                    <a:lnL w="28575" cap="flat" cmpd="sng" algn="ctr">
                      <a:noFill/>
                      <a:prstDash val="solid"/>
                    </a:lnL>
                    <a:lnR w="12700" cmpd="sng">
                      <a:noFill/>
                      <a:prstDash val="solid"/>
                    </a:lnR>
                    <a:lnT w="12700" cmpd="sng">
                      <a:noFill/>
                      <a:prstDash val="solid"/>
                    </a:lnT>
                    <a:lnB w="12700" cap="flat" cmpd="sng" algn="ctr">
                      <a:noFill/>
                      <a:prstDash val="solid"/>
                    </a:lnB>
                    <a:noFill/>
                  </a:tcPr>
                </a:tc>
                <a:tc>
                  <a:txBody>
                    <a:bodyPr/>
                    <a:lstStyle/>
                    <a:p>
                      <a:pPr algn="ctr" fontAlgn="b"/>
                      <a:r>
                        <a:rPr lang="en-US" sz="900" u="none" strike="noStrike" cap="none" spc="0">
                          <a:solidFill>
                            <a:schemeClr val="tx1"/>
                          </a:solidFill>
                          <a:effectLst/>
                        </a:rPr>
                        <a:t>Dec-23</a:t>
                      </a:r>
                      <a:endParaRPr lang="en-US" sz="900" b="0" i="0" u="none" strike="noStrike" cap="none" spc="0">
                        <a:solidFill>
                          <a:schemeClr val="tx1"/>
                        </a:solidFill>
                        <a:effectLst/>
                        <a:latin typeface="Aptos Narrow" panose="020B0004020202020204" pitchFamily="34" charset="0"/>
                      </a:endParaRPr>
                    </a:p>
                  </a:txBody>
                  <a:tcPr marL="3803" marR="3803" marT="36510" marB="36510" anchor="b">
                    <a:lnL w="12700" cmpd="sng">
                      <a:noFill/>
                      <a:prstDash val="solid"/>
                    </a:lnL>
                    <a:lnR w="12700" cmpd="sng">
                      <a:noFill/>
                      <a:prstDash val="solid"/>
                    </a:lnR>
                    <a:lnT w="12700" cmpd="sng">
                      <a:noFill/>
                      <a:prstDash val="solid"/>
                    </a:lnT>
                    <a:lnB w="12700" cap="flat" cmpd="sng" algn="ctr">
                      <a:noFill/>
                      <a:prstDash val="solid"/>
                    </a:lnB>
                    <a:noFill/>
                  </a:tcPr>
                </a:tc>
                <a:tc>
                  <a:txBody>
                    <a:bodyPr/>
                    <a:lstStyle/>
                    <a:p>
                      <a:pPr algn="l" fontAlgn="b"/>
                      <a:r>
                        <a:rPr lang="en-US" sz="900" u="none" strike="noStrike" cap="none" spc="0">
                          <a:solidFill>
                            <a:schemeClr val="tx1"/>
                          </a:solidFill>
                          <a:effectLst/>
                        </a:rPr>
                        <a:t>IBM T.J. Watson Research Center</a:t>
                      </a:r>
                      <a:endParaRPr lang="en-US" sz="900" b="0" i="0" u="none" strike="noStrike" cap="none" spc="0" dirty="0">
                        <a:solidFill>
                          <a:schemeClr val="tx1"/>
                        </a:solidFill>
                        <a:effectLst/>
                        <a:latin typeface="Aptos Narrow" panose="020B0004020202020204" pitchFamily="34" charset="0"/>
                      </a:endParaRPr>
                    </a:p>
                  </a:txBody>
                  <a:tcPr marL="3803" marR="3803" marT="36510" marB="36510" anchor="b">
                    <a:lnL w="12700" cmpd="sng">
                      <a:noFill/>
                      <a:prstDash val="solid"/>
                    </a:lnL>
                    <a:lnR w="12700" cmpd="sng">
                      <a:noFill/>
                      <a:prstDash val="solid"/>
                    </a:lnR>
                    <a:lnT w="12700" cmpd="sng">
                      <a:noFill/>
                      <a:prstDash val="solid"/>
                    </a:lnT>
                    <a:lnB w="12700" cap="flat" cmpd="sng" algn="ctr">
                      <a:noFill/>
                      <a:prstDash val="solid"/>
                    </a:lnB>
                    <a:noFill/>
                  </a:tcPr>
                </a:tc>
                <a:tc>
                  <a:txBody>
                    <a:bodyPr/>
                    <a:lstStyle/>
                    <a:p>
                      <a:pPr algn="l" fontAlgn="b"/>
                      <a:r>
                        <a:rPr lang="en-US" sz="900" u="none" strike="noStrike" cap="none" spc="0" dirty="0">
                          <a:solidFill>
                            <a:schemeClr val="tx1"/>
                          </a:solidFill>
                          <a:effectLst/>
                        </a:rPr>
                        <a:t>BERT</a:t>
                      </a:r>
                      <a:endParaRPr lang="en-US" sz="900" b="0" i="0" u="none" strike="noStrike" cap="none" spc="0" dirty="0">
                        <a:solidFill>
                          <a:schemeClr val="tx1"/>
                        </a:solidFill>
                        <a:effectLst/>
                        <a:latin typeface="Aptos Narrow" panose="020B0004020202020204" pitchFamily="34" charset="0"/>
                      </a:endParaRPr>
                    </a:p>
                  </a:txBody>
                  <a:tcPr marL="3803" marR="3803" marT="36510" marB="36510" anchor="b">
                    <a:lnL w="12700" cmpd="sng">
                      <a:noFill/>
                      <a:prstDash val="solid"/>
                    </a:lnL>
                    <a:lnR w="12700" cmpd="sng">
                      <a:noFill/>
                      <a:prstDash val="solid"/>
                    </a:lnR>
                    <a:lnT w="12700" cmpd="sng">
                      <a:noFill/>
                      <a:prstDash val="solid"/>
                    </a:lnT>
                    <a:lnB w="12700" cap="flat" cmpd="sng" algn="ctr">
                      <a:noFill/>
                      <a:prstDash val="solid"/>
                    </a:lnB>
                    <a:noFill/>
                  </a:tcPr>
                </a:tc>
                <a:tc>
                  <a:txBody>
                    <a:bodyPr/>
                    <a:lstStyle/>
                    <a:p>
                      <a:pPr algn="l" fontAlgn="b"/>
                      <a:r>
                        <a:rPr lang="en-US" sz="900" u="none" strike="noStrike" cap="none" spc="0" dirty="0">
                          <a:solidFill>
                            <a:schemeClr val="tx1"/>
                          </a:solidFill>
                          <a:effectLst/>
                        </a:rPr>
                        <a:t>Pretrained from scratch on high-quality cybersecurity corpus containing CTI reports and publications</a:t>
                      </a:r>
                      <a:endParaRPr lang="en-US" sz="900" b="0" i="0" u="none" strike="noStrike" cap="none" spc="0" dirty="0">
                        <a:solidFill>
                          <a:schemeClr val="tx1"/>
                        </a:solidFill>
                        <a:effectLst/>
                        <a:latin typeface="Aptos Narrow" panose="020B0004020202020204" pitchFamily="34" charset="0"/>
                      </a:endParaRPr>
                    </a:p>
                  </a:txBody>
                  <a:tcPr marL="3803" marR="3803" marT="36510" marB="36510" anchor="b">
                    <a:lnL w="12700" cmpd="sng">
                      <a:noFill/>
                      <a:prstDash val="solid"/>
                    </a:lnL>
                    <a:lnR w="12700" cmpd="sng">
                      <a:noFill/>
                      <a:prstDash val="solid"/>
                    </a:lnR>
                    <a:lnT w="12700" cmpd="sng">
                      <a:noFill/>
                      <a:prstDash val="solid"/>
                    </a:lnT>
                    <a:lnB w="12700" cap="flat" cmpd="sng" algn="ctr">
                      <a:noFill/>
                      <a:prstDash val="solid"/>
                    </a:lnB>
                    <a:noFill/>
                  </a:tcPr>
                </a:tc>
                <a:tc>
                  <a:txBody>
                    <a:bodyPr/>
                    <a:lstStyle/>
                    <a:p>
                      <a:pPr algn="l" fontAlgn="b"/>
                      <a:r>
                        <a:rPr lang="en-US" sz="900" u="none" strike="noStrike" cap="none" spc="0" dirty="0">
                          <a:solidFill>
                            <a:schemeClr val="tx1"/>
                          </a:solidFill>
                          <a:effectLst/>
                        </a:rPr>
                        <a:t>Cyber threat intelligence extraction, security entity (</a:t>
                      </a:r>
                      <a:r>
                        <a:rPr lang="en-US" sz="900" u="none" strike="noStrike" cap="none" spc="0" dirty="0" err="1">
                          <a:solidFill>
                            <a:schemeClr val="tx1"/>
                          </a:solidFill>
                          <a:effectLst/>
                        </a:rPr>
                        <a:t>IoCs</a:t>
                      </a:r>
                      <a:r>
                        <a:rPr lang="en-US" sz="900" u="none" strike="noStrike" cap="none" spc="0" dirty="0">
                          <a:solidFill>
                            <a:schemeClr val="tx1"/>
                          </a:solidFill>
                          <a:effectLst/>
                        </a:rPr>
                        <a:t>) extraction, attack technique (TTPs) classification</a:t>
                      </a:r>
                      <a:endParaRPr lang="en-US" sz="900" b="0" i="0" u="none" strike="noStrike" cap="none" spc="0" dirty="0">
                        <a:solidFill>
                          <a:schemeClr val="tx1"/>
                        </a:solidFill>
                        <a:effectLst/>
                        <a:latin typeface="Aptos Narrow" panose="020B0004020202020204" pitchFamily="34" charset="0"/>
                      </a:endParaRPr>
                    </a:p>
                  </a:txBody>
                  <a:tcPr marL="3803" marR="3803" marT="36510" marB="36510" anchor="b">
                    <a:lnL w="12700" cmpd="sng">
                      <a:noFill/>
                      <a:prstDash val="solid"/>
                    </a:lnL>
                    <a:lnR w="28575" cap="flat" cmpd="sng" algn="ctr">
                      <a:noFill/>
                      <a:prstDash val="solid"/>
                    </a:lnR>
                    <a:lnT w="12700" cmpd="sng">
                      <a:noFill/>
                      <a:prstDash val="solid"/>
                    </a:lnT>
                    <a:lnB w="12700" cap="flat" cmpd="sng" algn="ctr">
                      <a:noFill/>
                      <a:prstDash val="solid"/>
                    </a:lnB>
                    <a:noFill/>
                  </a:tcPr>
                </a:tc>
                <a:extLst>
                  <a:ext uri="{0D108BD9-81ED-4DB2-BD59-A6C34878D82A}">
                    <a16:rowId xmlns:a16="http://schemas.microsoft.com/office/drawing/2014/main" val="3051085325"/>
                  </a:ext>
                </a:extLst>
              </a:tr>
              <a:tr h="554541">
                <a:tc>
                  <a:txBody>
                    <a:bodyPr/>
                    <a:lstStyle/>
                    <a:p>
                      <a:pPr algn="l" fontAlgn="b"/>
                      <a:r>
                        <a:rPr lang="en-US" sz="900" i="1" u="none" strike="noStrike" cap="none" spc="0" dirty="0" err="1">
                          <a:solidFill>
                            <a:schemeClr val="tx1"/>
                          </a:solidFill>
                          <a:effectLst/>
                        </a:rPr>
                        <a:t>SecurityLLM</a:t>
                      </a:r>
                      <a:endParaRPr lang="en-US" sz="900" b="1" i="1" u="none" strike="noStrike" cap="none" spc="0" dirty="0">
                        <a:solidFill>
                          <a:schemeClr val="tx1"/>
                        </a:solidFill>
                        <a:effectLst/>
                        <a:latin typeface="Aptos Narrow" panose="020B0004020202020204" pitchFamily="34" charset="0"/>
                      </a:endParaRPr>
                    </a:p>
                  </a:txBody>
                  <a:tcPr marL="3803" marR="3803" marT="36510" marB="36510" anchor="b">
                    <a:lnL w="12700" cmpd="sng">
                      <a:noFill/>
                      <a:prstDash val="solid"/>
                    </a:lnL>
                    <a:lnR w="12700" cmpd="sng">
                      <a:noFill/>
                      <a:prstDash val="solid"/>
                    </a:lnR>
                    <a:lnT w="12700" cap="flat" cmpd="sng" algn="ctr">
                      <a:noFill/>
                      <a:prstDash val="solid"/>
                    </a:lnT>
                    <a:lnB w="12700" cmpd="sng">
                      <a:noFill/>
                      <a:prstDash val="solid"/>
                    </a:lnB>
                    <a:solidFill>
                      <a:schemeClr val="bg1">
                        <a:lumMod val="95000"/>
                      </a:schemeClr>
                    </a:solidFill>
                  </a:tcPr>
                </a:tc>
                <a:tc>
                  <a:txBody>
                    <a:bodyPr/>
                    <a:lstStyle/>
                    <a:p>
                      <a:pPr algn="ctr" fontAlgn="b"/>
                      <a:r>
                        <a:rPr lang="en-US" sz="900" u="none" strike="noStrike" cap="none" spc="0">
                          <a:solidFill>
                            <a:schemeClr val="tx1"/>
                          </a:solidFill>
                          <a:effectLst/>
                        </a:rPr>
                        <a:t>Jan-25</a:t>
                      </a:r>
                      <a:endParaRPr lang="en-US" sz="900" b="0" i="0" u="none" strike="noStrike" cap="none" spc="0">
                        <a:solidFill>
                          <a:schemeClr val="tx1"/>
                        </a:solidFill>
                        <a:effectLst/>
                        <a:latin typeface="Aptos Narrow" panose="020B0004020202020204" pitchFamily="34" charset="0"/>
                      </a:endParaRPr>
                    </a:p>
                  </a:txBody>
                  <a:tcPr marL="3803" marR="3803" marT="36510" marB="36510" anchor="b">
                    <a:lnL w="12700" cmpd="sng">
                      <a:noFill/>
                      <a:prstDash val="solid"/>
                    </a:lnL>
                    <a:lnR w="12700" cmpd="sng">
                      <a:noFill/>
                      <a:prstDash val="solid"/>
                    </a:lnR>
                    <a:lnT w="12700" cap="flat" cmpd="sng" algn="ctr">
                      <a:noFill/>
                      <a:prstDash val="solid"/>
                    </a:lnT>
                    <a:lnB w="12700" cmpd="sng">
                      <a:noFill/>
                      <a:prstDash val="solid"/>
                    </a:lnB>
                    <a:solidFill>
                      <a:schemeClr val="bg1">
                        <a:lumMod val="95000"/>
                      </a:schemeClr>
                    </a:solidFill>
                  </a:tcPr>
                </a:tc>
                <a:tc>
                  <a:txBody>
                    <a:bodyPr/>
                    <a:lstStyle/>
                    <a:p>
                      <a:pPr algn="l" fontAlgn="b"/>
                      <a:r>
                        <a:rPr lang="en-US" sz="900" u="none" strike="noStrike" cap="none" spc="0">
                          <a:solidFill>
                            <a:schemeClr val="tx1"/>
                          </a:solidFill>
                          <a:effectLst/>
                        </a:rPr>
                        <a:t>ZySec-AI</a:t>
                      </a:r>
                      <a:endParaRPr lang="en-US" sz="900" b="0" i="0" u="none" strike="noStrike" cap="none" spc="0">
                        <a:solidFill>
                          <a:schemeClr val="tx1"/>
                        </a:solidFill>
                        <a:effectLst/>
                        <a:latin typeface="Aptos Narrow" panose="020B0004020202020204" pitchFamily="34" charset="0"/>
                      </a:endParaRPr>
                    </a:p>
                  </a:txBody>
                  <a:tcPr marL="3803" marR="3803" marT="36510" marB="36510" anchor="b">
                    <a:lnL w="12700" cmpd="sng">
                      <a:noFill/>
                      <a:prstDash val="solid"/>
                    </a:lnL>
                    <a:lnR w="12700" cmpd="sng">
                      <a:noFill/>
                      <a:prstDash val="solid"/>
                    </a:lnR>
                    <a:lnT w="12700" cap="flat" cmpd="sng" algn="ctr">
                      <a:noFill/>
                      <a:prstDash val="solid"/>
                    </a:lnT>
                    <a:lnB w="12700" cmpd="sng">
                      <a:noFill/>
                      <a:prstDash val="solid"/>
                    </a:lnB>
                    <a:solidFill>
                      <a:schemeClr val="bg1">
                        <a:lumMod val="95000"/>
                      </a:schemeClr>
                    </a:solidFill>
                  </a:tcPr>
                </a:tc>
                <a:tc>
                  <a:txBody>
                    <a:bodyPr/>
                    <a:lstStyle/>
                    <a:p>
                      <a:pPr algn="l" fontAlgn="b"/>
                      <a:r>
                        <a:rPr lang="en-US" sz="900" u="none" strike="noStrike" cap="none" spc="0">
                          <a:solidFill>
                            <a:schemeClr val="tx1"/>
                          </a:solidFill>
                          <a:effectLst/>
                        </a:rPr>
                        <a:t>Zephyr-7b-beta</a:t>
                      </a:r>
                      <a:endParaRPr lang="en-US" sz="900" b="0" i="0" u="none" strike="noStrike" cap="none" spc="0">
                        <a:solidFill>
                          <a:schemeClr val="tx1"/>
                        </a:solidFill>
                        <a:effectLst/>
                        <a:latin typeface="Aptos Narrow" panose="020B0004020202020204" pitchFamily="34" charset="0"/>
                      </a:endParaRPr>
                    </a:p>
                  </a:txBody>
                  <a:tcPr marL="3803" marR="3803" marT="36510" marB="36510" anchor="b">
                    <a:lnL w="12700" cmpd="sng">
                      <a:noFill/>
                      <a:prstDash val="solid"/>
                    </a:lnL>
                    <a:lnR w="12700" cmpd="sng">
                      <a:noFill/>
                      <a:prstDash val="solid"/>
                    </a:lnR>
                    <a:lnT w="12700" cap="flat" cmpd="sng" algn="ctr">
                      <a:noFill/>
                      <a:prstDash val="solid"/>
                    </a:lnT>
                    <a:lnB w="12700" cmpd="sng">
                      <a:noFill/>
                      <a:prstDash val="solid"/>
                    </a:lnB>
                    <a:solidFill>
                      <a:schemeClr val="bg1">
                        <a:lumMod val="95000"/>
                      </a:schemeClr>
                    </a:solidFill>
                  </a:tcPr>
                </a:tc>
                <a:tc>
                  <a:txBody>
                    <a:bodyPr/>
                    <a:lstStyle/>
                    <a:p>
                      <a:pPr algn="l" fontAlgn="b"/>
                      <a:r>
                        <a:rPr lang="en-US" sz="900" u="none" strike="noStrike" cap="none" spc="0" dirty="0">
                          <a:solidFill>
                            <a:schemeClr val="tx1"/>
                          </a:solidFill>
                          <a:effectLst/>
                        </a:rPr>
                        <a:t>Direct Preference Optimization (DPO) training across 30+ security domains</a:t>
                      </a:r>
                      <a:endParaRPr lang="en-US" sz="900" b="0" i="0" u="none" strike="noStrike" cap="none" spc="0" dirty="0">
                        <a:solidFill>
                          <a:schemeClr val="tx1"/>
                        </a:solidFill>
                        <a:effectLst/>
                        <a:latin typeface="Aptos Narrow" panose="020B0004020202020204" pitchFamily="34" charset="0"/>
                      </a:endParaRPr>
                    </a:p>
                  </a:txBody>
                  <a:tcPr marL="3803" marR="3803" marT="36510" marB="36510" anchor="b">
                    <a:lnL w="12700" cmpd="sng">
                      <a:noFill/>
                      <a:prstDash val="solid"/>
                    </a:lnL>
                    <a:lnR w="12700" cmpd="sng">
                      <a:noFill/>
                      <a:prstDash val="solid"/>
                    </a:lnR>
                    <a:lnT w="12700" cap="flat" cmpd="sng" algn="ctr">
                      <a:noFill/>
                      <a:prstDash val="solid"/>
                    </a:lnT>
                    <a:lnB w="12700" cmpd="sng">
                      <a:noFill/>
                      <a:prstDash val="solid"/>
                    </a:lnB>
                    <a:solidFill>
                      <a:schemeClr val="bg1">
                        <a:lumMod val="95000"/>
                      </a:schemeClr>
                    </a:solidFill>
                  </a:tcPr>
                </a:tc>
                <a:tc>
                  <a:txBody>
                    <a:bodyPr/>
                    <a:lstStyle/>
                    <a:p>
                      <a:pPr algn="l" fontAlgn="b"/>
                      <a:r>
                        <a:rPr lang="en-US" sz="900" u="none" strike="noStrike" cap="none" spc="0" dirty="0">
                          <a:solidFill>
                            <a:schemeClr val="tx1"/>
                          </a:solidFill>
                          <a:effectLst/>
                        </a:rPr>
                        <a:t>Threat analysis, compliance verification, security architecture reviews, SOC operations, risk management</a:t>
                      </a:r>
                      <a:endParaRPr lang="en-US" sz="900" b="0" i="0" u="none" strike="noStrike" cap="none" spc="0" dirty="0">
                        <a:solidFill>
                          <a:schemeClr val="tx1"/>
                        </a:solidFill>
                        <a:effectLst/>
                        <a:latin typeface="Aptos Narrow" panose="020B0004020202020204" pitchFamily="34" charset="0"/>
                      </a:endParaRPr>
                    </a:p>
                  </a:txBody>
                  <a:tcPr marL="3803" marR="3803" marT="36510" marB="36510" anchor="b">
                    <a:lnL w="12700" cmpd="sng">
                      <a:noFill/>
                      <a:prstDash val="solid"/>
                    </a:lnL>
                    <a:lnR w="12700" cmpd="sng">
                      <a:noFill/>
                      <a:prstDash val="solid"/>
                    </a:lnR>
                    <a:lnT w="12700" cap="flat" cmpd="sng" algn="ctr">
                      <a:noFill/>
                      <a:prstDash val="solid"/>
                    </a:lnT>
                    <a:lnB w="12700" cmpd="sng">
                      <a:noFill/>
                      <a:prstDash val="solid"/>
                    </a:lnB>
                    <a:solidFill>
                      <a:schemeClr val="bg1">
                        <a:lumMod val="95000"/>
                      </a:schemeClr>
                    </a:solidFill>
                  </a:tcPr>
                </a:tc>
                <a:extLst>
                  <a:ext uri="{0D108BD9-81ED-4DB2-BD59-A6C34878D82A}">
                    <a16:rowId xmlns:a16="http://schemas.microsoft.com/office/drawing/2014/main" val="920605362"/>
                  </a:ext>
                </a:extLst>
              </a:tr>
              <a:tr h="791526">
                <a:tc>
                  <a:txBody>
                    <a:bodyPr/>
                    <a:lstStyle/>
                    <a:p>
                      <a:pPr algn="l" fontAlgn="b"/>
                      <a:r>
                        <a:rPr lang="en-US" sz="900" i="1" u="none" strike="noStrike" cap="none" spc="0" dirty="0" err="1">
                          <a:solidFill>
                            <a:schemeClr val="tx1"/>
                          </a:solidFill>
                          <a:effectLst/>
                        </a:rPr>
                        <a:t>SecurityBERT</a:t>
                      </a:r>
                      <a:endParaRPr lang="en-US" sz="900" b="1" i="1" u="none" strike="noStrike" cap="none" spc="0" dirty="0">
                        <a:solidFill>
                          <a:schemeClr val="tx1"/>
                        </a:solidFill>
                        <a:effectLst/>
                        <a:latin typeface="Aptos Narrow" panose="020B0004020202020204" pitchFamily="34" charset="0"/>
                      </a:endParaRPr>
                    </a:p>
                  </a:txBody>
                  <a:tcPr marL="3803" marR="3803" marT="36510" marB="36510" anchor="b">
                    <a:lnL w="28575" cap="flat" cmpd="sng" algn="ctr">
                      <a:noFill/>
                      <a:prstDash val="solid"/>
                    </a:lnL>
                    <a:lnR w="12700" cmpd="sng">
                      <a:noFill/>
                      <a:prstDash val="solid"/>
                    </a:lnR>
                    <a:lnT w="12700" cmpd="sng">
                      <a:noFill/>
                      <a:prstDash val="solid"/>
                    </a:lnT>
                    <a:lnB w="28575" cap="flat" cmpd="sng" algn="ctr">
                      <a:noFill/>
                      <a:prstDash val="solid"/>
                    </a:lnB>
                    <a:noFill/>
                  </a:tcPr>
                </a:tc>
                <a:tc>
                  <a:txBody>
                    <a:bodyPr/>
                    <a:lstStyle/>
                    <a:p>
                      <a:pPr algn="ctr" fontAlgn="b"/>
                      <a:r>
                        <a:rPr lang="en-US" sz="900" u="none" strike="noStrike" cap="none" spc="0">
                          <a:solidFill>
                            <a:schemeClr val="tx1"/>
                          </a:solidFill>
                          <a:effectLst/>
                        </a:rPr>
                        <a:t>Jun-23</a:t>
                      </a:r>
                      <a:endParaRPr lang="en-US" sz="900" b="0" i="0" u="none" strike="noStrike" cap="none" spc="0">
                        <a:solidFill>
                          <a:schemeClr val="tx1"/>
                        </a:solidFill>
                        <a:effectLst/>
                        <a:latin typeface="Aptos Narrow" panose="020B0004020202020204" pitchFamily="34" charset="0"/>
                      </a:endParaRPr>
                    </a:p>
                  </a:txBody>
                  <a:tcPr marL="3803" marR="3803" marT="36510" marB="36510" anchor="b">
                    <a:lnL w="12700" cmpd="sng">
                      <a:noFill/>
                      <a:prstDash val="solid"/>
                    </a:lnL>
                    <a:lnR w="12700" cmpd="sng">
                      <a:noFill/>
                      <a:prstDash val="solid"/>
                    </a:lnR>
                    <a:lnT w="12700" cmpd="sng">
                      <a:noFill/>
                      <a:prstDash val="solid"/>
                    </a:lnT>
                    <a:lnB w="28575" cap="flat" cmpd="sng" algn="ctr">
                      <a:noFill/>
                      <a:prstDash val="solid"/>
                    </a:lnB>
                    <a:noFill/>
                  </a:tcPr>
                </a:tc>
                <a:tc>
                  <a:txBody>
                    <a:bodyPr/>
                    <a:lstStyle/>
                    <a:p>
                      <a:pPr algn="l" fontAlgn="b"/>
                      <a:r>
                        <a:rPr lang="en-US" sz="900" u="none" strike="noStrike" cap="none" spc="0" dirty="0">
                          <a:solidFill>
                            <a:schemeClr val="tx1"/>
                          </a:solidFill>
                          <a:effectLst/>
                        </a:rPr>
                        <a:t>Mohamed Amine </a:t>
                      </a:r>
                      <a:r>
                        <a:rPr lang="en-US" sz="900" u="none" strike="noStrike" cap="none" spc="0" dirty="0" err="1">
                          <a:solidFill>
                            <a:schemeClr val="tx1"/>
                          </a:solidFill>
                          <a:effectLst/>
                        </a:rPr>
                        <a:t>Ferrag</a:t>
                      </a:r>
                      <a:r>
                        <a:rPr lang="en-US" sz="900" u="none" strike="noStrike" cap="none" spc="0" dirty="0">
                          <a:solidFill>
                            <a:schemeClr val="tx1"/>
                          </a:solidFill>
                          <a:effectLst/>
                        </a:rPr>
                        <a:t> et al.</a:t>
                      </a:r>
                      <a:endParaRPr lang="en-US" sz="900" b="0" i="0" u="none" strike="noStrike" cap="none" spc="0" dirty="0">
                        <a:solidFill>
                          <a:schemeClr val="tx1"/>
                        </a:solidFill>
                        <a:effectLst/>
                        <a:latin typeface="Aptos Narrow" panose="020B0004020202020204" pitchFamily="34" charset="0"/>
                      </a:endParaRPr>
                    </a:p>
                  </a:txBody>
                  <a:tcPr marL="3803" marR="3803" marT="36510" marB="36510" anchor="b">
                    <a:lnL w="12700" cmpd="sng">
                      <a:noFill/>
                      <a:prstDash val="solid"/>
                    </a:lnL>
                    <a:lnR w="12700" cmpd="sng">
                      <a:noFill/>
                      <a:prstDash val="solid"/>
                    </a:lnR>
                    <a:lnT w="12700" cmpd="sng">
                      <a:noFill/>
                      <a:prstDash val="solid"/>
                    </a:lnT>
                    <a:lnB w="28575" cap="flat" cmpd="sng" algn="ctr">
                      <a:noFill/>
                      <a:prstDash val="solid"/>
                    </a:lnB>
                    <a:noFill/>
                  </a:tcPr>
                </a:tc>
                <a:tc>
                  <a:txBody>
                    <a:bodyPr/>
                    <a:lstStyle/>
                    <a:p>
                      <a:pPr algn="l" fontAlgn="b"/>
                      <a:r>
                        <a:rPr lang="en-US" sz="900" u="none" strike="noStrike" cap="none" spc="0" dirty="0">
                          <a:solidFill>
                            <a:schemeClr val="tx1"/>
                          </a:solidFill>
                          <a:effectLst/>
                        </a:rPr>
                        <a:t>BERT</a:t>
                      </a:r>
                      <a:endParaRPr lang="en-US" sz="900" b="0" i="0" u="none" strike="noStrike" cap="none" spc="0" dirty="0">
                        <a:solidFill>
                          <a:schemeClr val="tx1"/>
                        </a:solidFill>
                        <a:effectLst/>
                        <a:latin typeface="Aptos Narrow" panose="020B0004020202020204" pitchFamily="34" charset="0"/>
                      </a:endParaRPr>
                    </a:p>
                  </a:txBody>
                  <a:tcPr marL="3803" marR="3803" marT="36510" marB="36510" anchor="b">
                    <a:lnL w="12700" cmpd="sng">
                      <a:noFill/>
                      <a:prstDash val="solid"/>
                    </a:lnL>
                    <a:lnR w="12700" cmpd="sng">
                      <a:noFill/>
                      <a:prstDash val="solid"/>
                    </a:lnR>
                    <a:lnT w="12700" cmpd="sng">
                      <a:noFill/>
                      <a:prstDash val="solid"/>
                    </a:lnT>
                    <a:lnB w="28575" cap="flat" cmpd="sng" algn="ctr">
                      <a:noFill/>
                      <a:prstDash val="solid"/>
                    </a:lnB>
                    <a:noFill/>
                  </a:tcPr>
                </a:tc>
                <a:tc>
                  <a:txBody>
                    <a:bodyPr/>
                    <a:lstStyle/>
                    <a:p>
                      <a:pPr algn="l" fontAlgn="b"/>
                      <a:r>
                        <a:rPr lang="en-US" sz="900" u="none" strike="noStrike" cap="none" spc="0" dirty="0">
                          <a:solidFill>
                            <a:schemeClr val="tx1"/>
                          </a:solidFill>
                          <a:effectLst/>
                        </a:rPr>
                        <a:t>Privacy-preserving encoding technique (PPFLE) combined with Byte-level Byte-Pair Encoder (BBPE) Tokenizer; trained on IoT data</a:t>
                      </a:r>
                      <a:endParaRPr lang="en-US" sz="900" b="0" i="0" u="none" strike="noStrike" cap="none" spc="0" dirty="0">
                        <a:solidFill>
                          <a:schemeClr val="tx1"/>
                        </a:solidFill>
                        <a:effectLst/>
                        <a:latin typeface="Aptos Narrow" panose="020B0004020202020204" pitchFamily="34" charset="0"/>
                      </a:endParaRPr>
                    </a:p>
                  </a:txBody>
                  <a:tcPr marL="3803" marR="3803" marT="36510" marB="36510" anchor="b">
                    <a:lnL w="12700" cmpd="sng">
                      <a:noFill/>
                      <a:prstDash val="solid"/>
                    </a:lnL>
                    <a:lnR w="12700" cmpd="sng">
                      <a:noFill/>
                      <a:prstDash val="solid"/>
                    </a:lnR>
                    <a:lnT w="12700" cmpd="sng">
                      <a:noFill/>
                      <a:prstDash val="solid"/>
                    </a:lnT>
                    <a:lnB w="28575" cap="flat" cmpd="sng" algn="ctr">
                      <a:noFill/>
                      <a:prstDash val="solid"/>
                    </a:lnB>
                    <a:noFill/>
                  </a:tcPr>
                </a:tc>
                <a:tc>
                  <a:txBody>
                    <a:bodyPr/>
                    <a:lstStyle/>
                    <a:p>
                      <a:pPr algn="l" fontAlgn="b"/>
                      <a:r>
                        <a:rPr lang="en-US" sz="900" u="none" strike="noStrike" cap="none" spc="0" dirty="0">
                          <a:solidFill>
                            <a:schemeClr val="tx1"/>
                          </a:solidFill>
                          <a:effectLst/>
                        </a:rPr>
                        <a:t>Cyber threat detection in IoT/</a:t>
                      </a:r>
                      <a:r>
                        <a:rPr lang="en-US" sz="900" u="none" strike="noStrike" cap="none" spc="0" dirty="0" err="1">
                          <a:solidFill>
                            <a:schemeClr val="tx1"/>
                          </a:solidFill>
                          <a:effectLst/>
                        </a:rPr>
                        <a:t>IIoT</a:t>
                      </a:r>
                      <a:r>
                        <a:rPr lang="en-US" sz="900" u="none" strike="noStrike" cap="none" spc="0" dirty="0">
                          <a:solidFill>
                            <a:schemeClr val="tx1"/>
                          </a:solidFill>
                          <a:effectLst/>
                        </a:rPr>
                        <a:t> devices</a:t>
                      </a:r>
                      <a:endParaRPr lang="en-US" sz="900" b="0" i="0" u="none" strike="noStrike" cap="none" spc="0" dirty="0">
                        <a:solidFill>
                          <a:schemeClr val="tx1"/>
                        </a:solidFill>
                        <a:effectLst/>
                        <a:latin typeface="Aptos Narrow" panose="020B0004020202020204" pitchFamily="34" charset="0"/>
                      </a:endParaRPr>
                    </a:p>
                  </a:txBody>
                  <a:tcPr marL="3803" marR="3803" marT="36510" marB="36510" anchor="b">
                    <a:lnL w="12700" cmpd="sng">
                      <a:noFill/>
                      <a:prstDash val="solid"/>
                    </a:lnL>
                    <a:lnR w="28575" cap="flat" cmpd="sng" algn="ctr">
                      <a:noFill/>
                      <a:prstDash val="solid"/>
                    </a:lnR>
                    <a:lnT w="12700" cmpd="sng">
                      <a:noFill/>
                      <a:prstDash val="solid"/>
                    </a:lnT>
                    <a:lnB w="28575" cap="flat" cmpd="sng" algn="ctr">
                      <a:noFill/>
                      <a:prstDash val="solid"/>
                    </a:lnB>
                    <a:noFill/>
                  </a:tcPr>
                </a:tc>
                <a:extLst>
                  <a:ext uri="{0D108BD9-81ED-4DB2-BD59-A6C34878D82A}">
                    <a16:rowId xmlns:a16="http://schemas.microsoft.com/office/drawing/2014/main" val="2658963371"/>
                  </a:ext>
                </a:extLst>
              </a:tr>
            </a:tbl>
          </a:graphicData>
        </a:graphic>
      </p:graphicFrame>
      <p:sp>
        <p:nvSpPr>
          <p:cNvPr id="4" name="TextBox 3">
            <a:extLst>
              <a:ext uri="{FF2B5EF4-FFF2-40B4-BE49-F238E27FC236}">
                <a16:creationId xmlns:a16="http://schemas.microsoft.com/office/drawing/2014/main" id="{7C214B31-8379-8FB1-F2DF-05899A40DA47}"/>
              </a:ext>
            </a:extLst>
          </p:cNvPr>
          <p:cNvSpPr txBox="1"/>
          <p:nvPr/>
        </p:nvSpPr>
        <p:spPr>
          <a:xfrm>
            <a:off x="2745908" y="6240359"/>
            <a:ext cx="9323959" cy="461665"/>
          </a:xfrm>
          <a:prstGeom prst="rect">
            <a:avLst/>
          </a:prstGeom>
          <a:noFill/>
        </p:spPr>
        <p:txBody>
          <a:bodyPr wrap="square" rtlCol="0">
            <a:spAutoFit/>
          </a:bodyPr>
          <a:lstStyle/>
          <a:p>
            <a:pPr algn="ctr"/>
            <a:r>
              <a:rPr lang="en-US" sz="1200" i="1" dirty="0"/>
              <a:t>Variety of models have been introduced with a broad range of test methodologies and applications. Technology development and adoption is still in its infancy.</a:t>
            </a:r>
          </a:p>
        </p:txBody>
      </p:sp>
    </p:spTree>
    <p:extLst>
      <p:ext uri="{BB962C8B-B14F-4D97-AF65-F5344CB8AC3E}">
        <p14:creationId xmlns:p14="http://schemas.microsoft.com/office/powerpoint/2010/main" val="277805439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5DBA8E-7C14-81DB-3CDA-9AD1095E358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9182321-874A-3DB8-9CCC-C40BCEBE34D4}"/>
              </a:ext>
            </a:extLst>
          </p:cNvPr>
          <p:cNvSpPr>
            <a:spLocks noGrp="1"/>
          </p:cNvSpPr>
          <p:nvPr>
            <p:ph type="title" idx="4294967295"/>
          </p:nvPr>
        </p:nvSpPr>
        <p:spPr>
          <a:xfrm>
            <a:off x="1052622" y="155976"/>
            <a:ext cx="8761413" cy="708025"/>
          </a:xfrm>
        </p:spPr>
        <p:txBody>
          <a:bodyPr/>
          <a:lstStyle/>
          <a:p>
            <a:pPr algn="ctr"/>
            <a:r>
              <a:rPr lang="en-US" sz="2800" dirty="0">
                <a:solidFill>
                  <a:schemeClr val="tx1"/>
                </a:solidFill>
              </a:rPr>
              <a:t>Different Training Strategies</a:t>
            </a:r>
          </a:p>
        </p:txBody>
      </p:sp>
      <p:graphicFrame>
        <p:nvGraphicFramePr>
          <p:cNvPr id="5" name="Table 4">
            <a:extLst>
              <a:ext uri="{FF2B5EF4-FFF2-40B4-BE49-F238E27FC236}">
                <a16:creationId xmlns:a16="http://schemas.microsoft.com/office/drawing/2014/main" id="{113D1F5C-0A72-CA9B-00F0-2F7EB97E55CF}"/>
              </a:ext>
            </a:extLst>
          </p:cNvPr>
          <p:cNvGraphicFramePr>
            <a:graphicFrameLocks noGrp="1"/>
          </p:cNvGraphicFramePr>
          <p:nvPr>
            <p:extLst>
              <p:ext uri="{D42A27DB-BD31-4B8C-83A1-F6EECF244321}">
                <p14:modId xmlns:p14="http://schemas.microsoft.com/office/powerpoint/2010/main" val="3677556937"/>
              </p:ext>
            </p:extLst>
          </p:nvPr>
        </p:nvGraphicFramePr>
        <p:xfrm>
          <a:off x="646176" y="997583"/>
          <a:ext cx="10698480" cy="5620827"/>
        </p:xfrm>
        <a:graphic>
          <a:graphicData uri="http://schemas.openxmlformats.org/drawingml/2006/table">
            <a:tbl>
              <a:tblPr/>
              <a:tblGrid>
                <a:gridCol w="1325880">
                  <a:extLst>
                    <a:ext uri="{9D8B030D-6E8A-4147-A177-3AD203B41FA5}">
                      <a16:colId xmlns:a16="http://schemas.microsoft.com/office/drawing/2014/main" val="888946918"/>
                    </a:ext>
                  </a:extLst>
                </a:gridCol>
                <a:gridCol w="3291840">
                  <a:extLst>
                    <a:ext uri="{9D8B030D-6E8A-4147-A177-3AD203B41FA5}">
                      <a16:colId xmlns:a16="http://schemas.microsoft.com/office/drawing/2014/main" val="248986271"/>
                    </a:ext>
                  </a:extLst>
                </a:gridCol>
                <a:gridCol w="2999232">
                  <a:extLst>
                    <a:ext uri="{9D8B030D-6E8A-4147-A177-3AD203B41FA5}">
                      <a16:colId xmlns:a16="http://schemas.microsoft.com/office/drawing/2014/main" val="3970576752"/>
                    </a:ext>
                  </a:extLst>
                </a:gridCol>
                <a:gridCol w="3081528">
                  <a:extLst>
                    <a:ext uri="{9D8B030D-6E8A-4147-A177-3AD203B41FA5}">
                      <a16:colId xmlns:a16="http://schemas.microsoft.com/office/drawing/2014/main" val="1081077394"/>
                    </a:ext>
                  </a:extLst>
                </a:gridCol>
              </a:tblGrid>
              <a:tr h="142704">
                <a:tc>
                  <a:txBody>
                    <a:bodyPr/>
                    <a:lstStyle/>
                    <a:p>
                      <a:pPr algn="ctr"/>
                      <a:r>
                        <a:rPr lang="en-US" sz="1000" b="1" u="sng" dirty="0"/>
                        <a:t>Aspect</a:t>
                      </a:r>
                      <a:endParaRPr lang="en-US" sz="1000" u="sng" dirty="0"/>
                    </a:p>
                  </a:txBody>
                  <a:tcPr marL="17518" marR="17518" marT="8759" marB="8759" anchor="ctr">
                    <a:lnL>
                      <a:noFill/>
                    </a:lnL>
                    <a:lnR>
                      <a:noFill/>
                    </a:lnR>
                    <a:lnT>
                      <a:noFill/>
                    </a:lnT>
                    <a:lnB>
                      <a:noFill/>
                    </a:lnB>
                    <a:noFill/>
                  </a:tcPr>
                </a:tc>
                <a:tc>
                  <a:txBody>
                    <a:bodyPr/>
                    <a:lstStyle/>
                    <a:p>
                      <a:pPr algn="ctr"/>
                      <a:r>
                        <a:rPr lang="en-US" sz="1000" b="1" u="sng" dirty="0"/>
                        <a:t>Traditional Fine-Tuning</a:t>
                      </a:r>
                      <a:endParaRPr lang="en-US" sz="1000" u="sng" dirty="0"/>
                    </a:p>
                  </a:txBody>
                  <a:tcPr marL="17518" marR="17518" marT="8759" marB="8759" anchor="ctr">
                    <a:lnL>
                      <a:noFill/>
                    </a:lnL>
                    <a:lnR>
                      <a:noFill/>
                    </a:lnR>
                    <a:lnT>
                      <a:noFill/>
                    </a:lnT>
                    <a:lnB>
                      <a:noFill/>
                    </a:lnB>
                    <a:noFill/>
                  </a:tcPr>
                </a:tc>
                <a:tc>
                  <a:txBody>
                    <a:bodyPr/>
                    <a:lstStyle/>
                    <a:p>
                      <a:pPr algn="ctr"/>
                      <a:r>
                        <a:rPr lang="en-US" sz="1000" b="1" u="sng" dirty="0"/>
                        <a:t>Instruction Tuning</a:t>
                      </a:r>
                      <a:endParaRPr lang="en-US" sz="1000" u="sng" dirty="0"/>
                    </a:p>
                  </a:txBody>
                  <a:tcPr marL="17518" marR="17518" marT="8759" marB="8759" anchor="ctr">
                    <a:lnL>
                      <a:noFill/>
                    </a:lnL>
                    <a:lnR>
                      <a:noFill/>
                    </a:lnR>
                    <a:lnT>
                      <a:noFill/>
                    </a:lnT>
                    <a:lnB>
                      <a:noFill/>
                    </a:lnB>
                    <a:noFill/>
                  </a:tcPr>
                </a:tc>
                <a:tc>
                  <a:txBody>
                    <a:bodyPr/>
                    <a:lstStyle/>
                    <a:p>
                      <a:pPr algn="ctr"/>
                      <a:r>
                        <a:rPr lang="en-US" sz="1000" b="1" u="sng" dirty="0"/>
                        <a:t>Hybrid Approach</a:t>
                      </a:r>
                      <a:endParaRPr lang="en-US" sz="1000" u="sng" dirty="0"/>
                    </a:p>
                  </a:txBody>
                  <a:tcPr marL="17518" marR="17518" marT="8759" marB="8759" anchor="ctr">
                    <a:lnL>
                      <a:noFill/>
                    </a:lnL>
                    <a:lnR>
                      <a:noFill/>
                    </a:lnR>
                    <a:lnT>
                      <a:noFill/>
                    </a:lnT>
                    <a:lnB>
                      <a:noFill/>
                    </a:lnB>
                    <a:noFill/>
                  </a:tcPr>
                </a:tc>
                <a:extLst>
                  <a:ext uri="{0D108BD9-81ED-4DB2-BD59-A6C34878D82A}">
                    <a16:rowId xmlns:a16="http://schemas.microsoft.com/office/drawing/2014/main" val="3957860638"/>
                  </a:ext>
                </a:extLst>
              </a:tr>
              <a:tr h="530152">
                <a:tc>
                  <a:txBody>
                    <a:bodyPr/>
                    <a:lstStyle/>
                    <a:p>
                      <a:r>
                        <a:rPr lang="en-US" sz="800" b="1" dirty="0"/>
                        <a:t>Description</a:t>
                      </a:r>
                      <a:endParaRPr lang="en-US" sz="800" dirty="0"/>
                    </a:p>
                  </a:txBody>
                  <a:tcPr marL="17518" marR="17518" marT="8759" marB="8759" anchor="ctr">
                    <a:lnL>
                      <a:noFill/>
                    </a:lnL>
                    <a:lnR>
                      <a:noFill/>
                    </a:lnR>
                    <a:lnT>
                      <a:noFill/>
                    </a:lnT>
                    <a:lnB>
                      <a:noFill/>
                    </a:lnB>
                    <a:noFill/>
                  </a:tcPr>
                </a:tc>
                <a:tc>
                  <a:txBody>
                    <a:bodyPr/>
                    <a:lstStyle/>
                    <a:p>
                      <a:r>
                        <a:rPr lang="en-US" sz="800" dirty="0"/>
                        <a:t>Adapting a general-purpose model to cybersecurity by updating weights on a large unlabeled/labeled </a:t>
                      </a:r>
                      <a:r>
                        <a:rPr lang="en-US" sz="800" b="1" dirty="0"/>
                        <a:t>domain corpus</a:t>
                      </a:r>
                      <a:endParaRPr lang="en-US" sz="800" dirty="0"/>
                    </a:p>
                  </a:txBody>
                  <a:tcPr marL="17518" marR="17518" marT="8759" marB="8759" anchor="ctr">
                    <a:lnL>
                      <a:noFill/>
                    </a:lnL>
                    <a:lnR>
                      <a:noFill/>
                    </a:lnR>
                    <a:lnT>
                      <a:noFill/>
                    </a:lnT>
                    <a:lnB>
                      <a:noFill/>
                    </a:lnB>
                    <a:noFill/>
                  </a:tcPr>
                </a:tc>
                <a:tc>
                  <a:txBody>
                    <a:bodyPr/>
                    <a:lstStyle/>
                    <a:p>
                      <a:r>
                        <a:rPr lang="en-US" sz="800" dirty="0"/>
                        <a:t>Adapting a model to follow </a:t>
                      </a:r>
                      <a:r>
                        <a:rPr lang="en-US" sz="800" b="1" dirty="0"/>
                        <a:t>explicit instructions</a:t>
                      </a:r>
                      <a:r>
                        <a:rPr lang="en-US" sz="800" dirty="0"/>
                        <a:t> in natural language format across various cybersecurity tasks</a:t>
                      </a:r>
                    </a:p>
                  </a:txBody>
                  <a:tcPr marL="17518" marR="17518" marT="8759" marB="8759" anchor="ctr">
                    <a:lnL>
                      <a:noFill/>
                    </a:lnL>
                    <a:lnR>
                      <a:noFill/>
                    </a:lnR>
                    <a:lnT>
                      <a:noFill/>
                    </a:lnT>
                    <a:lnB>
                      <a:noFill/>
                    </a:lnB>
                    <a:noFill/>
                  </a:tcPr>
                </a:tc>
                <a:tc>
                  <a:txBody>
                    <a:bodyPr/>
                    <a:lstStyle/>
                    <a:p>
                      <a:r>
                        <a:rPr lang="en-US" sz="800" dirty="0"/>
                        <a:t>Combines traditional fine-tuning on a domain corpus followed by instruction tuning or integrates both into a single multi-objective training setup</a:t>
                      </a:r>
                    </a:p>
                  </a:txBody>
                  <a:tcPr marL="17518" marR="17518" marT="8759" marB="8759" anchor="ctr">
                    <a:lnL>
                      <a:noFill/>
                    </a:lnL>
                    <a:lnR>
                      <a:noFill/>
                    </a:lnR>
                    <a:lnT>
                      <a:noFill/>
                    </a:lnT>
                    <a:lnB>
                      <a:noFill/>
                    </a:lnB>
                    <a:noFill/>
                  </a:tcPr>
                </a:tc>
                <a:extLst>
                  <a:ext uri="{0D108BD9-81ED-4DB2-BD59-A6C34878D82A}">
                    <a16:rowId xmlns:a16="http://schemas.microsoft.com/office/drawing/2014/main" val="4135964506"/>
                  </a:ext>
                </a:extLst>
              </a:tr>
              <a:tr h="392255">
                <a:tc>
                  <a:txBody>
                    <a:bodyPr/>
                    <a:lstStyle/>
                    <a:p>
                      <a:r>
                        <a:rPr lang="en-US" sz="800" b="1"/>
                        <a:t>Input Format</a:t>
                      </a:r>
                      <a:endParaRPr lang="en-US" sz="800"/>
                    </a:p>
                  </a:txBody>
                  <a:tcPr marL="17518" marR="17518" marT="8759" marB="8759" anchor="ctr">
                    <a:lnL>
                      <a:noFill/>
                    </a:lnL>
                    <a:lnR>
                      <a:noFill/>
                    </a:lnR>
                    <a:lnT>
                      <a:noFill/>
                    </a:lnT>
                    <a:lnB>
                      <a:noFill/>
                    </a:lnB>
                    <a:noFill/>
                  </a:tcPr>
                </a:tc>
                <a:tc>
                  <a:txBody>
                    <a:bodyPr/>
                    <a:lstStyle/>
                    <a:p>
                      <a:r>
                        <a:rPr lang="en-US" sz="800" dirty="0"/>
                        <a:t>Raw cybersecurity texts (blogs, CVEs, advisories)</a:t>
                      </a:r>
                    </a:p>
                  </a:txBody>
                  <a:tcPr marL="17518" marR="17518" marT="8759" marB="8759" anchor="ctr">
                    <a:lnL>
                      <a:noFill/>
                    </a:lnL>
                    <a:lnR>
                      <a:noFill/>
                    </a:lnR>
                    <a:lnT>
                      <a:noFill/>
                    </a:lnT>
                    <a:lnB>
                      <a:noFill/>
                    </a:lnB>
                    <a:noFill/>
                  </a:tcPr>
                </a:tc>
                <a:tc>
                  <a:txBody>
                    <a:bodyPr/>
                    <a:lstStyle/>
                    <a:p>
                      <a:r>
                        <a:rPr lang="en-US" sz="800" dirty="0"/>
                        <a:t>Tuples like </a:t>
                      </a:r>
                      <a:r>
                        <a:rPr lang="en-US" sz="800" i="1" dirty="0"/>
                        <a:t>(“Map this CVE to MITRE ATT&amp;CK”, CVE text → expected answer)</a:t>
                      </a:r>
                      <a:endParaRPr lang="en-US" sz="800" dirty="0"/>
                    </a:p>
                  </a:txBody>
                  <a:tcPr marL="17518" marR="17518" marT="8759" marB="8759" anchor="ctr">
                    <a:lnL>
                      <a:noFill/>
                    </a:lnL>
                    <a:lnR>
                      <a:noFill/>
                    </a:lnR>
                    <a:lnT>
                      <a:noFill/>
                    </a:lnT>
                    <a:lnB>
                      <a:noFill/>
                    </a:lnB>
                    <a:noFill/>
                  </a:tcPr>
                </a:tc>
                <a:tc>
                  <a:txBody>
                    <a:bodyPr/>
                    <a:lstStyle/>
                    <a:p>
                      <a:r>
                        <a:rPr lang="en-US" sz="800"/>
                        <a:t>First: domain texts → corpus adaptation; then: curated instructions → multi-task generalization</a:t>
                      </a:r>
                    </a:p>
                  </a:txBody>
                  <a:tcPr marL="17518" marR="17518" marT="8759" marB="8759" anchor="ctr">
                    <a:lnL>
                      <a:noFill/>
                    </a:lnL>
                    <a:lnR>
                      <a:noFill/>
                    </a:lnR>
                    <a:lnT>
                      <a:noFill/>
                    </a:lnT>
                    <a:lnB>
                      <a:noFill/>
                    </a:lnB>
                    <a:noFill/>
                  </a:tcPr>
                </a:tc>
                <a:extLst>
                  <a:ext uri="{0D108BD9-81ED-4DB2-BD59-A6C34878D82A}">
                    <a16:rowId xmlns:a16="http://schemas.microsoft.com/office/drawing/2014/main" val="2056661077"/>
                  </a:ext>
                </a:extLst>
              </a:tr>
              <a:tr h="517031">
                <a:tc>
                  <a:txBody>
                    <a:bodyPr/>
                    <a:lstStyle/>
                    <a:p>
                      <a:r>
                        <a:rPr lang="en-US" sz="800" b="1"/>
                        <a:t>Training Objective</a:t>
                      </a:r>
                      <a:endParaRPr lang="en-US" sz="800"/>
                    </a:p>
                  </a:txBody>
                  <a:tcPr marL="17518" marR="17518" marT="8759" marB="8759" anchor="ctr">
                    <a:lnL>
                      <a:noFill/>
                    </a:lnL>
                    <a:lnR>
                      <a:noFill/>
                    </a:lnR>
                    <a:lnT>
                      <a:noFill/>
                    </a:lnT>
                    <a:lnB>
                      <a:noFill/>
                    </a:lnB>
                    <a:noFill/>
                  </a:tcPr>
                </a:tc>
                <a:tc>
                  <a:txBody>
                    <a:bodyPr/>
                    <a:lstStyle/>
                    <a:p>
                      <a:r>
                        <a:rPr lang="en-US" sz="800" dirty="0"/>
                        <a:t>Masked Language Modeling (MLM) or Causal Language Modeling (CLM); optionally with classification/regression heads</a:t>
                      </a:r>
                    </a:p>
                  </a:txBody>
                  <a:tcPr marL="17518" marR="17518" marT="8759" marB="8759" anchor="ctr">
                    <a:lnL>
                      <a:noFill/>
                    </a:lnL>
                    <a:lnR>
                      <a:noFill/>
                    </a:lnR>
                    <a:lnT>
                      <a:noFill/>
                    </a:lnT>
                    <a:lnB>
                      <a:noFill/>
                    </a:lnB>
                    <a:noFill/>
                  </a:tcPr>
                </a:tc>
                <a:tc>
                  <a:txBody>
                    <a:bodyPr/>
                    <a:lstStyle/>
                    <a:p>
                      <a:r>
                        <a:rPr lang="en-US" sz="800" dirty="0"/>
                        <a:t>Supervised generation / classification using cross-entropy loss</a:t>
                      </a:r>
                    </a:p>
                  </a:txBody>
                  <a:tcPr marL="17518" marR="17518" marT="8759" marB="8759" anchor="ctr">
                    <a:lnL>
                      <a:noFill/>
                    </a:lnL>
                    <a:lnR>
                      <a:noFill/>
                    </a:lnR>
                    <a:lnT>
                      <a:noFill/>
                    </a:lnT>
                    <a:lnB>
                      <a:noFill/>
                    </a:lnB>
                    <a:noFill/>
                  </a:tcPr>
                </a:tc>
                <a:tc>
                  <a:txBody>
                    <a:bodyPr/>
                    <a:lstStyle/>
                    <a:p>
                      <a:r>
                        <a:rPr lang="en-US" sz="800"/>
                        <a:t>Pretrain or adapt with MLM, then instruction tune; or mix the objectives (e.g., multi-task loss)</a:t>
                      </a:r>
                    </a:p>
                  </a:txBody>
                  <a:tcPr marL="17518" marR="17518" marT="8759" marB="8759" anchor="ctr">
                    <a:lnL>
                      <a:noFill/>
                    </a:lnL>
                    <a:lnR>
                      <a:noFill/>
                    </a:lnR>
                    <a:lnT>
                      <a:noFill/>
                    </a:lnT>
                    <a:lnB>
                      <a:noFill/>
                    </a:lnB>
                    <a:noFill/>
                  </a:tcPr>
                </a:tc>
                <a:extLst>
                  <a:ext uri="{0D108BD9-81ED-4DB2-BD59-A6C34878D82A}">
                    <a16:rowId xmlns:a16="http://schemas.microsoft.com/office/drawing/2014/main" val="2781085707"/>
                  </a:ext>
                </a:extLst>
              </a:tr>
              <a:tr h="517031">
                <a:tc>
                  <a:txBody>
                    <a:bodyPr/>
                    <a:lstStyle/>
                    <a:p>
                      <a:r>
                        <a:rPr lang="en-US" sz="800" b="1"/>
                        <a:t>Best For</a:t>
                      </a:r>
                      <a:endParaRPr lang="en-US" sz="800"/>
                    </a:p>
                  </a:txBody>
                  <a:tcPr marL="17518" marR="17518" marT="8759" marB="8759" anchor="ctr">
                    <a:lnL>
                      <a:noFill/>
                    </a:lnL>
                    <a:lnR>
                      <a:noFill/>
                    </a:lnR>
                    <a:lnT>
                      <a:noFill/>
                    </a:lnT>
                    <a:lnB>
                      <a:noFill/>
                    </a:lnB>
                    <a:noFill/>
                  </a:tcPr>
                </a:tc>
                <a:tc>
                  <a:txBody>
                    <a:bodyPr/>
                    <a:lstStyle/>
                    <a:p>
                      <a:r>
                        <a:rPr lang="en-US" sz="800"/>
                        <a:t>Embedding learning, classification, entity recognition, internalizing domain-specific syntax and jargon</a:t>
                      </a:r>
                    </a:p>
                  </a:txBody>
                  <a:tcPr marL="17518" marR="17518" marT="8759" marB="8759" anchor="ctr">
                    <a:lnL>
                      <a:noFill/>
                    </a:lnL>
                    <a:lnR>
                      <a:noFill/>
                    </a:lnR>
                    <a:lnT>
                      <a:noFill/>
                    </a:lnT>
                    <a:lnB>
                      <a:noFill/>
                    </a:lnB>
                    <a:noFill/>
                  </a:tcPr>
                </a:tc>
                <a:tc>
                  <a:txBody>
                    <a:bodyPr/>
                    <a:lstStyle/>
                    <a:p>
                      <a:r>
                        <a:rPr lang="en-US" sz="800" dirty="0"/>
                        <a:t>Multi-turn reasoning, question-answering, structured task execution (e.g., IOC extraction, root cause summarization)</a:t>
                      </a:r>
                    </a:p>
                  </a:txBody>
                  <a:tcPr marL="17518" marR="17518" marT="8759" marB="8759" anchor="ctr">
                    <a:lnL>
                      <a:noFill/>
                    </a:lnL>
                    <a:lnR>
                      <a:noFill/>
                    </a:lnR>
                    <a:lnT>
                      <a:noFill/>
                    </a:lnT>
                    <a:lnB>
                      <a:noFill/>
                    </a:lnB>
                    <a:noFill/>
                  </a:tcPr>
                </a:tc>
                <a:tc>
                  <a:txBody>
                    <a:bodyPr/>
                    <a:lstStyle/>
                    <a:p>
                      <a:r>
                        <a:rPr lang="en-US" sz="800"/>
                        <a:t>Use cases needing both strong domain understanding and complex task following (e.g., SOC assistant, security triage)</a:t>
                      </a:r>
                    </a:p>
                  </a:txBody>
                  <a:tcPr marL="17518" marR="17518" marT="8759" marB="8759" anchor="ctr">
                    <a:lnL>
                      <a:noFill/>
                    </a:lnL>
                    <a:lnR>
                      <a:noFill/>
                    </a:lnR>
                    <a:lnT>
                      <a:noFill/>
                    </a:lnT>
                    <a:lnB>
                      <a:noFill/>
                    </a:lnB>
                    <a:noFill/>
                  </a:tcPr>
                </a:tc>
                <a:extLst>
                  <a:ext uri="{0D108BD9-81ED-4DB2-BD59-A6C34878D82A}">
                    <a16:rowId xmlns:a16="http://schemas.microsoft.com/office/drawing/2014/main" val="3207201404"/>
                  </a:ext>
                </a:extLst>
              </a:tr>
              <a:tr h="517031">
                <a:tc>
                  <a:txBody>
                    <a:bodyPr/>
                    <a:lstStyle/>
                    <a:p>
                      <a:r>
                        <a:rPr lang="en-US" sz="800" b="1"/>
                        <a:t>Sample Cyber LLMs</a:t>
                      </a:r>
                      <a:endParaRPr lang="en-US" sz="800"/>
                    </a:p>
                  </a:txBody>
                  <a:tcPr marL="17518" marR="17518" marT="8759" marB="8759" anchor="ctr">
                    <a:lnL>
                      <a:noFill/>
                    </a:lnL>
                    <a:lnR>
                      <a:noFill/>
                    </a:lnR>
                    <a:lnT>
                      <a:noFill/>
                    </a:lnT>
                    <a:lnB>
                      <a:noFill/>
                    </a:lnB>
                    <a:noFill/>
                  </a:tcPr>
                </a:tc>
                <a:tc>
                  <a:txBody>
                    <a:bodyPr/>
                    <a:lstStyle/>
                    <a:p>
                      <a:r>
                        <a:rPr lang="en-US" sz="800"/>
                        <a:t>• CTI-BERT (IBM)</a:t>
                      </a:r>
                      <a:br>
                        <a:rPr lang="en-US" sz="800"/>
                      </a:br>
                      <a:r>
                        <a:rPr lang="en-US" sz="800"/>
                        <a:t>• SecureBERT (UNC)</a:t>
                      </a:r>
                      <a:br>
                        <a:rPr lang="en-US" sz="800"/>
                      </a:br>
                      <a:r>
                        <a:rPr lang="en-US" sz="800"/>
                        <a:t>• SecBERT (jackaduma)</a:t>
                      </a:r>
                      <a:br>
                        <a:rPr lang="en-US" sz="800"/>
                      </a:br>
                      <a:r>
                        <a:rPr lang="en-US" sz="800"/>
                        <a:t>• SecurityBERT (IoT)</a:t>
                      </a:r>
                    </a:p>
                  </a:txBody>
                  <a:tcPr marL="17518" marR="17518" marT="8759" marB="8759" anchor="ctr">
                    <a:lnL>
                      <a:noFill/>
                    </a:lnL>
                    <a:lnR>
                      <a:noFill/>
                    </a:lnR>
                    <a:lnT>
                      <a:noFill/>
                    </a:lnT>
                    <a:lnB>
                      <a:noFill/>
                    </a:lnB>
                    <a:noFill/>
                  </a:tcPr>
                </a:tc>
                <a:tc>
                  <a:txBody>
                    <a:bodyPr/>
                    <a:lstStyle/>
                    <a:p>
                      <a:r>
                        <a:rPr lang="en-US" sz="800" dirty="0"/>
                        <a:t>• CyberPal.AI</a:t>
                      </a:r>
                      <a:br>
                        <a:rPr lang="en-US" sz="800" dirty="0"/>
                      </a:br>
                      <a:r>
                        <a:rPr lang="en-US" sz="800" dirty="0"/>
                        <a:t>• Llama-Primus</a:t>
                      </a:r>
                      <a:br>
                        <a:rPr lang="en-US" sz="800" dirty="0"/>
                      </a:br>
                      <a:r>
                        <a:rPr lang="en-US" sz="800" dirty="0"/>
                        <a:t>• </a:t>
                      </a:r>
                      <a:r>
                        <a:rPr lang="en-US" sz="800" dirty="0" err="1"/>
                        <a:t>SecurityLLM</a:t>
                      </a:r>
                      <a:br>
                        <a:rPr lang="en-US" sz="800" dirty="0"/>
                      </a:br>
                      <a:r>
                        <a:rPr lang="en-US" sz="800" dirty="0"/>
                        <a:t>• Sec-Gemini v1 (RAG + instruction)</a:t>
                      </a:r>
                    </a:p>
                  </a:txBody>
                  <a:tcPr marL="17518" marR="17518" marT="8759" marB="8759" anchor="ctr">
                    <a:lnL>
                      <a:noFill/>
                    </a:lnL>
                    <a:lnR>
                      <a:noFill/>
                    </a:lnR>
                    <a:lnT>
                      <a:noFill/>
                    </a:lnT>
                    <a:lnB>
                      <a:noFill/>
                    </a:lnB>
                    <a:noFill/>
                  </a:tcPr>
                </a:tc>
                <a:tc>
                  <a:txBody>
                    <a:bodyPr/>
                    <a:lstStyle/>
                    <a:p>
                      <a:r>
                        <a:rPr lang="en-US" sz="800"/>
                        <a:t>• Llama-Primus (base → merged)</a:t>
                      </a:r>
                      <a:br>
                        <a:rPr lang="en-US" sz="800"/>
                      </a:br>
                      <a:r>
                        <a:rPr lang="en-US" sz="800"/>
                        <a:t>• CTI-BERT + instruction adapters</a:t>
                      </a:r>
                      <a:br>
                        <a:rPr lang="en-US" sz="800"/>
                      </a:br>
                      <a:r>
                        <a:rPr lang="en-US" sz="800"/>
                        <a:t>• CyberPal.AI w/ SecKnowledge → SecKnowledge-Eval loop</a:t>
                      </a:r>
                    </a:p>
                  </a:txBody>
                  <a:tcPr marL="17518" marR="17518" marT="8759" marB="8759" anchor="ctr">
                    <a:lnL>
                      <a:noFill/>
                    </a:lnL>
                    <a:lnR>
                      <a:noFill/>
                    </a:lnR>
                    <a:lnT>
                      <a:noFill/>
                    </a:lnT>
                    <a:lnB>
                      <a:noFill/>
                    </a:lnB>
                    <a:noFill/>
                  </a:tcPr>
                </a:tc>
                <a:extLst>
                  <a:ext uri="{0D108BD9-81ED-4DB2-BD59-A6C34878D82A}">
                    <a16:rowId xmlns:a16="http://schemas.microsoft.com/office/drawing/2014/main" val="1604537984"/>
                  </a:ext>
                </a:extLst>
              </a:tr>
              <a:tr h="641806">
                <a:tc>
                  <a:txBody>
                    <a:bodyPr/>
                    <a:lstStyle/>
                    <a:p>
                      <a:r>
                        <a:rPr lang="en-US" sz="800" b="1"/>
                        <a:t>Strengths</a:t>
                      </a:r>
                      <a:endParaRPr lang="en-US" sz="800"/>
                    </a:p>
                  </a:txBody>
                  <a:tcPr marL="17518" marR="17518" marT="8759" marB="8759" anchor="ctr">
                    <a:lnL>
                      <a:noFill/>
                    </a:lnL>
                    <a:lnR>
                      <a:noFill/>
                    </a:lnR>
                    <a:lnT>
                      <a:noFill/>
                    </a:lnT>
                    <a:lnB>
                      <a:noFill/>
                    </a:lnB>
                    <a:noFill/>
                  </a:tcPr>
                </a:tc>
                <a:tc>
                  <a:txBody>
                    <a:bodyPr/>
                    <a:lstStyle/>
                    <a:p>
                      <a:r>
                        <a:rPr lang="en-US" sz="800"/>
                        <a:t>✔ Captures nuanced cybersecurity terminology</a:t>
                      </a:r>
                      <a:br>
                        <a:rPr lang="en-US" sz="800"/>
                      </a:br>
                      <a:r>
                        <a:rPr lang="en-US" sz="800"/>
                        <a:t>✔ Improves base model for domain-specific NLP tasks</a:t>
                      </a:r>
                    </a:p>
                  </a:txBody>
                  <a:tcPr marL="17518" marR="17518" marT="8759" marB="8759" anchor="ctr">
                    <a:lnL>
                      <a:noFill/>
                    </a:lnL>
                    <a:lnR>
                      <a:noFill/>
                    </a:lnR>
                    <a:lnT>
                      <a:noFill/>
                    </a:lnT>
                    <a:lnB>
                      <a:noFill/>
                    </a:lnB>
                    <a:noFill/>
                  </a:tcPr>
                </a:tc>
                <a:tc>
                  <a:txBody>
                    <a:bodyPr/>
                    <a:lstStyle/>
                    <a:p>
                      <a:r>
                        <a:rPr lang="en-US" sz="800" dirty="0"/>
                        <a:t>✔ Generalizes across task types</a:t>
                      </a:r>
                      <a:br>
                        <a:rPr lang="en-US" sz="800" dirty="0"/>
                      </a:br>
                      <a:r>
                        <a:rPr lang="en-US" sz="800" dirty="0"/>
                        <a:t>✔ Interpretable and human-aligned</a:t>
                      </a:r>
                      <a:br>
                        <a:rPr lang="en-US" sz="800" dirty="0"/>
                      </a:br>
                      <a:r>
                        <a:rPr lang="en-US" sz="800" dirty="0"/>
                        <a:t>✔ Easier downstream zero-shot/few-shot use</a:t>
                      </a:r>
                    </a:p>
                  </a:txBody>
                  <a:tcPr marL="17518" marR="17518" marT="8759" marB="8759" anchor="ctr">
                    <a:lnL>
                      <a:noFill/>
                    </a:lnL>
                    <a:lnR>
                      <a:noFill/>
                    </a:lnR>
                    <a:lnT>
                      <a:noFill/>
                    </a:lnT>
                    <a:lnB>
                      <a:noFill/>
                    </a:lnB>
                    <a:noFill/>
                  </a:tcPr>
                </a:tc>
                <a:tc>
                  <a:txBody>
                    <a:bodyPr/>
                    <a:lstStyle/>
                    <a:p>
                      <a:r>
                        <a:rPr lang="en-US" sz="800"/>
                        <a:t>✔ High performance in both static understanding and reasoning</a:t>
                      </a:r>
                      <a:br>
                        <a:rPr lang="en-US" sz="800"/>
                      </a:br>
                      <a:r>
                        <a:rPr lang="en-US" sz="800"/>
                        <a:t>✔ Flexibility across tasks</a:t>
                      </a:r>
                      <a:br>
                        <a:rPr lang="en-US" sz="800"/>
                      </a:br>
                      <a:r>
                        <a:rPr lang="en-US" sz="800"/>
                        <a:t>✔ Lower label dependency if pretrained well</a:t>
                      </a:r>
                    </a:p>
                  </a:txBody>
                  <a:tcPr marL="17518" marR="17518" marT="8759" marB="8759" anchor="ctr">
                    <a:lnL>
                      <a:noFill/>
                    </a:lnL>
                    <a:lnR>
                      <a:noFill/>
                    </a:lnR>
                    <a:lnT>
                      <a:noFill/>
                    </a:lnT>
                    <a:lnB>
                      <a:noFill/>
                    </a:lnB>
                    <a:noFill/>
                  </a:tcPr>
                </a:tc>
                <a:extLst>
                  <a:ext uri="{0D108BD9-81ED-4DB2-BD59-A6C34878D82A}">
                    <a16:rowId xmlns:a16="http://schemas.microsoft.com/office/drawing/2014/main" val="3400912747"/>
                  </a:ext>
                </a:extLst>
              </a:tr>
              <a:tr h="517031">
                <a:tc>
                  <a:txBody>
                    <a:bodyPr/>
                    <a:lstStyle/>
                    <a:p>
                      <a:r>
                        <a:rPr lang="en-US" sz="800" b="1"/>
                        <a:t>Weaknesses</a:t>
                      </a:r>
                      <a:endParaRPr lang="en-US" sz="800"/>
                    </a:p>
                  </a:txBody>
                  <a:tcPr marL="17518" marR="17518" marT="8759" marB="8759" anchor="ctr">
                    <a:lnL>
                      <a:noFill/>
                    </a:lnL>
                    <a:lnR>
                      <a:noFill/>
                    </a:lnR>
                    <a:lnT>
                      <a:noFill/>
                    </a:lnT>
                    <a:lnB>
                      <a:noFill/>
                    </a:lnB>
                    <a:noFill/>
                  </a:tcPr>
                </a:tc>
                <a:tc>
                  <a:txBody>
                    <a:bodyPr/>
                    <a:lstStyle/>
                    <a:p>
                      <a:r>
                        <a:rPr lang="en-US" sz="800"/>
                        <a:t>✖ May not generalize well to unfamiliar task formats</a:t>
                      </a:r>
                      <a:br>
                        <a:rPr lang="en-US" sz="800"/>
                      </a:br>
                      <a:r>
                        <a:rPr lang="en-US" sz="800"/>
                        <a:t>✖ Doesn’t teach “task framing”</a:t>
                      </a:r>
                    </a:p>
                  </a:txBody>
                  <a:tcPr marL="17518" marR="17518" marT="8759" marB="8759" anchor="ctr">
                    <a:lnL>
                      <a:noFill/>
                    </a:lnL>
                    <a:lnR>
                      <a:noFill/>
                    </a:lnR>
                    <a:lnT>
                      <a:noFill/>
                    </a:lnT>
                    <a:lnB>
                      <a:noFill/>
                    </a:lnB>
                    <a:noFill/>
                  </a:tcPr>
                </a:tc>
                <a:tc>
                  <a:txBody>
                    <a:bodyPr/>
                    <a:lstStyle/>
                    <a:p>
                      <a:r>
                        <a:rPr lang="en-US" sz="800" dirty="0"/>
                        <a:t>✖ Requires high-quality curated instruction data</a:t>
                      </a:r>
                      <a:br>
                        <a:rPr lang="en-US" sz="800" dirty="0"/>
                      </a:br>
                      <a:r>
                        <a:rPr lang="en-US" sz="800" dirty="0"/>
                        <a:t>✖ May hallucinate if not grounded</a:t>
                      </a:r>
                    </a:p>
                  </a:txBody>
                  <a:tcPr marL="17518" marR="17518" marT="8759" marB="8759" anchor="ctr">
                    <a:lnL>
                      <a:noFill/>
                    </a:lnL>
                    <a:lnR>
                      <a:noFill/>
                    </a:lnR>
                    <a:lnT>
                      <a:noFill/>
                    </a:lnT>
                    <a:lnB>
                      <a:noFill/>
                    </a:lnB>
                    <a:noFill/>
                  </a:tcPr>
                </a:tc>
                <a:tc>
                  <a:txBody>
                    <a:bodyPr/>
                    <a:lstStyle/>
                    <a:p>
                      <a:r>
                        <a:rPr lang="en-US" sz="800"/>
                        <a:t>✖ Expensive and complex training pipeline</a:t>
                      </a:r>
                      <a:br>
                        <a:rPr lang="en-US" sz="800"/>
                      </a:br>
                      <a:r>
                        <a:rPr lang="en-US" sz="800"/>
                        <a:t>✖ Risk of forgetting if improperly scheduled</a:t>
                      </a:r>
                    </a:p>
                  </a:txBody>
                  <a:tcPr marL="17518" marR="17518" marT="8759" marB="8759" anchor="ctr">
                    <a:lnL>
                      <a:noFill/>
                    </a:lnL>
                    <a:lnR>
                      <a:noFill/>
                    </a:lnR>
                    <a:lnT>
                      <a:noFill/>
                    </a:lnT>
                    <a:lnB>
                      <a:noFill/>
                    </a:lnB>
                    <a:noFill/>
                  </a:tcPr>
                </a:tc>
                <a:extLst>
                  <a:ext uri="{0D108BD9-81ED-4DB2-BD59-A6C34878D82A}">
                    <a16:rowId xmlns:a16="http://schemas.microsoft.com/office/drawing/2014/main" val="1892720816"/>
                  </a:ext>
                </a:extLst>
              </a:tr>
              <a:tr h="766582">
                <a:tc>
                  <a:txBody>
                    <a:bodyPr/>
                    <a:lstStyle/>
                    <a:p>
                      <a:r>
                        <a:rPr lang="en-US" sz="800" b="1"/>
                        <a:t>Compute Requirements</a:t>
                      </a:r>
                      <a:endParaRPr lang="en-US" sz="800"/>
                    </a:p>
                  </a:txBody>
                  <a:tcPr marL="17518" marR="17518" marT="8759" marB="8759" anchor="ctr">
                    <a:lnL>
                      <a:noFill/>
                    </a:lnL>
                    <a:lnR>
                      <a:noFill/>
                    </a:lnR>
                    <a:lnT>
                      <a:noFill/>
                    </a:lnT>
                    <a:lnB>
                      <a:noFill/>
                    </a:lnB>
                    <a:noFill/>
                  </a:tcPr>
                </a:tc>
                <a:tc>
                  <a:txBody>
                    <a:bodyPr/>
                    <a:lstStyle/>
                    <a:p>
                      <a:r>
                        <a:rPr lang="en-US" sz="800"/>
                        <a:t>• Requires </a:t>
                      </a:r>
                      <a:r>
                        <a:rPr lang="en-US" sz="800" b="1"/>
                        <a:t>moderate GPU resources</a:t>
                      </a:r>
                      <a:r>
                        <a:rPr lang="en-US" sz="800"/>
                        <a:t> for continual pretraining (e.g., 8x A100 for 100M tokens)</a:t>
                      </a:r>
                      <a:br>
                        <a:rPr lang="en-US" sz="800"/>
                      </a:br>
                      <a:r>
                        <a:rPr lang="en-US" sz="800"/>
                        <a:t>• Good fit for distributed training</a:t>
                      </a:r>
                    </a:p>
                  </a:txBody>
                  <a:tcPr marL="17518" marR="17518" marT="8759" marB="8759" anchor="ctr">
                    <a:lnL>
                      <a:noFill/>
                    </a:lnL>
                    <a:lnR>
                      <a:noFill/>
                    </a:lnR>
                    <a:lnT>
                      <a:noFill/>
                    </a:lnT>
                    <a:lnB>
                      <a:noFill/>
                    </a:lnB>
                    <a:noFill/>
                  </a:tcPr>
                </a:tc>
                <a:tc>
                  <a:txBody>
                    <a:bodyPr/>
                    <a:lstStyle/>
                    <a:p>
                      <a:r>
                        <a:rPr lang="en-US" sz="800" dirty="0"/>
                        <a:t>• Typically </a:t>
                      </a:r>
                      <a:r>
                        <a:rPr lang="en-US" sz="800" b="1" dirty="0"/>
                        <a:t>less data but more curated</a:t>
                      </a:r>
                      <a:r>
                        <a:rPr lang="en-US" sz="800" dirty="0"/>
                        <a:t>, though larger sequence lengths and decoder-based models (e.g., LLaMA, GPT) may demand </a:t>
                      </a:r>
                      <a:r>
                        <a:rPr lang="en-US" sz="800" b="1" dirty="0"/>
                        <a:t>more memory</a:t>
                      </a:r>
                      <a:br>
                        <a:rPr lang="en-US" sz="800" dirty="0"/>
                      </a:br>
                      <a:r>
                        <a:rPr lang="en-US" sz="800" dirty="0"/>
                        <a:t>• 8x A100 for ~20K examples</a:t>
                      </a:r>
                    </a:p>
                  </a:txBody>
                  <a:tcPr marL="17518" marR="17518" marT="8759" marB="8759" anchor="ctr">
                    <a:lnL>
                      <a:noFill/>
                    </a:lnL>
                    <a:lnR>
                      <a:noFill/>
                    </a:lnR>
                    <a:lnT>
                      <a:noFill/>
                    </a:lnT>
                    <a:lnB>
                      <a:noFill/>
                    </a:lnB>
                    <a:noFill/>
                  </a:tcPr>
                </a:tc>
                <a:tc>
                  <a:txBody>
                    <a:bodyPr/>
                    <a:lstStyle/>
                    <a:p>
                      <a:r>
                        <a:rPr lang="en-US" sz="800" dirty="0"/>
                        <a:t>• Highest resource requirement: pretraining on corpus (TPU/8x A100) + instruction finetuning (decoder model, RAG-enabled, ~24GB GPU RAM or more)</a:t>
                      </a:r>
                    </a:p>
                  </a:txBody>
                  <a:tcPr marL="17518" marR="17518" marT="8759" marB="8759" anchor="ctr">
                    <a:lnL>
                      <a:noFill/>
                    </a:lnL>
                    <a:lnR>
                      <a:noFill/>
                    </a:lnR>
                    <a:lnT>
                      <a:noFill/>
                    </a:lnT>
                    <a:lnB>
                      <a:noFill/>
                    </a:lnB>
                    <a:noFill/>
                  </a:tcPr>
                </a:tc>
                <a:extLst>
                  <a:ext uri="{0D108BD9-81ED-4DB2-BD59-A6C34878D82A}">
                    <a16:rowId xmlns:a16="http://schemas.microsoft.com/office/drawing/2014/main" val="3273976678"/>
                  </a:ext>
                </a:extLst>
              </a:tr>
              <a:tr h="392255">
                <a:tc>
                  <a:txBody>
                    <a:bodyPr/>
                    <a:lstStyle/>
                    <a:p>
                      <a:r>
                        <a:rPr lang="en-US" sz="800" b="1"/>
                        <a:t>Parameter Efficient Tuning</a:t>
                      </a:r>
                      <a:endParaRPr lang="en-US" sz="800"/>
                    </a:p>
                  </a:txBody>
                  <a:tcPr marL="17518" marR="17518" marT="8759" marB="8759" anchor="ctr">
                    <a:lnL>
                      <a:noFill/>
                    </a:lnL>
                    <a:lnR>
                      <a:noFill/>
                    </a:lnR>
                    <a:lnT>
                      <a:noFill/>
                    </a:lnT>
                    <a:lnB>
                      <a:noFill/>
                    </a:lnB>
                    <a:noFill/>
                  </a:tcPr>
                </a:tc>
                <a:tc>
                  <a:txBody>
                    <a:bodyPr/>
                    <a:lstStyle/>
                    <a:p>
                      <a:r>
                        <a:rPr lang="en-US" sz="800"/>
                        <a:t>Supported via LoRA, Adapters (sparse updates)</a:t>
                      </a:r>
                    </a:p>
                  </a:txBody>
                  <a:tcPr marL="17518" marR="17518" marT="8759" marB="8759" anchor="ctr">
                    <a:lnL>
                      <a:noFill/>
                    </a:lnL>
                    <a:lnR>
                      <a:noFill/>
                    </a:lnR>
                    <a:lnT>
                      <a:noFill/>
                    </a:lnT>
                    <a:lnB>
                      <a:noFill/>
                    </a:lnB>
                    <a:noFill/>
                  </a:tcPr>
                </a:tc>
                <a:tc>
                  <a:txBody>
                    <a:bodyPr/>
                    <a:lstStyle/>
                    <a:p>
                      <a:r>
                        <a:rPr lang="en-US" sz="800"/>
                        <a:t>Works well with PEFT (e.g., QLoRA, LoRA), especially for instruction-tuning-friendly architectures</a:t>
                      </a:r>
                    </a:p>
                  </a:txBody>
                  <a:tcPr marL="17518" marR="17518" marT="8759" marB="8759" anchor="ctr">
                    <a:lnL>
                      <a:noFill/>
                    </a:lnL>
                    <a:lnR>
                      <a:noFill/>
                    </a:lnR>
                    <a:lnT>
                      <a:noFill/>
                    </a:lnT>
                    <a:lnB>
                      <a:noFill/>
                    </a:lnB>
                    <a:noFill/>
                  </a:tcPr>
                </a:tc>
                <a:tc>
                  <a:txBody>
                    <a:bodyPr/>
                    <a:lstStyle/>
                    <a:p>
                      <a:r>
                        <a:rPr lang="en-US" sz="800" dirty="0"/>
                        <a:t>Common hybrid practice: LoRA for instruction head + frozen backbone or adapter fusion</a:t>
                      </a:r>
                    </a:p>
                  </a:txBody>
                  <a:tcPr marL="17518" marR="17518" marT="8759" marB="8759" anchor="ctr">
                    <a:lnL>
                      <a:noFill/>
                    </a:lnL>
                    <a:lnR>
                      <a:noFill/>
                    </a:lnR>
                    <a:lnT>
                      <a:noFill/>
                    </a:lnT>
                    <a:lnB>
                      <a:noFill/>
                    </a:lnB>
                    <a:noFill/>
                  </a:tcPr>
                </a:tc>
                <a:extLst>
                  <a:ext uri="{0D108BD9-81ED-4DB2-BD59-A6C34878D82A}">
                    <a16:rowId xmlns:a16="http://schemas.microsoft.com/office/drawing/2014/main" val="4088823012"/>
                  </a:ext>
                </a:extLst>
              </a:tr>
              <a:tr h="267480">
                <a:tc>
                  <a:txBody>
                    <a:bodyPr/>
                    <a:lstStyle/>
                    <a:p>
                      <a:r>
                        <a:rPr lang="en-US" sz="800" b="1"/>
                        <a:t>Instruction-Awareness</a:t>
                      </a:r>
                      <a:endParaRPr lang="en-US" sz="800"/>
                    </a:p>
                  </a:txBody>
                  <a:tcPr marL="17518" marR="17518" marT="8759" marB="8759" anchor="ctr">
                    <a:lnL>
                      <a:noFill/>
                    </a:lnL>
                    <a:lnR>
                      <a:noFill/>
                    </a:lnR>
                    <a:lnT>
                      <a:noFill/>
                    </a:lnT>
                    <a:lnB>
                      <a:noFill/>
                    </a:lnB>
                    <a:noFill/>
                  </a:tcPr>
                </a:tc>
                <a:tc>
                  <a:txBody>
                    <a:bodyPr/>
                    <a:lstStyle/>
                    <a:p>
                      <a:r>
                        <a:rPr lang="en-US" sz="800"/>
                        <a:t>❌ Model is unaware of instructions explicitly</a:t>
                      </a:r>
                    </a:p>
                  </a:txBody>
                  <a:tcPr marL="17518" marR="17518" marT="8759" marB="8759" anchor="ctr">
                    <a:lnL>
                      <a:noFill/>
                    </a:lnL>
                    <a:lnR>
                      <a:noFill/>
                    </a:lnR>
                    <a:lnT>
                      <a:noFill/>
                    </a:lnT>
                    <a:lnB>
                      <a:noFill/>
                    </a:lnB>
                    <a:noFill/>
                  </a:tcPr>
                </a:tc>
                <a:tc>
                  <a:txBody>
                    <a:bodyPr/>
                    <a:lstStyle/>
                    <a:p>
                      <a:r>
                        <a:rPr lang="en-US" sz="800"/>
                        <a:t>✅ Instruction-following enabled</a:t>
                      </a:r>
                    </a:p>
                  </a:txBody>
                  <a:tcPr marL="17518" marR="17518" marT="8759" marB="8759" anchor="ctr">
                    <a:lnL>
                      <a:noFill/>
                    </a:lnL>
                    <a:lnR>
                      <a:noFill/>
                    </a:lnR>
                    <a:lnT>
                      <a:noFill/>
                    </a:lnT>
                    <a:lnB>
                      <a:noFill/>
                    </a:lnB>
                    <a:noFill/>
                  </a:tcPr>
                </a:tc>
                <a:tc>
                  <a:txBody>
                    <a:bodyPr/>
                    <a:lstStyle/>
                    <a:p>
                      <a:r>
                        <a:rPr lang="en-US" sz="800" dirty="0"/>
                        <a:t>✅ Instruction-aware + domain-knowledge enriched</a:t>
                      </a:r>
                    </a:p>
                  </a:txBody>
                  <a:tcPr marL="17518" marR="17518" marT="8759" marB="8759" anchor="ctr">
                    <a:lnL>
                      <a:noFill/>
                    </a:lnL>
                    <a:lnR>
                      <a:noFill/>
                    </a:lnR>
                    <a:lnT>
                      <a:noFill/>
                    </a:lnT>
                    <a:lnB>
                      <a:noFill/>
                    </a:lnB>
                    <a:noFill/>
                  </a:tcPr>
                </a:tc>
                <a:extLst>
                  <a:ext uri="{0D108BD9-81ED-4DB2-BD59-A6C34878D82A}">
                    <a16:rowId xmlns:a16="http://schemas.microsoft.com/office/drawing/2014/main" val="2551681595"/>
                  </a:ext>
                </a:extLst>
              </a:tr>
              <a:tr h="392255">
                <a:tc>
                  <a:txBody>
                    <a:bodyPr/>
                    <a:lstStyle/>
                    <a:p>
                      <a:r>
                        <a:rPr lang="en-US" sz="800" b="1"/>
                        <a:t>Fine-Tuning Duration</a:t>
                      </a:r>
                      <a:endParaRPr lang="en-US" sz="800"/>
                    </a:p>
                  </a:txBody>
                  <a:tcPr marL="17518" marR="17518" marT="8759" marB="8759" anchor="ctr">
                    <a:lnL>
                      <a:noFill/>
                    </a:lnL>
                    <a:lnR>
                      <a:noFill/>
                    </a:lnR>
                    <a:lnT>
                      <a:noFill/>
                    </a:lnT>
                    <a:lnB>
                      <a:noFill/>
                    </a:lnB>
                    <a:noFill/>
                  </a:tcPr>
                </a:tc>
                <a:tc>
                  <a:txBody>
                    <a:bodyPr/>
                    <a:lstStyle/>
                    <a:p>
                      <a:r>
                        <a:rPr lang="en-US" sz="800"/>
                        <a:t>Long (10–40 hours for 100M tokens depending on model size)</a:t>
                      </a:r>
                    </a:p>
                  </a:txBody>
                  <a:tcPr marL="17518" marR="17518" marT="8759" marB="8759" anchor="ctr">
                    <a:lnL>
                      <a:noFill/>
                    </a:lnL>
                    <a:lnR>
                      <a:noFill/>
                    </a:lnR>
                    <a:lnT>
                      <a:noFill/>
                    </a:lnT>
                    <a:lnB>
                      <a:noFill/>
                    </a:lnB>
                    <a:noFill/>
                  </a:tcPr>
                </a:tc>
                <a:tc>
                  <a:txBody>
                    <a:bodyPr/>
                    <a:lstStyle/>
                    <a:p>
                      <a:r>
                        <a:rPr lang="en-US" sz="800"/>
                        <a:t>Medium (4–12 hours for 20K–100K examples depending on format)</a:t>
                      </a:r>
                    </a:p>
                  </a:txBody>
                  <a:tcPr marL="17518" marR="17518" marT="8759" marB="8759" anchor="ctr">
                    <a:lnL>
                      <a:noFill/>
                    </a:lnL>
                    <a:lnR>
                      <a:noFill/>
                    </a:lnR>
                    <a:lnT>
                      <a:noFill/>
                    </a:lnT>
                    <a:lnB>
                      <a:noFill/>
                    </a:lnB>
                    <a:noFill/>
                  </a:tcPr>
                </a:tc>
                <a:tc>
                  <a:txBody>
                    <a:bodyPr/>
                    <a:lstStyle/>
                    <a:p>
                      <a:r>
                        <a:rPr lang="en-US" sz="800" dirty="0"/>
                        <a:t>Longest (20–80 hours if running pretrain + instruction + eval loop with RAG)</a:t>
                      </a:r>
                    </a:p>
                  </a:txBody>
                  <a:tcPr marL="17518" marR="17518" marT="8759" marB="8759" anchor="ctr">
                    <a:lnL>
                      <a:noFill/>
                    </a:lnL>
                    <a:lnR>
                      <a:noFill/>
                    </a:lnR>
                    <a:lnT>
                      <a:noFill/>
                    </a:lnT>
                    <a:lnB>
                      <a:noFill/>
                    </a:lnB>
                    <a:noFill/>
                  </a:tcPr>
                </a:tc>
                <a:extLst>
                  <a:ext uri="{0D108BD9-81ED-4DB2-BD59-A6C34878D82A}">
                    <a16:rowId xmlns:a16="http://schemas.microsoft.com/office/drawing/2014/main" val="4145749804"/>
                  </a:ext>
                </a:extLst>
              </a:tr>
            </a:tbl>
          </a:graphicData>
        </a:graphic>
      </p:graphicFrame>
    </p:spTree>
    <p:extLst>
      <p:ext uri="{BB962C8B-B14F-4D97-AF65-F5344CB8AC3E}">
        <p14:creationId xmlns:p14="http://schemas.microsoft.com/office/powerpoint/2010/main" val="303344788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748ED6C1-C6F6-7294-0566-A62CADB29858}"/>
            </a:ext>
          </a:extLst>
        </p:cNvPr>
        <p:cNvGrpSpPr/>
        <p:nvPr/>
      </p:nvGrpSpPr>
      <p:grpSpPr>
        <a:xfrm>
          <a:off x="0" y="0"/>
          <a:ext cx="0" cy="0"/>
          <a:chOff x="0" y="0"/>
          <a:chExt cx="0" cy="0"/>
        </a:xfrm>
      </p:grpSpPr>
      <p:grpSp>
        <p:nvGrpSpPr>
          <p:cNvPr id="8199" name="Group 8198">
            <a:extLst>
              <a:ext uri="{FF2B5EF4-FFF2-40B4-BE49-F238E27FC236}">
                <a16:creationId xmlns:a16="http://schemas.microsoft.com/office/drawing/2014/main" id="{4091D54B-59AB-4A5E-8E9E-0421BD66D4FB}"/>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12192000" cy="6858000"/>
            <a:chOff x="0" y="0"/>
            <a:chExt cx="12192000" cy="6858000"/>
          </a:xfrm>
        </p:grpSpPr>
        <p:sp>
          <p:nvSpPr>
            <p:cNvPr id="8200" name="Rectangle 8199">
              <a:extLst>
                <a:ext uri="{FF2B5EF4-FFF2-40B4-BE49-F238E27FC236}">
                  <a16:creationId xmlns:a16="http://schemas.microsoft.com/office/drawing/2014/main" id="{547CE62E-FFFD-4A1F-BA78-C3B89C36FCA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8201" name="Freeform 5">
              <a:extLst>
                <a:ext uri="{FF2B5EF4-FFF2-40B4-BE49-F238E27FC236}">
                  <a16:creationId xmlns:a16="http://schemas.microsoft.com/office/drawing/2014/main" id="{AE51FD27-6B6A-4D21-BF22-245DA9BD0B3E}"/>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txBody>
            <a:bodyPr/>
            <a:lstStyle/>
            <a:p>
              <a:endParaRPr lang="en-US"/>
            </a:p>
          </p:txBody>
        </p:sp>
      </p:grpSp>
      <p:sp>
        <p:nvSpPr>
          <p:cNvPr id="8203" name="Rectangle 8202">
            <a:extLst>
              <a:ext uri="{FF2B5EF4-FFF2-40B4-BE49-F238E27FC236}">
                <a16:creationId xmlns:a16="http://schemas.microsoft.com/office/drawing/2014/main" id="{B8144315-1C5A-4185-A952-25D98D303D4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 name="Title 1">
            <a:extLst>
              <a:ext uri="{FF2B5EF4-FFF2-40B4-BE49-F238E27FC236}">
                <a16:creationId xmlns:a16="http://schemas.microsoft.com/office/drawing/2014/main" id="{8D87EDC8-628E-91DA-FCE9-B987144CC2A1}"/>
              </a:ext>
            </a:extLst>
          </p:cNvPr>
          <p:cNvSpPr>
            <a:spLocks noGrp="1"/>
          </p:cNvSpPr>
          <p:nvPr>
            <p:ph type="title" idx="4294967295"/>
          </p:nvPr>
        </p:nvSpPr>
        <p:spPr>
          <a:xfrm>
            <a:off x="8382055" y="1241266"/>
            <a:ext cx="3161016" cy="3153753"/>
          </a:xfrm>
        </p:spPr>
        <p:txBody>
          <a:bodyPr vert="horz" lIns="91440" tIns="45720" rIns="91440" bIns="45720" rtlCol="0" anchor="b">
            <a:normAutofit/>
          </a:bodyPr>
          <a:lstStyle/>
          <a:p>
            <a:r>
              <a:rPr lang="en-US" b="0" i="0" kern="1200" dirty="0">
                <a:solidFill>
                  <a:srgbClr val="EBEBEB"/>
                </a:solidFill>
                <a:latin typeface="+mj-lt"/>
                <a:ea typeface="+mj-ea"/>
                <a:cs typeface="+mj-cs"/>
              </a:rPr>
              <a:t>Adapting LLMs for Cyber Security</a:t>
            </a:r>
          </a:p>
        </p:txBody>
      </p:sp>
      <p:grpSp>
        <p:nvGrpSpPr>
          <p:cNvPr id="8205" name="Group 8204">
            <a:extLst>
              <a:ext uri="{FF2B5EF4-FFF2-40B4-BE49-F238E27FC236}">
                <a16:creationId xmlns:a16="http://schemas.microsoft.com/office/drawing/2014/main" id="{25A657F0-42F3-40D3-BC75-7DA1F5C6A225}"/>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23332" y="396837"/>
            <a:ext cx="7906665" cy="6058999"/>
            <a:chOff x="423332" y="396837"/>
            <a:chExt cx="7906665" cy="6058999"/>
          </a:xfrm>
        </p:grpSpPr>
        <p:sp>
          <p:nvSpPr>
            <p:cNvPr id="8206" name="Rectangle 8205">
              <a:extLst>
                <a:ext uri="{FF2B5EF4-FFF2-40B4-BE49-F238E27FC236}">
                  <a16:creationId xmlns:a16="http://schemas.microsoft.com/office/drawing/2014/main" id="{2E94FF68-7A60-47B7-AB98-1674FC7F2D1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gray">
            <a:xfrm flipH="1">
              <a:off x="423332" y="402165"/>
              <a:ext cx="6785133"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8207" name="Freeform 5">
              <a:extLst>
                <a:ext uri="{FF2B5EF4-FFF2-40B4-BE49-F238E27FC236}">
                  <a16:creationId xmlns:a16="http://schemas.microsoft.com/office/drawing/2014/main" id="{42B4F8D7-4E9C-45EF-9072-1AF32CEF710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gray">
            <a:xfrm rot="5400000" flipH="1">
              <a:off x="4616676" y="2801722"/>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txBody>
            <a:bodyPr/>
            <a:lstStyle/>
            <a:p>
              <a:endParaRPr lang="en-US"/>
            </a:p>
          </p:txBody>
        </p:sp>
        <p:sp>
          <p:nvSpPr>
            <p:cNvPr id="8208" name="Freeform 5">
              <a:extLst>
                <a:ext uri="{FF2B5EF4-FFF2-40B4-BE49-F238E27FC236}">
                  <a16:creationId xmlns:a16="http://schemas.microsoft.com/office/drawing/2014/main" id="{3ECBDDDB-593C-40F0-8E80-AA75798EE40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gray">
            <a:xfrm rot="5677511" flipH="1">
              <a:off x="6459831" y="1826079"/>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txBody>
            <a:bodyPr/>
            <a:lstStyle/>
            <a:p>
              <a:endParaRPr lang="en-US"/>
            </a:p>
          </p:txBody>
        </p:sp>
      </p:grpSp>
      <p:pic>
        <p:nvPicPr>
          <p:cNvPr id="8194" name="Picture 2">
            <a:extLst>
              <a:ext uri="{FF2B5EF4-FFF2-40B4-BE49-F238E27FC236}">
                <a16:creationId xmlns:a16="http://schemas.microsoft.com/office/drawing/2014/main" id="{3378FBFE-3928-64AE-0EF7-62E4C5641E2E}"/>
              </a:ext>
            </a:extLst>
          </p:cNvPr>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391250" y="402164"/>
            <a:ext cx="7341876" cy="5341215"/>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AEAB3CBB-224D-7BB7-B82E-9D6267FD5E92}"/>
              </a:ext>
            </a:extLst>
          </p:cNvPr>
          <p:cNvSpPr txBox="1"/>
          <p:nvPr/>
        </p:nvSpPr>
        <p:spPr>
          <a:xfrm>
            <a:off x="125629" y="6056753"/>
            <a:ext cx="7873117" cy="600164"/>
          </a:xfrm>
          <a:prstGeom prst="rect">
            <a:avLst/>
          </a:prstGeom>
          <a:noFill/>
        </p:spPr>
        <p:txBody>
          <a:bodyPr wrap="square" rtlCol="0">
            <a:spAutoFit/>
          </a:bodyPr>
          <a:lstStyle/>
          <a:p>
            <a:pPr algn="ctr"/>
            <a:r>
              <a:rPr lang="en-US" sz="1100" i="1" dirty="0"/>
              <a:t>Hybrid approaches are proving to be the most effective and involve a combination of traditional finetuning strategies along with the instruction based tuning and RLHF. Source: https://</a:t>
            </a:r>
            <a:r>
              <a:rPr lang="en-US" sz="1100" i="1" dirty="0" err="1"/>
              <a:t>gradientflow.com</a:t>
            </a:r>
            <a:r>
              <a:rPr lang="en-US" sz="1100" i="1" dirty="0"/>
              <a:t>/maximizing-the-potential-of-large-language-models/</a:t>
            </a:r>
          </a:p>
        </p:txBody>
      </p:sp>
    </p:spTree>
    <p:extLst>
      <p:ext uri="{BB962C8B-B14F-4D97-AF65-F5344CB8AC3E}">
        <p14:creationId xmlns:p14="http://schemas.microsoft.com/office/powerpoint/2010/main" val="382879543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44B52B-173F-2EFA-6187-BC34C56DCDB6}"/>
              </a:ext>
            </a:extLst>
          </p:cNvPr>
          <p:cNvSpPr>
            <a:spLocks noGrp="1"/>
          </p:cNvSpPr>
          <p:nvPr>
            <p:ph type="title"/>
          </p:nvPr>
        </p:nvSpPr>
        <p:spPr/>
        <p:txBody>
          <a:bodyPr/>
          <a:lstStyle/>
          <a:p>
            <a:r>
              <a:rPr lang="en-US" dirty="0"/>
              <a:t>Evolution of Finetuning Approaches</a:t>
            </a:r>
          </a:p>
        </p:txBody>
      </p:sp>
      <p:pic>
        <p:nvPicPr>
          <p:cNvPr id="11266" name="Picture 2">
            <a:extLst>
              <a:ext uri="{FF2B5EF4-FFF2-40B4-BE49-F238E27FC236}">
                <a16:creationId xmlns:a16="http://schemas.microsoft.com/office/drawing/2014/main" id="{809DC699-23F5-2363-7FA7-B061BD8BF85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18503" y="1494579"/>
            <a:ext cx="7924800" cy="4445000"/>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AF856659-BCB5-B79A-C80E-312DDC476BE1}"/>
              </a:ext>
            </a:extLst>
          </p:cNvPr>
          <p:cNvSpPr txBox="1"/>
          <p:nvPr/>
        </p:nvSpPr>
        <p:spPr>
          <a:xfrm>
            <a:off x="6400800" y="6434012"/>
            <a:ext cx="5142271" cy="261610"/>
          </a:xfrm>
          <a:prstGeom prst="rect">
            <a:avLst/>
          </a:prstGeom>
          <a:noFill/>
        </p:spPr>
        <p:txBody>
          <a:bodyPr wrap="square">
            <a:spAutoFit/>
          </a:bodyPr>
          <a:lstStyle/>
          <a:p>
            <a:r>
              <a:rPr lang="en-US" sz="1050" i="1"/>
              <a:t>https://</a:t>
            </a:r>
            <a:r>
              <a:rPr lang="en-US" sz="1050" i="1" dirty="0" err="1"/>
              <a:t>www.signalfire.com</a:t>
            </a:r>
            <a:r>
              <a:rPr lang="en-US" sz="1050" i="1" dirty="0"/>
              <a:t>/blog/comparing-</a:t>
            </a:r>
            <a:r>
              <a:rPr lang="en-US" sz="1050" i="1" dirty="0" err="1"/>
              <a:t>llm</a:t>
            </a:r>
            <a:r>
              <a:rPr lang="en-US" sz="1050" i="1" dirty="0"/>
              <a:t>-fine-tuning-methods</a:t>
            </a:r>
          </a:p>
        </p:txBody>
      </p:sp>
    </p:spTree>
    <p:extLst>
      <p:ext uri="{BB962C8B-B14F-4D97-AF65-F5344CB8AC3E}">
        <p14:creationId xmlns:p14="http://schemas.microsoft.com/office/powerpoint/2010/main" val="247978084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BCBDC6-7DA2-061F-F491-197C114A4C46}"/>
              </a:ext>
            </a:extLst>
          </p:cNvPr>
          <p:cNvSpPr>
            <a:spLocks noGrp="1"/>
          </p:cNvSpPr>
          <p:nvPr>
            <p:ph type="title"/>
          </p:nvPr>
        </p:nvSpPr>
        <p:spPr/>
        <p:txBody>
          <a:bodyPr/>
          <a:lstStyle/>
          <a:p>
            <a:r>
              <a:rPr lang="en-US" dirty="0"/>
              <a:t>The LLM Dev-Test-Deploy Workflow</a:t>
            </a:r>
            <a:br>
              <a:rPr lang="en-US" sz="2000" dirty="0"/>
            </a:br>
            <a:r>
              <a:rPr lang="en-US" sz="2000" dirty="0"/>
              <a:t>Importance of Proper Benchmarking (testing)</a:t>
            </a:r>
            <a:endParaRPr lang="en-US" dirty="0"/>
          </a:p>
        </p:txBody>
      </p:sp>
      <p:pic>
        <p:nvPicPr>
          <p:cNvPr id="10242" name="Picture 2">
            <a:extLst>
              <a:ext uri="{FF2B5EF4-FFF2-40B4-BE49-F238E27FC236}">
                <a16:creationId xmlns:a16="http://schemas.microsoft.com/office/drawing/2014/main" id="{C2558ADC-2EA4-CBD2-4CF7-E04A5861CC2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08563" y="1398227"/>
            <a:ext cx="9143999" cy="5079206"/>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52A40993-40CA-A81E-B50A-511BD58B92D2}"/>
              </a:ext>
            </a:extLst>
          </p:cNvPr>
          <p:cNvSpPr txBox="1"/>
          <p:nvPr/>
        </p:nvSpPr>
        <p:spPr>
          <a:xfrm>
            <a:off x="6705602" y="6564817"/>
            <a:ext cx="5201264" cy="246221"/>
          </a:xfrm>
          <a:prstGeom prst="rect">
            <a:avLst/>
          </a:prstGeom>
          <a:noFill/>
        </p:spPr>
        <p:txBody>
          <a:bodyPr wrap="square">
            <a:spAutoFit/>
          </a:bodyPr>
          <a:lstStyle/>
          <a:p>
            <a:r>
              <a:rPr lang="en-US" sz="1000" dirty="0"/>
              <a:t>https://</a:t>
            </a:r>
            <a:r>
              <a:rPr lang="en-US" sz="1000" dirty="0" err="1"/>
              <a:t>gradientflow.com</a:t>
            </a:r>
            <a:r>
              <a:rPr lang="en-US" sz="1000" dirty="0"/>
              <a:t>/maximizing-the-potential-of-large-language-models/</a:t>
            </a:r>
          </a:p>
        </p:txBody>
      </p:sp>
    </p:spTree>
    <p:extLst>
      <p:ext uri="{BB962C8B-B14F-4D97-AF65-F5344CB8AC3E}">
        <p14:creationId xmlns:p14="http://schemas.microsoft.com/office/powerpoint/2010/main" val="264373305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8E0ACC-C2EC-263E-F878-0CBE1730D1F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625CEEF-7524-8FC5-80E8-431E5E1E233F}"/>
              </a:ext>
            </a:extLst>
          </p:cNvPr>
          <p:cNvSpPr>
            <a:spLocks noGrp="1"/>
          </p:cNvSpPr>
          <p:nvPr>
            <p:ph type="title" idx="4294967295"/>
          </p:nvPr>
        </p:nvSpPr>
        <p:spPr>
          <a:xfrm>
            <a:off x="630936" y="155976"/>
            <a:ext cx="10479024" cy="708025"/>
          </a:xfrm>
        </p:spPr>
        <p:txBody>
          <a:bodyPr/>
          <a:lstStyle/>
          <a:p>
            <a:r>
              <a:rPr lang="en-US" sz="2400" dirty="0">
                <a:solidFill>
                  <a:schemeClr val="tx1"/>
                </a:solidFill>
              </a:rPr>
              <a:t>Evaluating the Performance of Cyber Security LLMs</a:t>
            </a:r>
            <a:br>
              <a:rPr lang="en-US" sz="2400" dirty="0">
                <a:solidFill>
                  <a:schemeClr val="tx1"/>
                </a:solidFill>
              </a:rPr>
            </a:br>
            <a:r>
              <a:rPr lang="en-US" sz="1600" i="1" dirty="0">
                <a:solidFill>
                  <a:schemeClr val="tx1"/>
                </a:solidFill>
              </a:rPr>
              <a:t>Benchmarks for Cyber Security Language Models</a:t>
            </a:r>
            <a:endParaRPr lang="en-US" sz="2400" i="1" dirty="0">
              <a:solidFill>
                <a:schemeClr val="tx1"/>
              </a:solidFill>
            </a:endParaRPr>
          </a:p>
        </p:txBody>
      </p:sp>
      <p:sp>
        <p:nvSpPr>
          <p:cNvPr id="6" name="TextBox 5">
            <a:extLst>
              <a:ext uri="{FF2B5EF4-FFF2-40B4-BE49-F238E27FC236}">
                <a16:creationId xmlns:a16="http://schemas.microsoft.com/office/drawing/2014/main" id="{D7F9D358-66FD-C30E-5BF8-7620F292A4CC}"/>
              </a:ext>
            </a:extLst>
          </p:cNvPr>
          <p:cNvSpPr txBox="1"/>
          <p:nvPr/>
        </p:nvSpPr>
        <p:spPr>
          <a:xfrm>
            <a:off x="2462090" y="6240359"/>
            <a:ext cx="9323959" cy="461665"/>
          </a:xfrm>
          <a:prstGeom prst="rect">
            <a:avLst/>
          </a:prstGeom>
          <a:noFill/>
        </p:spPr>
        <p:txBody>
          <a:bodyPr wrap="square" rtlCol="0">
            <a:spAutoFit/>
          </a:bodyPr>
          <a:lstStyle/>
          <a:p>
            <a:pPr algn="ctr"/>
            <a:r>
              <a:rPr lang="en-US" sz="1200" i="1" dirty="0"/>
              <a:t>Evaluation of open source benchmarks, applicability to threat intelligence specifically and potentially expanding and creating our own benchmark that speaks to the capabilities around Flashpoint Threat Intel specifically.</a:t>
            </a:r>
          </a:p>
        </p:txBody>
      </p:sp>
      <p:graphicFrame>
        <p:nvGraphicFramePr>
          <p:cNvPr id="3" name="Table 2">
            <a:extLst>
              <a:ext uri="{FF2B5EF4-FFF2-40B4-BE49-F238E27FC236}">
                <a16:creationId xmlns:a16="http://schemas.microsoft.com/office/drawing/2014/main" id="{BBC8969C-3DC7-7FEA-A8EC-791CF71A04FF}"/>
              </a:ext>
            </a:extLst>
          </p:cNvPr>
          <p:cNvGraphicFramePr>
            <a:graphicFrameLocks noGrp="1"/>
          </p:cNvGraphicFramePr>
          <p:nvPr>
            <p:extLst>
              <p:ext uri="{D42A27DB-BD31-4B8C-83A1-F6EECF244321}">
                <p14:modId xmlns:p14="http://schemas.microsoft.com/office/powerpoint/2010/main" val="2148115405"/>
              </p:ext>
            </p:extLst>
          </p:nvPr>
        </p:nvGraphicFramePr>
        <p:xfrm>
          <a:off x="1222248" y="1161023"/>
          <a:ext cx="9747504" cy="4782313"/>
        </p:xfrm>
        <a:graphic>
          <a:graphicData uri="http://schemas.openxmlformats.org/drawingml/2006/table">
            <a:tbl>
              <a:tblPr/>
              <a:tblGrid>
                <a:gridCol w="1542288">
                  <a:extLst>
                    <a:ext uri="{9D8B030D-6E8A-4147-A177-3AD203B41FA5}">
                      <a16:colId xmlns:a16="http://schemas.microsoft.com/office/drawing/2014/main" val="3342346885"/>
                    </a:ext>
                  </a:extLst>
                </a:gridCol>
                <a:gridCol w="1557528">
                  <a:extLst>
                    <a:ext uri="{9D8B030D-6E8A-4147-A177-3AD203B41FA5}">
                      <a16:colId xmlns:a16="http://schemas.microsoft.com/office/drawing/2014/main" val="2209120549"/>
                    </a:ext>
                  </a:extLst>
                </a:gridCol>
                <a:gridCol w="1197864">
                  <a:extLst>
                    <a:ext uri="{9D8B030D-6E8A-4147-A177-3AD203B41FA5}">
                      <a16:colId xmlns:a16="http://schemas.microsoft.com/office/drawing/2014/main" val="3689378265"/>
                    </a:ext>
                  </a:extLst>
                </a:gridCol>
                <a:gridCol w="2340864">
                  <a:extLst>
                    <a:ext uri="{9D8B030D-6E8A-4147-A177-3AD203B41FA5}">
                      <a16:colId xmlns:a16="http://schemas.microsoft.com/office/drawing/2014/main" val="1466355639"/>
                    </a:ext>
                  </a:extLst>
                </a:gridCol>
                <a:gridCol w="2048256">
                  <a:extLst>
                    <a:ext uri="{9D8B030D-6E8A-4147-A177-3AD203B41FA5}">
                      <a16:colId xmlns:a16="http://schemas.microsoft.com/office/drawing/2014/main" val="1411992449"/>
                    </a:ext>
                  </a:extLst>
                </a:gridCol>
                <a:gridCol w="1060704">
                  <a:extLst>
                    <a:ext uri="{9D8B030D-6E8A-4147-A177-3AD203B41FA5}">
                      <a16:colId xmlns:a16="http://schemas.microsoft.com/office/drawing/2014/main" val="344943445"/>
                    </a:ext>
                  </a:extLst>
                </a:gridCol>
              </a:tblGrid>
              <a:tr h="231649">
                <a:tc>
                  <a:txBody>
                    <a:bodyPr/>
                    <a:lstStyle/>
                    <a:p>
                      <a:pPr algn="ctr" fontAlgn="b"/>
                      <a:r>
                        <a:rPr lang="en-US" sz="900" b="1" i="0" u="sng" strike="noStrike" dirty="0">
                          <a:solidFill>
                            <a:srgbClr val="000000"/>
                          </a:solidFill>
                          <a:effectLst/>
                          <a:latin typeface="Century Gothic" panose="020B0502020202020204" pitchFamily="34" charset="0"/>
                        </a:rPr>
                        <a:t>Benchmark</a:t>
                      </a:r>
                    </a:p>
                  </a:txBody>
                  <a:tcPr marL="5556" marR="5556" marT="5556" marB="0">
                    <a:lnL>
                      <a:noFill/>
                    </a:lnL>
                    <a:lnR>
                      <a:noFill/>
                    </a:lnR>
                    <a:lnT>
                      <a:noFill/>
                    </a:lnT>
                    <a:lnB>
                      <a:noFill/>
                    </a:lnB>
                    <a:noFill/>
                  </a:tcPr>
                </a:tc>
                <a:tc>
                  <a:txBody>
                    <a:bodyPr/>
                    <a:lstStyle/>
                    <a:p>
                      <a:pPr algn="ctr" fontAlgn="b"/>
                      <a:r>
                        <a:rPr lang="en-US" sz="900" b="1" i="0" u="sng" strike="noStrike" dirty="0">
                          <a:solidFill>
                            <a:srgbClr val="000000"/>
                          </a:solidFill>
                          <a:effectLst/>
                          <a:latin typeface="Century Gothic" panose="020B0502020202020204" pitchFamily="34" charset="0"/>
                        </a:rPr>
                        <a:t>Organization / Authors</a:t>
                      </a:r>
                    </a:p>
                  </a:txBody>
                  <a:tcPr marL="5556" marR="5556" marT="5556" marB="0">
                    <a:lnL>
                      <a:noFill/>
                    </a:lnL>
                    <a:lnR>
                      <a:noFill/>
                    </a:lnR>
                    <a:lnT>
                      <a:noFill/>
                    </a:lnT>
                    <a:lnB>
                      <a:noFill/>
                    </a:lnB>
                    <a:noFill/>
                  </a:tcPr>
                </a:tc>
                <a:tc>
                  <a:txBody>
                    <a:bodyPr/>
                    <a:lstStyle/>
                    <a:p>
                      <a:pPr algn="ctr" fontAlgn="b"/>
                      <a:r>
                        <a:rPr lang="en-US" sz="900" b="1" i="0" u="sng" strike="noStrike" dirty="0">
                          <a:solidFill>
                            <a:srgbClr val="000000"/>
                          </a:solidFill>
                          <a:effectLst/>
                          <a:latin typeface="Century Gothic" panose="020B0502020202020204" pitchFamily="34" charset="0"/>
                        </a:rPr>
                        <a:t>Open Source</a:t>
                      </a:r>
                    </a:p>
                  </a:txBody>
                  <a:tcPr marL="5556" marR="5556" marT="5556" marB="0">
                    <a:lnL>
                      <a:noFill/>
                    </a:lnL>
                    <a:lnR>
                      <a:noFill/>
                    </a:lnR>
                    <a:lnT>
                      <a:noFill/>
                    </a:lnT>
                    <a:lnB>
                      <a:noFill/>
                    </a:lnB>
                    <a:noFill/>
                  </a:tcPr>
                </a:tc>
                <a:tc>
                  <a:txBody>
                    <a:bodyPr/>
                    <a:lstStyle/>
                    <a:p>
                      <a:pPr algn="ctr" fontAlgn="b"/>
                      <a:r>
                        <a:rPr lang="en-US" sz="900" b="1" i="0" u="sng" strike="noStrike" dirty="0">
                          <a:solidFill>
                            <a:srgbClr val="000000"/>
                          </a:solidFill>
                          <a:effectLst/>
                          <a:latin typeface="Century Gothic" panose="020B0502020202020204" pitchFamily="34" charset="0"/>
                        </a:rPr>
                        <a:t>Cybersecurity Domain</a:t>
                      </a:r>
                    </a:p>
                  </a:txBody>
                  <a:tcPr marL="5556" marR="5556" marT="5556" marB="0">
                    <a:lnL>
                      <a:noFill/>
                    </a:lnL>
                    <a:lnR>
                      <a:noFill/>
                    </a:lnR>
                    <a:lnT>
                      <a:noFill/>
                    </a:lnT>
                    <a:lnB>
                      <a:noFill/>
                    </a:lnB>
                    <a:noFill/>
                  </a:tcPr>
                </a:tc>
                <a:tc>
                  <a:txBody>
                    <a:bodyPr/>
                    <a:lstStyle/>
                    <a:p>
                      <a:pPr algn="ctr" fontAlgn="b"/>
                      <a:r>
                        <a:rPr lang="en-US" sz="900" b="1" i="0" u="sng" strike="noStrike">
                          <a:solidFill>
                            <a:srgbClr val="000000"/>
                          </a:solidFill>
                          <a:effectLst/>
                          <a:latin typeface="Century Gothic" panose="020B0502020202020204" pitchFamily="34" charset="0"/>
                        </a:rPr>
                        <a:t>Key Tasks</a:t>
                      </a:r>
                    </a:p>
                  </a:txBody>
                  <a:tcPr marL="5556" marR="5556" marT="5556" marB="0">
                    <a:lnL>
                      <a:noFill/>
                    </a:lnL>
                    <a:lnR>
                      <a:noFill/>
                    </a:lnR>
                    <a:lnT>
                      <a:noFill/>
                    </a:lnT>
                    <a:lnB>
                      <a:noFill/>
                    </a:lnB>
                    <a:noFill/>
                  </a:tcPr>
                </a:tc>
                <a:tc>
                  <a:txBody>
                    <a:bodyPr/>
                    <a:lstStyle/>
                    <a:p>
                      <a:pPr algn="ctr" fontAlgn="b"/>
                      <a:r>
                        <a:rPr lang="en-US" sz="900" b="1" i="0" u="sng" strike="noStrike" dirty="0">
                          <a:solidFill>
                            <a:srgbClr val="000000"/>
                          </a:solidFill>
                          <a:effectLst/>
                          <a:latin typeface="Century Gothic" panose="020B0502020202020204" pitchFamily="34" charset="0"/>
                        </a:rPr>
                        <a:t>Introduced In</a:t>
                      </a:r>
                    </a:p>
                  </a:txBody>
                  <a:tcPr marL="5556" marR="5556" marT="5556" marB="0">
                    <a:lnL>
                      <a:noFill/>
                    </a:lnL>
                    <a:lnR>
                      <a:noFill/>
                    </a:lnR>
                    <a:lnT>
                      <a:noFill/>
                    </a:lnT>
                    <a:lnB>
                      <a:noFill/>
                    </a:lnB>
                    <a:noFill/>
                  </a:tcPr>
                </a:tc>
                <a:extLst>
                  <a:ext uri="{0D108BD9-81ED-4DB2-BD59-A6C34878D82A}">
                    <a16:rowId xmlns:a16="http://schemas.microsoft.com/office/drawing/2014/main" val="3361081929"/>
                  </a:ext>
                </a:extLst>
              </a:tr>
              <a:tr h="683188">
                <a:tc>
                  <a:txBody>
                    <a:bodyPr/>
                    <a:lstStyle/>
                    <a:p>
                      <a:pPr algn="l" fontAlgn="b"/>
                      <a:r>
                        <a:rPr lang="en-US" sz="900" b="0" i="1" u="none" strike="noStrike" dirty="0">
                          <a:solidFill>
                            <a:srgbClr val="000000"/>
                          </a:solidFill>
                          <a:effectLst/>
                          <a:latin typeface="Century Gothic" panose="020B0502020202020204" pitchFamily="34" charset="0"/>
                        </a:rPr>
                        <a:t>CTIBench</a:t>
                      </a:r>
                    </a:p>
                  </a:txBody>
                  <a:tcPr marL="5556" marR="5556" marT="5556" marB="0">
                    <a:lnL>
                      <a:noFill/>
                    </a:lnL>
                    <a:lnR>
                      <a:noFill/>
                    </a:lnR>
                    <a:lnT>
                      <a:noFill/>
                    </a:lnT>
                    <a:lnB>
                      <a:noFill/>
                    </a:lnB>
                    <a:noFill/>
                  </a:tcPr>
                </a:tc>
                <a:tc>
                  <a:txBody>
                    <a:bodyPr/>
                    <a:lstStyle/>
                    <a:p>
                      <a:pPr algn="l" fontAlgn="b"/>
                      <a:r>
                        <a:rPr lang="en-US" sz="900" b="0" i="0" u="none" strike="noStrike" dirty="0">
                          <a:solidFill>
                            <a:srgbClr val="000000"/>
                          </a:solidFill>
                          <a:effectLst/>
                          <a:latin typeface="Century Gothic" panose="020B0502020202020204" pitchFamily="34" charset="0"/>
                        </a:rPr>
                        <a:t>University of Waterloo &amp; AI4Sec</a:t>
                      </a:r>
                    </a:p>
                  </a:txBody>
                  <a:tcPr marL="5556" marR="5556" marT="5556" marB="0">
                    <a:lnL>
                      <a:noFill/>
                    </a:lnL>
                    <a:lnR>
                      <a:noFill/>
                    </a:lnR>
                    <a:lnT>
                      <a:noFill/>
                    </a:lnT>
                    <a:lnB>
                      <a:noFill/>
                    </a:lnB>
                    <a:noFill/>
                  </a:tcPr>
                </a:tc>
                <a:tc>
                  <a:txBody>
                    <a:bodyPr/>
                    <a:lstStyle/>
                    <a:p>
                      <a:pPr algn="l" fontAlgn="b"/>
                      <a:r>
                        <a:rPr lang="en-US" sz="900" b="0" i="0" u="none" strike="noStrike" dirty="0">
                          <a:solidFill>
                            <a:srgbClr val="000000"/>
                          </a:solidFill>
                          <a:effectLst/>
                          <a:latin typeface="Century Gothic" panose="020B0502020202020204" pitchFamily="34" charset="0"/>
                        </a:rPr>
                        <a:t>Yes (GitHub, Hugging Face)</a:t>
                      </a:r>
                    </a:p>
                  </a:txBody>
                  <a:tcPr marL="5556" marR="5556" marT="5556" marB="0">
                    <a:lnL>
                      <a:noFill/>
                    </a:lnL>
                    <a:lnR>
                      <a:noFill/>
                    </a:lnR>
                    <a:lnT>
                      <a:noFill/>
                    </a:lnT>
                    <a:lnB>
                      <a:noFill/>
                    </a:lnB>
                    <a:noFill/>
                  </a:tcPr>
                </a:tc>
                <a:tc>
                  <a:txBody>
                    <a:bodyPr/>
                    <a:lstStyle/>
                    <a:p>
                      <a:pPr algn="l" fontAlgn="b"/>
                      <a:r>
                        <a:rPr lang="en-US" sz="900" b="0" i="0" u="none" strike="noStrike" dirty="0">
                          <a:solidFill>
                            <a:srgbClr val="000000"/>
                          </a:solidFill>
                          <a:effectLst/>
                          <a:latin typeface="Century Gothic" panose="020B0502020202020204" pitchFamily="34" charset="0"/>
                        </a:rPr>
                        <a:t>Threat Intelligence, Vulnerability Analysis, Threat Attribution</a:t>
                      </a:r>
                    </a:p>
                  </a:txBody>
                  <a:tcPr marL="5556" marR="5556" marT="5556" marB="0">
                    <a:lnL>
                      <a:noFill/>
                    </a:lnL>
                    <a:lnR>
                      <a:noFill/>
                    </a:lnR>
                    <a:lnT>
                      <a:noFill/>
                    </a:lnT>
                    <a:lnB>
                      <a:noFill/>
                    </a:lnB>
                    <a:noFill/>
                  </a:tcPr>
                </a:tc>
                <a:tc>
                  <a:txBody>
                    <a:bodyPr/>
                    <a:lstStyle/>
                    <a:p>
                      <a:pPr algn="l" fontAlgn="b"/>
                      <a:r>
                        <a:rPr lang="en-US" sz="900" b="0" i="0" u="none" strike="noStrike" dirty="0">
                          <a:solidFill>
                            <a:srgbClr val="000000"/>
                          </a:solidFill>
                          <a:effectLst/>
                          <a:latin typeface="Century Gothic" panose="020B0502020202020204" pitchFamily="34" charset="0"/>
                        </a:rPr>
                        <a:t>CTI-MCQ, CTI-RCM, CTI-VSP, CTI-TAA</a:t>
                      </a:r>
                    </a:p>
                  </a:txBody>
                  <a:tcPr marL="5556" marR="5556" marT="5556" marB="0">
                    <a:lnL>
                      <a:noFill/>
                    </a:lnL>
                    <a:lnR>
                      <a:noFill/>
                    </a:lnR>
                    <a:lnT>
                      <a:noFill/>
                    </a:lnT>
                    <a:lnB>
                      <a:noFill/>
                    </a:lnB>
                    <a:noFill/>
                  </a:tcPr>
                </a:tc>
                <a:tc>
                  <a:txBody>
                    <a:bodyPr/>
                    <a:lstStyle/>
                    <a:p>
                      <a:pPr algn="ctr" fontAlgn="b"/>
                      <a:r>
                        <a:rPr lang="en-US" sz="900" b="0" i="0" u="none" strike="noStrike" dirty="0">
                          <a:solidFill>
                            <a:srgbClr val="000000"/>
                          </a:solidFill>
                          <a:effectLst/>
                          <a:latin typeface="Century Gothic" panose="020B0502020202020204" pitchFamily="34" charset="0"/>
                        </a:rPr>
                        <a:t>Jul-24</a:t>
                      </a:r>
                    </a:p>
                  </a:txBody>
                  <a:tcPr marL="5556" marR="5556" marT="5556" marB="0">
                    <a:lnL>
                      <a:noFill/>
                    </a:lnL>
                    <a:lnR>
                      <a:noFill/>
                    </a:lnR>
                    <a:lnT>
                      <a:noFill/>
                    </a:lnT>
                    <a:lnB>
                      <a:noFill/>
                    </a:lnB>
                    <a:noFill/>
                  </a:tcPr>
                </a:tc>
                <a:extLst>
                  <a:ext uri="{0D108BD9-81ED-4DB2-BD59-A6C34878D82A}">
                    <a16:rowId xmlns:a16="http://schemas.microsoft.com/office/drawing/2014/main" val="965266689"/>
                  </a:ext>
                </a:extLst>
              </a:tr>
              <a:tr h="796072">
                <a:tc>
                  <a:txBody>
                    <a:bodyPr/>
                    <a:lstStyle/>
                    <a:p>
                      <a:pPr algn="l" fontAlgn="b"/>
                      <a:r>
                        <a:rPr lang="en-US" sz="900" b="0" i="1" u="none" strike="noStrike" dirty="0">
                          <a:solidFill>
                            <a:srgbClr val="000000"/>
                          </a:solidFill>
                          <a:effectLst/>
                          <a:latin typeface="Century Gothic" panose="020B0502020202020204" pitchFamily="34" charset="0"/>
                        </a:rPr>
                        <a:t>SecKnowledge-Eval</a:t>
                      </a:r>
                    </a:p>
                  </a:txBody>
                  <a:tcPr marL="5556" marR="5556" marT="5556" marB="0">
                    <a:lnL>
                      <a:noFill/>
                    </a:lnL>
                    <a:lnR>
                      <a:noFill/>
                    </a:lnR>
                    <a:lnT>
                      <a:noFill/>
                    </a:lnT>
                    <a:lnB>
                      <a:noFill/>
                    </a:lnB>
                    <a:noFill/>
                  </a:tcPr>
                </a:tc>
                <a:tc>
                  <a:txBody>
                    <a:bodyPr/>
                    <a:lstStyle/>
                    <a:p>
                      <a:pPr algn="l" fontAlgn="b"/>
                      <a:r>
                        <a:rPr lang="en-US" sz="900" b="0" i="0" u="none" strike="noStrike" dirty="0">
                          <a:solidFill>
                            <a:srgbClr val="000000"/>
                          </a:solidFill>
                          <a:effectLst/>
                          <a:latin typeface="Century Gothic" panose="020B0502020202020204" pitchFamily="34" charset="0"/>
                        </a:rPr>
                        <a:t>CyberPal.AI (Authors of SecKnowledge Paper)</a:t>
                      </a:r>
                    </a:p>
                  </a:txBody>
                  <a:tcPr marL="5556" marR="5556" marT="5556" marB="0">
                    <a:lnL>
                      <a:noFill/>
                    </a:lnL>
                    <a:lnR>
                      <a:noFill/>
                    </a:lnR>
                    <a:lnT>
                      <a:noFill/>
                    </a:lnT>
                    <a:lnB>
                      <a:noFill/>
                    </a:lnB>
                    <a:noFill/>
                  </a:tcPr>
                </a:tc>
                <a:tc>
                  <a:txBody>
                    <a:bodyPr/>
                    <a:lstStyle/>
                    <a:p>
                      <a:pPr algn="l" fontAlgn="b"/>
                      <a:r>
                        <a:rPr lang="en-US" sz="900" b="0" i="0" u="none" strike="noStrike" dirty="0">
                          <a:solidFill>
                            <a:srgbClr val="000000"/>
                          </a:solidFill>
                          <a:effectLst/>
                          <a:latin typeface="Century Gothic" panose="020B0502020202020204" pitchFamily="34" charset="0"/>
                        </a:rPr>
                        <a:t>No (Contact authors)</a:t>
                      </a:r>
                    </a:p>
                  </a:txBody>
                  <a:tcPr marL="5556" marR="5556" marT="5556" marB="0">
                    <a:lnL>
                      <a:noFill/>
                    </a:lnL>
                    <a:lnR>
                      <a:noFill/>
                    </a:lnR>
                    <a:lnT>
                      <a:noFill/>
                    </a:lnT>
                    <a:lnB>
                      <a:noFill/>
                    </a:lnB>
                    <a:noFill/>
                  </a:tcPr>
                </a:tc>
                <a:tc>
                  <a:txBody>
                    <a:bodyPr/>
                    <a:lstStyle/>
                    <a:p>
                      <a:pPr algn="l" fontAlgn="b"/>
                      <a:r>
                        <a:rPr lang="en-US" sz="900" b="0" i="0" u="none" strike="noStrike" dirty="0">
                          <a:solidFill>
                            <a:srgbClr val="000000"/>
                          </a:solidFill>
                          <a:effectLst/>
                          <a:latin typeface="Century Gothic" panose="020B0502020202020204" pitchFamily="34" charset="0"/>
                        </a:rPr>
                        <a:t>Instruction Following, Threat Analysis, Security Reasoning</a:t>
                      </a:r>
                    </a:p>
                  </a:txBody>
                  <a:tcPr marL="5556" marR="5556" marT="5556" marB="0">
                    <a:lnL>
                      <a:noFill/>
                    </a:lnL>
                    <a:lnR>
                      <a:noFill/>
                    </a:lnR>
                    <a:lnT>
                      <a:noFill/>
                    </a:lnT>
                    <a:lnB>
                      <a:noFill/>
                    </a:lnB>
                    <a:noFill/>
                  </a:tcPr>
                </a:tc>
                <a:tc>
                  <a:txBody>
                    <a:bodyPr/>
                    <a:lstStyle/>
                    <a:p>
                      <a:pPr algn="l" fontAlgn="b"/>
                      <a:r>
                        <a:rPr lang="en-US" sz="900" b="0" i="0" u="none" strike="noStrike">
                          <a:solidFill>
                            <a:srgbClr val="000000"/>
                          </a:solidFill>
                          <a:effectLst/>
                          <a:latin typeface="Century Gothic" panose="020B0502020202020204" pitchFamily="34" charset="0"/>
                        </a:rPr>
                        <a:t>Threat/attack pattern understanding, contextual security tasks</a:t>
                      </a:r>
                    </a:p>
                  </a:txBody>
                  <a:tcPr marL="5556" marR="5556" marT="5556" marB="0">
                    <a:lnL>
                      <a:noFill/>
                    </a:lnL>
                    <a:lnR>
                      <a:noFill/>
                    </a:lnR>
                    <a:lnT>
                      <a:noFill/>
                    </a:lnT>
                    <a:lnB>
                      <a:noFill/>
                    </a:lnB>
                    <a:noFill/>
                  </a:tcPr>
                </a:tc>
                <a:tc>
                  <a:txBody>
                    <a:bodyPr/>
                    <a:lstStyle/>
                    <a:p>
                      <a:pPr algn="ctr" fontAlgn="b"/>
                      <a:r>
                        <a:rPr lang="en-US" sz="900" b="0" i="0" u="none" strike="noStrike" dirty="0">
                          <a:solidFill>
                            <a:srgbClr val="000000"/>
                          </a:solidFill>
                          <a:effectLst/>
                          <a:latin typeface="Century Gothic" panose="020B0502020202020204" pitchFamily="34" charset="0"/>
                        </a:rPr>
                        <a:t>Aug-24</a:t>
                      </a:r>
                    </a:p>
                  </a:txBody>
                  <a:tcPr marL="5556" marR="5556" marT="5556" marB="0">
                    <a:lnL>
                      <a:noFill/>
                    </a:lnL>
                    <a:lnR>
                      <a:noFill/>
                    </a:lnR>
                    <a:lnT>
                      <a:noFill/>
                    </a:lnT>
                    <a:lnB>
                      <a:noFill/>
                    </a:lnB>
                    <a:noFill/>
                  </a:tcPr>
                </a:tc>
                <a:extLst>
                  <a:ext uri="{0D108BD9-81ED-4DB2-BD59-A6C34878D82A}">
                    <a16:rowId xmlns:a16="http://schemas.microsoft.com/office/drawing/2014/main" val="2833131442"/>
                  </a:ext>
                </a:extLst>
              </a:tr>
              <a:tr h="908956">
                <a:tc>
                  <a:txBody>
                    <a:bodyPr/>
                    <a:lstStyle/>
                    <a:p>
                      <a:pPr algn="l" fontAlgn="b"/>
                      <a:r>
                        <a:rPr lang="en-US" sz="900" b="0" i="1" u="none" strike="noStrike" dirty="0">
                          <a:solidFill>
                            <a:srgbClr val="000000"/>
                          </a:solidFill>
                          <a:effectLst/>
                          <a:latin typeface="Century Gothic" panose="020B0502020202020204" pitchFamily="34" charset="0"/>
                        </a:rPr>
                        <a:t>CyberSecEval 2</a:t>
                      </a:r>
                    </a:p>
                  </a:txBody>
                  <a:tcPr marL="5556" marR="5556" marT="5556" marB="0">
                    <a:lnL>
                      <a:noFill/>
                    </a:lnL>
                    <a:lnR>
                      <a:noFill/>
                    </a:lnR>
                    <a:lnT>
                      <a:noFill/>
                    </a:lnT>
                    <a:lnB>
                      <a:noFill/>
                    </a:lnB>
                    <a:noFill/>
                  </a:tcPr>
                </a:tc>
                <a:tc>
                  <a:txBody>
                    <a:bodyPr/>
                    <a:lstStyle/>
                    <a:p>
                      <a:pPr algn="l" fontAlgn="b"/>
                      <a:r>
                        <a:rPr lang="en-US" sz="900" b="0" i="0" u="none" strike="noStrike">
                          <a:solidFill>
                            <a:srgbClr val="000000"/>
                          </a:solidFill>
                          <a:effectLst/>
                          <a:latin typeface="Century Gothic" panose="020B0502020202020204" pitchFamily="34" charset="0"/>
                        </a:rPr>
                        <a:t>Meta AI</a:t>
                      </a:r>
                    </a:p>
                  </a:txBody>
                  <a:tcPr marL="5556" marR="5556" marT="5556" marB="0">
                    <a:lnL>
                      <a:noFill/>
                    </a:lnL>
                    <a:lnR>
                      <a:noFill/>
                    </a:lnR>
                    <a:lnT>
                      <a:noFill/>
                    </a:lnT>
                    <a:lnB>
                      <a:noFill/>
                    </a:lnB>
                    <a:noFill/>
                  </a:tcPr>
                </a:tc>
                <a:tc>
                  <a:txBody>
                    <a:bodyPr/>
                    <a:lstStyle/>
                    <a:p>
                      <a:pPr algn="l" fontAlgn="b"/>
                      <a:r>
                        <a:rPr lang="en-US" sz="900" b="0" i="0" u="none" strike="noStrike" dirty="0">
                          <a:solidFill>
                            <a:srgbClr val="000000"/>
                          </a:solidFill>
                          <a:effectLst/>
                          <a:latin typeface="Century Gothic" panose="020B0502020202020204" pitchFamily="34" charset="0"/>
                        </a:rPr>
                        <a:t>No</a:t>
                      </a:r>
                    </a:p>
                  </a:txBody>
                  <a:tcPr marL="5556" marR="5556" marT="5556" marB="0">
                    <a:lnL>
                      <a:noFill/>
                    </a:lnL>
                    <a:lnR>
                      <a:noFill/>
                    </a:lnR>
                    <a:lnT>
                      <a:noFill/>
                    </a:lnT>
                    <a:lnB>
                      <a:noFill/>
                    </a:lnB>
                    <a:noFill/>
                  </a:tcPr>
                </a:tc>
                <a:tc>
                  <a:txBody>
                    <a:bodyPr/>
                    <a:lstStyle/>
                    <a:p>
                      <a:pPr algn="l" fontAlgn="b"/>
                      <a:r>
                        <a:rPr lang="en-US" sz="900" b="0" i="0" u="none" strike="noStrike" dirty="0">
                          <a:solidFill>
                            <a:srgbClr val="000000"/>
                          </a:solidFill>
                          <a:effectLst/>
                          <a:latin typeface="Century Gothic" panose="020B0502020202020204" pitchFamily="34" charset="0"/>
                        </a:rPr>
                        <a:t>Offensive &amp; Defensive Cybersecurity, LLM Risk Assessment</a:t>
                      </a:r>
                    </a:p>
                  </a:txBody>
                  <a:tcPr marL="5556" marR="5556" marT="5556" marB="0">
                    <a:lnL>
                      <a:noFill/>
                    </a:lnL>
                    <a:lnR>
                      <a:noFill/>
                    </a:lnR>
                    <a:lnT>
                      <a:noFill/>
                    </a:lnT>
                    <a:lnB>
                      <a:noFill/>
                    </a:lnB>
                    <a:noFill/>
                  </a:tcPr>
                </a:tc>
                <a:tc>
                  <a:txBody>
                    <a:bodyPr/>
                    <a:lstStyle/>
                    <a:p>
                      <a:pPr algn="l" fontAlgn="b"/>
                      <a:r>
                        <a:rPr lang="en-US" sz="900" b="0" i="0" u="none" strike="noStrike">
                          <a:solidFill>
                            <a:srgbClr val="000000"/>
                          </a:solidFill>
                          <a:effectLst/>
                          <a:latin typeface="Century Gothic" panose="020B0502020202020204" pitchFamily="34" charset="0"/>
                        </a:rPr>
                        <a:t>Malicious instruction handling, threat detection, security training evaluation</a:t>
                      </a:r>
                    </a:p>
                  </a:txBody>
                  <a:tcPr marL="5556" marR="5556" marT="5556" marB="0">
                    <a:lnL>
                      <a:noFill/>
                    </a:lnL>
                    <a:lnR>
                      <a:noFill/>
                    </a:lnR>
                    <a:lnT>
                      <a:noFill/>
                    </a:lnT>
                    <a:lnB>
                      <a:noFill/>
                    </a:lnB>
                    <a:noFill/>
                  </a:tcPr>
                </a:tc>
                <a:tc>
                  <a:txBody>
                    <a:bodyPr/>
                    <a:lstStyle/>
                    <a:p>
                      <a:pPr algn="ctr" fontAlgn="b"/>
                      <a:r>
                        <a:rPr lang="en-US" sz="900" b="0" i="0" u="none" strike="noStrike" dirty="0">
                          <a:solidFill>
                            <a:srgbClr val="000000"/>
                          </a:solidFill>
                          <a:effectLst/>
                          <a:latin typeface="Century Gothic" panose="020B0502020202020204" pitchFamily="34" charset="0"/>
                        </a:rPr>
                        <a:t>Apr-24</a:t>
                      </a:r>
                    </a:p>
                  </a:txBody>
                  <a:tcPr marL="5556" marR="5556" marT="5556" marB="0">
                    <a:lnL>
                      <a:noFill/>
                    </a:lnL>
                    <a:lnR>
                      <a:noFill/>
                    </a:lnR>
                    <a:lnT>
                      <a:noFill/>
                    </a:lnT>
                    <a:lnB>
                      <a:noFill/>
                    </a:lnB>
                    <a:noFill/>
                  </a:tcPr>
                </a:tc>
                <a:extLst>
                  <a:ext uri="{0D108BD9-81ED-4DB2-BD59-A6C34878D82A}">
                    <a16:rowId xmlns:a16="http://schemas.microsoft.com/office/drawing/2014/main" val="386113049"/>
                  </a:ext>
                </a:extLst>
              </a:tr>
              <a:tr h="683188">
                <a:tc>
                  <a:txBody>
                    <a:bodyPr/>
                    <a:lstStyle/>
                    <a:p>
                      <a:pPr algn="l" fontAlgn="b"/>
                      <a:r>
                        <a:rPr lang="en-US" sz="900" b="0" i="1" u="none" strike="noStrike" dirty="0">
                          <a:solidFill>
                            <a:srgbClr val="000000"/>
                          </a:solidFill>
                          <a:effectLst/>
                          <a:latin typeface="Century Gothic" panose="020B0502020202020204" pitchFamily="34" charset="0"/>
                        </a:rPr>
                        <a:t>Sophos Benchmark Suite</a:t>
                      </a:r>
                    </a:p>
                  </a:txBody>
                  <a:tcPr marL="5556" marR="5556" marT="5556" marB="0">
                    <a:lnL>
                      <a:noFill/>
                    </a:lnL>
                    <a:lnR>
                      <a:noFill/>
                    </a:lnR>
                    <a:lnT>
                      <a:noFill/>
                    </a:lnT>
                    <a:lnB>
                      <a:noFill/>
                    </a:lnB>
                    <a:noFill/>
                  </a:tcPr>
                </a:tc>
                <a:tc>
                  <a:txBody>
                    <a:bodyPr/>
                    <a:lstStyle/>
                    <a:p>
                      <a:pPr algn="l" fontAlgn="b"/>
                      <a:r>
                        <a:rPr lang="en-US" sz="900" b="0" i="0" u="none" strike="noStrike">
                          <a:solidFill>
                            <a:srgbClr val="000000"/>
                          </a:solidFill>
                          <a:effectLst/>
                          <a:latin typeface="Century Gothic" panose="020B0502020202020204" pitchFamily="34" charset="0"/>
                        </a:rPr>
                        <a:t>Sophos AI</a:t>
                      </a:r>
                    </a:p>
                  </a:txBody>
                  <a:tcPr marL="5556" marR="5556" marT="5556" marB="0">
                    <a:lnL>
                      <a:noFill/>
                    </a:lnL>
                    <a:lnR>
                      <a:noFill/>
                    </a:lnR>
                    <a:lnT>
                      <a:noFill/>
                    </a:lnT>
                    <a:lnB>
                      <a:noFill/>
                    </a:lnB>
                    <a:noFill/>
                  </a:tcPr>
                </a:tc>
                <a:tc>
                  <a:txBody>
                    <a:bodyPr/>
                    <a:lstStyle/>
                    <a:p>
                      <a:pPr algn="l" fontAlgn="b"/>
                      <a:r>
                        <a:rPr lang="en-US" sz="900" b="0" i="0" u="none" strike="noStrike" dirty="0">
                          <a:solidFill>
                            <a:srgbClr val="000000"/>
                          </a:solidFill>
                          <a:effectLst/>
                          <a:latin typeface="Century Gothic" panose="020B0502020202020204" pitchFamily="34" charset="0"/>
                        </a:rPr>
                        <a:t>No</a:t>
                      </a:r>
                    </a:p>
                  </a:txBody>
                  <a:tcPr marL="5556" marR="5556" marT="5556" marB="0">
                    <a:lnL>
                      <a:noFill/>
                    </a:lnL>
                    <a:lnR>
                      <a:noFill/>
                    </a:lnR>
                    <a:lnT>
                      <a:noFill/>
                    </a:lnT>
                    <a:lnB>
                      <a:noFill/>
                    </a:lnB>
                    <a:noFill/>
                  </a:tcPr>
                </a:tc>
                <a:tc>
                  <a:txBody>
                    <a:bodyPr/>
                    <a:lstStyle/>
                    <a:p>
                      <a:pPr algn="l" fontAlgn="b"/>
                      <a:r>
                        <a:rPr lang="en-US" sz="900" b="0" i="0" u="none" strike="noStrike" dirty="0">
                          <a:solidFill>
                            <a:srgbClr val="000000"/>
                          </a:solidFill>
                          <a:effectLst/>
                          <a:latin typeface="Century Gothic" panose="020B0502020202020204" pitchFamily="34" charset="0"/>
                        </a:rPr>
                        <a:t>SOC Operations, Incident Handling</a:t>
                      </a:r>
                    </a:p>
                  </a:txBody>
                  <a:tcPr marL="5556" marR="5556" marT="5556" marB="0">
                    <a:lnL>
                      <a:noFill/>
                    </a:lnL>
                    <a:lnR>
                      <a:noFill/>
                    </a:lnR>
                    <a:lnT>
                      <a:noFill/>
                    </a:lnT>
                    <a:lnB>
                      <a:noFill/>
                    </a:lnB>
                    <a:noFill/>
                  </a:tcPr>
                </a:tc>
                <a:tc>
                  <a:txBody>
                    <a:bodyPr/>
                    <a:lstStyle/>
                    <a:p>
                      <a:pPr algn="l" fontAlgn="b"/>
                      <a:r>
                        <a:rPr lang="en-US" sz="900" b="0" i="0" u="none" strike="noStrike" dirty="0">
                          <a:solidFill>
                            <a:srgbClr val="000000"/>
                          </a:solidFill>
                          <a:effectLst/>
                          <a:latin typeface="Century Gothic" panose="020B0502020202020204" pitchFamily="34" charset="0"/>
                        </a:rPr>
                        <a:t>Incident summarization, SQL generation, severity rating</a:t>
                      </a:r>
                    </a:p>
                  </a:txBody>
                  <a:tcPr marL="5556" marR="5556" marT="5556" marB="0">
                    <a:lnL>
                      <a:noFill/>
                    </a:lnL>
                    <a:lnR>
                      <a:noFill/>
                    </a:lnR>
                    <a:lnT>
                      <a:noFill/>
                    </a:lnT>
                    <a:lnB>
                      <a:noFill/>
                    </a:lnB>
                    <a:noFill/>
                  </a:tcPr>
                </a:tc>
                <a:tc>
                  <a:txBody>
                    <a:bodyPr/>
                    <a:lstStyle/>
                    <a:p>
                      <a:pPr algn="ctr" fontAlgn="b"/>
                      <a:r>
                        <a:rPr lang="en-US" sz="900" b="0" i="0" u="none" strike="noStrike" dirty="0">
                          <a:solidFill>
                            <a:srgbClr val="000000"/>
                          </a:solidFill>
                          <a:effectLst/>
                          <a:latin typeface="Century Gothic" panose="020B0502020202020204" pitchFamily="34" charset="0"/>
                        </a:rPr>
                        <a:t>Mar-24</a:t>
                      </a:r>
                    </a:p>
                  </a:txBody>
                  <a:tcPr marL="5556" marR="5556" marT="5556" marB="0">
                    <a:lnL>
                      <a:noFill/>
                    </a:lnL>
                    <a:lnR>
                      <a:noFill/>
                    </a:lnR>
                    <a:lnT>
                      <a:noFill/>
                    </a:lnT>
                    <a:lnB>
                      <a:noFill/>
                    </a:lnB>
                    <a:noFill/>
                  </a:tcPr>
                </a:tc>
                <a:extLst>
                  <a:ext uri="{0D108BD9-81ED-4DB2-BD59-A6C34878D82A}">
                    <a16:rowId xmlns:a16="http://schemas.microsoft.com/office/drawing/2014/main" val="1532253461"/>
                  </a:ext>
                </a:extLst>
              </a:tr>
              <a:tr h="796072">
                <a:tc>
                  <a:txBody>
                    <a:bodyPr/>
                    <a:lstStyle/>
                    <a:p>
                      <a:pPr algn="l" fontAlgn="b"/>
                      <a:r>
                        <a:rPr lang="en-US" sz="900" b="0" i="1" u="none" strike="noStrike" dirty="0">
                          <a:solidFill>
                            <a:srgbClr val="000000"/>
                          </a:solidFill>
                          <a:effectLst/>
                          <a:latin typeface="Century Gothic" panose="020B0502020202020204" pitchFamily="34" charset="0"/>
                        </a:rPr>
                        <a:t>SECURE</a:t>
                      </a:r>
                    </a:p>
                  </a:txBody>
                  <a:tcPr marL="5556" marR="5556" marT="5556" marB="0">
                    <a:lnL>
                      <a:noFill/>
                    </a:lnL>
                    <a:lnR>
                      <a:noFill/>
                    </a:lnR>
                    <a:lnT>
                      <a:noFill/>
                    </a:lnT>
                    <a:lnB>
                      <a:noFill/>
                    </a:lnB>
                    <a:noFill/>
                  </a:tcPr>
                </a:tc>
                <a:tc>
                  <a:txBody>
                    <a:bodyPr/>
                    <a:lstStyle/>
                    <a:p>
                      <a:pPr algn="l" fontAlgn="b"/>
                      <a:r>
                        <a:rPr lang="en-US" sz="900" b="0" i="0" u="none" strike="noStrike">
                          <a:solidFill>
                            <a:srgbClr val="000000"/>
                          </a:solidFill>
                          <a:effectLst/>
                          <a:latin typeface="Century Gothic" panose="020B0502020202020204" pitchFamily="34" charset="0"/>
                        </a:rPr>
                        <a:t>Rochester Institute of Technology</a:t>
                      </a:r>
                    </a:p>
                  </a:txBody>
                  <a:tcPr marL="5556" marR="5556" marT="5556" marB="0">
                    <a:lnL>
                      <a:noFill/>
                    </a:lnL>
                    <a:lnR>
                      <a:noFill/>
                    </a:lnR>
                    <a:lnT>
                      <a:noFill/>
                    </a:lnT>
                    <a:lnB>
                      <a:noFill/>
                    </a:lnB>
                    <a:noFill/>
                  </a:tcPr>
                </a:tc>
                <a:tc>
                  <a:txBody>
                    <a:bodyPr/>
                    <a:lstStyle/>
                    <a:p>
                      <a:pPr algn="l" fontAlgn="b"/>
                      <a:r>
                        <a:rPr lang="en-US" sz="900" b="0" i="0" u="none" strike="noStrike" dirty="0">
                          <a:solidFill>
                            <a:srgbClr val="000000"/>
                          </a:solidFill>
                          <a:effectLst/>
                          <a:latin typeface="Century Gothic" panose="020B0502020202020204" pitchFamily="34" charset="0"/>
                        </a:rPr>
                        <a:t>Partially (some datasets)</a:t>
                      </a:r>
                    </a:p>
                  </a:txBody>
                  <a:tcPr marL="5556" marR="5556" marT="5556" marB="0">
                    <a:lnL>
                      <a:noFill/>
                    </a:lnL>
                    <a:lnR>
                      <a:noFill/>
                    </a:lnR>
                    <a:lnT>
                      <a:noFill/>
                    </a:lnT>
                    <a:lnB>
                      <a:noFill/>
                    </a:lnB>
                    <a:noFill/>
                  </a:tcPr>
                </a:tc>
                <a:tc>
                  <a:txBody>
                    <a:bodyPr/>
                    <a:lstStyle/>
                    <a:p>
                      <a:pPr algn="l" fontAlgn="b"/>
                      <a:r>
                        <a:rPr lang="en-US" sz="900" b="0" i="0" u="none" strike="noStrike" dirty="0">
                          <a:solidFill>
                            <a:srgbClr val="000000"/>
                          </a:solidFill>
                          <a:effectLst/>
                          <a:latin typeface="Century Gothic" panose="020B0502020202020204" pitchFamily="34" charset="0"/>
                        </a:rPr>
                        <a:t>ICS Security, Threat Reasoning</a:t>
                      </a:r>
                    </a:p>
                  </a:txBody>
                  <a:tcPr marL="5556" marR="5556" marT="5556" marB="0">
                    <a:lnL>
                      <a:noFill/>
                    </a:lnL>
                    <a:lnR>
                      <a:noFill/>
                    </a:lnR>
                    <a:lnT>
                      <a:noFill/>
                    </a:lnT>
                    <a:lnB>
                      <a:noFill/>
                    </a:lnB>
                    <a:noFill/>
                  </a:tcPr>
                </a:tc>
                <a:tc>
                  <a:txBody>
                    <a:bodyPr/>
                    <a:lstStyle/>
                    <a:p>
                      <a:pPr algn="l" fontAlgn="b"/>
                      <a:r>
                        <a:rPr lang="en-US" sz="900" b="0" i="0" u="none" strike="noStrike" dirty="0">
                          <a:solidFill>
                            <a:srgbClr val="000000"/>
                          </a:solidFill>
                          <a:effectLst/>
                          <a:latin typeface="Century Gothic" panose="020B0502020202020204" pitchFamily="34" charset="0"/>
                        </a:rPr>
                        <a:t>Knowledge extraction, understanding, reasoning in ICS scenarios</a:t>
                      </a:r>
                    </a:p>
                  </a:txBody>
                  <a:tcPr marL="5556" marR="5556" marT="5556" marB="0">
                    <a:lnL>
                      <a:noFill/>
                    </a:lnL>
                    <a:lnR>
                      <a:noFill/>
                    </a:lnR>
                    <a:lnT>
                      <a:noFill/>
                    </a:lnT>
                    <a:lnB>
                      <a:noFill/>
                    </a:lnB>
                    <a:noFill/>
                  </a:tcPr>
                </a:tc>
                <a:tc>
                  <a:txBody>
                    <a:bodyPr/>
                    <a:lstStyle/>
                    <a:p>
                      <a:pPr algn="ctr" fontAlgn="b"/>
                      <a:r>
                        <a:rPr lang="en-US" sz="900" b="0" i="0" u="none" strike="noStrike" dirty="0">
                          <a:solidFill>
                            <a:srgbClr val="000000"/>
                          </a:solidFill>
                          <a:effectLst/>
                          <a:latin typeface="Century Gothic" panose="020B0502020202020204" pitchFamily="34" charset="0"/>
                        </a:rPr>
                        <a:t>May-24</a:t>
                      </a:r>
                    </a:p>
                  </a:txBody>
                  <a:tcPr marL="5556" marR="5556" marT="5556" marB="0">
                    <a:lnL>
                      <a:noFill/>
                    </a:lnL>
                    <a:lnR>
                      <a:noFill/>
                    </a:lnR>
                    <a:lnT>
                      <a:noFill/>
                    </a:lnT>
                    <a:lnB>
                      <a:noFill/>
                    </a:lnB>
                    <a:noFill/>
                  </a:tcPr>
                </a:tc>
                <a:extLst>
                  <a:ext uri="{0D108BD9-81ED-4DB2-BD59-A6C34878D82A}">
                    <a16:rowId xmlns:a16="http://schemas.microsoft.com/office/drawing/2014/main" val="3348344907"/>
                  </a:ext>
                </a:extLst>
              </a:tr>
              <a:tr h="683188">
                <a:tc>
                  <a:txBody>
                    <a:bodyPr/>
                    <a:lstStyle/>
                    <a:p>
                      <a:pPr algn="l" fontAlgn="b"/>
                      <a:r>
                        <a:rPr lang="en-US" sz="900" b="0" i="1" u="none" strike="noStrike" dirty="0">
                          <a:solidFill>
                            <a:srgbClr val="000000"/>
                          </a:solidFill>
                          <a:effectLst/>
                          <a:latin typeface="Century Gothic" panose="020B0502020202020204" pitchFamily="34" charset="0"/>
                        </a:rPr>
                        <a:t>Cybench</a:t>
                      </a:r>
                    </a:p>
                  </a:txBody>
                  <a:tcPr marL="5556" marR="5556" marT="5556" marB="0">
                    <a:lnL>
                      <a:noFill/>
                    </a:lnL>
                    <a:lnR>
                      <a:noFill/>
                    </a:lnR>
                    <a:lnT>
                      <a:noFill/>
                    </a:lnT>
                    <a:lnB>
                      <a:noFill/>
                    </a:lnB>
                    <a:noFill/>
                  </a:tcPr>
                </a:tc>
                <a:tc>
                  <a:txBody>
                    <a:bodyPr/>
                    <a:lstStyle/>
                    <a:p>
                      <a:pPr algn="l" fontAlgn="b"/>
                      <a:r>
                        <a:rPr lang="en-US" sz="900" b="0" i="0" u="none" strike="noStrike">
                          <a:solidFill>
                            <a:srgbClr val="000000"/>
                          </a:solidFill>
                          <a:effectLst/>
                          <a:latin typeface="Century Gothic" panose="020B0502020202020204" pitchFamily="34" charset="0"/>
                        </a:rPr>
                        <a:t>CTF Community Researchers</a:t>
                      </a:r>
                    </a:p>
                  </a:txBody>
                  <a:tcPr marL="5556" marR="5556" marT="5556" marB="0">
                    <a:lnL>
                      <a:noFill/>
                    </a:lnL>
                    <a:lnR>
                      <a:noFill/>
                    </a:lnR>
                    <a:lnT>
                      <a:noFill/>
                    </a:lnT>
                    <a:lnB>
                      <a:noFill/>
                    </a:lnB>
                    <a:noFill/>
                  </a:tcPr>
                </a:tc>
                <a:tc>
                  <a:txBody>
                    <a:bodyPr/>
                    <a:lstStyle/>
                    <a:p>
                      <a:pPr algn="l" fontAlgn="b"/>
                      <a:r>
                        <a:rPr lang="en-US" sz="900" b="0" i="0" u="none" strike="noStrike" dirty="0">
                          <a:solidFill>
                            <a:srgbClr val="000000"/>
                          </a:solidFill>
                          <a:effectLst/>
                          <a:latin typeface="Century Gothic" panose="020B0502020202020204" pitchFamily="34" charset="0"/>
                        </a:rPr>
                        <a:t>Limited (some CTF challenges)</a:t>
                      </a:r>
                    </a:p>
                  </a:txBody>
                  <a:tcPr marL="5556" marR="5556" marT="5556" marB="0">
                    <a:lnL>
                      <a:noFill/>
                    </a:lnL>
                    <a:lnR>
                      <a:noFill/>
                    </a:lnR>
                    <a:lnT>
                      <a:noFill/>
                    </a:lnT>
                    <a:lnB>
                      <a:noFill/>
                    </a:lnB>
                    <a:noFill/>
                  </a:tcPr>
                </a:tc>
                <a:tc>
                  <a:txBody>
                    <a:bodyPr/>
                    <a:lstStyle/>
                    <a:p>
                      <a:pPr algn="l" fontAlgn="b"/>
                      <a:r>
                        <a:rPr lang="en-US" sz="900" b="0" i="0" u="none" strike="noStrike" dirty="0">
                          <a:solidFill>
                            <a:srgbClr val="000000"/>
                          </a:solidFill>
                          <a:effectLst/>
                          <a:latin typeface="Century Gothic" panose="020B0502020202020204" pitchFamily="34" charset="0"/>
                        </a:rPr>
                        <a:t>Offensive Security, Exploit Development</a:t>
                      </a:r>
                    </a:p>
                  </a:txBody>
                  <a:tcPr marL="5556" marR="5556" marT="5556" marB="0">
                    <a:lnL>
                      <a:noFill/>
                    </a:lnL>
                    <a:lnR>
                      <a:noFill/>
                    </a:lnR>
                    <a:lnT>
                      <a:noFill/>
                    </a:lnT>
                    <a:lnB>
                      <a:noFill/>
                    </a:lnB>
                    <a:noFill/>
                  </a:tcPr>
                </a:tc>
                <a:tc>
                  <a:txBody>
                    <a:bodyPr/>
                    <a:lstStyle/>
                    <a:p>
                      <a:pPr algn="l" fontAlgn="b"/>
                      <a:r>
                        <a:rPr lang="en-US" sz="900" b="0" i="0" u="none" strike="noStrike" dirty="0">
                          <a:solidFill>
                            <a:srgbClr val="000000"/>
                          </a:solidFill>
                          <a:effectLst/>
                          <a:latin typeface="Century Gothic" panose="020B0502020202020204" pitchFamily="34" charset="0"/>
                        </a:rPr>
                        <a:t>CTF task solving, vulnerability discovery, exploit execution</a:t>
                      </a:r>
                    </a:p>
                  </a:txBody>
                  <a:tcPr marL="5556" marR="5556" marT="5556" marB="0">
                    <a:lnL>
                      <a:noFill/>
                    </a:lnL>
                    <a:lnR>
                      <a:noFill/>
                    </a:lnR>
                    <a:lnT>
                      <a:noFill/>
                    </a:lnT>
                    <a:lnB>
                      <a:noFill/>
                    </a:lnB>
                    <a:noFill/>
                  </a:tcPr>
                </a:tc>
                <a:tc>
                  <a:txBody>
                    <a:bodyPr/>
                    <a:lstStyle/>
                    <a:p>
                      <a:pPr algn="ctr" fontAlgn="b"/>
                      <a:r>
                        <a:rPr lang="en-US" sz="900" b="0" i="0" u="none" strike="noStrike" dirty="0">
                          <a:solidFill>
                            <a:srgbClr val="000000"/>
                          </a:solidFill>
                          <a:effectLst/>
                          <a:latin typeface="Century Gothic" panose="020B0502020202020204" pitchFamily="34" charset="0"/>
                        </a:rPr>
                        <a:t>Jun-24</a:t>
                      </a:r>
                    </a:p>
                  </a:txBody>
                  <a:tcPr marL="5556" marR="5556" marT="5556" marB="0">
                    <a:lnL>
                      <a:noFill/>
                    </a:lnL>
                    <a:lnR>
                      <a:noFill/>
                    </a:lnR>
                    <a:lnT>
                      <a:noFill/>
                    </a:lnT>
                    <a:lnB>
                      <a:noFill/>
                    </a:lnB>
                    <a:noFill/>
                  </a:tcPr>
                </a:tc>
                <a:extLst>
                  <a:ext uri="{0D108BD9-81ED-4DB2-BD59-A6C34878D82A}">
                    <a16:rowId xmlns:a16="http://schemas.microsoft.com/office/drawing/2014/main" val="2081304461"/>
                  </a:ext>
                </a:extLst>
              </a:tr>
            </a:tbl>
          </a:graphicData>
        </a:graphic>
      </p:graphicFrame>
    </p:spTree>
    <p:extLst>
      <p:ext uri="{BB962C8B-B14F-4D97-AF65-F5344CB8AC3E}">
        <p14:creationId xmlns:p14="http://schemas.microsoft.com/office/powerpoint/2010/main" val="417559155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B219AE65-9B94-44EA-BEF3-EF4BFA169C8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F0C81A57-9CD5-461B-8FFE-4A8CB6CFBE0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017539" y="467397"/>
            <a:ext cx="695829" cy="5919116"/>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grpSp>
        <p:nvGrpSpPr>
          <p:cNvPr id="12" name="Group 11">
            <a:extLst>
              <a:ext uri="{FF2B5EF4-FFF2-40B4-BE49-F238E27FC236}">
                <a16:creationId xmlns:a16="http://schemas.microsoft.com/office/drawing/2014/main" id="{3086C462-37F4-494D-8292-CCB95221CC1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12192000" cy="6858000"/>
            <a:chOff x="0" y="0"/>
            <a:chExt cx="12192000" cy="6858000"/>
          </a:xfrm>
          <a:solidFill>
            <a:srgbClr val="FFFFFF"/>
          </a:solidFill>
        </p:grpSpPr>
        <p:sp>
          <p:nvSpPr>
            <p:cNvPr id="13" name="Rectangle 12">
              <a:extLst>
                <a:ext uri="{FF2B5EF4-FFF2-40B4-BE49-F238E27FC236}">
                  <a16:creationId xmlns:a16="http://schemas.microsoft.com/office/drawing/2014/main" id="{2C7D2D64-353F-4802-AA48-A70CE6020B9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0"/>
              <a:ext cx="12192000"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14" name="Freeform 5">
              <a:extLst>
                <a:ext uri="{FF2B5EF4-FFF2-40B4-BE49-F238E27FC236}">
                  <a16:creationId xmlns:a16="http://schemas.microsoft.com/office/drawing/2014/main" id="{30A6328F-CAA3-4052-BF4C-14BD47706E65}"/>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ln>
              <a:noFill/>
            </a:ln>
          </p:spPr>
          <p:style>
            <a:lnRef idx="0">
              <a:scrgbClr r="0" g="0" b="0"/>
            </a:lnRef>
            <a:fillRef idx="1002">
              <a:schemeClr val="dk2"/>
            </a:fillRef>
            <a:effectRef idx="0">
              <a:scrgbClr r="0" g="0" b="0"/>
            </a:effectRef>
            <a:fontRef idx="major"/>
          </p:style>
          <p:txBody>
            <a:bodyPr/>
            <a:lstStyle/>
            <a:p>
              <a:endParaRPr lang="en-US"/>
            </a:p>
          </p:txBody>
        </p:sp>
      </p:grpSp>
      <p:sp>
        <p:nvSpPr>
          <p:cNvPr id="2" name="Title 1">
            <a:extLst>
              <a:ext uri="{FF2B5EF4-FFF2-40B4-BE49-F238E27FC236}">
                <a16:creationId xmlns:a16="http://schemas.microsoft.com/office/drawing/2014/main" id="{1AF486E7-C0A7-0DFE-69C7-97CAC99F747D}"/>
              </a:ext>
            </a:extLst>
          </p:cNvPr>
          <p:cNvSpPr>
            <a:spLocks noGrp="1"/>
          </p:cNvSpPr>
          <p:nvPr>
            <p:ph type="title"/>
          </p:nvPr>
        </p:nvSpPr>
        <p:spPr>
          <a:xfrm>
            <a:off x="1000372" y="1209957"/>
            <a:ext cx="3034580" cy="4438087"/>
          </a:xfrm>
        </p:spPr>
        <p:txBody>
          <a:bodyPr anchor="ctr">
            <a:normAutofit/>
          </a:bodyPr>
          <a:lstStyle/>
          <a:p>
            <a:pPr algn="r"/>
            <a:r>
              <a:rPr lang="en-US" sz="3200" dirty="0">
                <a:solidFill>
                  <a:schemeClr val="tx1"/>
                </a:solidFill>
              </a:rPr>
              <a:t>Survey Research Literature in Cyber Security</a:t>
            </a:r>
          </a:p>
        </p:txBody>
      </p:sp>
      <p:cxnSp>
        <p:nvCxnSpPr>
          <p:cNvPr id="16" name="Straight Connector 15">
            <a:extLst>
              <a:ext uri="{FF2B5EF4-FFF2-40B4-BE49-F238E27FC236}">
                <a16:creationId xmlns:a16="http://schemas.microsoft.com/office/drawing/2014/main" id="{AD23B2CD-009B-425A-9616-1E1AD1D5AB46}"/>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356687" y="1930986"/>
            <a:ext cx="0" cy="3200400"/>
          </a:xfrm>
          <a:prstGeom prst="line">
            <a:avLst/>
          </a:prstGeom>
          <a:ln w="15875" cap="sq">
            <a:solidFill>
              <a:schemeClr val="tx2"/>
            </a:solidFill>
            <a:miter lim="800000"/>
          </a:ln>
        </p:spPr>
        <p:style>
          <a:lnRef idx="1">
            <a:schemeClr val="accent1"/>
          </a:lnRef>
          <a:fillRef idx="0">
            <a:schemeClr val="accent1"/>
          </a:fillRef>
          <a:effectRef idx="0">
            <a:schemeClr val="accent1"/>
          </a:effectRef>
          <a:fontRef idx="minor">
            <a:schemeClr val="tx1"/>
          </a:fontRef>
        </p:style>
      </p:cxnSp>
      <p:pic>
        <p:nvPicPr>
          <p:cNvPr id="6" name="Picture 5">
            <a:extLst>
              <a:ext uri="{FF2B5EF4-FFF2-40B4-BE49-F238E27FC236}">
                <a16:creationId xmlns:a16="http://schemas.microsoft.com/office/drawing/2014/main" id="{77330A60-904F-A8BB-3692-2324A79CEE29}"/>
              </a:ext>
            </a:extLst>
          </p:cNvPr>
          <p:cNvPicPr>
            <a:picLocks noChangeAspect="1"/>
          </p:cNvPicPr>
          <p:nvPr/>
        </p:nvPicPr>
        <p:blipFill>
          <a:blip r:embed="rId2"/>
          <a:stretch>
            <a:fillRect/>
          </a:stretch>
        </p:blipFill>
        <p:spPr>
          <a:xfrm>
            <a:off x="5035324" y="573446"/>
            <a:ext cx="5039212" cy="5711107"/>
          </a:xfrm>
          <a:prstGeom prst="rect">
            <a:avLst/>
          </a:prstGeom>
        </p:spPr>
      </p:pic>
    </p:spTree>
    <p:extLst>
      <p:ext uri="{BB962C8B-B14F-4D97-AF65-F5344CB8AC3E}">
        <p14:creationId xmlns:p14="http://schemas.microsoft.com/office/powerpoint/2010/main" val="157977712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C2937DE4-D372-E9AC-4B63-F0CA7F85CED7}"/>
            </a:ext>
          </a:extLst>
        </p:cNvPr>
        <p:cNvGrpSpPr/>
        <p:nvPr/>
      </p:nvGrpSpPr>
      <p:grpSpPr>
        <a:xfrm>
          <a:off x="0" y="0"/>
          <a:ext cx="0" cy="0"/>
          <a:chOff x="0" y="0"/>
          <a:chExt cx="0" cy="0"/>
        </a:xfrm>
      </p:grpSpPr>
      <p:sp>
        <p:nvSpPr>
          <p:cNvPr id="22" name="Freeform 5">
            <a:extLst>
              <a:ext uri="{FF2B5EF4-FFF2-40B4-BE49-F238E27FC236}">
                <a16:creationId xmlns:a16="http://schemas.microsoft.com/office/drawing/2014/main" id="{11CAC6F2-0806-417B-BF5D-5AEF6195FA4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tx1"/>
          </a:solidFill>
          <a:ln>
            <a:noFill/>
          </a:ln>
        </p:spPr>
        <p:txBody>
          <a:bodyPr/>
          <a:lstStyle/>
          <a:p>
            <a:endParaRPr lang="en-US"/>
          </a:p>
        </p:txBody>
      </p:sp>
      <p:sp>
        <p:nvSpPr>
          <p:cNvPr id="23" name="Rectangle 22">
            <a:extLst>
              <a:ext uri="{FF2B5EF4-FFF2-40B4-BE49-F238E27FC236}">
                <a16:creationId xmlns:a16="http://schemas.microsoft.com/office/drawing/2014/main" id="{D4723B02-0AAB-4F6E-BA41-8ED99D559D9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 name="Title 1">
            <a:extLst>
              <a:ext uri="{FF2B5EF4-FFF2-40B4-BE49-F238E27FC236}">
                <a16:creationId xmlns:a16="http://schemas.microsoft.com/office/drawing/2014/main" id="{0E89FA57-33AB-B508-4C3E-FBCC5D7B09BC}"/>
              </a:ext>
            </a:extLst>
          </p:cNvPr>
          <p:cNvSpPr>
            <a:spLocks noGrp="1"/>
          </p:cNvSpPr>
          <p:nvPr>
            <p:ph type="ctrTitle"/>
          </p:nvPr>
        </p:nvSpPr>
        <p:spPr>
          <a:xfrm>
            <a:off x="8160773" y="1113062"/>
            <a:ext cx="3382297" cy="3281957"/>
          </a:xfrm>
        </p:spPr>
        <p:txBody>
          <a:bodyPr>
            <a:normAutofit/>
          </a:bodyPr>
          <a:lstStyle/>
          <a:p>
            <a:r>
              <a:rPr lang="en-US">
                <a:solidFill>
                  <a:srgbClr val="EBEBEB"/>
                </a:solidFill>
              </a:rPr>
              <a:t>Athena Software Group</a:t>
            </a:r>
          </a:p>
        </p:txBody>
      </p:sp>
      <p:sp>
        <p:nvSpPr>
          <p:cNvPr id="3" name="Subtitle 2">
            <a:extLst>
              <a:ext uri="{FF2B5EF4-FFF2-40B4-BE49-F238E27FC236}">
                <a16:creationId xmlns:a16="http://schemas.microsoft.com/office/drawing/2014/main" id="{4E92CDE8-CD60-CA2E-223F-76A53504251D}"/>
              </a:ext>
            </a:extLst>
          </p:cNvPr>
          <p:cNvSpPr>
            <a:spLocks noGrp="1"/>
          </p:cNvSpPr>
          <p:nvPr>
            <p:ph type="subTitle" idx="1"/>
          </p:nvPr>
        </p:nvSpPr>
        <p:spPr>
          <a:xfrm>
            <a:off x="8160773" y="4591665"/>
            <a:ext cx="3382298" cy="1150156"/>
          </a:xfrm>
        </p:spPr>
        <p:txBody>
          <a:bodyPr>
            <a:normAutofit/>
          </a:bodyPr>
          <a:lstStyle/>
          <a:p>
            <a:pPr>
              <a:lnSpc>
                <a:spcPct val="90000"/>
              </a:lnSpc>
            </a:pPr>
            <a:r>
              <a:rPr lang="en-US" i="1" dirty="0"/>
              <a:t>Best in Class, AI Enabled, security solutions for Enterprise application providers.</a:t>
            </a:r>
            <a:endParaRPr lang="en-US" i="1"/>
          </a:p>
        </p:txBody>
      </p:sp>
      <p:pic>
        <p:nvPicPr>
          <p:cNvPr id="5" name="Picture 4">
            <a:extLst>
              <a:ext uri="{FF2B5EF4-FFF2-40B4-BE49-F238E27FC236}">
                <a16:creationId xmlns:a16="http://schemas.microsoft.com/office/drawing/2014/main" id="{97678170-9CB9-9E3B-855F-C3C5DAE8265B}"/>
              </a:ext>
            </a:extLst>
          </p:cNvPr>
          <p:cNvPicPr>
            <a:picLocks noChangeAspect="1"/>
          </p:cNvPicPr>
          <p:nvPr/>
        </p:nvPicPr>
        <p:blipFill>
          <a:blip r:embed="rId2"/>
          <a:stretch>
            <a:fillRect/>
          </a:stretch>
        </p:blipFill>
        <p:spPr>
          <a:xfrm>
            <a:off x="1109763" y="1316544"/>
            <a:ext cx="6470907" cy="4221795"/>
          </a:xfrm>
          <a:prstGeom prst="roundRect">
            <a:avLst>
              <a:gd name="adj" fmla="val 1858"/>
            </a:avLst>
          </a:prstGeom>
          <a:effectLst>
            <a:outerShdw blurRad="50800" dist="50800" dir="5400000" algn="tl" rotWithShape="0">
              <a:srgbClr val="000000">
                <a:alpha val="43000"/>
              </a:srgbClr>
            </a:outerShdw>
          </a:effectLst>
        </p:spPr>
      </p:pic>
    </p:spTree>
    <p:extLst>
      <p:ext uri="{BB962C8B-B14F-4D97-AF65-F5344CB8AC3E}">
        <p14:creationId xmlns:p14="http://schemas.microsoft.com/office/powerpoint/2010/main" val="893412626"/>
      </p:ext>
    </p:extLst>
  </p:cSld>
  <p:clrMapOvr>
    <a:overrideClrMapping bg1="dk1" tx1="lt1" bg2="dk2" tx2="lt2" accent1="accent1" accent2="accent2" accent3="accent3" accent4="accent4" accent5="accent5" accent6="accent6" hlink="hlink" folHlink="folHlink"/>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49334C-CDDD-E6A7-E166-3719B482A9A1}"/>
              </a:ext>
            </a:extLst>
          </p:cNvPr>
          <p:cNvSpPr>
            <a:spLocks noGrp="1"/>
          </p:cNvSpPr>
          <p:nvPr>
            <p:ph type="title"/>
          </p:nvPr>
        </p:nvSpPr>
        <p:spPr>
          <a:xfrm>
            <a:off x="772181" y="120316"/>
            <a:ext cx="8761413" cy="1115148"/>
          </a:xfrm>
        </p:spPr>
        <p:txBody>
          <a:bodyPr/>
          <a:lstStyle/>
          <a:p>
            <a:r>
              <a:rPr lang="en-US" sz="2800" i="1" dirty="0"/>
              <a:t>Glaukopis (</a:t>
            </a:r>
            <a:r>
              <a:rPr lang="el-GR" sz="2800" i="1" dirty="0"/>
              <a:t>γλαυκῶπις</a:t>
            </a:r>
            <a:r>
              <a:rPr lang="en-US" sz="2800" i="1" dirty="0"/>
              <a:t>)</a:t>
            </a:r>
            <a:br>
              <a:rPr lang="en-US" sz="2800" dirty="0"/>
            </a:br>
            <a:r>
              <a:rPr lang="en-US" sz="2000" i="1" dirty="0"/>
              <a:t>the “grey eyed one”</a:t>
            </a:r>
            <a:endParaRPr lang="en-US" sz="2800" i="1" dirty="0"/>
          </a:p>
        </p:txBody>
      </p:sp>
      <p:pic>
        <p:nvPicPr>
          <p:cNvPr id="5" name="Picture 4">
            <a:extLst>
              <a:ext uri="{FF2B5EF4-FFF2-40B4-BE49-F238E27FC236}">
                <a16:creationId xmlns:a16="http://schemas.microsoft.com/office/drawing/2014/main" id="{A8A1A29D-4D1D-485F-7E7A-6DA6F40E0B31}"/>
              </a:ext>
            </a:extLst>
          </p:cNvPr>
          <p:cNvPicPr>
            <a:picLocks noChangeAspect="1"/>
          </p:cNvPicPr>
          <p:nvPr/>
        </p:nvPicPr>
        <p:blipFill>
          <a:blip r:embed="rId2"/>
          <a:stretch>
            <a:fillRect/>
          </a:stretch>
        </p:blipFill>
        <p:spPr>
          <a:xfrm>
            <a:off x="5152887" y="1481477"/>
            <a:ext cx="6468978" cy="4777742"/>
          </a:xfrm>
          <a:prstGeom prst="rect">
            <a:avLst/>
          </a:prstGeom>
        </p:spPr>
      </p:pic>
      <p:pic>
        <p:nvPicPr>
          <p:cNvPr id="1026" name="Picture 2" descr="In Homer's 'Odyssey,' what is the meaning behind Athena being referred to  as “gray-eyed” and “owl-eyed” at different points? - Quora">
            <a:extLst>
              <a:ext uri="{FF2B5EF4-FFF2-40B4-BE49-F238E27FC236}">
                <a16:creationId xmlns:a16="http://schemas.microsoft.com/office/drawing/2014/main" id="{2E3F3C76-2F4A-85D1-1ABE-EA3BC81A095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72181" y="1481477"/>
            <a:ext cx="3721735" cy="453153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24171795"/>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 Boardroom">
  <a:themeElements>
    <a:clrScheme name="Ion Boardroom">
      <a:dk1>
        <a:sysClr val="windowText" lastClr="000000"/>
      </a:dk1>
      <a:lt1>
        <a:sysClr val="window" lastClr="FFFFFF"/>
      </a:lt1>
      <a:dk2>
        <a:srgbClr val="3B3059"/>
      </a:dk2>
      <a:lt2>
        <a:srgbClr val="EBEBEB"/>
      </a:lt2>
      <a:accent1>
        <a:srgbClr val="B31166"/>
      </a:accent1>
      <a:accent2>
        <a:srgbClr val="E33D6F"/>
      </a:accent2>
      <a:accent3>
        <a:srgbClr val="E45F3C"/>
      </a:accent3>
      <a:accent4>
        <a:srgbClr val="E9943A"/>
      </a:accent4>
      <a:accent5>
        <a:srgbClr val="9B6BF2"/>
      </a:accent5>
      <a:accent6>
        <a:srgbClr val="D53DD0"/>
      </a:accent6>
      <a:hlink>
        <a:srgbClr val="8F8F8F"/>
      </a:hlink>
      <a:folHlink>
        <a:srgbClr val="A5A5A5"/>
      </a:folHlink>
    </a:clrScheme>
    <a:fontScheme name="Ion Boardroom">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Boardroom">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8000"/>
                <a:hueMod val="124000"/>
                <a:satMod val="148000"/>
                <a:lumMod val="124000"/>
              </a:schemeClr>
            </a:gs>
            <a:gs pos="100000">
              <a:schemeClr val="phClr">
                <a:shade val="76000"/>
                <a:hueMod val="89000"/>
                <a:satMod val="164000"/>
                <a:lumMod val="56000"/>
              </a:schemeClr>
            </a:gs>
          </a:gsLst>
          <a:path path="circle">
            <a:fillToRect l="45000" t="65000" r="125000" b="100000"/>
          </a:path>
        </a:gradFill>
        <a:blipFill rotWithShape="1">
          <a:blip xmlns:r="http://schemas.openxmlformats.org/officeDocument/2006/relationships" r:embed="rId1">
            <a:duotone>
              <a:schemeClr val="phClr">
                <a:shade val="69000"/>
                <a:hueMod val="91000"/>
                <a:satMod val="164000"/>
                <a:lumMod val="74000"/>
              </a:schemeClr>
              <a:schemeClr val="phClr">
                <a:hueMod val="124000"/>
                <a:satMod val="140000"/>
                <a:lumMod val="142000"/>
              </a:schemeClr>
            </a:duotone>
          </a:blip>
          <a:stretch/>
        </a:blipFill>
      </a:bgFillStyleLst>
    </a:fmtScheme>
  </a:themeElements>
  <a:objectDefaults/>
  <a:extraClrSchemeLst/>
  <a:extLst>
    <a:ext uri="{05A4C25C-085E-4340-85A3-A5531E510DB2}">
      <thm15:themeFamily xmlns:thm15="http://schemas.microsoft.com/office/thememl/2012/main" name="Ion Boardroom" id="{FC33163D-4339-46B1-8EED-24C834239D99}" vid="{B8502691-933B-45FE-8764-BA278511EF27}"/>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Ion Boardroom</Template>
  <TotalTime>12145</TotalTime>
  <Words>1988</Words>
  <Application>Microsoft Macintosh PowerPoint</Application>
  <PresentationFormat>Widescreen</PresentationFormat>
  <Paragraphs>205</Paragraphs>
  <Slides>13</Slides>
  <Notes>0</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13</vt:i4>
      </vt:variant>
    </vt:vector>
  </HeadingPairs>
  <TitlesOfParts>
    <vt:vector size="22" baseType="lpstr">
      <vt:lpstr>-apple-system-font</vt:lpstr>
      <vt:lpstr>Aptos</vt:lpstr>
      <vt:lpstr>Aptos Narrow</vt:lpstr>
      <vt:lpstr>Arial</vt:lpstr>
      <vt:lpstr>Century Gothic</vt:lpstr>
      <vt:lpstr>Open Sans</vt:lpstr>
      <vt:lpstr>Segoe UI Black</vt:lpstr>
      <vt:lpstr>Wingdings 3</vt:lpstr>
      <vt:lpstr>Ion Boardroom</vt:lpstr>
      <vt:lpstr>Cyber Security Language Models Adapting Cyber Defense to the Advance of AI</vt:lpstr>
      <vt:lpstr>PowerPoint Presentation</vt:lpstr>
      <vt:lpstr>Athena Software Group Inc.</vt:lpstr>
      <vt:lpstr>Foundational Use Cases for Cyber Security Language Models </vt:lpstr>
      <vt:lpstr>Cyber Security Language Models</vt:lpstr>
      <vt:lpstr>Different Training Strategies</vt:lpstr>
      <vt:lpstr>Adapting LLMs for Cyber Security</vt:lpstr>
      <vt:lpstr>Evolution of Finetuning Approaches</vt:lpstr>
      <vt:lpstr>The LLM Dev-Test-Deploy Workflow Importance of Proper Benchmarking (testing)</vt:lpstr>
      <vt:lpstr>Evaluating the Performance of Cyber Security LLMs Benchmarks for Cyber Security Language Models</vt:lpstr>
      <vt:lpstr>Survey Research Literature in Cyber Security</vt:lpstr>
      <vt:lpstr>Athena Software Group</vt:lpstr>
      <vt:lpstr>Glaukopis (γλαυκῶπις) the “grey eyed one”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Peter Worth</dc:creator>
  <cp:lastModifiedBy>Peter Worth</cp:lastModifiedBy>
  <cp:revision>63</cp:revision>
  <dcterms:created xsi:type="dcterms:W3CDTF">2025-02-21T13:12:15Z</dcterms:created>
  <dcterms:modified xsi:type="dcterms:W3CDTF">2025-04-22T10:25:27Z</dcterms:modified>
</cp:coreProperties>
</file>