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1225" y="299255"/>
            <a:ext cx="9660255" cy="10341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56500" y="4070513"/>
            <a:ext cx="9020364" cy="10494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rgbClr val="0563C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rgbClr val="0563C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1225" y="637457"/>
            <a:ext cx="1022286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2832" y="1770304"/>
            <a:ext cx="10326335" cy="2960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rgbClr val="0563C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clanthology.org/2021.emnlp-main.243/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hyperlink" Target="https://aclanthology.org/2021.emnlp-main.243/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clanthology.org/2021.emnlp-main.243/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hyperlink" Target="https://aclanthology.org/2021.acl-long.353/" TargetMode="Externa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Relationship Id="rId3" Type="http://schemas.openxmlformats.org/officeDocument/2006/relationships/hyperlink" Target="https://aclanthology.org/2021.acl-long.353/" TargetMode="Externa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rxiv.org/pdf/1902.00751.pdf" TargetMode="Externa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hyperlink" Target="https://arxiv.org/pdf/1902.00751.pdf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hyperlink" Target="https://arxiv.org/abs/2106.04647" TargetMode="Externa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Relationship Id="rId4" Type="http://schemas.openxmlformats.org/officeDocument/2006/relationships/hyperlink" Target="https://arxiv.org/abs/2106.04647" TargetMode="Externa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hyperlink" Target="https://arxiv.org/abs/2106.04647" TargetMode="Externa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clanthology.org/2021.eacl-main.39/" TargetMode="External"/><Relationship Id="rId3" Type="http://schemas.openxmlformats.org/officeDocument/2006/relationships/hyperlink" Target="https://aclanthology.org/2021.acl-short.108.pdf" TargetMode="Externa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hyperlink" Target="https://arxiv.org/abs/2106.10199" TargetMode="External"/><Relationship Id="rId4" Type="http://schemas.openxmlformats.org/officeDocument/2006/relationships/image" Target="../media/image18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rxiv.org/abs/2012.07463" TargetMode="Externa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hyperlink" Target="https://arxiv.org/abs/2012.13255" TargetMode="Externa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rxiv.org/abs/2106.09685" TargetMode="Externa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rxiv.org/abs/2205.05638" TargetMode="Externa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hyperlink" Target="http://www.leewayhertz.com/parameter-efficient-fine-tuning/" TargetMode="Externa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hyperlink" Target="http://www.leewayhertz.com/parameter-efficient-fine-tuning/" TargetMode="Externa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hyperlink" Target="http://www.leewayhertz.com/parameter-efficient-fine-tuning/" TargetMode="Externa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hyperlink" Target="http://www.leewayhertz.com/parameter-efficient-fine-tuning/" TargetMode="Externa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Relationship Id="rId3" Type="http://schemas.openxmlformats.org/officeDocument/2006/relationships/hyperlink" Target="https://www.nature.com/articles/s42256-023-00626-4" TargetMode="Externa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hyperlink" Target="https://www.nature.com/articles/s42256-023-00626-4" TargetMode="Externa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hyperlink" Target="https://www.nature.com/articles/s42256-023-00626-4" TargetMode="Externa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hyperlink" Target="https://www.nature.com/articles/s42256-023-00626-4" TargetMode="Externa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latform.openai.com/docs/guides/fine-tuning/fine-tuning-examples" TargetMode="External"/><Relationship Id="rId3" Type="http://schemas.openxmlformats.org/officeDocument/2006/relationships/hyperlink" Target="https://github.com/huggingface/peft" TargetMode="Externa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4972832" y="0"/>
              <a:ext cx="7219315" cy="6858000"/>
            </a:xfrm>
            <a:custGeom>
              <a:avLst/>
              <a:gdLst/>
              <a:ahLst/>
              <a:cxnLst/>
              <a:rect l="l" t="t" r="r" b="b"/>
              <a:pathLst>
                <a:path w="7219315" h="6858000">
                  <a:moveTo>
                    <a:pt x="7219167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7219167" y="0"/>
                  </a:lnTo>
                  <a:lnTo>
                    <a:pt x="7219167" y="6857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76230" y="3745281"/>
              <a:ext cx="5687695" cy="0"/>
            </a:xfrm>
            <a:custGeom>
              <a:avLst/>
              <a:gdLst/>
              <a:ahLst/>
              <a:cxnLst/>
              <a:rect l="l" t="t" r="r" b="b"/>
              <a:pathLst>
                <a:path w="5687695" h="0">
                  <a:moveTo>
                    <a:pt x="0" y="0"/>
                  </a:moveTo>
                  <a:lnTo>
                    <a:pt x="5687223" y="0"/>
                  </a:lnTo>
                </a:path>
              </a:pathLst>
            </a:custGeom>
            <a:ln w="126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4543" y="2556221"/>
              <a:ext cx="2078102" cy="131967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805488" y="2562721"/>
            <a:ext cx="490601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80">
                <a:solidFill>
                  <a:srgbClr val="525252"/>
                </a:solidFill>
                <a:latin typeface="Arial"/>
                <a:cs typeface="Arial"/>
              </a:rPr>
              <a:t>Parameter </a:t>
            </a:r>
            <a:r>
              <a:rPr dirty="0" sz="3600" spc="-120">
                <a:solidFill>
                  <a:srgbClr val="525252"/>
                </a:solidFill>
                <a:latin typeface="Arial"/>
                <a:cs typeface="Arial"/>
              </a:rPr>
              <a:t>Efficient</a:t>
            </a:r>
            <a:r>
              <a:rPr dirty="0" sz="3600" spc="-18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3600" spc="-185">
                <a:solidFill>
                  <a:srgbClr val="525252"/>
                </a:solidFill>
                <a:latin typeface="Arial"/>
                <a:cs typeface="Arial"/>
              </a:rPr>
              <a:t>Tuning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17060" marR="5080">
              <a:lnSpc>
                <a:spcPct val="150000"/>
              </a:lnSpc>
              <a:spcBef>
                <a:spcPts val="100"/>
              </a:spcBef>
            </a:pPr>
            <a:r>
              <a:rPr dirty="0" u="none" sz="1600" b="1">
                <a:solidFill>
                  <a:srgbClr val="525252"/>
                </a:solidFill>
                <a:latin typeface="Arial"/>
                <a:cs typeface="Arial"/>
              </a:rPr>
              <a:t>11-667:</a:t>
            </a:r>
            <a:r>
              <a:rPr dirty="0" u="none" sz="1600" spc="-3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u="none" sz="1600" spc="-110" b="1">
                <a:solidFill>
                  <a:srgbClr val="525252"/>
                </a:solidFill>
                <a:latin typeface="Arial"/>
                <a:cs typeface="Arial"/>
              </a:rPr>
              <a:t>LARGE</a:t>
            </a:r>
            <a:r>
              <a:rPr dirty="0" u="none" sz="1600" spc="-3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u="none" sz="1600" spc="-50" b="1">
                <a:solidFill>
                  <a:srgbClr val="525252"/>
                </a:solidFill>
                <a:latin typeface="Arial"/>
                <a:cs typeface="Arial"/>
              </a:rPr>
              <a:t>LANGUAGE</a:t>
            </a:r>
            <a:r>
              <a:rPr dirty="0" u="none" sz="1600" spc="-3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u="none" sz="1600" spc="-45" b="1">
                <a:solidFill>
                  <a:srgbClr val="525252"/>
                </a:solidFill>
                <a:latin typeface="Arial"/>
                <a:cs typeface="Arial"/>
              </a:rPr>
              <a:t>MODELS:</a:t>
            </a:r>
            <a:r>
              <a:rPr dirty="0" u="none" sz="1600" spc="-35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u="none" sz="1600" spc="-10" b="1">
                <a:solidFill>
                  <a:srgbClr val="525252"/>
                </a:solidFill>
                <a:latin typeface="Arial"/>
                <a:cs typeface="Arial"/>
              </a:rPr>
              <a:t>METHODS </a:t>
            </a:r>
            <a:r>
              <a:rPr dirty="0" u="none" sz="1600" b="1">
                <a:solidFill>
                  <a:srgbClr val="525252"/>
                </a:solidFill>
                <a:latin typeface="Arial"/>
                <a:cs typeface="Arial"/>
              </a:rPr>
              <a:t>AND</a:t>
            </a:r>
            <a:r>
              <a:rPr dirty="0" u="none" sz="1600" spc="90" b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u="none" sz="1600" spc="-10" b="1">
                <a:solidFill>
                  <a:srgbClr val="525252"/>
                </a:solidFill>
                <a:latin typeface="Arial"/>
                <a:cs typeface="Arial"/>
              </a:rPr>
              <a:t>APPLICATIONS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Announcements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718335"/>
            <a:ext cx="10200640" cy="245364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60"/>
              </a:spcBef>
              <a:buChar char="•"/>
              <a:tabLst>
                <a:tab pos="187325" algn="l"/>
              </a:tabLst>
            </a:pPr>
            <a:r>
              <a:rPr dirty="0" sz="2800">
                <a:latin typeface="Arial"/>
                <a:cs typeface="Arial"/>
              </a:rPr>
              <a:t>If</a:t>
            </a:r>
            <a:r>
              <a:rPr dirty="0" sz="2800" spc="-145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you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30">
                <a:latin typeface="Arial"/>
                <a:cs typeface="Arial"/>
              </a:rPr>
              <a:t>still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don’t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90">
                <a:latin typeface="Arial"/>
                <a:cs typeface="Arial"/>
              </a:rPr>
              <a:t>have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40">
                <a:latin typeface="Arial"/>
                <a:cs typeface="Arial"/>
              </a:rPr>
              <a:t>a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team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for</a:t>
            </a:r>
            <a:r>
              <a:rPr dirty="0" sz="2800" spc="-14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project,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70">
                <a:latin typeface="Arial"/>
                <a:cs typeface="Arial"/>
              </a:rPr>
              <a:t>come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35">
                <a:latin typeface="Arial"/>
                <a:cs typeface="Arial"/>
              </a:rPr>
              <a:t>see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me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after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class.</a:t>
            </a:r>
            <a:endParaRPr sz="28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187325" algn="l"/>
              </a:tabLst>
            </a:pPr>
            <a:r>
              <a:rPr dirty="0" sz="2800" spc="-180">
                <a:latin typeface="Arial"/>
                <a:cs typeface="Arial"/>
              </a:rPr>
              <a:t>For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04">
                <a:latin typeface="Arial"/>
                <a:cs typeface="Arial"/>
              </a:rPr>
              <a:t>issues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with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20">
                <a:latin typeface="Arial"/>
                <a:cs typeface="Arial"/>
              </a:rPr>
              <a:t>HW1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20">
                <a:latin typeface="Arial"/>
                <a:cs typeface="Arial"/>
              </a:rPr>
              <a:t>Question</a:t>
            </a:r>
            <a:r>
              <a:rPr dirty="0" sz="2800" spc="-130">
                <a:latin typeface="Arial"/>
                <a:cs typeface="Arial"/>
              </a:rPr>
              <a:t> 3.1, </a:t>
            </a:r>
            <a:r>
              <a:rPr dirty="0" sz="2800" spc="-235">
                <a:latin typeface="Arial"/>
                <a:cs typeface="Arial"/>
              </a:rPr>
              <a:t>see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65">
                <a:latin typeface="Arial"/>
                <a:cs typeface="Arial"/>
              </a:rPr>
              <a:t>my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95">
                <a:latin typeface="Arial"/>
                <a:cs typeface="Arial"/>
              </a:rPr>
              <a:t>post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95">
                <a:latin typeface="Arial"/>
                <a:cs typeface="Arial"/>
              </a:rPr>
              <a:t>recent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note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on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Piazza.</a:t>
            </a:r>
            <a:endParaRPr sz="2800">
              <a:latin typeface="Arial"/>
              <a:cs typeface="Arial"/>
            </a:endParaRPr>
          </a:p>
          <a:p>
            <a:pPr marL="186690" marR="309880" indent="-174625">
              <a:lnSpc>
                <a:spcPts val="3020"/>
              </a:lnSpc>
              <a:spcBef>
                <a:spcPts val="1050"/>
              </a:spcBef>
              <a:buChar char="•"/>
              <a:tabLst>
                <a:tab pos="187960" algn="l"/>
              </a:tabLst>
            </a:pPr>
            <a:r>
              <a:rPr dirty="0" sz="2800" spc="-204">
                <a:latin typeface="Arial"/>
                <a:cs typeface="Arial"/>
              </a:rPr>
              <a:t>Do</a:t>
            </a:r>
            <a:r>
              <a:rPr dirty="0" sz="2800" spc="-130">
                <a:latin typeface="Arial"/>
                <a:cs typeface="Arial"/>
              </a:rPr>
              <a:t> you </a:t>
            </a:r>
            <a:r>
              <a:rPr dirty="0" sz="2800" spc="-80">
                <a:latin typeface="Arial"/>
                <a:cs typeface="Arial"/>
              </a:rPr>
              <a:t>want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feedback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on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95">
                <a:latin typeface="Arial"/>
                <a:cs typeface="Arial"/>
              </a:rPr>
              <a:t>your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project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65">
                <a:latin typeface="Arial"/>
                <a:cs typeface="Arial"/>
              </a:rPr>
              <a:t>idea?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Fill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out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55">
                <a:latin typeface="Arial"/>
                <a:cs typeface="Arial"/>
              </a:rPr>
              <a:t>form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35">
                <a:latin typeface="Arial"/>
                <a:cs typeface="Arial"/>
              </a:rPr>
              <a:t>ask </a:t>
            </a:r>
            <a:r>
              <a:rPr dirty="0" sz="2800" spc="-35">
                <a:latin typeface="Arial"/>
                <a:cs typeface="Arial"/>
              </a:rPr>
              <a:t>	</a:t>
            </a:r>
            <a:r>
              <a:rPr dirty="0" sz="2800">
                <a:latin typeface="Arial"/>
                <a:cs typeface="Arial"/>
              </a:rPr>
              <a:t>for</a:t>
            </a:r>
            <a:r>
              <a:rPr dirty="0" sz="2800" spc="-165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feedback </a:t>
            </a:r>
            <a:r>
              <a:rPr dirty="0" sz="2800" spc="-130">
                <a:latin typeface="Arial"/>
                <a:cs typeface="Arial"/>
              </a:rPr>
              <a:t>by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395">
                <a:latin typeface="Arial"/>
                <a:cs typeface="Arial"/>
              </a:rPr>
              <a:t>EOD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day.</a:t>
            </a:r>
            <a:endParaRPr sz="28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625"/>
              </a:spcBef>
              <a:buChar char="•"/>
              <a:tabLst>
                <a:tab pos="187325" algn="l"/>
              </a:tabLst>
            </a:pPr>
            <a:r>
              <a:rPr dirty="0" sz="2800" spc="-220">
                <a:latin typeface="Arial"/>
                <a:cs typeface="Arial"/>
              </a:rPr>
              <a:t>Chenyan’s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office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hours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today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are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canceled.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88229"/>
            <a:ext cx="9105900" cy="1903095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 spc="-484"/>
              <a:t>You</a:t>
            </a:r>
            <a:r>
              <a:rPr dirty="0" spc="-220"/>
              <a:t> </a:t>
            </a:r>
            <a:r>
              <a:rPr dirty="0" spc="-105"/>
              <a:t>want</a:t>
            </a:r>
            <a:r>
              <a:rPr dirty="0" spc="-225"/>
              <a:t> </a:t>
            </a:r>
            <a:r>
              <a:rPr dirty="0"/>
              <a:t>to</a:t>
            </a:r>
            <a:r>
              <a:rPr dirty="0" spc="-220"/>
              <a:t> </a:t>
            </a:r>
            <a:r>
              <a:rPr dirty="0" spc="-315"/>
              <a:t>use</a:t>
            </a:r>
            <a:r>
              <a:rPr dirty="0" spc="-225"/>
              <a:t> </a:t>
            </a:r>
            <a:r>
              <a:rPr dirty="0" spc="-254"/>
              <a:t>an</a:t>
            </a:r>
            <a:r>
              <a:rPr dirty="0" spc="-215"/>
              <a:t> </a:t>
            </a:r>
            <a:r>
              <a:rPr dirty="0" spc="-280"/>
              <a:t>LM</a:t>
            </a:r>
            <a:r>
              <a:rPr dirty="0" spc="-225"/>
              <a:t> </a:t>
            </a:r>
            <a:r>
              <a:rPr dirty="0"/>
              <a:t>for</a:t>
            </a:r>
            <a:r>
              <a:rPr dirty="0" spc="-225"/>
              <a:t> </a:t>
            </a:r>
            <a:r>
              <a:rPr dirty="0" spc="-275"/>
              <a:t>some</a:t>
            </a:r>
            <a:r>
              <a:rPr dirty="0" spc="-225"/>
              <a:t> </a:t>
            </a:r>
            <a:r>
              <a:rPr dirty="0" spc="-220"/>
              <a:t>task</a:t>
            </a:r>
            <a:r>
              <a:rPr dirty="0" spc="-225"/>
              <a:t> </a:t>
            </a:r>
            <a:r>
              <a:rPr dirty="0" spc="-25"/>
              <a:t>for </a:t>
            </a:r>
            <a:r>
              <a:rPr dirty="0" spc="-145"/>
              <a:t>which</a:t>
            </a:r>
            <a:r>
              <a:rPr dirty="0" spc="-200"/>
              <a:t> </a:t>
            </a:r>
            <a:r>
              <a:rPr dirty="0" spc="-185"/>
              <a:t>you’ve</a:t>
            </a:r>
            <a:r>
              <a:rPr dirty="0" spc="-204"/>
              <a:t> </a:t>
            </a:r>
            <a:r>
              <a:rPr dirty="0" spc="-160"/>
              <a:t>collected</a:t>
            </a:r>
            <a:r>
              <a:rPr dirty="0" spc="-195"/>
              <a:t> </a:t>
            </a:r>
            <a:r>
              <a:rPr dirty="0" spc="-345"/>
              <a:t>a</a:t>
            </a:r>
            <a:r>
              <a:rPr dirty="0" spc="-200"/>
              <a:t> </a:t>
            </a:r>
            <a:r>
              <a:rPr dirty="0" spc="-190"/>
              <a:t>dataset</a:t>
            </a:r>
            <a:r>
              <a:rPr dirty="0" spc="-204"/>
              <a:t> </a:t>
            </a:r>
            <a:r>
              <a:rPr dirty="0" spc="-25"/>
              <a:t>of </a:t>
            </a:r>
            <a:r>
              <a:rPr dirty="0" spc="-270"/>
              <a:t>examples.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1225" y="2502245"/>
            <a:ext cx="3913504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35">
                <a:latin typeface="Arial"/>
                <a:cs typeface="Arial"/>
              </a:rPr>
              <a:t>What</a:t>
            </a:r>
            <a:r>
              <a:rPr dirty="0" sz="4400" spc="-220">
                <a:latin typeface="Arial"/>
                <a:cs typeface="Arial"/>
              </a:rPr>
              <a:t> </a:t>
            </a:r>
            <a:r>
              <a:rPr dirty="0" sz="4400" spc="-155">
                <a:latin typeface="Arial"/>
                <a:cs typeface="Arial"/>
              </a:rPr>
              <a:t>do</a:t>
            </a:r>
            <a:r>
              <a:rPr dirty="0" sz="4400" spc="-210">
                <a:latin typeface="Arial"/>
                <a:cs typeface="Arial"/>
              </a:rPr>
              <a:t> </a:t>
            </a:r>
            <a:r>
              <a:rPr dirty="0" sz="4400" spc="-200">
                <a:latin typeface="Arial"/>
                <a:cs typeface="Arial"/>
              </a:rPr>
              <a:t>you</a:t>
            </a:r>
            <a:r>
              <a:rPr dirty="0" sz="4400" spc="-210">
                <a:latin typeface="Arial"/>
                <a:cs typeface="Arial"/>
              </a:rPr>
              <a:t> </a:t>
            </a:r>
            <a:r>
              <a:rPr dirty="0" sz="4400" spc="-190">
                <a:latin typeface="Arial"/>
                <a:cs typeface="Arial"/>
              </a:rPr>
              <a:t>do?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5955" y="3378087"/>
            <a:ext cx="7177405" cy="29768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12140" indent="-599440">
              <a:lnSpc>
                <a:spcPts val="3110"/>
              </a:lnSpc>
              <a:spcBef>
                <a:spcPts val="90"/>
              </a:spcBef>
              <a:buAutoNum type="arabicPeriod"/>
              <a:tabLst>
                <a:tab pos="612140" algn="l"/>
              </a:tabLst>
            </a:pPr>
            <a:r>
              <a:rPr dirty="0" sz="2600" spc="-110">
                <a:latin typeface="Arial"/>
                <a:cs typeface="Arial"/>
              </a:rPr>
              <a:t>Prompt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engineering</a:t>
            </a:r>
            <a:endParaRPr sz="2600">
              <a:latin typeface="Arial"/>
              <a:cs typeface="Arial"/>
            </a:endParaRPr>
          </a:p>
          <a:p>
            <a:pPr lvl="1" marL="1069340" indent="-587375">
              <a:lnSpc>
                <a:spcPts val="2625"/>
              </a:lnSpc>
              <a:buAutoNum type="arabicPeriod"/>
              <a:tabLst>
                <a:tab pos="1069340" algn="l"/>
              </a:tabLst>
            </a:pPr>
            <a:r>
              <a:rPr dirty="0" sz="2200" spc="-80">
                <a:latin typeface="Arial"/>
                <a:cs typeface="Arial"/>
              </a:rPr>
              <a:t>Doesn’t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140">
                <a:latin typeface="Arial"/>
                <a:cs typeface="Arial"/>
              </a:rPr>
              <a:t>always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work</a:t>
            </a:r>
            <a:endParaRPr sz="2200">
              <a:latin typeface="Arial"/>
              <a:cs typeface="Arial"/>
            </a:endParaRPr>
          </a:p>
          <a:p>
            <a:pPr lvl="1" marL="1069340" indent="-587375">
              <a:lnSpc>
                <a:spcPts val="2635"/>
              </a:lnSpc>
              <a:buAutoNum type="arabicPeriod"/>
              <a:tabLst>
                <a:tab pos="1069340" algn="l"/>
              </a:tabLst>
            </a:pPr>
            <a:r>
              <a:rPr dirty="0" sz="2200" spc="-150">
                <a:latin typeface="Arial"/>
                <a:cs typeface="Arial"/>
              </a:rPr>
              <a:t>Tedious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find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80">
                <a:latin typeface="Arial"/>
                <a:cs typeface="Arial"/>
              </a:rPr>
              <a:t>a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5">
                <a:latin typeface="Arial"/>
                <a:cs typeface="Arial"/>
              </a:rPr>
              <a:t>good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prompt</a:t>
            </a:r>
            <a:endParaRPr sz="2200">
              <a:latin typeface="Arial"/>
              <a:cs typeface="Arial"/>
            </a:endParaRPr>
          </a:p>
          <a:p>
            <a:pPr marL="612140" indent="-599440">
              <a:lnSpc>
                <a:spcPts val="3110"/>
              </a:lnSpc>
              <a:spcBef>
                <a:spcPts val="375"/>
              </a:spcBef>
              <a:buAutoNum type="arabicPeriod"/>
              <a:tabLst>
                <a:tab pos="612140" algn="l"/>
              </a:tabLst>
            </a:pPr>
            <a:r>
              <a:rPr dirty="0" sz="2600" spc="-114">
                <a:latin typeface="Arial"/>
                <a:cs typeface="Arial"/>
              </a:rPr>
              <a:t>Finetune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45">
                <a:latin typeface="Arial"/>
                <a:cs typeface="Arial"/>
              </a:rPr>
              <a:t>the</a:t>
            </a:r>
            <a:r>
              <a:rPr dirty="0" sz="2600" spc="-12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full</a:t>
            </a:r>
            <a:r>
              <a:rPr dirty="0" sz="2600" spc="-125">
                <a:latin typeface="Arial"/>
                <a:cs typeface="Arial"/>
              </a:rPr>
              <a:t> </a:t>
            </a:r>
            <a:r>
              <a:rPr dirty="0" sz="2600" spc="-175">
                <a:latin typeface="Arial"/>
                <a:cs typeface="Arial"/>
              </a:rPr>
              <a:t>LM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95">
                <a:latin typeface="Arial"/>
                <a:cs typeface="Arial"/>
              </a:rPr>
              <a:t>on</a:t>
            </a:r>
            <a:r>
              <a:rPr dirty="0" sz="2600" spc="-125">
                <a:latin typeface="Arial"/>
                <a:cs typeface="Arial"/>
              </a:rPr>
              <a:t> </a:t>
            </a:r>
            <a:r>
              <a:rPr dirty="0" sz="2600" spc="-90">
                <a:latin typeface="Arial"/>
                <a:cs typeface="Arial"/>
              </a:rPr>
              <a:t>your</a:t>
            </a:r>
            <a:r>
              <a:rPr dirty="0" sz="2600" spc="-12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data</a:t>
            </a:r>
            <a:endParaRPr sz="2600">
              <a:latin typeface="Arial"/>
              <a:cs typeface="Arial"/>
            </a:endParaRPr>
          </a:p>
          <a:p>
            <a:pPr lvl="1" marL="1069340" indent="-587375">
              <a:lnSpc>
                <a:spcPts val="2625"/>
              </a:lnSpc>
              <a:buAutoNum type="arabicPeriod"/>
              <a:tabLst>
                <a:tab pos="1069340" algn="l"/>
              </a:tabLst>
            </a:pPr>
            <a:r>
              <a:rPr dirty="0" sz="2200" spc="-40">
                <a:latin typeface="Arial"/>
                <a:cs typeface="Arial"/>
              </a:rPr>
              <a:t>Expensive</a:t>
            </a:r>
            <a:endParaRPr sz="2200">
              <a:latin typeface="Arial"/>
              <a:cs typeface="Arial"/>
            </a:endParaRPr>
          </a:p>
          <a:p>
            <a:pPr lvl="1" marL="1069340" indent="-587375">
              <a:lnSpc>
                <a:spcPts val="2630"/>
              </a:lnSpc>
              <a:buAutoNum type="arabicPeriod"/>
              <a:tabLst>
                <a:tab pos="1069340" algn="l"/>
              </a:tabLst>
            </a:pPr>
            <a:r>
              <a:rPr dirty="0" sz="2200" spc="-45">
                <a:latin typeface="Arial"/>
                <a:cs typeface="Arial"/>
              </a:rPr>
              <a:t>Overfitting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235">
                <a:latin typeface="Arial"/>
                <a:cs typeface="Arial"/>
              </a:rPr>
              <a:t>/</a:t>
            </a:r>
            <a:r>
              <a:rPr dirty="0" sz="2200" spc="-80">
                <a:latin typeface="Arial"/>
                <a:cs typeface="Arial"/>
              </a:rPr>
              <a:t> catastrophic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45">
                <a:latin typeface="Arial"/>
                <a:cs typeface="Arial"/>
              </a:rPr>
              <a:t>forgetting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on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5">
                <a:latin typeface="Arial"/>
                <a:cs typeface="Arial"/>
              </a:rPr>
              <a:t>small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60">
                <a:latin typeface="Arial"/>
                <a:cs typeface="Arial"/>
              </a:rPr>
              <a:t>datasets</a:t>
            </a:r>
            <a:endParaRPr sz="2200">
              <a:latin typeface="Arial"/>
              <a:cs typeface="Arial"/>
            </a:endParaRPr>
          </a:p>
          <a:p>
            <a:pPr lvl="1" marL="1069340" indent="-587375">
              <a:lnSpc>
                <a:spcPts val="2635"/>
              </a:lnSpc>
              <a:buAutoNum type="arabicPeriod"/>
              <a:tabLst>
                <a:tab pos="1069340" algn="l"/>
              </a:tabLst>
            </a:pPr>
            <a:r>
              <a:rPr dirty="0" sz="2200" spc="-130">
                <a:latin typeface="Arial"/>
                <a:cs typeface="Arial"/>
              </a:rPr>
              <a:t>Need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store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95">
                <a:latin typeface="Arial"/>
                <a:cs typeface="Arial"/>
              </a:rPr>
              <a:t>one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full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95">
                <a:latin typeface="Arial"/>
                <a:cs typeface="Arial"/>
              </a:rPr>
              <a:t>set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of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65">
                <a:latin typeface="Arial"/>
                <a:cs typeface="Arial"/>
              </a:rPr>
              <a:t>model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80">
                <a:latin typeface="Arial"/>
                <a:cs typeface="Arial"/>
              </a:rPr>
              <a:t>weights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65">
                <a:latin typeface="Arial"/>
                <a:cs typeface="Arial"/>
              </a:rPr>
              <a:t>per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task.</a:t>
            </a:r>
            <a:endParaRPr sz="2200">
              <a:latin typeface="Arial"/>
              <a:cs typeface="Arial"/>
            </a:endParaRPr>
          </a:p>
          <a:p>
            <a:pPr marL="612140" indent="-599440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612140" algn="l"/>
              </a:tabLst>
            </a:pPr>
            <a:r>
              <a:rPr dirty="0" sz="2600" spc="-150">
                <a:latin typeface="Arial"/>
                <a:cs typeface="Arial"/>
              </a:rPr>
              <a:t>Parameter-</a:t>
            </a:r>
            <a:r>
              <a:rPr dirty="0" sz="2600" spc="-50">
                <a:latin typeface="Arial"/>
                <a:cs typeface="Arial"/>
              </a:rPr>
              <a:t>efficient</a:t>
            </a:r>
            <a:r>
              <a:rPr dirty="0" sz="2600" spc="-4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tuning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What</a:t>
            </a:r>
            <a:r>
              <a:rPr dirty="0" spc="-190"/>
              <a:t> </a:t>
            </a:r>
            <a:r>
              <a:rPr dirty="0" spc="-229"/>
              <a:t>is</a:t>
            </a:r>
            <a:r>
              <a:rPr dirty="0" spc="-185"/>
              <a:t> </a:t>
            </a:r>
            <a:r>
              <a:rPr dirty="0" spc="-160"/>
              <a:t>parameter</a:t>
            </a:r>
            <a:r>
              <a:rPr dirty="0" spc="-185"/>
              <a:t> </a:t>
            </a:r>
            <a:r>
              <a:rPr dirty="0" spc="-85"/>
              <a:t>efficient</a:t>
            </a:r>
            <a:r>
              <a:rPr dirty="0" spc="-190"/>
              <a:t> </a:t>
            </a:r>
            <a:r>
              <a:rPr dirty="0" spc="-105"/>
              <a:t>tuning?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1225" y="1802663"/>
            <a:ext cx="9218930" cy="224282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 spc="-150">
                <a:latin typeface="Arial"/>
                <a:cs typeface="Arial"/>
              </a:rPr>
              <a:t>Rather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than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finetuning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55">
                <a:latin typeface="Arial"/>
                <a:cs typeface="Arial"/>
              </a:rPr>
              <a:t>entire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model,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we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finetune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90">
                <a:latin typeface="Arial"/>
                <a:cs typeface="Arial"/>
              </a:rPr>
              <a:t>only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small </a:t>
            </a:r>
            <a:r>
              <a:rPr dirty="0" sz="2800" spc="-125">
                <a:latin typeface="Arial"/>
                <a:cs typeface="Arial"/>
              </a:rPr>
              <a:t>amounts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weights.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14"/>
              </a:spcBef>
            </a:pPr>
            <a:endParaRPr sz="2800">
              <a:latin typeface="Arial"/>
              <a:cs typeface="Arial"/>
            </a:endParaRPr>
          </a:p>
          <a:p>
            <a:pPr marL="12700" marR="226695">
              <a:lnSpc>
                <a:spcPts val="3020"/>
              </a:lnSpc>
            </a:pPr>
            <a:r>
              <a:rPr dirty="0" sz="2800" spc="-90">
                <a:latin typeface="Arial"/>
                <a:cs typeface="Arial"/>
              </a:rPr>
              <a:t>In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this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85">
                <a:latin typeface="Arial"/>
                <a:cs typeface="Arial"/>
              </a:rPr>
              <a:t>lecture,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30">
                <a:latin typeface="Arial"/>
                <a:cs typeface="Arial"/>
              </a:rPr>
              <a:t>we’ll</a:t>
            </a:r>
            <a:r>
              <a:rPr dirty="0" sz="2800" spc="-135">
                <a:latin typeface="Arial"/>
                <a:cs typeface="Arial"/>
              </a:rPr>
              <a:t> break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315">
                <a:latin typeface="Arial"/>
                <a:cs typeface="Arial"/>
              </a:rPr>
              <a:t>PETM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20">
                <a:latin typeface="Arial"/>
                <a:cs typeface="Arial"/>
              </a:rPr>
              <a:t>techniques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into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roughly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three </a:t>
            </a:r>
            <a:r>
              <a:rPr dirty="0" sz="2800" spc="-50">
                <a:latin typeface="Arial"/>
                <a:cs typeface="Arial"/>
              </a:rPr>
              <a:t>categories.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9978" y="480521"/>
            <a:ext cx="9699625" cy="952500"/>
          </a:xfrm>
          <a:prstGeom prst="rect"/>
        </p:spPr>
        <p:txBody>
          <a:bodyPr wrap="square" lIns="0" tIns="67310" rIns="0" bIns="0" rtlCol="0" vert="horz">
            <a:spAutoFit/>
          </a:bodyPr>
          <a:lstStyle/>
          <a:p>
            <a:pPr marL="638175" marR="5080" indent="-626110">
              <a:lnSpc>
                <a:spcPts val="3460"/>
              </a:lnSpc>
              <a:spcBef>
                <a:spcPts val="530"/>
              </a:spcBef>
              <a:tabLst>
                <a:tab pos="638175" algn="l"/>
              </a:tabLst>
            </a:pPr>
            <a:r>
              <a:rPr dirty="0" sz="3200" spc="-25" b="1">
                <a:latin typeface="Arial"/>
                <a:cs typeface="Arial"/>
              </a:rPr>
              <a:t>1.</a:t>
            </a:r>
            <a:r>
              <a:rPr dirty="0" sz="3200" b="1">
                <a:latin typeface="Arial"/>
                <a:cs typeface="Arial"/>
              </a:rPr>
              <a:t>	</a:t>
            </a:r>
            <a:r>
              <a:rPr dirty="0" sz="3200" spc="-200" b="1">
                <a:latin typeface="Arial"/>
                <a:cs typeface="Arial"/>
              </a:rPr>
              <a:t>Addition:</a:t>
            </a:r>
            <a:r>
              <a:rPr dirty="0" sz="3200" spc="-110" b="1">
                <a:latin typeface="Arial"/>
                <a:cs typeface="Arial"/>
              </a:rPr>
              <a:t> </a:t>
            </a:r>
            <a:r>
              <a:rPr dirty="0" sz="3200" spc="-100"/>
              <a:t>What</a:t>
            </a:r>
            <a:r>
              <a:rPr dirty="0" sz="3200" spc="-125"/>
              <a:t> </a:t>
            </a:r>
            <a:r>
              <a:rPr dirty="0" sz="3200"/>
              <a:t>if</a:t>
            </a:r>
            <a:r>
              <a:rPr dirty="0" sz="3200" spc="-130"/>
              <a:t> </a:t>
            </a:r>
            <a:r>
              <a:rPr dirty="0" sz="3200" spc="-145"/>
              <a:t>we</a:t>
            </a:r>
            <a:r>
              <a:rPr dirty="0" sz="3200" spc="-125"/>
              <a:t> </a:t>
            </a:r>
            <a:r>
              <a:rPr dirty="0" sz="3200" spc="-85"/>
              <a:t>introduce</a:t>
            </a:r>
            <a:r>
              <a:rPr dirty="0" sz="3200" spc="-130"/>
              <a:t> </a:t>
            </a:r>
            <a:r>
              <a:rPr dirty="0" sz="3200" spc="-75"/>
              <a:t>additional</a:t>
            </a:r>
            <a:r>
              <a:rPr dirty="0" sz="3200" spc="-125"/>
              <a:t> </a:t>
            </a:r>
            <a:r>
              <a:rPr dirty="0" sz="3200" spc="-10"/>
              <a:t>trainable </a:t>
            </a:r>
            <a:r>
              <a:rPr dirty="0" sz="3200" spc="-145"/>
              <a:t>parameters</a:t>
            </a:r>
            <a:r>
              <a:rPr dirty="0" sz="3200" spc="-140"/>
              <a:t> </a:t>
            </a:r>
            <a:r>
              <a:rPr dirty="0" sz="3200"/>
              <a:t>to</a:t>
            </a:r>
            <a:r>
              <a:rPr dirty="0" sz="3200" spc="-140"/>
              <a:t> </a:t>
            </a:r>
            <a:r>
              <a:rPr dirty="0" sz="3200" spc="-50"/>
              <a:t>the</a:t>
            </a:r>
            <a:r>
              <a:rPr dirty="0" sz="3200" spc="-140"/>
              <a:t> </a:t>
            </a:r>
            <a:r>
              <a:rPr dirty="0" sz="3200" spc="-114"/>
              <a:t>neural</a:t>
            </a:r>
            <a:r>
              <a:rPr dirty="0" sz="3200" spc="-140"/>
              <a:t> </a:t>
            </a:r>
            <a:r>
              <a:rPr dirty="0" sz="3200" spc="-65"/>
              <a:t>network</a:t>
            </a:r>
            <a:r>
              <a:rPr dirty="0" sz="3200" spc="-135"/>
              <a:t> </a:t>
            </a:r>
            <a:r>
              <a:rPr dirty="0" sz="3200" spc="-170"/>
              <a:t>and</a:t>
            </a:r>
            <a:r>
              <a:rPr dirty="0" sz="3200" spc="-140"/>
              <a:t> </a:t>
            </a:r>
            <a:r>
              <a:rPr dirty="0" sz="3200" spc="-80"/>
              <a:t>just</a:t>
            </a:r>
            <a:r>
              <a:rPr dirty="0" sz="3200" spc="-140"/>
              <a:t> </a:t>
            </a:r>
            <a:r>
              <a:rPr dirty="0" sz="3200" spc="-45"/>
              <a:t>train</a:t>
            </a:r>
            <a:r>
              <a:rPr dirty="0" sz="3200" spc="-140"/>
              <a:t> </a:t>
            </a:r>
            <a:r>
              <a:rPr dirty="0" sz="3200" spc="-75"/>
              <a:t>those?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99978" y="1485345"/>
            <a:ext cx="9686290" cy="195707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638175" marR="5080" indent="-626110">
              <a:lnSpc>
                <a:spcPts val="3460"/>
              </a:lnSpc>
              <a:spcBef>
                <a:spcPts val="530"/>
              </a:spcBef>
              <a:buAutoNum type="arabicPeriod" startAt="2"/>
              <a:tabLst>
                <a:tab pos="638175" algn="l"/>
              </a:tabLst>
            </a:pPr>
            <a:r>
              <a:rPr dirty="0" sz="3200" spc="-235" b="1">
                <a:latin typeface="Arial"/>
                <a:cs typeface="Arial"/>
              </a:rPr>
              <a:t>Specification:</a:t>
            </a:r>
            <a:r>
              <a:rPr dirty="0" sz="3200" spc="-125" b="1">
                <a:latin typeface="Arial"/>
                <a:cs typeface="Arial"/>
              </a:rPr>
              <a:t> </a:t>
            </a:r>
            <a:r>
              <a:rPr dirty="0" sz="3200" spc="-100">
                <a:latin typeface="Arial"/>
                <a:cs typeface="Arial"/>
              </a:rPr>
              <a:t>What</a:t>
            </a:r>
            <a:r>
              <a:rPr dirty="0" sz="3200" spc="-14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if</a:t>
            </a:r>
            <a:r>
              <a:rPr dirty="0" sz="3200" spc="-140">
                <a:latin typeface="Arial"/>
                <a:cs typeface="Arial"/>
              </a:rPr>
              <a:t> </a:t>
            </a:r>
            <a:r>
              <a:rPr dirty="0" sz="3200" spc="-145">
                <a:latin typeface="Arial"/>
                <a:cs typeface="Arial"/>
              </a:rPr>
              <a:t>we </a:t>
            </a:r>
            <a:r>
              <a:rPr dirty="0" sz="3200" spc="-140">
                <a:latin typeface="Arial"/>
                <a:cs typeface="Arial"/>
              </a:rPr>
              <a:t>pick</a:t>
            </a:r>
            <a:r>
              <a:rPr dirty="0" sz="3200" spc="-145">
                <a:latin typeface="Arial"/>
                <a:cs typeface="Arial"/>
              </a:rPr>
              <a:t> </a:t>
            </a:r>
            <a:r>
              <a:rPr dirty="0" sz="3200" spc="-254">
                <a:latin typeface="Arial"/>
                <a:cs typeface="Arial"/>
              </a:rPr>
              <a:t>a</a:t>
            </a:r>
            <a:r>
              <a:rPr dirty="0" sz="3200" spc="-140">
                <a:latin typeface="Arial"/>
                <a:cs typeface="Arial"/>
              </a:rPr>
              <a:t> </a:t>
            </a:r>
            <a:r>
              <a:rPr dirty="0" sz="3200" spc="-145">
                <a:latin typeface="Arial"/>
                <a:cs typeface="Arial"/>
              </a:rPr>
              <a:t>small </a:t>
            </a:r>
            <a:r>
              <a:rPr dirty="0" sz="3200" spc="-170">
                <a:latin typeface="Arial"/>
                <a:cs typeface="Arial"/>
              </a:rPr>
              <a:t>subset</a:t>
            </a:r>
            <a:r>
              <a:rPr dirty="0" sz="3200" spc="-14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of</a:t>
            </a:r>
            <a:r>
              <a:rPr dirty="0" sz="3200" spc="-140">
                <a:latin typeface="Arial"/>
                <a:cs typeface="Arial"/>
              </a:rPr>
              <a:t> </a:t>
            </a:r>
            <a:r>
              <a:rPr dirty="0" sz="3200" spc="-25">
                <a:latin typeface="Arial"/>
                <a:cs typeface="Arial"/>
              </a:rPr>
              <a:t>the </a:t>
            </a:r>
            <a:r>
              <a:rPr dirty="0" sz="3200" spc="-145">
                <a:latin typeface="Arial"/>
                <a:cs typeface="Arial"/>
              </a:rPr>
              <a:t>parameters</a:t>
            </a:r>
            <a:r>
              <a:rPr dirty="0" sz="3200" spc="-150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of</a:t>
            </a:r>
            <a:r>
              <a:rPr dirty="0" sz="3200" spc="-150">
                <a:latin typeface="Arial"/>
                <a:cs typeface="Arial"/>
              </a:rPr>
              <a:t> </a:t>
            </a:r>
            <a:r>
              <a:rPr dirty="0" sz="3200" spc="-50">
                <a:latin typeface="Arial"/>
                <a:cs typeface="Arial"/>
              </a:rPr>
              <a:t>the</a:t>
            </a:r>
            <a:r>
              <a:rPr dirty="0" sz="3200" spc="-145">
                <a:latin typeface="Arial"/>
                <a:cs typeface="Arial"/>
              </a:rPr>
              <a:t> </a:t>
            </a:r>
            <a:r>
              <a:rPr dirty="0" sz="3200" spc="-114">
                <a:latin typeface="Arial"/>
                <a:cs typeface="Arial"/>
              </a:rPr>
              <a:t>neural</a:t>
            </a:r>
            <a:r>
              <a:rPr dirty="0" sz="3200" spc="-150">
                <a:latin typeface="Arial"/>
                <a:cs typeface="Arial"/>
              </a:rPr>
              <a:t> </a:t>
            </a:r>
            <a:r>
              <a:rPr dirty="0" sz="3200" spc="-65">
                <a:latin typeface="Arial"/>
                <a:cs typeface="Arial"/>
              </a:rPr>
              <a:t>network</a:t>
            </a:r>
            <a:r>
              <a:rPr dirty="0" sz="3200" spc="-150">
                <a:latin typeface="Arial"/>
                <a:cs typeface="Arial"/>
              </a:rPr>
              <a:t> </a:t>
            </a:r>
            <a:r>
              <a:rPr dirty="0" sz="3200" spc="-170">
                <a:latin typeface="Arial"/>
                <a:cs typeface="Arial"/>
              </a:rPr>
              <a:t>and</a:t>
            </a:r>
            <a:r>
              <a:rPr dirty="0" sz="3200" spc="-145">
                <a:latin typeface="Arial"/>
                <a:cs typeface="Arial"/>
              </a:rPr>
              <a:t> </a:t>
            </a:r>
            <a:r>
              <a:rPr dirty="0" sz="3200" spc="-80">
                <a:latin typeface="Arial"/>
                <a:cs typeface="Arial"/>
              </a:rPr>
              <a:t>just</a:t>
            </a:r>
            <a:r>
              <a:rPr dirty="0" sz="3200" spc="-150">
                <a:latin typeface="Arial"/>
                <a:cs typeface="Arial"/>
              </a:rPr>
              <a:t> </a:t>
            </a:r>
            <a:r>
              <a:rPr dirty="0" sz="3200" spc="-55">
                <a:latin typeface="Arial"/>
                <a:cs typeface="Arial"/>
              </a:rPr>
              <a:t>tune</a:t>
            </a:r>
            <a:r>
              <a:rPr dirty="0" sz="3200" spc="-145">
                <a:latin typeface="Arial"/>
                <a:cs typeface="Arial"/>
              </a:rPr>
              <a:t> </a:t>
            </a:r>
            <a:r>
              <a:rPr dirty="0" sz="3200" spc="-80">
                <a:latin typeface="Arial"/>
                <a:cs typeface="Arial"/>
              </a:rPr>
              <a:t>those?</a:t>
            </a:r>
            <a:endParaRPr sz="3200">
              <a:latin typeface="Arial"/>
              <a:cs typeface="Arial"/>
            </a:endParaRPr>
          </a:p>
          <a:p>
            <a:pPr marL="638175" marR="335915" indent="-626110">
              <a:lnSpc>
                <a:spcPts val="3460"/>
              </a:lnSpc>
              <a:spcBef>
                <a:spcPts val="990"/>
              </a:spcBef>
              <a:buAutoNum type="arabicPeriod" startAt="2"/>
              <a:tabLst>
                <a:tab pos="638175" algn="l"/>
              </a:tabLst>
            </a:pPr>
            <a:r>
              <a:rPr dirty="0" sz="3200" spc="-210" b="1">
                <a:latin typeface="Arial"/>
                <a:cs typeface="Arial"/>
              </a:rPr>
              <a:t>Reparameterization:</a:t>
            </a:r>
            <a:r>
              <a:rPr dirty="0" sz="3200" spc="-95" b="1">
                <a:latin typeface="Arial"/>
                <a:cs typeface="Arial"/>
              </a:rPr>
              <a:t> </a:t>
            </a:r>
            <a:r>
              <a:rPr dirty="0" sz="3200" spc="-100">
                <a:latin typeface="Arial"/>
                <a:cs typeface="Arial"/>
              </a:rPr>
              <a:t>What</a:t>
            </a:r>
            <a:r>
              <a:rPr dirty="0" sz="3200" spc="-110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if</a:t>
            </a:r>
            <a:r>
              <a:rPr dirty="0" sz="3200" spc="-110">
                <a:latin typeface="Arial"/>
                <a:cs typeface="Arial"/>
              </a:rPr>
              <a:t> </a:t>
            </a:r>
            <a:r>
              <a:rPr dirty="0" sz="3200" spc="-145">
                <a:latin typeface="Arial"/>
                <a:cs typeface="Arial"/>
              </a:rPr>
              <a:t>we</a:t>
            </a:r>
            <a:r>
              <a:rPr dirty="0" sz="3200" spc="-114">
                <a:latin typeface="Arial"/>
                <a:cs typeface="Arial"/>
              </a:rPr>
              <a:t> </a:t>
            </a:r>
            <a:r>
              <a:rPr dirty="0" sz="3200" spc="-85">
                <a:latin typeface="Arial"/>
                <a:cs typeface="Arial"/>
              </a:rPr>
              <a:t>re-</a:t>
            </a:r>
            <a:r>
              <a:rPr dirty="0" sz="3200" spc="-140">
                <a:latin typeface="Arial"/>
                <a:cs typeface="Arial"/>
              </a:rPr>
              <a:t>parameterize</a:t>
            </a:r>
            <a:r>
              <a:rPr dirty="0" sz="3200" spc="-110">
                <a:latin typeface="Arial"/>
                <a:cs typeface="Arial"/>
              </a:rPr>
              <a:t> </a:t>
            </a:r>
            <a:r>
              <a:rPr dirty="0" sz="3200" spc="-25">
                <a:latin typeface="Arial"/>
                <a:cs typeface="Arial"/>
              </a:rPr>
              <a:t>the </a:t>
            </a:r>
            <a:r>
              <a:rPr dirty="0" sz="3200" spc="-114">
                <a:latin typeface="Arial"/>
                <a:cs typeface="Arial"/>
              </a:rPr>
              <a:t>model</a:t>
            </a:r>
            <a:r>
              <a:rPr dirty="0" sz="3200" spc="-160">
                <a:latin typeface="Arial"/>
                <a:cs typeface="Arial"/>
              </a:rPr>
              <a:t> </a:t>
            </a:r>
            <a:r>
              <a:rPr dirty="0" sz="3200" spc="-10">
                <a:latin typeface="Arial"/>
                <a:cs typeface="Arial"/>
              </a:rPr>
              <a:t>into</a:t>
            </a:r>
            <a:r>
              <a:rPr dirty="0" sz="3200" spc="-160">
                <a:latin typeface="Arial"/>
                <a:cs typeface="Arial"/>
              </a:rPr>
              <a:t> </a:t>
            </a:r>
            <a:r>
              <a:rPr dirty="0" sz="3200" spc="-125">
                <a:latin typeface="Arial"/>
                <a:cs typeface="Arial"/>
              </a:rPr>
              <a:t>something</a:t>
            </a:r>
            <a:r>
              <a:rPr dirty="0" sz="3200" spc="-15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that</a:t>
            </a:r>
            <a:r>
              <a:rPr dirty="0" sz="3200" spc="-160">
                <a:latin typeface="Arial"/>
                <a:cs typeface="Arial"/>
              </a:rPr>
              <a:t> </a:t>
            </a:r>
            <a:r>
              <a:rPr dirty="0" sz="3200" spc="-185">
                <a:latin typeface="Arial"/>
                <a:cs typeface="Arial"/>
              </a:rPr>
              <a:t>is</a:t>
            </a:r>
            <a:r>
              <a:rPr dirty="0" sz="3200" spc="-155">
                <a:latin typeface="Arial"/>
                <a:cs typeface="Arial"/>
              </a:rPr>
              <a:t> </a:t>
            </a:r>
            <a:r>
              <a:rPr dirty="0" sz="3200" spc="-110">
                <a:latin typeface="Arial"/>
                <a:cs typeface="Arial"/>
              </a:rPr>
              <a:t>more</a:t>
            </a:r>
            <a:r>
              <a:rPr dirty="0" sz="3200" spc="-160">
                <a:latin typeface="Arial"/>
                <a:cs typeface="Arial"/>
              </a:rPr>
              <a:t> </a:t>
            </a:r>
            <a:r>
              <a:rPr dirty="0" sz="3200" spc="-55">
                <a:latin typeface="Arial"/>
                <a:cs typeface="Arial"/>
              </a:rPr>
              <a:t>efficient</a:t>
            </a:r>
            <a:r>
              <a:rPr dirty="0" sz="3200" spc="-15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to</a:t>
            </a:r>
            <a:r>
              <a:rPr dirty="0" sz="3200" spc="-160">
                <a:latin typeface="Arial"/>
                <a:cs typeface="Arial"/>
              </a:rPr>
              <a:t> </a:t>
            </a:r>
            <a:r>
              <a:rPr dirty="0" sz="3200" spc="-10">
                <a:latin typeface="Arial"/>
                <a:cs typeface="Arial"/>
              </a:rPr>
              <a:t>train?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864" y="3858016"/>
            <a:ext cx="9706601" cy="271263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11977" y="5937544"/>
            <a:ext cx="731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Arial"/>
                <a:cs typeface="Arial"/>
              </a:rPr>
              <a:t>PETM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What</a:t>
            </a:r>
            <a:r>
              <a:rPr dirty="0" spc="-190"/>
              <a:t> </a:t>
            </a:r>
            <a:r>
              <a:rPr dirty="0" spc="-229"/>
              <a:t>is</a:t>
            </a:r>
            <a:r>
              <a:rPr dirty="0" spc="-185"/>
              <a:t> </a:t>
            </a:r>
            <a:r>
              <a:rPr dirty="0" spc="-160"/>
              <a:t>parameter</a:t>
            </a:r>
            <a:r>
              <a:rPr dirty="0" spc="-185"/>
              <a:t> </a:t>
            </a:r>
            <a:r>
              <a:rPr dirty="0" spc="-85"/>
              <a:t>efficient</a:t>
            </a:r>
            <a:r>
              <a:rPr dirty="0" spc="-190"/>
              <a:t> </a:t>
            </a:r>
            <a:r>
              <a:rPr dirty="0" spc="-105"/>
              <a:t>tuning?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5825" y="1718335"/>
            <a:ext cx="2797175" cy="258064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60"/>
              </a:spcBef>
            </a:pPr>
            <a:r>
              <a:rPr dirty="0" sz="2800" spc="-190">
                <a:latin typeface="Arial"/>
                <a:cs typeface="Arial"/>
              </a:rPr>
              <a:t>Ideas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we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will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55">
                <a:latin typeface="Arial"/>
                <a:cs typeface="Arial"/>
              </a:rPr>
              <a:t>cover</a:t>
            </a:r>
            <a:endParaRPr sz="2800">
              <a:latin typeface="Arial"/>
              <a:cs typeface="Arial"/>
            </a:endParaRPr>
          </a:p>
          <a:p>
            <a:pPr marL="265430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265430" algn="l"/>
              </a:tabLst>
            </a:pPr>
            <a:r>
              <a:rPr dirty="0" sz="2800" spc="-10">
                <a:latin typeface="Arial"/>
                <a:cs typeface="Arial"/>
              </a:rPr>
              <a:t>AutoPrompt</a:t>
            </a:r>
            <a:endParaRPr sz="2800">
              <a:latin typeface="Arial"/>
              <a:cs typeface="Arial"/>
            </a:endParaRPr>
          </a:p>
          <a:p>
            <a:pPr marL="265430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265430" algn="l"/>
              </a:tabLst>
            </a:pPr>
            <a:r>
              <a:rPr dirty="0" sz="2800" spc="-114">
                <a:latin typeface="Arial"/>
                <a:cs typeface="Arial"/>
              </a:rPr>
              <a:t>Prompt</a:t>
            </a:r>
            <a:r>
              <a:rPr dirty="0" sz="2800" spc="-10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tuning</a:t>
            </a:r>
            <a:endParaRPr sz="2800">
              <a:latin typeface="Arial"/>
              <a:cs typeface="Arial"/>
            </a:endParaRPr>
          </a:p>
          <a:p>
            <a:pPr marL="265430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265430" algn="l"/>
              </a:tabLst>
            </a:pPr>
            <a:r>
              <a:rPr dirty="0" sz="2800" spc="-325">
                <a:latin typeface="Arial"/>
                <a:cs typeface="Arial"/>
              </a:rPr>
              <a:t>LoRa</a:t>
            </a:r>
            <a:endParaRPr sz="2800">
              <a:latin typeface="Arial"/>
              <a:cs typeface="Arial"/>
            </a:endParaRPr>
          </a:p>
          <a:p>
            <a:pPr marL="265430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265430" algn="l"/>
              </a:tabLst>
            </a:pPr>
            <a:r>
              <a:rPr dirty="0" sz="2800" spc="-10">
                <a:latin typeface="Arial"/>
                <a:cs typeface="Arial"/>
              </a:rPr>
              <a:t>(IA)</a:t>
            </a:r>
            <a:r>
              <a:rPr dirty="0" baseline="31531" sz="2775" spc="-15">
                <a:latin typeface="Arial"/>
                <a:cs typeface="Arial"/>
              </a:rPr>
              <a:t>3</a:t>
            </a:r>
            <a:endParaRPr baseline="31531" sz="277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8722" y="588723"/>
            <a:ext cx="11014710" cy="5680710"/>
          </a:xfrm>
          <a:custGeom>
            <a:avLst/>
            <a:gdLst/>
            <a:ahLst/>
            <a:cxnLst/>
            <a:rect l="l" t="t" r="r" b="b"/>
            <a:pathLst>
              <a:path w="11014710" h="5680710">
                <a:moveTo>
                  <a:pt x="11014552" y="5680550"/>
                </a:moveTo>
                <a:lnTo>
                  <a:pt x="0" y="5680550"/>
                </a:lnTo>
                <a:lnTo>
                  <a:pt x="0" y="0"/>
                </a:lnTo>
                <a:lnTo>
                  <a:pt x="11014552" y="0"/>
                </a:lnTo>
                <a:lnTo>
                  <a:pt x="11014552" y="568055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23690" y="1401153"/>
            <a:ext cx="8536305" cy="207391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algn="ctr" marL="12700" marR="5080" indent="1270">
              <a:lnSpc>
                <a:spcPts val="5180"/>
              </a:lnSpc>
              <a:spcBef>
                <a:spcPts val="755"/>
              </a:spcBef>
            </a:pPr>
            <a:r>
              <a:rPr dirty="0" sz="4800" spc="-150">
                <a:latin typeface="Arial"/>
                <a:cs typeface="Arial"/>
              </a:rPr>
              <a:t>What</a:t>
            </a:r>
            <a:r>
              <a:rPr dirty="0" sz="4800" spc="-240">
                <a:latin typeface="Arial"/>
                <a:cs typeface="Arial"/>
              </a:rPr>
              <a:t> </a:t>
            </a:r>
            <a:r>
              <a:rPr dirty="0" sz="4800" spc="65">
                <a:latin typeface="Arial"/>
                <a:cs typeface="Arial"/>
              </a:rPr>
              <a:t>if</a:t>
            </a:r>
            <a:r>
              <a:rPr dirty="0" sz="4800" spc="-235">
                <a:latin typeface="Arial"/>
                <a:cs typeface="Arial"/>
              </a:rPr>
              <a:t> </a:t>
            </a:r>
            <a:r>
              <a:rPr dirty="0" sz="4800" spc="-195">
                <a:latin typeface="Arial"/>
                <a:cs typeface="Arial"/>
              </a:rPr>
              <a:t>we</a:t>
            </a:r>
            <a:r>
              <a:rPr dirty="0" sz="4800" spc="-240">
                <a:latin typeface="Arial"/>
                <a:cs typeface="Arial"/>
              </a:rPr>
              <a:t> </a:t>
            </a:r>
            <a:r>
              <a:rPr dirty="0" sz="4800" spc="-130">
                <a:latin typeface="Arial"/>
                <a:cs typeface="Arial"/>
              </a:rPr>
              <a:t>introduce</a:t>
            </a:r>
            <a:r>
              <a:rPr dirty="0" sz="4800" spc="-240">
                <a:latin typeface="Arial"/>
                <a:cs typeface="Arial"/>
              </a:rPr>
              <a:t> </a:t>
            </a:r>
            <a:r>
              <a:rPr dirty="0" sz="4800" spc="-10">
                <a:latin typeface="Arial"/>
                <a:cs typeface="Arial"/>
              </a:rPr>
              <a:t>additional </a:t>
            </a:r>
            <a:r>
              <a:rPr dirty="0" sz="4800" spc="-135">
                <a:latin typeface="Arial"/>
                <a:cs typeface="Arial"/>
              </a:rPr>
              <a:t>trainable</a:t>
            </a:r>
            <a:r>
              <a:rPr dirty="0" sz="4800" spc="-235">
                <a:latin typeface="Arial"/>
                <a:cs typeface="Arial"/>
              </a:rPr>
              <a:t> </a:t>
            </a:r>
            <a:r>
              <a:rPr dirty="0" sz="4800" spc="-210">
                <a:latin typeface="Arial"/>
                <a:cs typeface="Arial"/>
              </a:rPr>
              <a:t>parameters</a:t>
            </a:r>
            <a:r>
              <a:rPr dirty="0" sz="4800" spc="-229">
                <a:latin typeface="Arial"/>
                <a:cs typeface="Arial"/>
              </a:rPr>
              <a:t> </a:t>
            </a:r>
            <a:r>
              <a:rPr dirty="0" sz="4800">
                <a:latin typeface="Arial"/>
                <a:cs typeface="Arial"/>
              </a:rPr>
              <a:t>to</a:t>
            </a:r>
            <a:r>
              <a:rPr dirty="0" sz="4800" spc="-235">
                <a:latin typeface="Arial"/>
                <a:cs typeface="Arial"/>
              </a:rPr>
              <a:t> </a:t>
            </a:r>
            <a:r>
              <a:rPr dirty="0" sz="4800" spc="-75">
                <a:latin typeface="Arial"/>
                <a:cs typeface="Arial"/>
              </a:rPr>
              <a:t>the</a:t>
            </a:r>
            <a:r>
              <a:rPr dirty="0" sz="4800" spc="-235">
                <a:latin typeface="Arial"/>
                <a:cs typeface="Arial"/>
              </a:rPr>
              <a:t> </a:t>
            </a:r>
            <a:r>
              <a:rPr dirty="0" sz="4800" spc="-125">
                <a:latin typeface="Arial"/>
                <a:cs typeface="Arial"/>
              </a:rPr>
              <a:t>neural </a:t>
            </a:r>
            <a:r>
              <a:rPr dirty="0" sz="4800" spc="-110">
                <a:latin typeface="Arial"/>
                <a:cs typeface="Arial"/>
              </a:rPr>
              <a:t>network</a:t>
            </a:r>
            <a:r>
              <a:rPr dirty="0" sz="4800" spc="-229">
                <a:latin typeface="Arial"/>
                <a:cs typeface="Arial"/>
              </a:rPr>
              <a:t> </a:t>
            </a:r>
            <a:r>
              <a:rPr dirty="0" sz="4800" spc="-250">
                <a:latin typeface="Arial"/>
                <a:cs typeface="Arial"/>
              </a:rPr>
              <a:t>and</a:t>
            </a:r>
            <a:r>
              <a:rPr dirty="0" sz="4800" spc="-225">
                <a:latin typeface="Arial"/>
                <a:cs typeface="Arial"/>
              </a:rPr>
              <a:t> </a:t>
            </a:r>
            <a:r>
              <a:rPr dirty="0" sz="4800" spc="-110">
                <a:latin typeface="Arial"/>
                <a:cs typeface="Arial"/>
              </a:rPr>
              <a:t>just</a:t>
            </a:r>
            <a:r>
              <a:rPr dirty="0" sz="4800" spc="-225">
                <a:latin typeface="Arial"/>
                <a:cs typeface="Arial"/>
              </a:rPr>
              <a:t> </a:t>
            </a:r>
            <a:r>
              <a:rPr dirty="0" sz="4800" spc="-65">
                <a:latin typeface="Arial"/>
                <a:cs typeface="Arial"/>
              </a:rPr>
              <a:t>train</a:t>
            </a:r>
            <a:r>
              <a:rPr dirty="0" sz="4800" spc="-229">
                <a:latin typeface="Arial"/>
                <a:cs typeface="Arial"/>
              </a:rPr>
              <a:t> </a:t>
            </a:r>
            <a:r>
              <a:rPr dirty="0" sz="4800" spc="-30">
                <a:latin typeface="Arial"/>
                <a:cs typeface="Arial"/>
              </a:rPr>
              <a:t>those?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382706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dirty="0" u="none" sz="2400" spc="-80">
                <a:solidFill>
                  <a:srgbClr val="000000"/>
                </a:solidFill>
              </a:rPr>
              <a:t>Methods</a:t>
            </a:r>
            <a:r>
              <a:rPr dirty="0" u="none" sz="2400" spc="-100">
                <a:solidFill>
                  <a:srgbClr val="000000"/>
                </a:solidFill>
              </a:rPr>
              <a:t> </a:t>
            </a:r>
            <a:r>
              <a:rPr dirty="0" u="none" sz="2400" spc="-25">
                <a:solidFill>
                  <a:srgbClr val="000000"/>
                </a:solidFill>
              </a:rPr>
              <a:t>we’ll</a:t>
            </a:r>
            <a:r>
              <a:rPr dirty="0" u="none" sz="2400" spc="-100">
                <a:solidFill>
                  <a:srgbClr val="000000"/>
                </a:solidFill>
              </a:rPr>
              <a:t> </a:t>
            </a:r>
            <a:r>
              <a:rPr dirty="0" u="none" sz="2400" spc="-160">
                <a:solidFill>
                  <a:srgbClr val="000000"/>
                </a:solidFill>
              </a:rPr>
              <a:t>discuss:</a:t>
            </a:r>
            <a:r>
              <a:rPr dirty="0" u="none" sz="2400" spc="-100">
                <a:solidFill>
                  <a:srgbClr val="000000"/>
                </a:solidFill>
              </a:rPr>
              <a:t> </a:t>
            </a:r>
            <a:r>
              <a:rPr dirty="0" u="none" sz="2400" spc="-35">
                <a:solidFill>
                  <a:srgbClr val="000000"/>
                </a:solidFill>
              </a:rPr>
              <a:t>prompt</a:t>
            </a:r>
            <a:r>
              <a:rPr dirty="0" u="none" sz="2400" spc="-100">
                <a:solidFill>
                  <a:srgbClr val="000000"/>
                </a:solidFill>
              </a:rPr>
              <a:t> </a:t>
            </a:r>
            <a:r>
              <a:rPr dirty="0" u="none" sz="2400" spc="-60">
                <a:solidFill>
                  <a:srgbClr val="000000"/>
                </a:solidFill>
              </a:rPr>
              <a:t>tuning,</a:t>
            </a:r>
            <a:r>
              <a:rPr dirty="0" u="none" sz="2400" spc="-105">
                <a:solidFill>
                  <a:srgbClr val="000000"/>
                </a:solidFill>
              </a:rPr>
              <a:t> </a:t>
            </a:r>
            <a:r>
              <a:rPr dirty="0" u="none" sz="2400" spc="-70">
                <a:solidFill>
                  <a:srgbClr val="000000"/>
                </a:solidFill>
              </a:rPr>
              <a:t>prefix</a:t>
            </a:r>
            <a:r>
              <a:rPr dirty="0" u="none" sz="2400" spc="-95">
                <a:solidFill>
                  <a:srgbClr val="000000"/>
                </a:solidFill>
              </a:rPr>
              <a:t> </a:t>
            </a:r>
            <a:r>
              <a:rPr dirty="0" u="none" sz="2400" spc="-60">
                <a:solidFill>
                  <a:srgbClr val="000000"/>
                </a:solidFill>
              </a:rPr>
              <a:t>tuning,</a:t>
            </a:r>
            <a:r>
              <a:rPr dirty="0" u="none" sz="2400" spc="-100">
                <a:solidFill>
                  <a:srgbClr val="000000"/>
                </a:solidFill>
              </a:rPr>
              <a:t> </a:t>
            </a:r>
            <a:r>
              <a:rPr dirty="0" u="none" sz="2400" spc="-110">
                <a:solidFill>
                  <a:srgbClr val="000000"/>
                </a:solidFill>
              </a:rPr>
              <a:t>adapters,</a:t>
            </a:r>
            <a:r>
              <a:rPr dirty="0" u="none" sz="2400" spc="-100">
                <a:solidFill>
                  <a:srgbClr val="000000"/>
                </a:solidFill>
              </a:rPr>
              <a:t> </a:t>
            </a:r>
            <a:r>
              <a:rPr dirty="0" u="none" sz="2400" spc="-25">
                <a:solidFill>
                  <a:srgbClr val="000000"/>
                </a:solidFill>
              </a:rPr>
              <a:t>and compacters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73025" y="6649723"/>
            <a:ext cx="567118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“The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Power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of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3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Scale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for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Parameter-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Efficient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Prompt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Tuning.”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Lester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et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al.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2021.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Intuition</a:t>
            </a:r>
            <a:r>
              <a:rPr dirty="0" spc="-235"/>
              <a:t> </a:t>
            </a:r>
            <a:r>
              <a:rPr dirty="0"/>
              <a:t>for</a:t>
            </a:r>
            <a:r>
              <a:rPr dirty="0" spc="-240"/>
              <a:t> </a:t>
            </a:r>
            <a:r>
              <a:rPr dirty="0" spc="-160"/>
              <a:t>Prompt</a:t>
            </a:r>
            <a:r>
              <a:rPr dirty="0" spc="-235"/>
              <a:t> </a:t>
            </a:r>
            <a:r>
              <a:rPr dirty="0" spc="-290"/>
              <a:t>Tuning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1226" y="1809572"/>
            <a:ext cx="6603365" cy="196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5">
                <a:latin typeface="Arial"/>
                <a:cs typeface="Arial"/>
              </a:rPr>
              <a:t>Prompt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engineering </a:t>
            </a:r>
            <a:r>
              <a:rPr dirty="0" sz="2400" spc="-10">
                <a:latin typeface="Arial"/>
                <a:cs typeface="Arial"/>
              </a:rPr>
              <a:t>sucks.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2400">
              <a:latin typeface="Arial"/>
              <a:cs typeface="Arial"/>
            </a:endParaRPr>
          </a:p>
          <a:p>
            <a:pPr algn="just" marL="12700" marR="5080">
              <a:lnSpc>
                <a:spcPts val="2590"/>
              </a:lnSpc>
            </a:pPr>
            <a:r>
              <a:rPr dirty="0" sz="2400" spc="-5">
                <a:latin typeface="Arial"/>
                <a:cs typeface="Arial"/>
              </a:rPr>
              <a:t>I</a:t>
            </a:r>
            <a:r>
              <a:rPr dirty="0" sz="2400">
                <a:latin typeface="Arial"/>
                <a:cs typeface="Arial"/>
              </a:rPr>
              <a:t>f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we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have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204">
                <a:latin typeface="Arial"/>
                <a:cs typeface="Arial"/>
              </a:rPr>
              <a:t>a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bunch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5">
                <a:latin typeface="Arial"/>
                <a:cs typeface="Arial"/>
              </a:rPr>
              <a:t>of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examples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5">
                <a:latin typeface="Arial"/>
                <a:cs typeface="Arial"/>
              </a:rPr>
              <a:t>of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task,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why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can’t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we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30">
                <a:latin typeface="Arial"/>
                <a:cs typeface="Arial"/>
              </a:rPr>
              <a:t>train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204">
                <a:latin typeface="Arial"/>
                <a:cs typeface="Arial"/>
              </a:rPr>
              <a:t>a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neural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network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15">
                <a:latin typeface="Arial"/>
                <a:cs typeface="Arial"/>
              </a:rPr>
              <a:t>to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produce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204">
                <a:latin typeface="Arial"/>
                <a:cs typeface="Arial"/>
              </a:rPr>
              <a:t>a</a:t>
            </a:r>
            <a:r>
              <a:rPr dirty="0" sz="2400" spc="-125">
                <a:latin typeface="Arial"/>
                <a:cs typeface="Arial"/>
              </a:rPr>
              <a:t> good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prompt</a:t>
            </a:r>
            <a:r>
              <a:rPr dirty="0" sz="2400" spc="135">
                <a:latin typeface="Arial"/>
                <a:cs typeface="Arial"/>
              </a:rPr>
              <a:t> </a:t>
            </a:r>
            <a:r>
              <a:rPr dirty="0" sz="2400" spc="-15">
                <a:latin typeface="Arial"/>
                <a:cs typeface="Arial"/>
              </a:rPr>
              <a:t>for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task.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18536" y="2227209"/>
            <a:ext cx="4537075" cy="2918460"/>
            <a:chOff x="7518536" y="2227209"/>
            <a:chExt cx="4537075" cy="291846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536" y="2561446"/>
              <a:ext cx="4536695" cy="258405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2990" y="2227787"/>
              <a:ext cx="649152" cy="38760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95053" y="2227209"/>
              <a:ext cx="649151" cy="38831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52984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Prompt</a:t>
            </a:r>
            <a:r>
              <a:rPr dirty="0" spc="-210"/>
              <a:t> </a:t>
            </a:r>
            <a:r>
              <a:rPr dirty="0" spc="-280"/>
              <a:t>Tuning</a:t>
            </a:r>
            <a:r>
              <a:rPr dirty="0" spc="-204"/>
              <a:t> </a:t>
            </a:r>
            <a:r>
              <a:rPr dirty="0" spc="-35"/>
              <a:t>Method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3025" y="6649723"/>
            <a:ext cx="567118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“The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Power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of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400" spc="-13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Scale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for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Parameter-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Efficient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 Prompt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Tuning.”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Lester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et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al.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2021.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1226" y="1809572"/>
            <a:ext cx="6718300" cy="386207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143510">
              <a:lnSpc>
                <a:spcPts val="2590"/>
              </a:lnSpc>
              <a:spcBef>
                <a:spcPts val="425"/>
              </a:spcBef>
            </a:pPr>
            <a:r>
              <a:rPr dirty="0" sz="2400" spc="-114" b="1">
                <a:latin typeface="Arial"/>
                <a:cs typeface="Arial"/>
              </a:rPr>
              <a:t>What </a:t>
            </a:r>
            <a:r>
              <a:rPr dirty="0" sz="2400" spc="-120" b="1">
                <a:latin typeface="Arial"/>
                <a:cs typeface="Arial"/>
              </a:rPr>
              <a:t>we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125" b="1">
                <a:latin typeface="Arial"/>
                <a:cs typeface="Arial"/>
              </a:rPr>
              <a:t>want:</a:t>
            </a:r>
            <a:r>
              <a:rPr dirty="0" sz="2400" spc="-100" b="1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a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200">
                <a:latin typeface="Arial"/>
                <a:cs typeface="Arial"/>
              </a:rPr>
              <a:t>NN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that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is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trained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on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60">
                <a:latin typeface="Arial"/>
                <a:cs typeface="Arial"/>
              </a:rPr>
              <a:t>examples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of </a:t>
            </a:r>
            <a:r>
              <a:rPr dirty="0" sz="2400" spc="-55">
                <a:latin typeface="Arial"/>
                <a:cs typeface="Arial"/>
              </a:rPr>
              <a:t>our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task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and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produces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a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sequence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114">
                <a:latin typeface="Arial"/>
                <a:cs typeface="Arial"/>
              </a:rPr>
              <a:t> tokens</a:t>
            </a:r>
            <a:r>
              <a:rPr dirty="0" sz="2400" spc="-110">
                <a:latin typeface="Arial"/>
                <a:cs typeface="Arial"/>
              </a:rPr>
              <a:t> we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can </a:t>
            </a:r>
            <a:r>
              <a:rPr dirty="0" sz="2400" spc="-95">
                <a:latin typeface="Arial"/>
                <a:cs typeface="Arial"/>
              </a:rPr>
              <a:t>prepend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our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215">
                <a:latin typeface="Arial"/>
                <a:cs typeface="Arial"/>
              </a:rPr>
              <a:t>LLM</a:t>
            </a:r>
            <a:r>
              <a:rPr dirty="0" sz="2400" spc="-110">
                <a:latin typeface="Arial"/>
                <a:cs typeface="Arial"/>
              </a:rPr>
              <a:t> query, </a:t>
            </a:r>
            <a:r>
              <a:rPr dirty="0" sz="2400" spc="-160">
                <a:latin typeface="Arial"/>
                <a:cs typeface="Arial"/>
              </a:rPr>
              <a:t>causing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215">
                <a:latin typeface="Arial"/>
                <a:cs typeface="Arial"/>
              </a:rPr>
              <a:t>LLM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do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the </a:t>
            </a:r>
            <a:r>
              <a:rPr dirty="0" sz="2400" spc="-125">
                <a:latin typeface="Arial"/>
                <a:cs typeface="Arial"/>
              </a:rPr>
              <a:t>task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in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question.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80">
                <a:latin typeface="Arial"/>
                <a:cs typeface="Arial"/>
              </a:rPr>
              <a:t>In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85">
                <a:latin typeface="Arial"/>
                <a:cs typeface="Arial"/>
              </a:rPr>
              <a:t>practice,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optimizing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over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discrete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tokens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is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hard.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2400">
              <a:latin typeface="Arial"/>
              <a:cs typeface="Arial"/>
            </a:endParaRPr>
          </a:p>
          <a:p>
            <a:pPr algn="just" marL="12700" marR="5080">
              <a:lnSpc>
                <a:spcPts val="2590"/>
              </a:lnSpc>
            </a:pPr>
            <a:r>
              <a:rPr dirty="0" sz="2400" spc="-114" b="1">
                <a:latin typeface="Arial"/>
                <a:cs typeface="Arial"/>
              </a:rPr>
              <a:t>What</a:t>
            </a:r>
            <a:r>
              <a:rPr dirty="0" sz="2400" spc="-130" b="1">
                <a:latin typeface="Arial"/>
                <a:cs typeface="Arial"/>
              </a:rPr>
              <a:t> </a:t>
            </a:r>
            <a:r>
              <a:rPr dirty="0" sz="2400" spc="-114" b="1">
                <a:latin typeface="Arial"/>
                <a:cs typeface="Arial"/>
              </a:rPr>
              <a:t>we</a:t>
            </a:r>
            <a:r>
              <a:rPr dirty="0" sz="2400" spc="-130" b="1">
                <a:latin typeface="Arial"/>
                <a:cs typeface="Arial"/>
              </a:rPr>
              <a:t> </a:t>
            </a:r>
            <a:r>
              <a:rPr dirty="0" sz="2400" spc="-180" b="1">
                <a:latin typeface="Arial"/>
                <a:cs typeface="Arial"/>
              </a:rPr>
              <a:t>do</a:t>
            </a:r>
            <a:r>
              <a:rPr dirty="0" sz="2400" spc="-130" b="1">
                <a:latin typeface="Arial"/>
                <a:cs typeface="Arial"/>
              </a:rPr>
              <a:t> </a:t>
            </a:r>
            <a:r>
              <a:rPr dirty="0" sz="2400" spc="-170" b="1">
                <a:latin typeface="Arial"/>
                <a:cs typeface="Arial"/>
              </a:rPr>
              <a:t>instead:</a:t>
            </a:r>
            <a:r>
              <a:rPr dirty="0" sz="2400" spc="-105" b="1">
                <a:latin typeface="Arial"/>
                <a:cs typeface="Arial"/>
              </a:rPr>
              <a:t> </a:t>
            </a:r>
            <a:r>
              <a:rPr dirty="0" sz="2400" spc="-204">
                <a:latin typeface="Arial"/>
                <a:cs typeface="Arial"/>
              </a:rPr>
              <a:t>a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95">
                <a:latin typeface="Arial"/>
                <a:cs typeface="Arial"/>
              </a:rPr>
              <a:t>NN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that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outputs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204">
                <a:latin typeface="Arial"/>
                <a:cs typeface="Arial"/>
              </a:rPr>
              <a:t>a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sequence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5">
                <a:latin typeface="Arial"/>
                <a:cs typeface="Arial"/>
              </a:rPr>
              <a:t>of </a:t>
            </a:r>
            <a:r>
              <a:rPr dirty="0" sz="2400" spc="-140" i="1">
                <a:solidFill>
                  <a:srgbClr val="C00000"/>
                </a:solidFill>
                <a:latin typeface="Arial"/>
                <a:cs typeface="Arial"/>
              </a:rPr>
              <a:t>embeddings</a:t>
            </a:r>
            <a:r>
              <a:rPr dirty="0" sz="2400" spc="-125" i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we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65">
                <a:latin typeface="Arial"/>
                <a:cs typeface="Arial"/>
              </a:rPr>
              <a:t>can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prepend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15">
                <a:latin typeface="Arial"/>
                <a:cs typeface="Arial"/>
              </a:rPr>
              <a:t>to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our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85">
                <a:latin typeface="Arial"/>
                <a:cs typeface="Arial"/>
              </a:rPr>
              <a:t>query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15">
                <a:latin typeface="Arial"/>
                <a:cs typeface="Arial"/>
              </a:rPr>
              <a:t>to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80">
                <a:latin typeface="Arial"/>
                <a:cs typeface="Arial"/>
              </a:rPr>
              <a:t>LLM,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60">
                <a:latin typeface="Arial"/>
                <a:cs typeface="Arial"/>
              </a:rPr>
              <a:t>causing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LLM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15">
                <a:latin typeface="Arial"/>
                <a:cs typeface="Arial"/>
              </a:rPr>
              <a:t>to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85">
                <a:latin typeface="Arial"/>
                <a:cs typeface="Arial"/>
              </a:rPr>
              <a:t>do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task.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73025" y="6649723"/>
            <a:ext cx="567118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“The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Power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of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3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Scale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for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Parameter-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Efficient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Prompt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Tuning.”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Lester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et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al.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2021.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52984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Prompt</a:t>
            </a:r>
            <a:r>
              <a:rPr dirty="0" spc="-210"/>
              <a:t> </a:t>
            </a:r>
            <a:r>
              <a:rPr dirty="0" spc="-280"/>
              <a:t>Tuning</a:t>
            </a:r>
            <a:r>
              <a:rPr dirty="0" spc="-204"/>
              <a:t> </a:t>
            </a:r>
            <a:r>
              <a:rPr dirty="0" spc="-35"/>
              <a:t>Method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5955" y="1774713"/>
            <a:ext cx="10166350" cy="42767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12140" indent="-599440">
              <a:lnSpc>
                <a:spcPts val="3110"/>
              </a:lnSpc>
              <a:spcBef>
                <a:spcPts val="90"/>
              </a:spcBef>
              <a:buAutoNum type="arabicPeriod"/>
              <a:tabLst>
                <a:tab pos="612140" algn="l"/>
              </a:tabLst>
            </a:pPr>
            <a:r>
              <a:rPr dirty="0" sz="2600" spc="-114">
                <a:latin typeface="Arial"/>
                <a:cs typeface="Arial"/>
              </a:rPr>
              <a:t>Finetune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254">
                <a:latin typeface="Arial"/>
                <a:cs typeface="Arial"/>
              </a:rPr>
              <a:t>T5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to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 spc="-105">
                <a:latin typeface="Arial"/>
                <a:cs typeface="Arial"/>
              </a:rPr>
              <a:t>act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225">
                <a:latin typeface="Arial"/>
                <a:cs typeface="Arial"/>
              </a:rPr>
              <a:t>a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bit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 spc="-110">
                <a:latin typeface="Arial"/>
                <a:cs typeface="Arial"/>
              </a:rPr>
              <a:t>more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100">
                <a:latin typeface="Arial"/>
                <a:cs typeface="Arial"/>
              </a:rPr>
              <a:t>like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 spc="-225">
                <a:latin typeface="Arial"/>
                <a:cs typeface="Arial"/>
              </a:rPr>
              <a:t>a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 spc="-40">
                <a:latin typeface="Arial"/>
                <a:cs typeface="Arial"/>
              </a:rPr>
              <a:t>traditional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170">
                <a:latin typeface="Arial"/>
                <a:cs typeface="Arial"/>
              </a:rPr>
              <a:t>language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model.</a:t>
            </a:r>
            <a:endParaRPr sz="2600">
              <a:latin typeface="Arial"/>
              <a:cs typeface="Arial"/>
            </a:endParaRPr>
          </a:p>
          <a:p>
            <a:pPr lvl="1" marL="1069340" marR="31115" indent="-588010">
              <a:lnSpc>
                <a:spcPts val="2130"/>
              </a:lnSpc>
              <a:spcBef>
                <a:spcPts val="484"/>
              </a:spcBef>
              <a:buAutoNum type="arabicPeriod"/>
              <a:tabLst>
                <a:tab pos="1069340" algn="l"/>
              </a:tabLst>
            </a:pPr>
            <a:r>
              <a:rPr dirty="0" sz="2200" spc="-145">
                <a:latin typeface="Arial"/>
                <a:cs typeface="Arial"/>
              </a:rPr>
              <a:t>This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60">
                <a:latin typeface="Arial"/>
                <a:cs typeface="Arial"/>
              </a:rPr>
              <a:t>only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25">
                <a:latin typeface="Arial"/>
                <a:cs typeface="Arial"/>
              </a:rPr>
              <a:t>needs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10">
                <a:latin typeface="Arial"/>
                <a:cs typeface="Arial"/>
              </a:rPr>
              <a:t>be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85">
                <a:latin typeface="Arial"/>
                <a:cs typeface="Arial"/>
              </a:rPr>
              <a:t>done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10">
                <a:latin typeface="Arial"/>
                <a:cs typeface="Arial"/>
              </a:rPr>
              <a:t>once,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110">
                <a:latin typeface="Arial"/>
                <a:cs typeface="Arial"/>
              </a:rPr>
              <a:t>and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65">
                <a:latin typeface="Arial"/>
                <a:cs typeface="Arial"/>
              </a:rPr>
              <a:t>empirically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60">
                <a:latin typeface="Arial"/>
                <a:cs typeface="Arial"/>
              </a:rPr>
              <a:t>makes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35">
                <a:latin typeface="Arial"/>
                <a:cs typeface="Arial"/>
              </a:rPr>
              <a:t>prompt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45">
                <a:latin typeface="Arial"/>
                <a:cs typeface="Arial"/>
              </a:rPr>
              <a:t>tuning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working better.</a:t>
            </a:r>
            <a:endParaRPr sz="2200">
              <a:latin typeface="Arial"/>
              <a:cs typeface="Arial"/>
            </a:endParaRPr>
          </a:p>
          <a:p>
            <a:pPr lvl="1" marL="1069340" marR="5080" indent="-588010">
              <a:lnSpc>
                <a:spcPts val="2130"/>
              </a:lnSpc>
              <a:spcBef>
                <a:spcPts val="505"/>
              </a:spcBef>
              <a:buAutoNum type="arabicPeriod"/>
              <a:tabLst>
                <a:tab pos="1069340" algn="l"/>
              </a:tabLst>
            </a:pPr>
            <a:r>
              <a:rPr dirty="0" sz="2200" spc="-145">
                <a:latin typeface="Arial"/>
                <a:cs typeface="Arial"/>
              </a:rPr>
              <a:t>This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is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75">
                <a:latin typeface="Arial"/>
                <a:cs typeface="Arial"/>
              </a:rPr>
              <a:t>probably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40">
                <a:latin typeface="Arial"/>
                <a:cs typeface="Arial"/>
              </a:rPr>
              <a:t>because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the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45">
                <a:latin typeface="Arial"/>
                <a:cs typeface="Arial"/>
              </a:rPr>
              <a:t>span-</a:t>
            </a:r>
            <a:r>
              <a:rPr dirty="0" sz="2200" spc="-30">
                <a:latin typeface="Arial"/>
                <a:cs typeface="Arial"/>
              </a:rPr>
              <a:t>corruption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55">
                <a:latin typeface="Arial"/>
                <a:cs typeface="Arial"/>
              </a:rPr>
              <a:t>objective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204">
                <a:latin typeface="Arial"/>
                <a:cs typeface="Arial"/>
              </a:rPr>
              <a:t>T5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55">
                <a:latin typeface="Arial"/>
                <a:cs typeface="Arial"/>
              </a:rPr>
              <a:t>was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50">
                <a:latin typeface="Arial"/>
                <a:cs typeface="Arial"/>
              </a:rPr>
              <a:t>originally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trained </a:t>
            </a:r>
            <a:r>
              <a:rPr dirty="0" sz="2200">
                <a:latin typeface="Arial"/>
                <a:cs typeface="Arial"/>
              </a:rPr>
              <a:t>with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isn’t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-105">
                <a:latin typeface="Arial"/>
                <a:cs typeface="Arial"/>
              </a:rPr>
              <a:t>amenable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prompting.</a:t>
            </a:r>
            <a:endParaRPr sz="2200">
              <a:latin typeface="Arial"/>
              <a:cs typeface="Arial"/>
            </a:endParaRPr>
          </a:p>
          <a:p>
            <a:pPr marL="612140" marR="1118235" indent="-600075">
              <a:lnSpc>
                <a:spcPct val="79700"/>
              </a:lnSpc>
              <a:spcBef>
                <a:spcPts val="1019"/>
              </a:spcBef>
              <a:buAutoNum type="arabicPeriod"/>
              <a:tabLst>
                <a:tab pos="612140" algn="l"/>
              </a:tabLst>
            </a:pPr>
            <a:r>
              <a:rPr dirty="0" sz="2600" spc="-220">
                <a:latin typeface="Arial"/>
                <a:cs typeface="Arial"/>
              </a:rPr>
              <a:t>Freeze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 spc="-45">
                <a:latin typeface="Arial"/>
                <a:cs typeface="Arial"/>
              </a:rPr>
              <a:t>the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 spc="-110">
                <a:latin typeface="Arial"/>
                <a:cs typeface="Arial"/>
              </a:rPr>
              <a:t>weights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of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200">
                <a:latin typeface="Arial"/>
                <a:cs typeface="Arial"/>
              </a:rPr>
              <a:t>T5.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 spc="-215">
                <a:latin typeface="Arial"/>
                <a:cs typeface="Arial"/>
              </a:rPr>
              <a:t>Set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 spc="-45">
                <a:latin typeface="Arial"/>
                <a:cs typeface="Arial"/>
              </a:rPr>
              <a:t>the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first</a:t>
            </a:r>
            <a:r>
              <a:rPr dirty="0" sz="2600" spc="-100">
                <a:latin typeface="Arial"/>
                <a:cs typeface="Arial"/>
              </a:rPr>
              <a:t> </a:t>
            </a:r>
            <a:r>
              <a:rPr dirty="0" sz="2600" spc="-130" i="1">
                <a:latin typeface="Arial"/>
                <a:cs typeface="Arial"/>
              </a:rPr>
              <a:t>k</a:t>
            </a:r>
            <a:r>
              <a:rPr dirty="0" sz="2600" spc="-135" i="1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input</a:t>
            </a:r>
            <a:r>
              <a:rPr dirty="0" sz="2600" spc="-135">
                <a:latin typeface="Arial"/>
                <a:cs typeface="Arial"/>
              </a:rPr>
              <a:t> embeddings </a:t>
            </a:r>
            <a:r>
              <a:rPr dirty="0" sz="2600">
                <a:latin typeface="Arial"/>
                <a:cs typeface="Arial"/>
              </a:rPr>
              <a:t>to</a:t>
            </a:r>
            <a:r>
              <a:rPr dirty="0" sz="2600" spc="-130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be </a:t>
            </a:r>
            <a:r>
              <a:rPr dirty="0" sz="2600" spc="-10">
                <a:latin typeface="Arial"/>
                <a:cs typeface="Arial"/>
              </a:rPr>
              <a:t>learnable.</a:t>
            </a:r>
            <a:endParaRPr sz="2600">
              <a:latin typeface="Arial"/>
              <a:cs typeface="Arial"/>
            </a:endParaRPr>
          </a:p>
          <a:p>
            <a:pPr lvl="1" marL="1069340" indent="-587375">
              <a:lnSpc>
                <a:spcPts val="2620"/>
              </a:lnSpc>
              <a:buAutoNum type="arabicPeriod"/>
              <a:tabLst>
                <a:tab pos="1069340" algn="l"/>
              </a:tabLst>
            </a:pPr>
            <a:r>
              <a:rPr dirty="0" sz="2200" spc="-105" i="1">
                <a:latin typeface="Arial"/>
                <a:cs typeface="Arial"/>
              </a:rPr>
              <a:t>k</a:t>
            </a:r>
            <a:r>
              <a:rPr dirty="0" sz="2200" spc="-100" i="1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is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80">
                <a:latin typeface="Arial"/>
                <a:cs typeface="Arial"/>
              </a:rPr>
              <a:t>a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80">
                <a:latin typeface="Arial"/>
                <a:cs typeface="Arial"/>
              </a:rPr>
              <a:t>hyperparameter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up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105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the</a:t>
            </a:r>
            <a:r>
              <a:rPr dirty="0" sz="2200" spc="-100">
                <a:latin typeface="Arial"/>
                <a:cs typeface="Arial"/>
              </a:rPr>
              <a:t> choice </a:t>
            </a:r>
            <a:r>
              <a:rPr dirty="0" sz="2200">
                <a:latin typeface="Arial"/>
                <a:cs typeface="Arial"/>
              </a:rPr>
              <a:t>of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the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implementer.</a:t>
            </a:r>
            <a:endParaRPr sz="2200">
              <a:latin typeface="Arial"/>
              <a:cs typeface="Arial"/>
            </a:endParaRPr>
          </a:p>
          <a:p>
            <a:pPr marL="612140" indent="-599440">
              <a:lnSpc>
                <a:spcPts val="3110"/>
              </a:lnSpc>
              <a:spcBef>
                <a:spcPts val="375"/>
              </a:spcBef>
              <a:buAutoNum type="arabicPeriod"/>
              <a:tabLst>
                <a:tab pos="612140" algn="l"/>
              </a:tabLst>
            </a:pPr>
            <a:r>
              <a:rPr dirty="0" sz="2600" spc="-80">
                <a:latin typeface="Arial"/>
                <a:cs typeface="Arial"/>
              </a:rPr>
              <a:t>Initialize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 spc="-40">
                <a:latin typeface="Arial"/>
                <a:cs typeface="Arial"/>
              </a:rPr>
              <a:t>the</a:t>
            </a:r>
            <a:r>
              <a:rPr dirty="0" sz="2600" spc="-105">
                <a:latin typeface="Arial"/>
                <a:cs typeface="Arial"/>
              </a:rPr>
              <a:t> </a:t>
            </a:r>
            <a:r>
              <a:rPr dirty="0" sz="2600" spc="-130" i="1">
                <a:latin typeface="Arial"/>
                <a:cs typeface="Arial"/>
              </a:rPr>
              <a:t>k</a:t>
            </a:r>
            <a:r>
              <a:rPr dirty="0" sz="2600" spc="-110" i="1">
                <a:latin typeface="Arial"/>
                <a:cs typeface="Arial"/>
              </a:rPr>
              <a:t> </a:t>
            </a:r>
            <a:r>
              <a:rPr dirty="0" sz="2600" spc="-105">
                <a:latin typeface="Arial"/>
                <a:cs typeface="Arial"/>
              </a:rPr>
              <a:t>learnable</a:t>
            </a:r>
            <a:r>
              <a:rPr dirty="0" sz="2600" spc="-110">
                <a:latin typeface="Arial"/>
                <a:cs typeface="Arial"/>
              </a:rPr>
              <a:t> </a:t>
            </a:r>
            <a:r>
              <a:rPr dirty="0" sz="2600" spc="-145">
                <a:latin typeface="Arial"/>
                <a:cs typeface="Arial"/>
              </a:rPr>
              <a:t>embeddings.</a:t>
            </a:r>
            <a:r>
              <a:rPr dirty="0" sz="2600" spc="-114">
                <a:latin typeface="Arial"/>
                <a:cs typeface="Arial"/>
              </a:rPr>
              <a:t> </a:t>
            </a:r>
            <a:r>
              <a:rPr dirty="0" sz="2600" spc="-250">
                <a:latin typeface="Arial"/>
                <a:cs typeface="Arial"/>
              </a:rPr>
              <a:t>Some</a:t>
            </a:r>
            <a:r>
              <a:rPr dirty="0" sz="2600" spc="-110">
                <a:latin typeface="Arial"/>
                <a:cs typeface="Arial"/>
              </a:rPr>
              <a:t> </a:t>
            </a:r>
            <a:r>
              <a:rPr dirty="0" sz="2600" spc="-80">
                <a:latin typeface="Arial"/>
                <a:cs typeface="Arial"/>
              </a:rPr>
              <a:t>options</a:t>
            </a:r>
            <a:r>
              <a:rPr dirty="0" sz="2600" spc="-11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include:</a:t>
            </a:r>
            <a:endParaRPr sz="2600">
              <a:latin typeface="Arial"/>
              <a:cs typeface="Arial"/>
            </a:endParaRPr>
          </a:p>
          <a:p>
            <a:pPr lvl="1" marL="1069340" indent="-587375">
              <a:lnSpc>
                <a:spcPts val="2625"/>
              </a:lnSpc>
              <a:buAutoNum type="arabicPeriod"/>
              <a:tabLst>
                <a:tab pos="1069340" algn="l"/>
              </a:tabLst>
            </a:pPr>
            <a:r>
              <a:rPr dirty="0" sz="2200" spc="-145">
                <a:latin typeface="Arial"/>
                <a:cs typeface="Arial"/>
              </a:rPr>
              <a:t>Random</a:t>
            </a:r>
            <a:r>
              <a:rPr dirty="0" sz="2200" spc="-10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initialization</a:t>
            </a:r>
            <a:endParaRPr sz="2200">
              <a:latin typeface="Arial"/>
              <a:cs typeface="Arial"/>
            </a:endParaRPr>
          </a:p>
          <a:p>
            <a:pPr lvl="1" marL="1069340" indent="-587375">
              <a:lnSpc>
                <a:spcPts val="2635"/>
              </a:lnSpc>
              <a:buAutoNum type="arabicPeriod"/>
              <a:tabLst>
                <a:tab pos="1069340" algn="l"/>
              </a:tabLst>
            </a:pPr>
            <a:r>
              <a:rPr dirty="0" sz="2200" spc="-55">
                <a:latin typeface="Arial"/>
                <a:cs typeface="Arial"/>
              </a:rPr>
              <a:t>Initialize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25">
                <a:latin typeface="Arial"/>
                <a:cs typeface="Arial"/>
              </a:rPr>
              <a:t>values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75">
                <a:latin typeface="Arial"/>
                <a:cs typeface="Arial"/>
              </a:rPr>
              <a:t>drawn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from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the</a:t>
            </a:r>
            <a:r>
              <a:rPr dirty="0" sz="2200" spc="-95">
                <a:latin typeface="Arial"/>
                <a:cs typeface="Arial"/>
              </a:rPr>
              <a:t> vocabulary embedding </a:t>
            </a:r>
            <a:r>
              <a:rPr dirty="0" sz="2200" spc="-10">
                <a:latin typeface="Arial"/>
                <a:cs typeface="Arial"/>
              </a:rPr>
              <a:t>matrix</a:t>
            </a:r>
            <a:endParaRPr sz="2200">
              <a:latin typeface="Arial"/>
              <a:cs typeface="Arial"/>
            </a:endParaRPr>
          </a:p>
          <a:p>
            <a:pPr marL="612140" indent="-599440">
              <a:lnSpc>
                <a:spcPct val="100000"/>
              </a:lnSpc>
              <a:spcBef>
                <a:spcPts val="380"/>
              </a:spcBef>
              <a:buAutoNum type="arabicPeriod"/>
              <a:tabLst>
                <a:tab pos="612140" algn="l"/>
              </a:tabLst>
            </a:pPr>
            <a:r>
              <a:rPr dirty="0" sz="2600" spc="-170">
                <a:latin typeface="Arial"/>
                <a:cs typeface="Arial"/>
              </a:rPr>
              <a:t>Train</a:t>
            </a:r>
            <a:r>
              <a:rPr dirty="0" sz="2600" spc="-125">
                <a:latin typeface="Arial"/>
                <a:cs typeface="Arial"/>
              </a:rPr>
              <a:t> </a:t>
            </a:r>
            <a:r>
              <a:rPr dirty="0" sz="2600" spc="-95">
                <a:latin typeface="Arial"/>
                <a:cs typeface="Arial"/>
              </a:rPr>
              <a:t>on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90">
                <a:latin typeface="Arial"/>
                <a:cs typeface="Arial"/>
              </a:rPr>
              <a:t>your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145">
                <a:latin typeface="Arial"/>
                <a:cs typeface="Arial"/>
              </a:rPr>
              <a:t>task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114">
                <a:latin typeface="Arial"/>
                <a:cs typeface="Arial"/>
              </a:rPr>
              <a:t>specific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data,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52984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Prompt</a:t>
            </a:r>
            <a:r>
              <a:rPr dirty="0" spc="-210"/>
              <a:t> </a:t>
            </a:r>
            <a:r>
              <a:rPr dirty="0" spc="-280"/>
              <a:t>Tuning</a:t>
            </a:r>
            <a:r>
              <a:rPr dirty="0" spc="-204"/>
              <a:t> </a:t>
            </a:r>
            <a:r>
              <a:rPr dirty="0" spc="-35"/>
              <a:t>Method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4921" y="2175450"/>
            <a:ext cx="5064303" cy="42202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4921" y="2175450"/>
            <a:ext cx="5064303" cy="42202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52984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Prompt</a:t>
            </a:r>
            <a:r>
              <a:rPr dirty="0" spc="-210"/>
              <a:t> </a:t>
            </a:r>
            <a:r>
              <a:rPr dirty="0" spc="-280"/>
              <a:t>Tuning</a:t>
            </a:r>
            <a:r>
              <a:rPr dirty="0" spc="-204"/>
              <a:t> </a:t>
            </a:r>
            <a:r>
              <a:rPr dirty="0" spc="-35"/>
              <a:t>Method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4"/>
              <a:t>Prefix</a:t>
            </a:r>
            <a:r>
              <a:rPr dirty="0" spc="-180"/>
              <a:t> </a:t>
            </a:r>
            <a:r>
              <a:rPr dirty="0" spc="-290"/>
              <a:t>Tuning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1225" y="1464461"/>
            <a:ext cx="10927715" cy="836294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 spc="-280">
                <a:latin typeface="Arial"/>
                <a:cs typeface="Arial"/>
              </a:rPr>
              <a:t>Same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idea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70">
                <a:latin typeface="Arial"/>
                <a:cs typeface="Arial"/>
              </a:rPr>
              <a:t>as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55">
                <a:latin typeface="Arial"/>
                <a:cs typeface="Arial"/>
              </a:rPr>
              <a:t>prompt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tuning,</a:t>
            </a:r>
            <a:r>
              <a:rPr dirty="0" sz="2800" spc="-140">
                <a:latin typeface="Arial"/>
                <a:cs typeface="Arial"/>
              </a:rPr>
              <a:t> except </a:t>
            </a:r>
            <a:r>
              <a:rPr dirty="0" sz="2800">
                <a:latin typeface="Arial"/>
                <a:cs typeface="Arial"/>
              </a:rPr>
              <a:t>that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learned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prefix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60">
                <a:latin typeface="Arial"/>
                <a:cs typeface="Arial"/>
              </a:rPr>
              <a:t>is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appended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not </a:t>
            </a:r>
            <a:r>
              <a:rPr dirty="0" sz="2800" spc="-70">
                <a:latin typeface="Arial"/>
                <a:cs typeface="Arial"/>
              </a:rPr>
              <a:t>just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input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embeddings,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but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rather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at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95">
                <a:latin typeface="Arial"/>
                <a:cs typeface="Arial"/>
              </a:rPr>
              <a:t>each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layer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55">
                <a:latin typeface="Arial"/>
                <a:cs typeface="Arial"/>
              </a:rPr>
              <a:t>Transformer.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8192" y="2392422"/>
            <a:ext cx="6415322" cy="40684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3025" y="6649723"/>
            <a:ext cx="599884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“Prefix-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Tuning: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6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Optimizing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Continuous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Prompts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for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Generation.”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Li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and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Liang.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2021.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35090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9"/>
              <a:t>How</a:t>
            </a:r>
            <a:r>
              <a:rPr dirty="0" spc="-210"/>
              <a:t> </a:t>
            </a:r>
            <a:r>
              <a:rPr dirty="0"/>
              <a:t>to</a:t>
            </a:r>
            <a:r>
              <a:rPr dirty="0" spc="-204"/>
              <a:t> </a:t>
            </a:r>
            <a:r>
              <a:rPr dirty="0" spc="-95"/>
              <a:t>initialize</a:t>
            </a:r>
            <a:r>
              <a:rPr dirty="0" spc="-210"/>
              <a:t> </a:t>
            </a:r>
            <a:r>
              <a:rPr dirty="0" spc="-70"/>
              <a:t>the</a:t>
            </a:r>
            <a:r>
              <a:rPr dirty="0" spc="-210"/>
              <a:t> </a:t>
            </a:r>
            <a:r>
              <a:rPr dirty="0" spc="-114"/>
              <a:t>prefix?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1225" y="1802663"/>
            <a:ext cx="9464040" cy="836294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 spc="-80">
                <a:latin typeface="Arial"/>
                <a:cs typeface="Arial"/>
              </a:rPr>
              <a:t>Initializing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real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embeddings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220">
                <a:latin typeface="Arial"/>
                <a:cs typeface="Arial"/>
              </a:rPr>
              <a:t>seems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work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35">
                <a:latin typeface="Arial"/>
                <a:cs typeface="Arial"/>
              </a:rPr>
              <a:t>better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than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35">
                <a:latin typeface="Arial"/>
                <a:cs typeface="Arial"/>
              </a:rPr>
              <a:t>random </a:t>
            </a:r>
            <a:r>
              <a:rPr dirty="0" sz="2800" spc="-10">
                <a:latin typeface="Arial"/>
                <a:cs typeface="Arial"/>
              </a:rPr>
              <a:t>initialization.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3456" y="2713355"/>
            <a:ext cx="7354070" cy="396354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3025" y="6649723"/>
            <a:ext cx="599884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“Prefix-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Tuning: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6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Optimizing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Continuous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Prompts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for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Generation.”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Li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and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Liang.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2021.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5"/>
              <a:t>Advantages</a:t>
            </a:r>
            <a:r>
              <a:rPr dirty="0" spc="-229"/>
              <a:t> </a:t>
            </a:r>
            <a:r>
              <a:rPr dirty="0"/>
              <a:t>of</a:t>
            </a:r>
            <a:r>
              <a:rPr dirty="0" spc="-225"/>
              <a:t> </a:t>
            </a:r>
            <a:r>
              <a:rPr dirty="0" spc="-125"/>
              <a:t>Prefix/Prompt</a:t>
            </a:r>
            <a:r>
              <a:rPr dirty="0" spc="-229"/>
              <a:t> </a:t>
            </a:r>
            <a:r>
              <a:rPr dirty="0" spc="-290"/>
              <a:t>Tuning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802663"/>
            <a:ext cx="10302240" cy="29019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6690" marR="1167765" indent="-174625">
              <a:lnSpc>
                <a:spcPts val="3020"/>
              </a:lnSpc>
              <a:spcBef>
                <a:spcPts val="480"/>
              </a:spcBef>
              <a:buChar char="•"/>
              <a:tabLst>
                <a:tab pos="187960" algn="l"/>
              </a:tabLst>
            </a:pPr>
            <a:r>
              <a:rPr dirty="0" sz="2800" spc="-220">
                <a:latin typeface="Arial"/>
                <a:cs typeface="Arial"/>
              </a:rPr>
              <a:t>The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learned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embeddings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tend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be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relatively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35">
                <a:latin typeface="Arial"/>
                <a:cs typeface="Arial"/>
              </a:rPr>
              <a:t>small,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just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240">
                <a:latin typeface="Arial"/>
                <a:cs typeface="Arial"/>
              </a:rPr>
              <a:t>a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few </a:t>
            </a:r>
            <a:r>
              <a:rPr dirty="0" sz="2800" spc="-25">
                <a:latin typeface="Arial"/>
                <a:cs typeface="Arial"/>
              </a:rPr>
              <a:t>	</a:t>
            </a:r>
            <a:r>
              <a:rPr dirty="0" sz="2800" spc="-170">
                <a:latin typeface="Arial"/>
                <a:cs typeface="Arial"/>
              </a:rPr>
              <a:t>megabytes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or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less.</a:t>
            </a:r>
            <a:endParaRPr sz="2800">
              <a:latin typeface="Arial"/>
              <a:cs typeface="Arial"/>
            </a:endParaRPr>
          </a:p>
          <a:p>
            <a:pPr lvl="1" marL="643255" indent="-181610">
              <a:lnSpc>
                <a:spcPct val="100000"/>
              </a:lnSpc>
              <a:spcBef>
                <a:spcPts val="180"/>
              </a:spcBef>
              <a:buChar char="•"/>
              <a:tabLst>
                <a:tab pos="643255" algn="l"/>
              </a:tabLst>
            </a:pPr>
            <a:r>
              <a:rPr dirty="0" sz="2400">
                <a:latin typeface="Arial"/>
                <a:cs typeface="Arial"/>
              </a:rPr>
              <a:t>It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is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cheap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60">
                <a:latin typeface="Arial"/>
                <a:cs typeface="Arial"/>
              </a:rPr>
              <a:t>keep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around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one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set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embeddings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per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task.</a:t>
            </a:r>
            <a:endParaRPr sz="2400">
              <a:latin typeface="Arial"/>
              <a:cs typeface="Arial"/>
            </a:endParaRPr>
          </a:p>
          <a:p>
            <a:pPr marL="186690" marR="5080" indent="-174625">
              <a:lnSpc>
                <a:spcPts val="3020"/>
              </a:lnSpc>
              <a:spcBef>
                <a:spcPts val="1040"/>
              </a:spcBef>
              <a:buChar char="•"/>
              <a:tabLst>
                <a:tab pos="187960" algn="l"/>
              </a:tabLst>
            </a:pPr>
            <a:r>
              <a:rPr dirty="0" sz="2800" spc="-220">
                <a:latin typeface="Arial"/>
                <a:cs typeface="Arial"/>
              </a:rPr>
              <a:t>The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pre-</a:t>
            </a:r>
            <a:r>
              <a:rPr dirty="0" sz="2800" spc="-114">
                <a:latin typeface="Arial"/>
                <a:cs typeface="Arial"/>
              </a:rPr>
              <a:t>trained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60">
                <a:latin typeface="Arial"/>
                <a:cs typeface="Arial"/>
              </a:rPr>
              <a:t>LLM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04">
                <a:latin typeface="Arial"/>
                <a:cs typeface="Arial"/>
              </a:rPr>
              <a:t>can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be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loaded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into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memory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75">
                <a:latin typeface="Arial"/>
                <a:cs typeface="Arial"/>
              </a:rPr>
              <a:t>(such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70">
                <a:latin typeface="Arial"/>
                <a:cs typeface="Arial"/>
              </a:rPr>
              <a:t>as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on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40">
                <a:latin typeface="Arial"/>
                <a:cs typeface="Arial"/>
              </a:rPr>
              <a:t>a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server), </a:t>
            </a:r>
            <a:r>
              <a:rPr dirty="0" sz="2800" spc="-45">
                <a:latin typeface="Arial"/>
                <a:cs typeface="Arial"/>
              </a:rPr>
              <a:t>	</a:t>
            </a:r>
            <a:r>
              <a:rPr dirty="0" sz="2800" spc="-150">
                <a:latin typeface="Arial"/>
                <a:cs typeface="Arial"/>
              </a:rPr>
              <a:t>and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at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inference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40">
                <a:latin typeface="Arial"/>
                <a:cs typeface="Arial"/>
              </a:rPr>
              <a:t>time,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85">
                <a:latin typeface="Arial"/>
                <a:cs typeface="Arial"/>
              </a:rPr>
              <a:t>appropriate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60">
                <a:latin typeface="Arial"/>
                <a:cs typeface="Arial"/>
              </a:rPr>
              <a:t>task-</a:t>
            </a:r>
            <a:r>
              <a:rPr dirty="0" sz="2800" spc="-125">
                <a:latin typeface="Arial"/>
                <a:cs typeface="Arial"/>
              </a:rPr>
              <a:t>specific </a:t>
            </a:r>
            <a:r>
              <a:rPr dirty="0" sz="2800" spc="-145">
                <a:latin typeface="Arial"/>
                <a:cs typeface="Arial"/>
              </a:rPr>
              <a:t>embeddings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can </a:t>
            </a:r>
            <a:r>
              <a:rPr dirty="0" sz="2800" spc="-25">
                <a:latin typeface="Arial"/>
                <a:cs typeface="Arial"/>
              </a:rPr>
              <a:t>	</a:t>
            </a:r>
            <a:r>
              <a:rPr dirty="0" sz="2800" spc="-150">
                <a:latin typeface="Arial"/>
                <a:cs typeface="Arial"/>
              </a:rPr>
              <a:t>be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225">
                <a:latin typeface="Arial"/>
                <a:cs typeface="Arial"/>
              </a:rPr>
              <a:t>passed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in.</a:t>
            </a:r>
            <a:endParaRPr sz="2800">
              <a:latin typeface="Arial"/>
              <a:cs typeface="Arial"/>
            </a:endParaRPr>
          </a:p>
          <a:p>
            <a:pPr lvl="1" marL="643255" indent="-181610">
              <a:lnSpc>
                <a:spcPct val="100000"/>
              </a:lnSpc>
              <a:spcBef>
                <a:spcPts val="185"/>
              </a:spcBef>
              <a:buChar char="•"/>
              <a:tabLst>
                <a:tab pos="643255" algn="l"/>
              </a:tabLst>
            </a:pPr>
            <a:r>
              <a:rPr dirty="0" sz="2400" spc="-175">
                <a:latin typeface="Arial"/>
                <a:cs typeface="Arial"/>
              </a:rPr>
              <a:t>Example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180">
                <a:latin typeface="Arial"/>
                <a:cs typeface="Arial"/>
              </a:rPr>
              <a:t>use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case: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65">
                <a:latin typeface="Arial"/>
                <a:cs typeface="Arial"/>
              </a:rPr>
              <a:t>User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customization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Pitfalls</a:t>
            </a:r>
            <a:r>
              <a:rPr dirty="0" spc="-204"/>
              <a:t> </a:t>
            </a:r>
            <a:r>
              <a:rPr dirty="0"/>
              <a:t>of</a:t>
            </a:r>
            <a:r>
              <a:rPr dirty="0" spc="-204"/>
              <a:t> Prefix</a:t>
            </a:r>
            <a:r>
              <a:rPr dirty="0" spc="-200"/>
              <a:t> </a:t>
            </a:r>
            <a:r>
              <a:rPr dirty="0" spc="-229"/>
              <a:t>and</a:t>
            </a:r>
            <a:r>
              <a:rPr dirty="0" spc="-204"/>
              <a:t> </a:t>
            </a:r>
            <a:r>
              <a:rPr dirty="0" spc="-160"/>
              <a:t>Prompt</a:t>
            </a:r>
            <a:r>
              <a:rPr dirty="0" spc="-204"/>
              <a:t> </a:t>
            </a:r>
            <a:r>
              <a:rPr dirty="0" spc="-290"/>
              <a:t>Tuning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802663"/>
            <a:ext cx="10121265" cy="258064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6690" marR="5080" indent="-174625">
              <a:lnSpc>
                <a:spcPts val="3020"/>
              </a:lnSpc>
              <a:spcBef>
                <a:spcPts val="480"/>
              </a:spcBef>
              <a:buChar char="•"/>
              <a:tabLst>
                <a:tab pos="187960" algn="l"/>
              </a:tabLst>
            </a:pPr>
            <a:r>
              <a:rPr dirty="0" sz="2800" spc="-90">
                <a:latin typeface="Arial"/>
                <a:cs typeface="Arial"/>
              </a:rPr>
              <a:t>In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practice,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35">
                <a:latin typeface="Arial"/>
                <a:cs typeface="Arial"/>
              </a:rPr>
              <a:t>these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methods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tend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65">
                <a:latin typeface="Arial"/>
                <a:cs typeface="Arial"/>
              </a:rPr>
              <a:t>converge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95">
                <a:latin typeface="Arial"/>
                <a:cs typeface="Arial"/>
              </a:rPr>
              <a:t>significantly</a:t>
            </a:r>
            <a:r>
              <a:rPr dirty="0" sz="2800" spc="-114">
                <a:latin typeface="Arial"/>
                <a:cs typeface="Arial"/>
              </a:rPr>
              <a:t> slower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than </a:t>
            </a:r>
            <a:r>
              <a:rPr dirty="0" sz="2800" spc="-20">
                <a:latin typeface="Arial"/>
                <a:cs typeface="Arial"/>
              </a:rPr>
              <a:t>	</a:t>
            </a:r>
            <a:r>
              <a:rPr dirty="0" sz="2800">
                <a:latin typeface="Arial"/>
                <a:cs typeface="Arial"/>
              </a:rPr>
              <a:t>full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parameter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fine-</a:t>
            </a:r>
            <a:r>
              <a:rPr dirty="0" sz="2800" spc="-10">
                <a:latin typeface="Arial"/>
                <a:cs typeface="Arial"/>
              </a:rPr>
              <a:t>tuning.</a:t>
            </a:r>
            <a:endParaRPr sz="28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625"/>
              </a:spcBef>
              <a:buChar char="•"/>
              <a:tabLst>
                <a:tab pos="187325" algn="l"/>
              </a:tabLst>
            </a:pPr>
            <a:r>
              <a:rPr dirty="0" sz="2800" spc="-130">
                <a:latin typeface="Arial"/>
                <a:cs typeface="Arial"/>
              </a:rPr>
              <a:t>Unclear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what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best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prefix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90">
                <a:latin typeface="Arial"/>
                <a:cs typeface="Arial"/>
              </a:rPr>
              <a:t>length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60">
                <a:latin typeface="Arial"/>
                <a:cs typeface="Arial"/>
              </a:rPr>
              <a:t>is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for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90">
                <a:latin typeface="Arial"/>
                <a:cs typeface="Arial"/>
              </a:rPr>
              <a:t>any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particular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task.</a:t>
            </a:r>
            <a:endParaRPr sz="2800">
              <a:latin typeface="Arial"/>
              <a:cs typeface="Arial"/>
            </a:endParaRPr>
          </a:p>
          <a:p>
            <a:pPr lvl="1" marL="643255" marR="304165" indent="-181610">
              <a:lnSpc>
                <a:spcPts val="2590"/>
              </a:lnSpc>
              <a:spcBef>
                <a:spcPts val="550"/>
              </a:spcBef>
              <a:buChar char="•"/>
              <a:tabLst>
                <a:tab pos="645160" algn="l"/>
              </a:tabLst>
            </a:pPr>
            <a:r>
              <a:rPr dirty="0" sz="2400" spc="-175">
                <a:latin typeface="Arial"/>
                <a:cs typeface="Arial"/>
              </a:rPr>
              <a:t>Every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sequence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position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you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“spend”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on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70">
                <a:latin typeface="Arial"/>
                <a:cs typeface="Arial"/>
              </a:rPr>
              <a:t>prefix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is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one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80">
                <a:latin typeface="Arial"/>
                <a:cs typeface="Arial"/>
              </a:rPr>
              <a:t>less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you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have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for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 spc="-75">
                <a:latin typeface="Arial"/>
                <a:cs typeface="Arial"/>
              </a:rPr>
              <a:t>your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actual</a:t>
            </a:r>
            <a:r>
              <a:rPr dirty="0" sz="2400" spc="-130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task.</a:t>
            </a:r>
            <a:endParaRPr sz="24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620"/>
              </a:spcBef>
              <a:buChar char="•"/>
              <a:tabLst>
                <a:tab pos="187325" algn="l"/>
              </a:tabLst>
            </a:pPr>
            <a:r>
              <a:rPr dirty="0" sz="2800" spc="-170">
                <a:latin typeface="Arial"/>
                <a:cs typeface="Arial"/>
              </a:rPr>
              <a:t>Learned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embeddings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are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not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very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interpretable.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73025" y="6649723"/>
            <a:ext cx="488378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“Parameter-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Efficient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Transfer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Learning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for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NLP.”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Houslby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et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al.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2019.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What</a:t>
            </a:r>
            <a:r>
              <a:rPr dirty="0" spc="-215"/>
              <a:t> </a:t>
            </a:r>
            <a:r>
              <a:rPr dirty="0" spc="-210"/>
              <a:t>are</a:t>
            </a:r>
            <a:r>
              <a:rPr dirty="0" spc="-215"/>
              <a:t> adapters?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802663"/>
            <a:ext cx="10236835" cy="26263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6690" marR="5080" indent="-174625">
              <a:lnSpc>
                <a:spcPts val="3020"/>
              </a:lnSpc>
              <a:spcBef>
                <a:spcPts val="480"/>
              </a:spcBef>
              <a:buChar char="•"/>
              <a:tabLst>
                <a:tab pos="187960" algn="l"/>
              </a:tabLst>
            </a:pPr>
            <a:r>
              <a:rPr dirty="0" sz="2800" spc="-225" b="1">
                <a:latin typeface="Arial"/>
                <a:cs typeface="Arial"/>
              </a:rPr>
              <a:t>Adapters</a:t>
            </a:r>
            <a:r>
              <a:rPr dirty="0" sz="2800" spc="-120" b="1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are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20">
                <a:latin typeface="Arial"/>
                <a:cs typeface="Arial"/>
              </a:rPr>
              <a:t>new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35">
                <a:latin typeface="Arial"/>
                <a:cs typeface="Arial"/>
              </a:rPr>
              <a:t>modules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are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added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between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70">
                <a:latin typeface="Arial"/>
                <a:cs typeface="Arial"/>
              </a:rPr>
              <a:t>layers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40">
                <a:latin typeface="Arial"/>
                <a:cs typeface="Arial"/>
              </a:rPr>
              <a:t>a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pre-</a:t>
            </a:r>
            <a:r>
              <a:rPr dirty="0" sz="2800" spc="-10">
                <a:latin typeface="Arial"/>
                <a:cs typeface="Arial"/>
              </a:rPr>
              <a:t>trained 	network.</a:t>
            </a:r>
            <a:endParaRPr sz="2800">
              <a:latin typeface="Arial"/>
              <a:cs typeface="Arial"/>
            </a:endParaRPr>
          </a:p>
          <a:p>
            <a:pPr marL="186690" marR="483234" indent="-174625">
              <a:lnSpc>
                <a:spcPts val="3020"/>
              </a:lnSpc>
              <a:spcBef>
                <a:spcPts val="1010"/>
              </a:spcBef>
              <a:buChar char="•"/>
              <a:tabLst>
                <a:tab pos="187960" algn="l"/>
              </a:tabLst>
            </a:pPr>
            <a:r>
              <a:rPr dirty="0" sz="2800" spc="-220">
                <a:latin typeface="Arial"/>
                <a:cs typeface="Arial"/>
              </a:rPr>
              <a:t>The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85">
                <a:latin typeface="Arial"/>
                <a:cs typeface="Arial"/>
              </a:rPr>
              <a:t>original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model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weights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are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95">
                <a:latin typeface="Arial"/>
                <a:cs typeface="Arial"/>
              </a:rPr>
              <a:t>fixed;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just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adapter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35">
                <a:latin typeface="Arial"/>
                <a:cs typeface="Arial"/>
              </a:rPr>
              <a:t>modules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are </a:t>
            </a:r>
            <a:r>
              <a:rPr dirty="0" sz="2800" spc="-25">
                <a:latin typeface="Arial"/>
                <a:cs typeface="Arial"/>
              </a:rPr>
              <a:t>	</a:t>
            </a:r>
            <a:r>
              <a:rPr dirty="0" sz="2800" spc="-10">
                <a:latin typeface="Arial"/>
                <a:cs typeface="Arial"/>
              </a:rPr>
              <a:t>tuned.</a:t>
            </a:r>
            <a:endParaRPr sz="2800">
              <a:latin typeface="Arial"/>
              <a:cs typeface="Arial"/>
            </a:endParaRPr>
          </a:p>
          <a:p>
            <a:pPr marL="186690" marR="2077085" indent="-174625">
              <a:lnSpc>
                <a:spcPts val="3020"/>
              </a:lnSpc>
              <a:spcBef>
                <a:spcPts val="1010"/>
              </a:spcBef>
              <a:buChar char="•"/>
              <a:tabLst>
                <a:tab pos="187960" algn="l"/>
              </a:tabLst>
            </a:pPr>
            <a:r>
              <a:rPr dirty="0" sz="2800" spc="-220">
                <a:latin typeface="Arial"/>
                <a:cs typeface="Arial"/>
              </a:rPr>
              <a:t>The</a:t>
            </a:r>
            <a:r>
              <a:rPr dirty="0" sz="2800" spc="-145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adapters </a:t>
            </a:r>
            <a:r>
              <a:rPr dirty="0" sz="2800" spc="-145">
                <a:latin typeface="Arial"/>
                <a:cs typeface="Arial"/>
              </a:rPr>
              <a:t>are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initialized</a:t>
            </a:r>
            <a:r>
              <a:rPr dirty="0" sz="2800" spc="-145">
                <a:latin typeface="Arial"/>
                <a:cs typeface="Arial"/>
              </a:rPr>
              <a:t> </a:t>
            </a:r>
            <a:r>
              <a:rPr dirty="0" sz="2800" spc="-190">
                <a:latin typeface="Arial"/>
                <a:cs typeface="Arial"/>
              </a:rPr>
              <a:t>such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that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4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output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the </a:t>
            </a:r>
            <a:r>
              <a:rPr dirty="0" sz="2800" spc="-25">
                <a:latin typeface="Arial"/>
                <a:cs typeface="Arial"/>
              </a:rPr>
              <a:t>	</a:t>
            </a:r>
            <a:r>
              <a:rPr dirty="0" sz="2800" spc="-120">
                <a:latin typeface="Arial"/>
                <a:cs typeface="Arial"/>
              </a:rPr>
              <a:t>adapter-</a:t>
            </a:r>
            <a:r>
              <a:rPr dirty="0" sz="2800" spc="-95">
                <a:latin typeface="Arial"/>
                <a:cs typeface="Arial"/>
              </a:rPr>
              <a:t>inserted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module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55">
                <a:latin typeface="Arial"/>
                <a:cs typeface="Arial"/>
              </a:rPr>
              <a:t>resembles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85">
                <a:latin typeface="Arial"/>
                <a:cs typeface="Arial"/>
              </a:rPr>
              <a:t>original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model.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What</a:t>
            </a:r>
            <a:r>
              <a:rPr dirty="0" spc="-215"/>
              <a:t> </a:t>
            </a:r>
            <a:r>
              <a:rPr dirty="0" spc="-210"/>
              <a:t>are</a:t>
            </a:r>
            <a:r>
              <a:rPr dirty="0" spc="-215"/>
              <a:t> adapters?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062619" y="2004163"/>
            <a:ext cx="7496175" cy="4510405"/>
            <a:chOff x="2062619" y="2004163"/>
            <a:chExt cx="7496175" cy="45104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1634" y="2004163"/>
              <a:ext cx="3006760" cy="451014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2619" y="2004163"/>
              <a:ext cx="3006760" cy="451014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4049485" y="4278797"/>
              <a:ext cx="2395220" cy="815975"/>
            </a:xfrm>
            <a:custGeom>
              <a:avLst/>
              <a:gdLst/>
              <a:ahLst/>
              <a:cxnLst/>
              <a:rect l="l" t="t" r="r" b="b"/>
              <a:pathLst>
                <a:path w="2395220" h="815975">
                  <a:moveTo>
                    <a:pt x="0" y="815716"/>
                  </a:moveTo>
                  <a:lnTo>
                    <a:pt x="2394861" y="0"/>
                  </a:lnTo>
                </a:path>
              </a:pathLst>
            </a:custGeom>
            <a:ln w="5714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413911" y="4189441"/>
              <a:ext cx="276225" cy="179070"/>
            </a:xfrm>
            <a:custGeom>
              <a:avLst/>
              <a:gdLst/>
              <a:ahLst/>
              <a:cxnLst/>
              <a:rect l="l" t="t" r="r" b="b"/>
              <a:pathLst>
                <a:path w="276225" h="179070">
                  <a:moveTo>
                    <a:pt x="60870" y="178710"/>
                  </a:moveTo>
                  <a:lnTo>
                    <a:pt x="0" y="0"/>
                  </a:lnTo>
                  <a:lnTo>
                    <a:pt x="275937" y="5734"/>
                  </a:lnTo>
                  <a:lnTo>
                    <a:pt x="60870" y="17871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13911" y="4189441"/>
              <a:ext cx="276225" cy="179070"/>
            </a:xfrm>
            <a:custGeom>
              <a:avLst/>
              <a:gdLst/>
              <a:ahLst/>
              <a:cxnLst/>
              <a:rect l="l" t="t" r="r" b="b"/>
              <a:pathLst>
                <a:path w="276225" h="179070">
                  <a:moveTo>
                    <a:pt x="60870" y="178710"/>
                  </a:moveTo>
                  <a:lnTo>
                    <a:pt x="275937" y="5734"/>
                  </a:lnTo>
                  <a:lnTo>
                    <a:pt x="0" y="0"/>
                  </a:lnTo>
                  <a:lnTo>
                    <a:pt x="60870" y="178710"/>
                  </a:lnTo>
                  <a:close/>
                </a:path>
              </a:pathLst>
            </a:custGeom>
            <a:ln w="5714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49485" y="3206337"/>
              <a:ext cx="2386330" cy="568960"/>
            </a:xfrm>
            <a:custGeom>
              <a:avLst/>
              <a:gdLst/>
              <a:ahLst/>
              <a:cxnLst/>
              <a:rect l="l" t="t" r="r" b="b"/>
              <a:pathLst>
                <a:path w="2386329" h="568960">
                  <a:moveTo>
                    <a:pt x="0" y="0"/>
                  </a:moveTo>
                  <a:lnTo>
                    <a:pt x="2385899" y="568893"/>
                  </a:lnTo>
                </a:path>
              </a:pathLst>
            </a:custGeom>
            <a:ln w="5714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13491" y="3683408"/>
              <a:ext cx="274320" cy="184150"/>
            </a:xfrm>
            <a:custGeom>
              <a:avLst/>
              <a:gdLst/>
              <a:ahLst/>
              <a:cxnLst/>
              <a:rect l="l" t="t" r="r" b="b"/>
              <a:pathLst>
                <a:path w="274320" h="184150">
                  <a:moveTo>
                    <a:pt x="0" y="183644"/>
                  </a:moveTo>
                  <a:lnTo>
                    <a:pt x="43788" y="0"/>
                  </a:lnTo>
                  <a:lnTo>
                    <a:pt x="274173" y="151975"/>
                  </a:lnTo>
                  <a:lnTo>
                    <a:pt x="0" y="18364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13491" y="3683408"/>
              <a:ext cx="274320" cy="184150"/>
            </a:xfrm>
            <a:custGeom>
              <a:avLst/>
              <a:gdLst/>
              <a:ahLst/>
              <a:cxnLst/>
              <a:rect l="l" t="t" r="r" b="b"/>
              <a:pathLst>
                <a:path w="274320" h="184150">
                  <a:moveTo>
                    <a:pt x="0" y="183644"/>
                  </a:moveTo>
                  <a:lnTo>
                    <a:pt x="274173" y="151975"/>
                  </a:lnTo>
                  <a:lnTo>
                    <a:pt x="43788" y="0"/>
                  </a:lnTo>
                  <a:lnTo>
                    <a:pt x="0" y="183644"/>
                  </a:lnTo>
                  <a:close/>
                </a:path>
              </a:pathLst>
            </a:custGeom>
            <a:ln w="5714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3025" y="6649723"/>
            <a:ext cx="488378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“Parameter-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Efficient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Transfer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Learning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for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1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NLP.”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Houslby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et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al.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2019.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35090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What</a:t>
            </a:r>
            <a:r>
              <a:rPr dirty="0" spc="-215"/>
              <a:t> </a:t>
            </a:r>
            <a:r>
              <a:rPr dirty="0" spc="-210"/>
              <a:t>are</a:t>
            </a:r>
            <a:r>
              <a:rPr dirty="0" spc="-215"/>
              <a:t> </a:t>
            </a:r>
            <a:r>
              <a:rPr dirty="0" spc="-225"/>
              <a:t>compacters?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625"/>
            <a:ext cx="10515599" cy="455142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4547" y="1802663"/>
            <a:ext cx="1504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025" y="6649723"/>
            <a:ext cx="633031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16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“COMPACTER: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Efficient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Low-</a:t>
            </a:r>
            <a:r>
              <a:rPr dirty="0" u="heavy" sz="1400" spc="-12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Rank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Hypercomplex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Adapter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Layers.”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6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Mahabadi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et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al.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2021.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What</a:t>
            </a:r>
            <a:r>
              <a:rPr dirty="0" spc="-215"/>
              <a:t> </a:t>
            </a:r>
            <a:r>
              <a:rPr dirty="0" spc="-210"/>
              <a:t>are</a:t>
            </a:r>
            <a:r>
              <a:rPr dirty="0" spc="-215"/>
              <a:t> </a:t>
            </a:r>
            <a:r>
              <a:rPr dirty="0" spc="-225"/>
              <a:t>compacters?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57237" y="1299955"/>
            <a:ext cx="8397240" cy="5304155"/>
            <a:chOff x="557237" y="1299955"/>
            <a:chExt cx="8397240" cy="530415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3998" y="1299955"/>
              <a:ext cx="5389994" cy="530409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237" y="1696932"/>
              <a:ext cx="3006760" cy="4510141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73025" y="6649723"/>
            <a:ext cx="633031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16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“COMPACTER: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Efficient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1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Low-</a:t>
            </a:r>
            <a:r>
              <a:rPr dirty="0" u="heavy" sz="1400" spc="-12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Rank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Hypercomplex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Adapter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Layers.”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6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Mahabadi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et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al.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2021.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335705"/>
            <a:ext cx="10285095" cy="1299845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 spc="-254"/>
              <a:t>There</a:t>
            </a:r>
            <a:r>
              <a:rPr dirty="0" spc="-225"/>
              <a:t> </a:t>
            </a:r>
            <a:r>
              <a:rPr dirty="0" spc="-275"/>
              <a:t>have</a:t>
            </a:r>
            <a:r>
              <a:rPr dirty="0" spc="-220"/>
              <a:t> </a:t>
            </a:r>
            <a:r>
              <a:rPr dirty="0" spc="-229"/>
              <a:t>been</a:t>
            </a:r>
            <a:r>
              <a:rPr dirty="0" spc="-215"/>
              <a:t> </a:t>
            </a:r>
            <a:r>
              <a:rPr dirty="0" spc="-250"/>
              <a:t>many</a:t>
            </a:r>
            <a:r>
              <a:rPr dirty="0" spc="-225"/>
              <a:t> </a:t>
            </a:r>
            <a:r>
              <a:rPr dirty="0" spc="-70"/>
              <a:t>other</a:t>
            </a:r>
            <a:r>
              <a:rPr dirty="0" spc="-220"/>
              <a:t> </a:t>
            </a:r>
            <a:r>
              <a:rPr dirty="0" spc="-215"/>
              <a:t>extensions </a:t>
            </a:r>
            <a:r>
              <a:rPr dirty="0" spc="-25"/>
              <a:t>to </a:t>
            </a:r>
            <a:r>
              <a:rPr dirty="0" spc="-204"/>
              <a:t>adapters</a:t>
            </a:r>
            <a:r>
              <a:rPr dirty="0" spc="-215"/>
              <a:t> </a:t>
            </a:r>
            <a:r>
              <a:rPr dirty="0" spc="-145"/>
              <a:t>which</a:t>
            </a:r>
            <a:r>
              <a:rPr dirty="0" spc="-210"/>
              <a:t> </a:t>
            </a:r>
            <a:r>
              <a:rPr dirty="0" spc="-180"/>
              <a:t>we</a:t>
            </a:r>
            <a:r>
              <a:rPr dirty="0" spc="-215"/>
              <a:t> </a:t>
            </a:r>
            <a:r>
              <a:rPr dirty="0"/>
              <a:t>won’t</a:t>
            </a:r>
            <a:r>
              <a:rPr dirty="0" spc="-220"/>
              <a:t> </a:t>
            </a:r>
            <a:r>
              <a:rPr dirty="0" spc="-300"/>
              <a:t>discuss</a:t>
            </a:r>
            <a:r>
              <a:rPr dirty="0" spc="-210"/>
              <a:t> </a:t>
            </a:r>
            <a:r>
              <a:rPr dirty="0" spc="-75"/>
              <a:t>in</a:t>
            </a:r>
            <a:r>
              <a:rPr dirty="0" spc="-210"/>
              <a:t> </a:t>
            </a:r>
            <a:r>
              <a:rPr dirty="0" spc="-95"/>
              <a:t>this</a:t>
            </a:r>
            <a:r>
              <a:rPr dirty="0" spc="-215"/>
              <a:t> </a:t>
            </a:r>
            <a:r>
              <a:rPr dirty="0" spc="-315"/>
              <a:t>class.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2642" y="2400814"/>
            <a:ext cx="3628441" cy="317806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892" y="2442295"/>
            <a:ext cx="7772856" cy="306390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3025" y="6649723"/>
            <a:ext cx="633031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16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“COMPACTER: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Efficient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1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Low-</a:t>
            </a:r>
            <a:r>
              <a:rPr dirty="0" u="heavy" sz="1400" spc="-12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Rank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Hypercomplex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Adapter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Layers.”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6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Mahabadi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et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al.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2021.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5"/>
              <a:t>Advantages</a:t>
            </a:r>
            <a:r>
              <a:rPr dirty="0" spc="-215"/>
              <a:t> </a:t>
            </a:r>
            <a:r>
              <a:rPr dirty="0"/>
              <a:t>of</a:t>
            </a:r>
            <a:r>
              <a:rPr dirty="0" spc="-210"/>
              <a:t> </a:t>
            </a:r>
            <a:r>
              <a:rPr dirty="0" spc="-175"/>
              <a:t>Adapter-</a:t>
            </a:r>
            <a:r>
              <a:rPr dirty="0" spc="-380"/>
              <a:t>Based</a:t>
            </a:r>
            <a:r>
              <a:rPr dirty="0" spc="-210"/>
              <a:t> </a:t>
            </a:r>
            <a:r>
              <a:rPr dirty="0" spc="-80"/>
              <a:t>Methods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770304"/>
            <a:ext cx="10187940" cy="300609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355"/>
              </a:spcBef>
              <a:buChar char="•"/>
              <a:tabLst>
                <a:tab pos="187325" algn="l"/>
              </a:tabLst>
            </a:pPr>
            <a:r>
              <a:rPr dirty="0" sz="2800" spc="-229">
                <a:latin typeface="Arial"/>
                <a:cs typeface="Arial"/>
              </a:rPr>
              <a:t>Have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been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shown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be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quite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effective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in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multi-</a:t>
            </a:r>
            <a:r>
              <a:rPr dirty="0" sz="2800" spc="-180">
                <a:latin typeface="Arial"/>
                <a:cs typeface="Arial"/>
              </a:rPr>
              <a:t>task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settings.</a:t>
            </a:r>
            <a:endParaRPr sz="2800">
              <a:latin typeface="Arial"/>
              <a:cs typeface="Arial"/>
            </a:endParaRPr>
          </a:p>
          <a:p>
            <a:pPr lvl="1" marL="643255" marR="5080" indent="-181610">
              <a:lnSpc>
                <a:spcPts val="2590"/>
              </a:lnSpc>
              <a:spcBef>
                <a:spcPts val="545"/>
              </a:spcBef>
              <a:buChar char="•"/>
              <a:tabLst>
                <a:tab pos="645160" algn="l"/>
              </a:tabLst>
            </a:pPr>
            <a:r>
              <a:rPr dirty="0" sz="2400" spc="-140">
                <a:latin typeface="Arial"/>
                <a:cs typeface="Arial"/>
              </a:rPr>
              <a:t>There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are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methods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training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task-</a:t>
            </a:r>
            <a:r>
              <a:rPr dirty="0" sz="2400" spc="-110">
                <a:latin typeface="Arial"/>
                <a:cs typeface="Arial"/>
              </a:rPr>
              <a:t>specific adapters </a:t>
            </a:r>
            <a:r>
              <a:rPr dirty="0" sz="2400" spc="-130">
                <a:latin typeface="Arial"/>
                <a:cs typeface="Arial"/>
              </a:rPr>
              <a:t>and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then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combining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the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leverage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cross-</a:t>
            </a:r>
            <a:r>
              <a:rPr dirty="0" sz="2400" spc="-175">
                <a:latin typeface="Arial"/>
                <a:cs typeface="Arial"/>
              </a:rPr>
              <a:t>task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knowledge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175">
                <a:latin typeface="Arial"/>
                <a:cs typeface="Arial"/>
              </a:rPr>
              <a:t>(see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u="heavy" sz="2400" spc="-4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2"/>
              </a:rPr>
              <a:t>AdapterFusion</a:t>
            </a:r>
            <a:r>
              <a:rPr dirty="0" sz="2400" spc="-40">
                <a:latin typeface="Arial"/>
                <a:cs typeface="Arial"/>
              </a:rPr>
              <a:t>).</a:t>
            </a:r>
            <a:endParaRPr sz="24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620"/>
              </a:spcBef>
              <a:buChar char="•"/>
              <a:tabLst>
                <a:tab pos="187325" algn="l"/>
              </a:tabLst>
            </a:pPr>
            <a:r>
              <a:rPr dirty="0" sz="2800" spc="-250">
                <a:latin typeface="Arial"/>
                <a:cs typeface="Arial"/>
              </a:rPr>
              <a:t>Tend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be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faster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tune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than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full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model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finetuning.</a:t>
            </a:r>
            <a:endParaRPr sz="2800">
              <a:latin typeface="Arial"/>
              <a:cs typeface="Arial"/>
            </a:endParaRPr>
          </a:p>
          <a:p>
            <a:pPr marL="186690" marR="210185" indent="-174625">
              <a:lnSpc>
                <a:spcPts val="3020"/>
              </a:lnSpc>
              <a:spcBef>
                <a:spcPts val="1050"/>
              </a:spcBef>
              <a:buChar char="•"/>
              <a:tabLst>
                <a:tab pos="187960" algn="l"/>
              </a:tabLst>
            </a:pPr>
            <a:r>
              <a:rPr dirty="0" sz="2800" spc="-185">
                <a:latin typeface="Arial"/>
                <a:cs typeface="Arial"/>
              </a:rPr>
              <a:t>Possibly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more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85">
                <a:latin typeface="Arial"/>
                <a:cs typeface="Arial"/>
              </a:rPr>
              <a:t>robust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35">
                <a:latin typeface="Arial"/>
                <a:cs typeface="Arial"/>
              </a:rPr>
              <a:t> adversarial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perturbations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tuning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data </a:t>
            </a:r>
            <a:r>
              <a:rPr dirty="0" sz="2800" spc="-20">
                <a:latin typeface="Arial"/>
                <a:cs typeface="Arial"/>
              </a:rPr>
              <a:t>	</a:t>
            </a:r>
            <a:r>
              <a:rPr dirty="0" sz="2800" spc="-80">
                <a:latin typeface="Arial"/>
                <a:cs typeface="Arial"/>
              </a:rPr>
              <a:t>than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full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model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finetuning.</a:t>
            </a:r>
            <a:endParaRPr sz="2800">
              <a:latin typeface="Arial"/>
              <a:cs typeface="Arial"/>
            </a:endParaRPr>
          </a:p>
          <a:p>
            <a:pPr lvl="1" marL="643255" indent="-181610">
              <a:lnSpc>
                <a:spcPct val="100000"/>
              </a:lnSpc>
              <a:spcBef>
                <a:spcPts val="180"/>
              </a:spcBef>
              <a:buChar char="•"/>
              <a:tabLst>
                <a:tab pos="643255" algn="l"/>
              </a:tabLst>
            </a:pPr>
            <a:r>
              <a:rPr dirty="0" sz="2400" spc="-170">
                <a:latin typeface="Arial"/>
                <a:cs typeface="Arial"/>
              </a:rPr>
              <a:t>(</a:t>
            </a:r>
            <a:r>
              <a:rPr dirty="0" u="heavy" sz="2400" spc="-17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3"/>
              </a:rPr>
              <a:t>see</a:t>
            </a:r>
            <a:r>
              <a:rPr dirty="0" u="heavy" sz="2400" spc="-105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2400" spc="-75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3"/>
              </a:rPr>
              <a:t>robust</a:t>
            </a:r>
            <a:r>
              <a:rPr dirty="0" u="heavy" sz="2400" spc="-10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2400" spc="-75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3"/>
              </a:rPr>
              <a:t>transfer</a:t>
            </a:r>
            <a:r>
              <a:rPr dirty="0" u="heavy" sz="2400" spc="-10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2400" spc="-9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3"/>
              </a:rPr>
              <a:t>learning</a:t>
            </a:r>
            <a:r>
              <a:rPr dirty="0" u="heavy" sz="2400" spc="-10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24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"/>
                <a:cs typeface="Arial"/>
                <a:hlinkClick r:id="rId3"/>
              </a:rPr>
              <a:t>paper</a:t>
            </a:r>
            <a:r>
              <a:rPr dirty="0" sz="2400" spc="-1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626745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Pitfalls</a:t>
            </a:r>
            <a:r>
              <a:rPr dirty="0" spc="-210"/>
              <a:t> </a:t>
            </a:r>
            <a:r>
              <a:rPr dirty="0" spc="-20"/>
              <a:t>or</a:t>
            </a:r>
            <a:r>
              <a:rPr dirty="0" spc="-215"/>
              <a:t> </a:t>
            </a:r>
            <a:r>
              <a:rPr dirty="0" spc="-160"/>
              <a:t>Adapter</a:t>
            </a:r>
            <a:r>
              <a:rPr dirty="0" spc="-215"/>
              <a:t> </a:t>
            </a:r>
            <a:r>
              <a:rPr dirty="0" spc="-90"/>
              <a:t>Methods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718335"/>
            <a:ext cx="9907905" cy="232664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60"/>
              </a:spcBef>
              <a:buChar char="•"/>
              <a:tabLst>
                <a:tab pos="187325" algn="l"/>
              </a:tabLst>
            </a:pPr>
            <a:r>
              <a:rPr dirty="0" sz="2800" spc="-145">
                <a:latin typeface="Arial"/>
                <a:cs typeface="Arial"/>
              </a:rPr>
              <a:t>Adding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in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20">
                <a:latin typeface="Arial"/>
                <a:cs typeface="Arial"/>
              </a:rPr>
              <a:t>new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70">
                <a:latin typeface="Arial"/>
                <a:cs typeface="Arial"/>
              </a:rPr>
              <a:t>layers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90">
                <a:latin typeface="Arial"/>
                <a:cs typeface="Arial"/>
              </a:rPr>
              <a:t>means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making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inference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slower.</a:t>
            </a:r>
            <a:endParaRPr sz="2800">
              <a:latin typeface="Arial"/>
              <a:cs typeface="Arial"/>
            </a:endParaRPr>
          </a:p>
          <a:p>
            <a:pPr marL="186690" marR="335280" indent="-174625">
              <a:lnSpc>
                <a:spcPts val="3020"/>
              </a:lnSpc>
              <a:spcBef>
                <a:spcPts val="1050"/>
              </a:spcBef>
              <a:buChar char="•"/>
              <a:tabLst>
                <a:tab pos="187960" algn="l"/>
              </a:tabLst>
            </a:pPr>
            <a:r>
              <a:rPr dirty="0" sz="2800">
                <a:latin typeface="Arial"/>
                <a:cs typeface="Arial"/>
              </a:rPr>
              <a:t>It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65">
                <a:latin typeface="Arial"/>
                <a:cs typeface="Arial"/>
              </a:rPr>
              <a:t>also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225">
                <a:latin typeface="Arial"/>
                <a:cs typeface="Arial"/>
              </a:rPr>
              <a:t>makes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model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35">
                <a:latin typeface="Arial"/>
                <a:cs typeface="Arial"/>
              </a:rPr>
              <a:t>bigger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(possibly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harder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75">
                <a:latin typeface="Arial"/>
                <a:cs typeface="Arial"/>
              </a:rPr>
              <a:t>fit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on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available </a:t>
            </a:r>
            <a:r>
              <a:rPr dirty="0" sz="2800" spc="-80">
                <a:latin typeface="Arial"/>
                <a:cs typeface="Arial"/>
              </a:rPr>
              <a:t>	</a:t>
            </a:r>
            <a:r>
              <a:rPr dirty="0" sz="2800" spc="-275">
                <a:latin typeface="Arial"/>
                <a:cs typeface="Arial"/>
              </a:rPr>
              <a:t>GPUs).</a:t>
            </a:r>
            <a:endParaRPr sz="2800">
              <a:latin typeface="Arial"/>
              <a:cs typeface="Arial"/>
            </a:endParaRPr>
          </a:p>
          <a:p>
            <a:pPr marL="186690" marR="5080" indent="-174625">
              <a:lnSpc>
                <a:spcPts val="3020"/>
              </a:lnSpc>
              <a:spcBef>
                <a:spcPts val="1010"/>
              </a:spcBef>
              <a:buChar char="•"/>
              <a:tabLst>
                <a:tab pos="187960" algn="l"/>
              </a:tabLst>
            </a:pPr>
            <a:r>
              <a:rPr dirty="0" sz="2800" spc="-105">
                <a:latin typeface="Arial"/>
                <a:cs typeface="Arial"/>
              </a:rPr>
              <a:t>Adapter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70">
                <a:latin typeface="Arial"/>
                <a:cs typeface="Arial"/>
              </a:rPr>
              <a:t>layers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need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be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70">
                <a:latin typeface="Arial"/>
                <a:cs typeface="Arial"/>
              </a:rPr>
              <a:t>processed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sequentially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at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inference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time, </a:t>
            </a:r>
            <a:r>
              <a:rPr dirty="0" sz="2800" spc="-10">
                <a:latin typeface="Arial"/>
                <a:cs typeface="Arial"/>
              </a:rPr>
              <a:t>	</a:t>
            </a:r>
            <a:r>
              <a:rPr dirty="0" sz="2800" spc="-100">
                <a:latin typeface="Arial"/>
                <a:cs typeface="Arial"/>
              </a:rPr>
              <a:t>which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204">
                <a:latin typeface="Arial"/>
                <a:cs typeface="Arial"/>
              </a:rPr>
              <a:t>can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35">
                <a:latin typeface="Arial"/>
                <a:cs typeface="Arial"/>
              </a:rPr>
              <a:t>break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model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parallelism.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8722" y="588723"/>
            <a:ext cx="11014710" cy="5680710"/>
          </a:xfrm>
          <a:custGeom>
            <a:avLst/>
            <a:gdLst/>
            <a:ahLst/>
            <a:cxnLst/>
            <a:rect l="l" t="t" r="r" b="b"/>
            <a:pathLst>
              <a:path w="11014710" h="5680710">
                <a:moveTo>
                  <a:pt x="11014552" y="5680550"/>
                </a:moveTo>
                <a:lnTo>
                  <a:pt x="0" y="5680550"/>
                </a:lnTo>
                <a:lnTo>
                  <a:pt x="0" y="0"/>
                </a:lnTo>
                <a:lnTo>
                  <a:pt x="11014552" y="0"/>
                </a:lnTo>
                <a:lnTo>
                  <a:pt x="11014552" y="568055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13669" y="1143902"/>
            <a:ext cx="8757285" cy="232981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 marL="12700" marR="5080" indent="1905">
              <a:lnSpc>
                <a:spcPts val="5830"/>
              </a:lnSpc>
              <a:spcBef>
                <a:spcPts val="835"/>
              </a:spcBef>
            </a:pPr>
            <a:r>
              <a:rPr dirty="0" sz="5400" spc="-165">
                <a:latin typeface="Arial"/>
                <a:cs typeface="Arial"/>
              </a:rPr>
              <a:t>What</a:t>
            </a:r>
            <a:r>
              <a:rPr dirty="0" sz="5400" spc="-275">
                <a:latin typeface="Arial"/>
                <a:cs typeface="Arial"/>
              </a:rPr>
              <a:t> </a:t>
            </a:r>
            <a:r>
              <a:rPr dirty="0" sz="5400" spc="75">
                <a:latin typeface="Arial"/>
                <a:cs typeface="Arial"/>
              </a:rPr>
              <a:t>if</a:t>
            </a:r>
            <a:r>
              <a:rPr dirty="0" sz="5400" spc="-265">
                <a:latin typeface="Arial"/>
                <a:cs typeface="Arial"/>
              </a:rPr>
              <a:t> </a:t>
            </a:r>
            <a:r>
              <a:rPr dirty="0" sz="5400" spc="-235">
                <a:latin typeface="Arial"/>
                <a:cs typeface="Arial"/>
              </a:rPr>
              <a:t>we</a:t>
            </a:r>
            <a:r>
              <a:rPr dirty="0" sz="5400" spc="-270">
                <a:latin typeface="Arial"/>
                <a:cs typeface="Arial"/>
              </a:rPr>
              <a:t> </a:t>
            </a:r>
            <a:r>
              <a:rPr dirty="0" sz="5400" spc="-225">
                <a:latin typeface="Arial"/>
                <a:cs typeface="Arial"/>
              </a:rPr>
              <a:t>pick</a:t>
            </a:r>
            <a:r>
              <a:rPr dirty="0" sz="5400" spc="-265">
                <a:latin typeface="Arial"/>
                <a:cs typeface="Arial"/>
              </a:rPr>
              <a:t> </a:t>
            </a:r>
            <a:r>
              <a:rPr dirty="0" sz="5400" spc="-420">
                <a:latin typeface="Arial"/>
                <a:cs typeface="Arial"/>
              </a:rPr>
              <a:t>a</a:t>
            </a:r>
            <a:r>
              <a:rPr dirty="0" sz="5400" spc="-260">
                <a:latin typeface="Arial"/>
                <a:cs typeface="Arial"/>
              </a:rPr>
              <a:t> </a:t>
            </a:r>
            <a:r>
              <a:rPr dirty="0" sz="5400" spc="-240">
                <a:latin typeface="Arial"/>
                <a:cs typeface="Arial"/>
              </a:rPr>
              <a:t>small</a:t>
            </a:r>
            <a:r>
              <a:rPr dirty="0" sz="5400" spc="-270">
                <a:latin typeface="Arial"/>
                <a:cs typeface="Arial"/>
              </a:rPr>
              <a:t> </a:t>
            </a:r>
            <a:r>
              <a:rPr dirty="0" sz="5400" spc="-285">
                <a:latin typeface="Arial"/>
                <a:cs typeface="Arial"/>
              </a:rPr>
              <a:t>subset </a:t>
            </a:r>
            <a:r>
              <a:rPr dirty="0" sz="5400">
                <a:latin typeface="Arial"/>
                <a:cs typeface="Arial"/>
              </a:rPr>
              <a:t>of</a:t>
            </a:r>
            <a:r>
              <a:rPr dirty="0" sz="5400" spc="-300">
                <a:latin typeface="Arial"/>
                <a:cs typeface="Arial"/>
              </a:rPr>
              <a:t> </a:t>
            </a:r>
            <a:r>
              <a:rPr dirty="0" sz="5400" spc="-80">
                <a:latin typeface="Arial"/>
                <a:cs typeface="Arial"/>
              </a:rPr>
              <a:t>the</a:t>
            </a:r>
            <a:r>
              <a:rPr dirty="0" sz="5400" spc="-290">
                <a:latin typeface="Arial"/>
                <a:cs typeface="Arial"/>
              </a:rPr>
              <a:t> </a:t>
            </a:r>
            <a:r>
              <a:rPr dirty="0" sz="5400" spc="-240">
                <a:latin typeface="Arial"/>
                <a:cs typeface="Arial"/>
              </a:rPr>
              <a:t>parameters</a:t>
            </a:r>
            <a:r>
              <a:rPr dirty="0" sz="5400" spc="-285">
                <a:latin typeface="Arial"/>
                <a:cs typeface="Arial"/>
              </a:rPr>
              <a:t> </a:t>
            </a:r>
            <a:r>
              <a:rPr dirty="0" sz="5400">
                <a:latin typeface="Arial"/>
                <a:cs typeface="Arial"/>
              </a:rPr>
              <a:t>of</a:t>
            </a:r>
            <a:r>
              <a:rPr dirty="0" sz="5400" spc="-290">
                <a:latin typeface="Arial"/>
                <a:cs typeface="Arial"/>
              </a:rPr>
              <a:t> </a:t>
            </a:r>
            <a:r>
              <a:rPr dirty="0" sz="5400" spc="-80">
                <a:latin typeface="Arial"/>
                <a:cs typeface="Arial"/>
              </a:rPr>
              <a:t>the</a:t>
            </a:r>
            <a:r>
              <a:rPr dirty="0" sz="5400" spc="-290">
                <a:latin typeface="Arial"/>
                <a:cs typeface="Arial"/>
              </a:rPr>
              <a:t> </a:t>
            </a:r>
            <a:r>
              <a:rPr dirty="0" sz="5400" spc="-135">
                <a:latin typeface="Arial"/>
                <a:cs typeface="Arial"/>
              </a:rPr>
              <a:t>neural </a:t>
            </a:r>
            <a:r>
              <a:rPr dirty="0" sz="5400" spc="-114">
                <a:latin typeface="Arial"/>
                <a:cs typeface="Arial"/>
              </a:rPr>
              <a:t>network</a:t>
            </a:r>
            <a:r>
              <a:rPr dirty="0" sz="5400" spc="-265">
                <a:latin typeface="Arial"/>
                <a:cs typeface="Arial"/>
              </a:rPr>
              <a:t> </a:t>
            </a:r>
            <a:r>
              <a:rPr dirty="0" sz="5400" spc="-275">
                <a:latin typeface="Arial"/>
                <a:cs typeface="Arial"/>
              </a:rPr>
              <a:t>and</a:t>
            </a:r>
            <a:r>
              <a:rPr dirty="0" sz="5400" spc="-260">
                <a:latin typeface="Arial"/>
                <a:cs typeface="Arial"/>
              </a:rPr>
              <a:t> </a:t>
            </a:r>
            <a:r>
              <a:rPr dirty="0" sz="5400" spc="-114">
                <a:latin typeface="Arial"/>
                <a:cs typeface="Arial"/>
              </a:rPr>
              <a:t>just</a:t>
            </a:r>
            <a:r>
              <a:rPr dirty="0" sz="5400" spc="-270">
                <a:latin typeface="Arial"/>
                <a:cs typeface="Arial"/>
              </a:rPr>
              <a:t> </a:t>
            </a:r>
            <a:r>
              <a:rPr dirty="0" sz="5400" spc="-114">
                <a:latin typeface="Arial"/>
                <a:cs typeface="Arial"/>
              </a:rPr>
              <a:t>tune</a:t>
            </a:r>
            <a:r>
              <a:rPr dirty="0" sz="5400" spc="-260">
                <a:latin typeface="Arial"/>
                <a:cs typeface="Arial"/>
              </a:rPr>
              <a:t> </a:t>
            </a:r>
            <a:r>
              <a:rPr dirty="0" sz="5400" spc="-35">
                <a:latin typeface="Arial"/>
                <a:cs typeface="Arial"/>
              </a:rPr>
              <a:t>those?</a:t>
            </a:r>
            <a:endParaRPr sz="5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97025" y="4387369"/>
            <a:ext cx="6925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0">
                <a:latin typeface="Arial"/>
                <a:cs typeface="Arial"/>
              </a:rPr>
              <a:t>Methods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we’ll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60">
                <a:latin typeface="Arial"/>
                <a:cs typeface="Arial"/>
              </a:rPr>
              <a:t>discuss:</a:t>
            </a:r>
            <a:r>
              <a:rPr dirty="0" sz="2400" spc="-100">
                <a:latin typeface="Arial"/>
                <a:cs typeface="Arial"/>
              </a:rPr>
              <a:t> layer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freezing, </a:t>
            </a:r>
            <a:r>
              <a:rPr dirty="0" sz="2400" spc="-70">
                <a:latin typeface="Arial"/>
                <a:cs typeface="Arial"/>
              </a:rPr>
              <a:t>BitFit,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diff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pruning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10"/>
              <a:t>Layer</a:t>
            </a:r>
            <a:r>
              <a:rPr dirty="0" spc="-229"/>
              <a:t> </a:t>
            </a:r>
            <a:r>
              <a:rPr dirty="0" spc="-295"/>
              <a:t>Freezing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802663"/>
            <a:ext cx="9861550" cy="211582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6690" marR="5080" indent="-174625">
              <a:lnSpc>
                <a:spcPts val="3020"/>
              </a:lnSpc>
              <a:spcBef>
                <a:spcPts val="480"/>
              </a:spcBef>
              <a:buChar char="•"/>
              <a:tabLst>
                <a:tab pos="187960" algn="l"/>
              </a:tabLst>
            </a:pPr>
            <a:r>
              <a:rPr dirty="0" sz="2800" spc="-235">
                <a:latin typeface="Arial"/>
                <a:cs typeface="Arial"/>
              </a:rPr>
              <a:t>Research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20">
                <a:latin typeface="Arial"/>
                <a:cs typeface="Arial"/>
              </a:rPr>
              <a:t>has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shown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that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earlier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70">
                <a:latin typeface="Arial"/>
                <a:cs typeface="Arial"/>
              </a:rPr>
              <a:t>layers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Transformer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tend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to </a:t>
            </a:r>
            <a:r>
              <a:rPr dirty="0" sz="2800" spc="-25">
                <a:latin typeface="Arial"/>
                <a:cs typeface="Arial"/>
              </a:rPr>
              <a:t>	</a:t>
            </a:r>
            <a:r>
              <a:rPr dirty="0" sz="2800" spc="-114">
                <a:latin typeface="Arial"/>
                <a:cs typeface="Arial"/>
              </a:rPr>
              <a:t>capture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90">
                <a:latin typeface="Arial"/>
                <a:cs typeface="Arial"/>
              </a:rPr>
              <a:t>linguistic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35">
                <a:latin typeface="Arial"/>
                <a:cs typeface="Arial"/>
              </a:rPr>
              <a:t>phenomena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and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75">
                <a:latin typeface="Arial"/>
                <a:cs typeface="Arial"/>
              </a:rPr>
              <a:t>basic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70">
                <a:latin typeface="Arial"/>
                <a:cs typeface="Arial"/>
              </a:rPr>
              <a:t>language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understand;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later </a:t>
            </a:r>
            <a:r>
              <a:rPr dirty="0" sz="2800" spc="-10">
                <a:latin typeface="Arial"/>
                <a:cs typeface="Arial"/>
              </a:rPr>
              <a:t>	</a:t>
            </a:r>
            <a:r>
              <a:rPr dirty="0" sz="2800" spc="-170">
                <a:latin typeface="Arial"/>
                <a:cs typeface="Arial"/>
              </a:rPr>
              <a:t>layers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are</a:t>
            </a:r>
            <a:r>
              <a:rPr dirty="0" sz="2800" spc="-114">
                <a:latin typeface="Arial"/>
                <a:cs typeface="Arial"/>
              </a:rPr>
              <a:t> where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60">
                <a:latin typeface="Arial"/>
                <a:cs typeface="Arial"/>
              </a:rPr>
              <a:t>task-</a:t>
            </a:r>
            <a:r>
              <a:rPr dirty="0" sz="2800" spc="-125">
                <a:latin typeface="Arial"/>
                <a:cs typeface="Arial"/>
              </a:rPr>
              <a:t>specific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learning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happens.</a:t>
            </a:r>
            <a:endParaRPr sz="2800">
              <a:latin typeface="Arial"/>
              <a:cs typeface="Arial"/>
            </a:endParaRPr>
          </a:p>
          <a:p>
            <a:pPr marL="186690" marR="429259" indent="-174625">
              <a:lnSpc>
                <a:spcPts val="3020"/>
              </a:lnSpc>
              <a:spcBef>
                <a:spcPts val="1015"/>
              </a:spcBef>
              <a:buChar char="•"/>
              <a:tabLst>
                <a:tab pos="187960" algn="l"/>
              </a:tabLst>
            </a:pPr>
            <a:r>
              <a:rPr dirty="0" sz="2800" spc="-195">
                <a:latin typeface="Arial"/>
                <a:cs typeface="Arial"/>
              </a:rPr>
              <a:t>This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90">
                <a:latin typeface="Arial"/>
                <a:cs typeface="Arial"/>
              </a:rPr>
              <a:t>means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we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should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be</a:t>
            </a:r>
            <a:r>
              <a:rPr dirty="0" sz="2800" spc="-130">
                <a:latin typeface="Arial"/>
                <a:cs typeface="Arial"/>
              </a:rPr>
              <a:t> able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learn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20">
                <a:latin typeface="Arial"/>
                <a:cs typeface="Arial"/>
              </a:rPr>
              <a:t>new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85">
                <a:latin typeface="Arial"/>
                <a:cs typeface="Arial"/>
              </a:rPr>
              <a:t>tasks</a:t>
            </a:r>
            <a:r>
              <a:rPr dirty="0" sz="2800" spc="-130">
                <a:latin typeface="Arial"/>
                <a:cs typeface="Arial"/>
              </a:rPr>
              <a:t> by </a:t>
            </a:r>
            <a:r>
              <a:rPr dirty="0" sz="2800" spc="-120">
                <a:latin typeface="Arial"/>
                <a:cs typeface="Arial"/>
              </a:rPr>
              <a:t>freezing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the </a:t>
            </a:r>
            <a:r>
              <a:rPr dirty="0" sz="2800" spc="-25">
                <a:latin typeface="Arial"/>
                <a:cs typeface="Arial"/>
              </a:rPr>
              <a:t>	</a:t>
            </a:r>
            <a:r>
              <a:rPr dirty="0" sz="2800" spc="-75">
                <a:latin typeface="Arial"/>
                <a:cs typeface="Arial"/>
              </a:rPr>
              <a:t>earlier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70">
                <a:latin typeface="Arial"/>
                <a:cs typeface="Arial"/>
              </a:rPr>
              <a:t>layers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and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just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tuning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later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ones.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35090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BitFit:</a:t>
            </a:r>
            <a:r>
              <a:rPr dirty="0" spc="-140"/>
              <a:t> </a:t>
            </a:r>
            <a:r>
              <a:rPr dirty="0" spc="-235"/>
              <a:t>Bias-</a:t>
            </a:r>
            <a:r>
              <a:rPr dirty="0" spc="-225"/>
              <a:t>terms</a:t>
            </a:r>
            <a:r>
              <a:rPr dirty="0" spc="-130"/>
              <a:t> </a:t>
            </a:r>
            <a:r>
              <a:rPr dirty="0" spc="-175"/>
              <a:t>Fine-</a:t>
            </a:r>
            <a:r>
              <a:rPr dirty="0" spc="-105"/>
              <a:t>tuning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625"/>
            <a:ext cx="10515599" cy="435133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4547" y="1802663"/>
            <a:ext cx="1504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025" y="6605273"/>
            <a:ext cx="831595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400" spc="-2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“BitFit: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Simple</a:t>
            </a:r>
            <a:r>
              <a:rPr dirty="0" u="heavy" sz="1400" spc="-3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Parameter-</a:t>
            </a:r>
            <a:r>
              <a:rPr dirty="0" u="heavy" sz="1400" spc="-3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efficient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Fine-</a:t>
            </a:r>
            <a:r>
              <a:rPr dirty="0" u="heavy" sz="1400" spc="-6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tuning</a:t>
            </a:r>
            <a:r>
              <a:rPr dirty="0" u="heavy" sz="1400" spc="-3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for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Transformer-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based</a:t>
            </a:r>
            <a:r>
              <a:rPr dirty="0" u="heavy" sz="1400" spc="-3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Masked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Language-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models.”</a:t>
            </a:r>
            <a:r>
              <a:rPr dirty="0" u="heavy" sz="1400" spc="-3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2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Zaken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et</a:t>
            </a:r>
            <a:r>
              <a:rPr dirty="0" u="heavy" sz="1400" spc="-3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al.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2022.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5064" y="3298004"/>
            <a:ext cx="2823016" cy="140657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Intuition</a:t>
            </a:r>
            <a:r>
              <a:rPr dirty="0" spc="-260"/>
              <a:t> </a:t>
            </a:r>
            <a:r>
              <a:rPr dirty="0"/>
              <a:t>for</a:t>
            </a:r>
            <a:r>
              <a:rPr dirty="0" spc="-265"/>
              <a:t> </a:t>
            </a:r>
            <a:r>
              <a:rPr dirty="0" spc="-140"/>
              <a:t>DiffPruning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802663"/>
            <a:ext cx="9672955" cy="30676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6690" marR="123189" indent="-174625">
              <a:lnSpc>
                <a:spcPts val="3020"/>
              </a:lnSpc>
              <a:spcBef>
                <a:spcPts val="480"/>
              </a:spcBef>
              <a:buChar char="•"/>
              <a:tabLst>
                <a:tab pos="187960" algn="l"/>
              </a:tabLst>
            </a:pPr>
            <a:r>
              <a:rPr dirty="0" sz="2800" spc="-90">
                <a:latin typeface="Arial"/>
                <a:cs typeface="Arial"/>
              </a:rPr>
              <a:t>In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prior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methods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we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80">
                <a:latin typeface="Arial"/>
                <a:cs typeface="Arial"/>
              </a:rPr>
              <a:t>discussed,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choice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what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parameters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to </a:t>
            </a:r>
            <a:r>
              <a:rPr dirty="0" sz="2800" spc="-25">
                <a:latin typeface="Arial"/>
                <a:cs typeface="Arial"/>
              </a:rPr>
              <a:t>	</a:t>
            </a:r>
            <a:r>
              <a:rPr dirty="0" sz="2800" spc="-150">
                <a:latin typeface="Arial"/>
                <a:cs typeface="Arial"/>
              </a:rPr>
              <a:t>freeze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and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what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parameters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tune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210">
                <a:latin typeface="Arial"/>
                <a:cs typeface="Arial"/>
              </a:rPr>
              <a:t>was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35">
                <a:latin typeface="Arial"/>
                <a:cs typeface="Arial"/>
              </a:rPr>
              <a:t>done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manually.</a:t>
            </a:r>
            <a:endParaRPr sz="28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625"/>
              </a:spcBef>
              <a:buChar char="•"/>
              <a:tabLst>
                <a:tab pos="187325" algn="l"/>
              </a:tabLst>
            </a:pPr>
            <a:r>
              <a:rPr dirty="0" sz="2800" spc="-160">
                <a:latin typeface="Arial"/>
                <a:cs typeface="Arial"/>
              </a:rPr>
              <a:t>Why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not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learn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this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instead?</a:t>
            </a:r>
            <a:endParaRPr sz="28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Char char="•"/>
              <a:tabLst>
                <a:tab pos="187325" algn="l"/>
              </a:tabLst>
            </a:pPr>
            <a:r>
              <a:rPr dirty="0" sz="2800" spc="-70">
                <a:latin typeface="Arial"/>
                <a:cs typeface="Arial"/>
              </a:rPr>
              <a:t>Main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idea:</a:t>
            </a:r>
            <a:endParaRPr sz="2800">
              <a:latin typeface="Arial"/>
              <a:cs typeface="Arial"/>
            </a:endParaRPr>
          </a:p>
          <a:p>
            <a:pPr lvl="1" marL="643255" marR="5080" indent="-181610">
              <a:lnSpc>
                <a:spcPts val="2590"/>
              </a:lnSpc>
              <a:spcBef>
                <a:spcPts val="545"/>
              </a:spcBef>
              <a:buChar char="•"/>
              <a:tabLst>
                <a:tab pos="645160" algn="l"/>
              </a:tabLst>
            </a:pPr>
            <a:r>
              <a:rPr dirty="0" sz="2400" spc="-155">
                <a:latin typeface="Arial"/>
                <a:cs typeface="Arial"/>
              </a:rPr>
              <a:t>For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70">
                <a:latin typeface="Arial"/>
                <a:cs typeface="Arial"/>
              </a:rPr>
              <a:t>each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parameter,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finetune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a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learnable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“delta”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which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gets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added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the </a:t>
            </a:r>
            <a:r>
              <a:rPr dirty="0" sz="2400" spc="-25">
                <a:latin typeface="Arial"/>
                <a:cs typeface="Arial"/>
              </a:rPr>
              <a:t>	</a:t>
            </a:r>
            <a:r>
              <a:rPr dirty="0" sz="2400" spc="-75">
                <a:latin typeface="Arial"/>
                <a:cs typeface="Arial"/>
              </a:rPr>
              <a:t>original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85">
                <a:latin typeface="Arial"/>
                <a:cs typeface="Arial"/>
              </a:rPr>
              <a:t>parameter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value.</a:t>
            </a:r>
            <a:endParaRPr sz="2400">
              <a:latin typeface="Arial"/>
              <a:cs typeface="Arial"/>
            </a:endParaRPr>
          </a:p>
          <a:p>
            <a:pPr lvl="1" marL="643255" indent="-181610">
              <a:lnSpc>
                <a:spcPts val="2290"/>
              </a:lnSpc>
              <a:spcBef>
                <a:spcPts val="180"/>
              </a:spcBef>
              <a:buChar char="•"/>
              <a:tabLst>
                <a:tab pos="643255" algn="l"/>
              </a:tabLst>
            </a:pPr>
            <a:r>
              <a:rPr dirty="0" sz="2400" spc="-225">
                <a:latin typeface="Arial"/>
                <a:cs typeface="Arial"/>
              </a:rPr>
              <a:t>Use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45">
                <a:latin typeface="Arial"/>
                <a:cs typeface="Arial"/>
              </a:rPr>
              <a:t>an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335" i="1">
                <a:latin typeface="Arial"/>
                <a:cs typeface="Arial"/>
              </a:rPr>
              <a:t>L</a:t>
            </a:r>
            <a:r>
              <a:rPr dirty="0" sz="2400" spc="170" i="1">
                <a:latin typeface="Arial"/>
                <a:cs typeface="Arial"/>
              </a:rPr>
              <a:t> </a:t>
            </a:r>
            <a:r>
              <a:rPr dirty="0" sz="2400" spc="-45">
                <a:latin typeface="Arial"/>
                <a:cs typeface="Arial"/>
              </a:rPr>
              <a:t>-</a:t>
            </a:r>
            <a:r>
              <a:rPr dirty="0" sz="2400" spc="-80">
                <a:latin typeface="Arial"/>
                <a:cs typeface="Arial"/>
              </a:rPr>
              <a:t>norm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penalty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encourage</a:t>
            </a:r>
            <a:r>
              <a:rPr dirty="0" sz="2400" spc="-110">
                <a:latin typeface="Arial"/>
                <a:cs typeface="Arial"/>
              </a:rPr>
              <a:t> sparsity </a:t>
            </a:r>
            <a:r>
              <a:rPr dirty="0" sz="2400" spc="-40">
                <a:latin typeface="Arial"/>
                <a:cs typeface="Arial"/>
              </a:rPr>
              <a:t>in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deltas.</a:t>
            </a:r>
            <a:endParaRPr sz="2400">
              <a:latin typeface="Arial"/>
              <a:cs typeface="Arial"/>
            </a:endParaRPr>
          </a:p>
          <a:p>
            <a:pPr marL="1683385">
              <a:lnSpc>
                <a:spcPts val="1330"/>
              </a:lnSpc>
            </a:pPr>
            <a:r>
              <a:rPr dirty="0" sz="1600" spc="-5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3025" y="6605273"/>
            <a:ext cx="53130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“Parameter-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Efficient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Transfer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Learning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with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2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Diff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6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Pruning.”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0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Guo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et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al.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2021.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88722" y="588723"/>
            <a:ext cx="11014710" cy="5680710"/>
          </a:xfrm>
          <a:custGeom>
            <a:avLst/>
            <a:gdLst/>
            <a:ahLst/>
            <a:cxnLst/>
            <a:rect l="l" t="t" r="r" b="b"/>
            <a:pathLst>
              <a:path w="11014710" h="5680710">
                <a:moveTo>
                  <a:pt x="11014552" y="5680550"/>
                </a:moveTo>
                <a:lnTo>
                  <a:pt x="0" y="5680550"/>
                </a:lnTo>
                <a:lnTo>
                  <a:pt x="0" y="0"/>
                </a:lnTo>
                <a:lnTo>
                  <a:pt x="11014552" y="0"/>
                </a:lnTo>
                <a:lnTo>
                  <a:pt x="11014552" y="568055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01663" y="1401153"/>
            <a:ext cx="8582025" cy="207391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algn="ctr" marL="12700" marR="5080" indent="1905">
              <a:lnSpc>
                <a:spcPts val="5180"/>
              </a:lnSpc>
              <a:spcBef>
                <a:spcPts val="755"/>
              </a:spcBef>
            </a:pPr>
            <a:r>
              <a:rPr dirty="0" sz="4800" spc="-150">
                <a:latin typeface="Arial"/>
                <a:cs typeface="Arial"/>
              </a:rPr>
              <a:t>What</a:t>
            </a:r>
            <a:r>
              <a:rPr dirty="0" sz="4800" spc="-210">
                <a:latin typeface="Arial"/>
                <a:cs typeface="Arial"/>
              </a:rPr>
              <a:t> </a:t>
            </a:r>
            <a:r>
              <a:rPr dirty="0" sz="4800" spc="65">
                <a:latin typeface="Arial"/>
                <a:cs typeface="Arial"/>
              </a:rPr>
              <a:t>if</a:t>
            </a:r>
            <a:r>
              <a:rPr dirty="0" sz="4800" spc="-204">
                <a:latin typeface="Arial"/>
                <a:cs typeface="Arial"/>
              </a:rPr>
              <a:t> </a:t>
            </a:r>
            <a:r>
              <a:rPr dirty="0" sz="4800" spc="-195">
                <a:latin typeface="Arial"/>
                <a:cs typeface="Arial"/>
              </a:rPr>
              <a:t>we</a:t>
            </a:r>
            <a:r>
              <a:rPr dirty="0" sz="4800" spc="-210">
                <a:latin typeface="Arial"/>
                <a:cs typeface="Arial"/>
              </a:rPr>
              <a:t> </a:t>
            </a:r>
            <a:r>
              <a:rPr dirty="0" sz="4800" spc="-125">
                <a:latin typeface="Arial"/>
                <a:cs typeface="Arial"/>
              </a:rPr>
              <a:t>re-</a:t>
            </a:r>
            <a:r>
              <a:rPr dirty="0" sz="4800" spc="-215">
                <a:latin typeface="Arial"/>
                <a:cs typeface="Arial"/>
              </a:rPr>
              <a:t>parameterize</a:t>
            </a:r>
            <a:r>
              <a:rPr dirty="0" sz="4800" spc="-210">
                <a:latin typeface="Arial"/>
                <a:cs typeface="Arial"/>
              </a:rPr>
              <a:t> </a:t>
            </a:r>
            <a:r>
              <a:rPr dirty="0" sz="4800" spc="-25">
                <a:latin typeface="Arial"/>
                <a:cs typeface="Arial"/>
              </a:rPr>
              <a:t>the </a:t>
            </a:r>
            <a:r>
              <a:rPr dirty="0" sz="4800" spc="-170">
                <a:latin typeface="Arial"/>
                <a:cs typeface="Arial"/>
              </a:rPr>
              <a:t>model</a:t>
            </a:r>
            <a:r>
              <a:rPr dirty="0" sz="4800" spc="-254">
                <a:latin typeface="Arial"/>
                <a:cs typeface="Arial"/>
              </a:rPr>
              <a:t> </a:t>
            </a:r>
            <a:r>
              <a:rPr dirty="0" sz="4800" spc="-25">
                <a:latin typeface="Arial"/>
                <a:cs typeface="Arial"/>
              </a:rPr>
              <a:t>into</a:t>
            </a:r>
            <a:r>
              <a:rPr dirty="0" sz="4800" spc="-280">
                <a:latin typeface="Arial"/>
                <a:cs typeface="Arial"/>
              </a:rPr>
              <a:t> </a:t>
            </a:r>
            <a:r>
              <a:rPr dirty="0" sz="4800" spc="-185">
                <a:latin typeface="Arial"/>
                <a:cs typeface="Arial"/>
              </a:rPr>
              <a:t>something</a:t>
            </a:r>
            <a:r>
              <a:rPr dirty="0" sz="4800" spc="-254">
                <a:latin typeface="Arial"/>
                <a:cs typeface="Arial"/>
              </a:rPr>
              <a:t> </a:t>
            </a:r>
            <a:r>
              <a:rPr dirty="0" sz="4800">
                <a:latin typeface="Arial"/>
                <a:cs typeface="Arial"/>
              </a:rPr>
              <a:t>that</a:t>
            </a:r>
            <a:r>
              <a:rPr dirty="0" sz="4800" spc="-260">
                <a:latin typeface="Arial"/>
                <a:cs typeface="Arial"/>
              </a:rPr>
              <a:t> </a:t>
            </a:r>
            <a:r>
              <a:rPr dirty="0" sz="4800" spc="-250">
                <a:latin typeface="Arial"/>
                <a:cs typeface="Arial"/>
              </a:rPr>
              <a:t>is </a:t>
            </a:r>
            <a:r>
              <a:rPr dirty="0" sz="4800" spc="-105">
                <a:latin typeface="Arial"/>
                <a:cs typeface="Arial"/>
              </a:rPr>
              <a:t>more </a:t>
            </a:r>
            <a:r>
              <a:rPr dirty="0" sz="4800" spc="-90">
                <a:latin typeface="Arial"/>
                <a:cs typeface="Arial"/>
              </a:rPr>
              <a:t>efficient</a:t>
            </a:r>
            <a:r>
              <a:rPr dirty="0" sz="4800" spc="-195">
                <a:latin typeface="Arial"/>
                <a:cs typeface="Arial"/>
              </a:rPr>
              <a:t> </a:t>
            </a:r>
            <a:r>
              <a:rPr dirty="0" sz="4800">
                <a:latin typeface="Arial"/>
                <a:cs typeface="Arial"/>
              </a:rPr>
              <a:t>to</a:t>
            </a:r>
            <a:r>
              <a:rPr dirty="0" sz="4800" spc="-195">
                <a:latin typeface="Arial"/>
                <a:cs typeface="Arial"/>
              </a:rPr>
              <a:t> </a:t>
            </a:r>
            <a:r>
              <a:rPr dirty="0" sz="4800" spc="-10">
                <a:latin typeface="Arial"/>
                <a:cs typeface="Arial"/>
              </a:rPr>
              <a:t>train?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71625" y="4488509"/>
            <a:ext cx="42233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80">
                <a:latin typeface="Arial"/>
                <a:cs typeface="Arial"/>
              </a:rPr>
              <a:t>Methods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we’ll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60">
                <a:latin typeface="Arial"/>
                <a:cs typeface="Arial"/>
              </a:rPr>
              <a:t>discuss: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229">
                <a:latin typeface="Arial"/>
                <a:cs typeface="Arial"/>
              </a:rPr>
              <a:t>LoRa,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(IA)</a:t>
            </a:r>
            <a:r>
              <a:rPr dirty="0" baseline="31250" sz="2400" spc="-15">
                <a:latin typeface="Arial"/>
                <a:cs typeface="Arial"/>
              </a:rPr>
              <a:t>3</a:t>
            </a:r>
            <a:endParaRPr baseline="31250"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949007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Intuition</a:t>
            </a:r>
            <a:r>
              <a:rPr dirty="0" spc="-229"/>
              <a:t> </a:t>
            </a:r>
            <a:r>
              <a:rPr dirty="0"/>
              <a:t>for</a:t>
            </a:r>
            <a:r>
              <a:rPr dirty="0" spc="-229"/>
              <a:t> </a:t>
            </a:r>
            <a:r>
              <a:rPr dirty="0" spc="-505"/>
              <a:t>Re-</a:t>
            </a:r>
            <a:r>
              <a:rPr dirty="0" spc="-200"/>
              <a:t>Parameterizing</a:t>
            </a:r>
            <a:r>
              <a:rPr dirty="0" spc="-229"/>
              <a:t> </a:t>
            </a:r>
            <a:r>
              <a:rPr dirty="0" spc="-70"/>
              <a:t>the</a:t>
            </a:r>
            <a:r>
              <a:rPr dirty="0" spc="-229"/>
              <a:t> </a:t>
            </a:r>
            <a:r>
              <a:rPr dirty="0" spc="-10"/>
              <a:t>Model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1225" y="1802663"/>
            <a:ext cx="10284460" cy="30105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sz="2800" spc="-120">
                <a:latin typeface="Arial"/>
                <a:cs typeface="Arial"/>
              </a:rPr>
              <a:t>Finetuning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20">
                <a:latin typeface="Arial"/>
                <a:cs typeface="Arial"/>
              </a:rPr>
              <a:t>has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240">
                <a:latin typeface="Arial"/>
                <a:cs typeface="Arial"/>
              </a:rPr>
              <a:t>a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low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95" b="1">
                <a:latin typeface="Arial"/>
                <a:cs typeface="Arial"/>
              </a:rPr>
              <a:t>intrinsic</a:t>
            </a:r>
            <a:r>
              <a:rPr dirty="0" sz="2800" spc="-135" b="1">
                <a:latin typeface="Arial"/>
                <a:cs typeface="Arial"/>
              </a:rPr>
              <a:t> </a:t>
            </a:r>
            <a:r>
              <a:rPr dirty="0" sz="2800" spc="-195" b="1">
                <a:latin typeface="Arial"/>
                <a:cs typeface="Arial"/>
              </a:rPr>
              <a:t>dimension</a:t>
            </a:r>
            <a:r>
              <a:rPr dirty="0" sz="2800" spc="-195">
                <a:latin typeface="Arial"/>
                <a:cs typeface="Arial"/>
              </a:rPr>
              <a:t>,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that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is,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minimum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number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parameters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needed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be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modified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reach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satisfactory </a:t>
            </a:r>
            <a:r>
              <a:rPr dirty="0" sz="2800" spc="-105">
                <a:latin typeface="Arial"/>
                <a:cs typeface="Arial"/>
              </a:rPr>
              <a:t>performance</a:t>
            </a:r>
            <a:r>
              <a:rPr dirty="0" sz="2800" spc="-145">
                <a:latin typeface="Arial"/>
                <a:cs typeface="Arial"/>
              </a:rPr>
              <a:t> </a:t>
            </a:r>
            <a:r>
              <a:rPr dirty="0" sz="2800" spc="-160">
                <a:latin typeface="Arial"/>
                <a:cs typeface="Arial"/>
              </a:rPr>
              <a:t>is</a:t>
            </a:r>
            <a:r>
              <a:rPr dirty="0" sz="2800" spc="-14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not</a:t>
            </a:r>
            <a:r>
              <a:rPr dirty="0" sz="2800" spc="-145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very</a:t>
            </a:r>
            <a:r>
              <a:rPr dirty="0" sz="2800" spc="-14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large.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20"/>
              </a:spcBef>
            </a:pPr>
            <a:endParaRPr sz="2800">
              <a:latin typeface="Arial"/>
              <a:cs typeface="Arial"/>
            </a:endParaRPr>
          </a:p>
          <a:p>
            <a:pPr marL="12700" marR="167005">
              <a:lnSpc>
                <a:spcPts val="3020"/>
              </a:lnSpc>
            </a:pPr>
            <a:r>
              <a:rPr dirty="0" sz="2800" spc="-195">
                <a:latin typeface="Arial"/>
                <a:cs typeface="Arial"/>
              </a:rPr>
              <a:t>This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75">
                <a:latin typeface="Arial"/>
                <a:cs typeface="Arial"/>
              </a:rPr>
              <a:t>means,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we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04">
                <a:latin typeface="Arial"/>
                <a:cs typeface="Arial"/>
              </a:rPr>
              <a:t>can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reparameterize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40">
                <a:latin typeface="Arial"/>
                <a:cs typeface="Arial"/>
              </a:rPr>
              <a:t>a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subset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85">
                <a:latin typeface="Arial"/>
                <a:cs typeface="Arial"/>
              </a:rPr>
              <a:t>original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model </a:t>
            </a:r>
            <a:r>
              <a:rPr dirty="0" sz="2800" spc="-130">
                <a:latin typeface="Arial"/>
                <a:cs typeface="Arial"/>
              </a:rPr>
              <a:t>parameters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with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low-</a:t>
            </a:r>
            <a:r>
              <a:rPr dirty="0" sz="2800" spc="-114">
                <a:latin typeface="Arial"/>
                <a:cs typeface="Arial"/>
              </a:rPr>
              <a:t>dimensional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proxy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parameters,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and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just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30">
                <a:latin typeface="Arial"/>
                <a:cs typeface="Arial"/>
              </a:rPr>
              <a:t>optimize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4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proxy.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4547" y="1802663"/>
            <a:ext cx="10069830" cy="24993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6690" marR="5080" indent="-174625">
              <a:lnSpc>
                <a:spcPts val="3020"/>
              </a:lnSpc>
              <a:spcBef>
                <a:spcPts val="480"/>
              </a:spcBef>
              <a:buChar char="•"/>
              <a:tabLst>
                <a:tab pos="187960" algn="l"/>
              </a:tabLst>
            </a:pPr>
            <a:r>
              <a:rPr dirty="0" sz="2800" spc="-180">
                <a:latin typeface="Arial"/>
                <a:cs typeface="Arial"/>
              </a:rPr>
              <a:t>An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objective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90">
                <a:latin typeface="Arial"/>
                <a:cs typeface="Arial"/>
              </a:rPr>
              <a:t>function’s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intrinsic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20">
                <a:latin typeface="Arial"/>
                <a:cs typeface="Arial"/>
              </a:rPr>
              <a:t>dimension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90">
                <a:latin typeface="Arial"/>
                <a:cs typeface="Arial"/>
              </a:rPr>
              <a:t>measures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minimum </a:t>
            </a:r>
            <a:r>
              <a:rPr dirty="0" sz="2800" spc="-10">
                <a:latin typeface="Arial"/>
                <a:cs typeface="Arial"/>
              </a:rPr>
              <a:t>	</a:t>
            </a:r>
            <a:r>
              <a:rPr dirty="0" sz="2800" spc="-100">
                <a:latin typeface="Arial"/>
                <a:cs typeface="Arial"/>
              </a:rPr>
              <a:t>number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parameters </a:t>
            </a:r>
            <a:r>
              <a:rPr dirty="0" sz="2800" spc="-145">
                <a:latin typeface="Arial"/>
                <a:cs typeface="Arial"/>
              </a:rPr>
              <a:t>needed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reach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240">
                <a:latin typeface="Arial"/>
                <a:cs typeface="Arial"/>
              </a:rPr>
              <a:t>a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satisfactory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solution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the </a:t>
            </a:r>
            <a:r>
              <a:rPr dirty="0" sz="2800" spc="-25">
                <a:latin typeface="Arial"/>
                <a:cs typeface="Arial"/>
              </a:rPr>
              <a:t>	</a:t>
            </a:r>
            <a:r>
              <a:rPr dirty="0" sz="2800" spc="-10">
                <a:latin typeface="Arial"/>
                <a:cs typeface="Arial"/>
              </a:rPr>
              <a:t>objective.</a:t>
            </a:r>
            <a:endParaRPr sz="2800">
              <a:latin typeface="Arial"/>
              <a:cs typeface="Arial"/>
            </a:endParaRPr>
          </a:p>
          <a:p>
            <a:pPr marL="186690" marR="93345" indent="-174625">
              <a:lnSpc>
                <a:spcPts val="3020"/>
              </a:lnSpc>
              <a:spcBef>
                <a:spcPts val="1015"/>
              </a:spcBef>
              <a:buChar char="•"/>
              <a:tabLst>
                <a:tab pos="187960" algn="l"/>
              </a:tabLst>
            </a:pPr>
            <a:r>
              <a:rPr dirty="0" sz="2800" spc="-300">
                <a:latin typeface="Arial"/>
                <a:cs typeface="Arial"/>
              </a:rPr>
              <a:t>Can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65">
                <a:latin typeface="Arial"/>
                <a:cs typeface="Arial"/>
              </a:rPr>
              <a:t>also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be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thought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270">
                <a:latin typeface="Arial"/>
                <a:cs typeface="Arial"/>
              </a:rPr>
              <a:t>as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lowest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dimensional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200">
                <a:latin typeface="Arial"/>
                <a:cs typeface="Arial"/>
              </a:rPr>
              <a:t>subspace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in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which </a:t>
            </a:r>
            <a:r>
              <a:rPr dirty="0" sz="2800" spc="-10">
                <a:latin typeface="Arial"/>
                <a:cs typeface="Arial"/>
              </a:rPr>
              <a:t>	</a:t>
            </a:r>
            <a:r>
              <a:rPr dirty="0" sz="2800" spc="-135">
                <a:latin typeface="Arial"/>
                <a:cs typeface="Arial"/>
              </a:rPr>
              <a:t>one </a:t>
            </a:r>
            <a:r>
              <a:rPr dirty="0" sz="2800" spc="-204">
                <a:latin typeface="Arial"/>
                <a:cs typeface="Arial"/>
              </a:rPr>
              <a:t>can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90">
                <a:latin typeface="Arial"/>
                <a:cs typeface="Arial"/>
              </a:rPr>
              <a:t>optimize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85">
                <a:latin typeface="Arial"/>
                <a:cs typeface="Arial"/>
              </a:rPr>
              <a:t>original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objective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55">
                <a:latin typeface="Arial"/>
                <a:cs typeface="Arial"/>
              </a:rPr>
              <a:t>function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within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40">
                <a:latin typeface="Arial"/>
                <a:cs typeface="Arial"/>
              </a:rPr>
              <a:t>a</a:t>
            </a:r>
            <a:r>
              <a:rPr dirty="0" sz="2800" spc="-13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certain </a:t>
            </a:r>
            <a:r>
              <a:rPr dirty="0" sz="2800" spc="-10">
                <a:latin typeface="Arial"/>
                <a:cs typeface="Arial"/>
              </a:rPr>
              <a:t>	</a:t>
            </a:r>
            <a:r>
              <a:rPr dirty="0" sz="2800" spc="-110">
                <a:latin typeface="Arial"/>
                <a:cs typeface="Arial"/>
              </a:rPr>
              <a:t>level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95">
                <a:latin typeface="Arial"/>
                <a:cs typeface="Arial"/>
              </a:rPr>
              <a:t>approximation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error.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What</a:t>
            </a:r>
            <a:r>
              <a:rPr dirty="0" spc="-220"/>
              <a:t> </a:t>
            </a:r>
            <a:r>
              <a:rPr dirty="0" spc="-155"/>
              <a:t>do</a:t>
            </a:r>
            <a:r>
              <a:rPr dirty="0" spc="-210"/>
              <a:t> </a:t>
            </a:r>
            <a:r>
              <a:rPr dirty="0" spc="-180"/>
              <a:t>we</a:t>
            </a:r>
            <a:r>
              <a:rPr dirty="0" spc="-215"/>
              <a:t> </a:t>
            </a:r>
            <a:r>
              <a:rPr dirty="0" spc="-254"/>
              <a:t>mean</a:t>
            </a:r>
            <a:r>
              <a:rPr dirty="0" spc="-210"/>
              <a:t> </a:t>
            </a:r>
            <a:r>
              <a:rPr dirty="0" spc="-200"/>
              <a:t>by</a:t>
            </a:r>
            <a:r>
              <a:rPr dirty="0" spc="-195"/>
              <a:t> </a:t>
            </a:r>
            <a:r>
              <a:rPr dirty="0" spc="-305" b="1">
                <a:latin typeface="Arial"/>
                <a:cs typeface="Arial"/>
              </a:rPr>
              <a:t>intrinsic</a:t>
            </a:r>
            <a:r>
              <a:rPr dirty="0" spc="-215" b="1">
                <a:latin typeface="Arial"/>
                <a:cs typeface="Arial"/>
              </a:rPr>
              <a:t> </a:t>
            </a:r>
            <a:r>
              <a:rPr dirty="0" spc="-340" b="1">
                <a:latin typeface="Arial"/>
                <a:cs typeface="Arial"/>
              </a:rPr>
              <a:t>dimension</a:t>
            </a:r>
            <a:r>
              <a:rPr dirty="0" spc="-340"/>
              <a:t>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35090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What</a:t>
            </a:r>
            <a:r>
              <a:rPr dirty="0" spc="-220"/>
              <a:t> </a:t>
            </a:r>
            <a:r>
              <a:rPr dirty="0" spc="-155"/>
              <a:t>do</a:t>
            </a:r>
            <a:r>
              <a:rPr dirty="0" spc="-210"/>
              <a:t> </a:t>
            </a:r>
            <a:r>
              <a:rPr dirty="0" spc="-180"/>
              <a:t>we</a:t>
            </a:r>
            <a:r>
              <a:rPr dirty="0" spc="-215"/>
              <a:t> </a:t>
            </a:r>
            <a:r>
              <a:rPr dirty="0" spc="-254"/>
              <a:t>mean</a:t>
            </a:r>
            <a:r>
              <a:rPr dirty="0" spc="-210"/>
              <a:t> </a:t>
            </a:r>
            <a:r>
              <a:rPr dirty="0" spc="-200"/>
              <a:t>by</a:t>
            </a:r>
            <a:r>
              <a:rPr dirty="0" spc="-195"/>
              <a:t> </a:t>
            </a:r>
            <a:r>
              <a:rPr dirty="0" spc="-305" b="1">
                <a:latin typeface="Arial"/>
                <a:cs typeface="Arial"/>
              </a:rPr>
              <a:t>intrinsic</a:t>
            </a:r>
            <a:r>
              <a:rPr dirty="0" spc="-215" b="1">
                <a:latin typeface="Arial"/>
                <a:cs typeface="Arial"/>
              </a:rPr>
              <a:t> </a:t>
            </a:r>
            <a:r>
              <a:rPr dirty="0" spc="-340" b="1">
                <a:latin typeface="Arial"/>
                <a:cs typeface="Arial"/>
              </a:rPr>
              <a:t>dimension</a:t>
            </a:r>
            <a:r>
              <a:rPr dirty="0" spc="-340"/>
              <a:t>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625"/>
            <a:ext cx="10515599" cy="435133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4547" y="1802663"/>
            <a:ext cx="1504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025" y="6605273"/>
            <a:ext cx="78060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400" spc="-2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“Intrinsic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6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Dimensionality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Explains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2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the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Effectiveness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of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14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Language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Model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Fine-</a:t>
            </a:r>
            <a:r>
              <a:rPr dirty="0" u="heavy" sz="1400" spc="-6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Tuning.”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Aghajanyan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et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al.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2021.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0"/>
              <a:t>LoRA:</a:t>
            </a:r>
            <a:r>
              <a:rPr dirty="0" spc="-210"/>
              <a:t> </a:t>
            </a:r>
            <a:r>
              <a:rPr dirty="0" spc="-345" b="1">
                <a:latin typeface="Arial"/>
                <a:cs typeface="Arial"/>
              </a:rPr>
              <a:t>L</a:t>
            </a:r>
            <a:r>
              <a:rPr dirty="0" spc="-345"/>
              <a:t>ow</a:t>
            </a:r>
            <a:r>
              <a:rPr dirty="0" spc="-220"/>
              <a:t> </a:t>
            </a:r>
            <a:r>
              <a:rPr dirty="0" spc="-360" b="1">
                <a:latin typeface="Arial"/>
                <a:cs typeface="Arial"/>
              </a:rPr>
              <a:t>R</a:t>
            </a:r>
            <a:r>
              <a:rPr dirty="0" spc="-360"/>
              <a:t>ank</a:t>
            </a:r>
            <a:r>
              <a:rPr dirty="0" spc="-210"/>
              <a:t> </a:t>
            </a:r>
            <a:r>
              <a:rPr dirty="0" spc="-135" b="1">
                <a:latin typeface="Arial"/>
                <a:cs typeface="Arial"/>
              </a:rPr>
              <a:t>A</a:t>
            </a:r>
            <a:r>
              <a:rPr dirty="0" spc="-135"/>
              <a:t>daption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802663"/>
            <a:ext cx="10264140" cy="390588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186690" marR="45720" indent="-174625">
              <a:lnSpc>
                <a:spcPts val="3020"/>
              </a:lnSpc>
              <a:spcBef>
                <a:spcPts val="480"/>
              </a:spcBef>
              <a:buChar char="•"/>
              <a:tabLst>
                <a:tab pos="187960" algn="l"/>
              </a:tabLst>
            </a:pPr>
            <a:r>
              <a:rPr dirty="0" sz="2800" spc="-25">
                <a:latin typeface="Arial"/>
                <a:cs typeface="Arial"/>
              </a:rPr>
              <a:t>Intuition:</a:t>
            </a:r>
            <a:r>
              <a:rPr dirty="0" sz="2800" spc="-17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It’s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not</a:t>
            </a:r>
            <a:r>
              <a:rPr dirty="0" sz="2800" spc="-185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just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40">
                <a:latin typeface="Arial"/>
                <a:cs typeface="Arial"/>
              </a:rPr>
              <a:t> </a:t>
            </a:r>
            <a:r>
              <a:rPr dirty="0" sz="2800" spc="-110">
                <a:latin typeface="Arial"/>
                <a:cs typeface="Arial"/>
              </a:rPr>
              <a:t>model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weights</a:t>
            </a:r>
            <a:r>
              <a:rPr dirty="0" sz="2800" spc="-6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that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 spc="-195">
                <a:latin typeface="Arial"/>
                <a:cs typeface="Arial"/>
              </a:rPr>
              <a:t>are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low</a:t>
            </a:r>
            <a:r>
              <a:rPr dirty="0" sz="2800" spc="-105">
                <a:latin typeface="Arial"/>
                <a:cs typeface="Arial"/>
              </a:rPr>
              <a:t> </a:t>
            </a:r>
            <a:r>
              <a:rPr dirty="0" sz="2800" spc="-120">
                <a:latin typeface="Arial"/>
                <a:cs typeface="Arial"/>
              </a:rPr>
              <a:t>rank,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 spc="-155" i="1">
                <a:latin typeface="Arial"/>
                <a:cs typeface="Arial"/>
              </a:rPr>
              <a:t>updates</a:t>
            </a:r>
            <a:r>
              <a:rPr dirty="0" sz="2800" spc="-35" i="1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to </a:t>
            </a:r>
            <a:r>
              <a:rPr dirty="0" sz="2800" spc="-25">
                <a:latin typeface="Arial"/>
                <a:cs typeface="Arial"/>
              </a:rPr>
              <a:t>	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model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weights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are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65">
                <a:latin typeface="Arial"/>
                <a:cs typeface="Arial"/>
              </a:rPr>
              <a:t>also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low-</a:t>
            </a:r>
            <a:r>
              <a:rPr dirty="0" sz="2800" spc="-10">
                <a:latin typeface="Arial"/>
                <a:cs typeface="Arial"/>
              </a:rPr>
              <a:t>rank.</a:t>
            </a:r>
            <a:endParaRPr sz="2800">
              <a:latin typeface="Arial"/>
              <a:cs typeface="Arial"/>
            </a:endParaRPr>
          </a:p>
          <a:p>
            <a:pPr algn="just" marL="186690" marR="142875" indent="-174625">
              <a:lnSpc>
                <a:spcPts val="3020"/>
              </a:lnSpc>
              <a:spcBef>
                <a:spcPts val="1010"/>
              </a:spcBef>
              <a:buChar char="•"/>
              <a:tabLst>
                <a:tab pos="187960" algn="l"/>
              </a:tabLst>
            </a:pPr>
            <a:r>
              <a:rPr dirty="0" sz="2800" spc="-420">
                <a:latin typeface="Arial"/>
                <a:cs typeface="Arial"/>
              </a:rPr>
              <a:t>LoRA</a:t>
            </a:r>
            <a:r>
              <a:rPr dirty="0" sz="2800" spc="225">
                <a:latin typeface="Arial"/>
                <a:cs typeface="Arial"/>
              </a:rPr>
              <a:t> </a:t>
            </a:r>
            <a:r>
              <a:rPr dirty="0" sz="2800" spc="-195">
                <a:latin typeface="Arial"/>
                <a:cs typeface="Arial"/>
              </a:rPr>
              <a:t>freezes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95">
                <a:latin typeface="Arial"/>
                <a:cs typeface="Arial"/>
              </a:rPr>
              <a:t>pretrained </a:t>
            </a:r>
            <a:r>
              <a:rPr dirty="0" sz="2800" spc="-110">
                <a:latin typeface="Arial"/>
                <a:cs typeface="Arial"/>
              </a:rPr>
              <a:t>model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weights</a:t>
            </a:r>
            <a:r>
              <a:rPr dirty="0" sz="2800" spc="-40">
                <a:latin typeface="Arial"/>
                <a:cs typeface="Arial"/>
              </a:rPr>
              <a:t> </a:t>
            </a:r>
            <a:r>
              <a:rPr dirty="0" sz="2800" spc="-195">
                <a:latin typeface="Arial"/>
                <a:cs typeface="Arial"/>
              </a:rPr>
              <a:t>and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95">
                <a:latin typeface="Arial"/>
                <a:cs typeface="Arial"/>
              </a:rPr>
              <a:t>injects</a:t>
            </a:r>
            <a:r>
              <a:rPr dirty="0" sz="2800" spc="-20">
                <a:latin typeface="Arial"/>
                <a:cs typeface="Arial"/>
              </a:rPr>
              <a:t> </a:t>
            </a:r>
            <a:r>
              <a:rPr dirty="0" sz="2800" spc="-85">
                <a:latin typeface="Arial"/>
                <a:cs typeface="Arial"/>
              </a:rPr>
              <a:t>trainable</a:t>
            </a:r>
            <a:r>
              <a:rPr dirty="0" sz="2800" spc="-20">
                <a:latin typeface="Arial"/>
                <a:cs typeface="Arial"/>
              </a:rPr>
              <a:t> rank </a:t>
            </a:r>
            <a:r>
              <a:rPr dirty="0" sz="2800" spc="-20">
                <a:latin typeface="Arial"/>
                <a:cs typeface="Arial"/>
              </a:rPr>
              <a:t>	</a:t>
            </a:r>
            <a:r>
              <a:rPr dirty="0" sz="2800" spc="-100">
                <a:latin typeface="Arial"/>
                <a:cs typeface="Arial"/>
              </a:rPr>
              <a:t>decomposition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20">
                <a:latin typeface="Arial"/>
                <a:cs typeface="Arial"/>
              </a:rPr>
              <a:t>matrices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into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95">
                <a:latin typeface="Arial"/>
                <a:cs typeface="Arial"/>
              </a:rPr>
              <a:t>each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layer.</a:t>
            </a:r>
            <a:endParaRPr sz="2800">
              <a:latin typeface="Arial"/>
              <a:cs typeface="Arial"/>
            </a:endParaRPr>
          </a:p>
          <a:p>
            <a:pPr algn="just" marL="186690" marR="437515" indent="-174625">
              <a:lnSpc>
                <a:spcPts val="3020"/>
              </a:lnSpc>
              <a:spcBef>
                <a:spcPts val="1010"/>
              </a:spcBef>
              <a:buChar char="•"/>
              <a:tabLst>
                <a:tab pos="187960" algn="l"/>
              </a:tabLst>
            </a:pPr>
            <a:r>
              <a:rPr dirty="0" sz="2800" spc="-195">
                <a:latin typeface="Arial"/>
                <a:cs typeface="Arial"/>
              </a:rPr>
              <a:t>Like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DiffPruning,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20">
                <a:latin typeface="Arial"/>
                <a:cs typeface="Arial"/>
              </a:rPr>
              <a:t>we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are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learning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235">
                <a:latin typeface="Arial"/>
                <a:cs typeface="Arial"/>
              </a:rPr>
              <a:t>a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delta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15">
                <a:latin typeface="Arial"/>
                <a:cs typeface="Arial"/>
              </a:rPr>
              <a:t>to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apply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15">
                <a:latin typeface="Arial"/>
                <a:cs typeface="Arial"/>
              </a:rPr>
              <a:t>to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90">
                <a:latin typeface="Arial"/>
                <a:cs typeface="Arial"/>
              </a:rPr>
              <a:t>each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weight.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90">
                <a:latin typeface="Arial"/>
                <a:cs typeface="Arial"/>
              </a:rPr>
              <a:t>In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	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250">
                <a:latin typeface="Arial"/>
                <a:cs typeface="Arial"/>
              </a:rPr>
              <a:t>case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5">
                <a:latin typeface="Arial"/>
                <a:cs typeface="Arial"/>
              </a:rPr>
              <a:t>of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270">
                <a:latin typeface="Arial"/>
                <a:cs typeface="Arial"/>
              </a:rPr>
              <a:t>LoRA,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60">
                <a:latin typeface="Arial"/>
                <a:cs typeface="Arial"/>
              </a:rPr>
              <a:t>this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delta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215">
                <a:latin typeface="Arial"/>
                <a:cs typeface="Arial"/>
              </a:rPr>
              <a:t>has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been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re-</a:t>
            </a:r>
            <a:r>
              <a:rPr dirty="0" sz="2800" spc="-125">
                <a:latin typeface="Arial"/>
                <a:cs typeface="Arial"/>
              </a:rPr>
              <a:t>paramaterized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15">
                <a:latin typeface="Arial"/>
                <a:cs typeface="Arial"/>
              </a:rPr>
              <a:t>to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45">
                <a:latin typeface="Arial"/>
                <a:cs typeface="Arial"/>
              </a:rPr>
              <a:t>be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lower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 spc="-55">
                <a:latin typeface="Arial"/>
                <a:cs typeface="Arial"/>
              </a:rPr>
              <a:t>	</a:t>
            </a:r>
            <a:r>
              <a:rPr dirty="0" sz="2800" spc="-120">
                <a:latin typeface="Arial"/>
                <a:cs typeface="Arial"/>
              </a:rPr>
              <a:t>dimension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than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85">
                <a:latin typeface="Arial"/>
                <a:cs typeface="Arial"/>
              </a:rPr>
              <a:t>original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model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25">
                <a:latin typeface="Arial"/>
                <a:cs typeface="Arial"/>
              </a:rPr>
              <a:t>parameters.</a:t>
            </a:r>
            <a:endParaRPr sz="2800">
              <a:latin typeface="Arial"/>
              <a:cs typeface="Arial"/>
            </a:endParaRPr>
          </a:p>
          <a:p>
            <a:pPr algn="just" marL="186690" marR="5080" indent="-174625">
              <a:lnSpc>
                <a:spcPts val="3020"/>
              </a:lnSpc>
              <a:spcBef>
                <a:spcPts val="1010"/>
              </a:spcBef>
              <a:buChar char="•"/>
              <a:tabLst>
                <a:tab pos="187960" algn="l"/>
              </a:tabLst>
            </a:pPr>
            <a:r>
              <a:rPr dirty="0" sz="2800" spc="-125">
                <a:latin typeface="Arial"/>
                <a:cs typeface="Arial"/>
              </a:rPr>
              <a:t>In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 spc="-114">
                <a:latin typeface="Arial"/>
                <a:cs typeface="Arial"/>
              </a:rPr>
              <a:t>practice,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 spc="-420">
                <a:latin typeface="Arial"/>
                <a:cs typeface="Arial"/>
              </a:rPr>
              <a:t>LoRA</a:t>
            </a:r>
            <a:r>
              <a:rPr dirty="0" sz="2800" spc="225">
                <a:latin typeface="Arial"/>
                <a:cs typeface="Arial"/>
              </a:rPr>
              <a:t> </a:t>
            </a:r>
            <a:r>
              <a:rPr dirty="0" sz="2800" spc="-95">
                <a:latin typeface="Arial"/>
                <a:cs typeface="Arial"/>
              </a:rPr>
              <a:t>only </a:t>
            </a:r>
            <a:r>
              <a:rPr dirty="0" sz="2800" spc="-170">
                <a:latin typeface="Arial"/>
                <a:cs typeface="Arial"/>
              </a:rPr>
              <a:t>adapts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40">
                <a:latin typeface="Arial"/>
                <a:cs typeface="Arial"/>
              </a:rPr>
              <a:t>attention</a:t>
            </a:r>
            <a:r>
              <a:rPr dirty="0" sz="2800" spc="-155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weights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 spc="-195">
                <a:latin typeface="Arial"/>
                <a:cs typeface="Arial"/>
              </a:rPr>
              <a:t>and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254">
                <a:latin typeface="Arial"/>
                <a:cs typeface="Arial"/>
              </a:rPr>
              <a:t>keeps</a:t>
            </a:r>
            <a:r>
              <a:rPr dirty="0" sz="2800" spc="6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the</a:t>
            </a:r>
            <a:r>
              <a:rPr dirty="0" sz="2800" spc="2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rest </a:t>
            </a:r>
            <a:r>
              <a:rPr dirty="0" sz="2800" spc="-20">
                <a:latin typeface="Arial"/>
                <a:cs typeface="Arial"/>
              </a:rPr>
              <a:t>	</a:t>
            </a:r>
            <a:r>
              <a:rPr dirty="0" sz="2800">
                <a:latin typeface="Arial"/>
                <a:cs typeface="Arial"/>
              </a:rPr>
              <a:t>of</a:t>
            </a:r>
            <a:r>
              <a:rPr dirty="0" sz="2800" spc="-160">
                <a:latin typeface="Arial"/>
                <a:cs typeface="Arial"/>
              </a:rPr>
              <a:t> </a:t>
            </a:r>
            <a:r>
              <a:rPr dirty="0" sz="2800" spc="-45">
                <a:latin typeface="Arial"/>
                <a:cs typeface="Arial"/>
              </a:rPr>
              <a:t>the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Transformer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200">
                <a:latin typeface="Arial"/>
                <a:cs typeface="Arial"/>
              </a:rPr>
              <a:t>as-</a:t>
            </a:r>
            <a:r>
              <a:rPr dirty="0" sz="2800" spc="-25">
                <a:latin typeface="Arial"/>
                <a:cs typeface="Arial"/>
              </a:rPr>
              <a:t>is.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3025" y="6605273"/>
            <a:ext cx="52133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400" spc="-9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“LoRA: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Low-</a:t>
            </a:r>
            <a:r>
              <a:rPr dirty="0" u="heavy" sz="1400" spc="-12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Rank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Adaptation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of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Large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14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Language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Models.”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0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Hu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et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al.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2021.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8525" y="335705"/>
            <a:ext cx="8914130" cy="129984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ts val="5015"/>
              </a:lnSpc>
              <a:spcBef>
                <a:spcPts val="100"/>
              </a:spcBef>
            </a:pPr>
            <a:r>
              <a:rPr dirty="0" spc="-170"/>
              <a:t>(IA)</a:t>
            </a:r>
            <a:r>
              <a:rPr dirty="0" baseline="31609" sz="4350" spc="-254"/>
              <a:t>3</a:t>
            </a:r>
            <a:r>
              <a:rPr dirty="0" sz="4400" spc="-170"/>
              <a:t>:</a:t>
            </a:r>
            <a:r>
              <a:rPr dirty="0" sz="4400" spc="-180"/>
              <a:t> </a:t>
            </a:r>
            <a:r>
              <a:rPr dirty="0" sz="4400" spc="-185" b="1">
                <a:latin typeface="Arial"/>
                <a:cs typeface="Arial"/>
              </a:rPr>
              <a:t>I</a:t>
            </a:r>
            <a:r>
              <a:rPr dirty="0" sz="4400" spc="-185"/>
              <a:t>nfused</a:t>
            </a:r>
            <a:r>
              <a:rPr dirty="0" sz="4400" spc="-175"/>
              <a:t> </a:t>
            </a:r>
            <a:r>
              <a:rPr dirty="0" sz="4400" spc="-185" b="1">
                <a:latin typeface="Arial"/>
                <a:cs typeface="Arial"/>
              </a:rPr>
              <a:t>A</a:t>
            </a:r>
            <a:r>
              <a:rPr dirty="0" sz="4400" spc="-185"/>
              <a:t>dapter </a:t>
            </a:r>
            <a:r>
              <a:rPr dirty="0" sz="4400" spc="-200"/>
              <a:t>by</a:t>
            </a:r>
            <a:r>
              <a:rPr dirty="0" sz="4400" spc="-170"/>
              <a:t> </a:t>
            </a:r>
            <a:r>
              <a:rPr dirty="0" sz="4400" spc="-85" b="1">
                <a:latin typeface="Arial"/>
                <a:cs typeface="Arial"/>
              </a:rPr>
              <a:t>I</a:t>
            </a:r>
            <a:r>
              <a:rPr dirty="0" sz="4400" spc="-85"/>
              <a:t>nhibiting</a:t>
            </a:r>
            <a:r>
              <a:rPr dirty="0" sz="4400" spc="-185"/>
              <a:t> </a:t>
            </a:r>
            <a:r>
              <a:rPr dirty="0" sz="4400" spc="-40"/>
              <a:t>and</a:t>
            </a:r>
            <a:endParaRPr sz="4400">
              <a:latin typeface="Arial"/>
              <a:cs typeface="Arial"/>
            </a:endParaRPr>
          </a:p>
          <a:p>
            <a:pPr marL="25400">
              <a:lnSpc>
                <a:spcPts val="5015"/>
              </a:lnSpc>
            </a:pPr>
            <a:r>
              <a:rPr dirty="0" spc="-155" b="1">
                <a:latin typeface="Arial"/>
                <a:cs typeface="Arial"/>
              </a:rPr>
              <a:t>A</a:t>
            </a:r>
            <a:r>
              <a:rPr dirty="0" spc="-155"/>
              <a:t>mplifying</a:t>
            </a:r>
            <a:r>
              <a:rPr dirty="0" spc="-160"/>
              <a:t> </a:t>
            </a:r>
            <a:r>
              <a:rPr dirty="0" spc="-130" b="1">
                <a:latin typeface="Arial"/>
                <a:cs typeface="Arial"/>
              </a:rPr>
              <a:t>I</a:t>
            </a:r>
            <a:r>
              <a:rPr dirty="0" spc="-130"/>
              <a:t>nner</a:t>
            </a:r>
            <a:r>
              <a:rPr dirty="0" spc="-170"/>
              <a:t> </a:t>
            </a:r>
            <a:r>
              <a:rPr dirty="0" spc="-60" b="1">
                <a:latin typeface="Arial"/>
                <a:cs typeface="Arial"/>
              </a:rPr>
              <a:t>A</a:t>
            </a:r>
            <a:r>
              <a:rPr dirty="0" spc="-60"/>
              <a:t>ctivations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47839" y="1726656"/>
            <a:ext cx="10209530" cy="434276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204470" indent="-179070">
              <a:lnSpc>
                <a:spcPct val="100000"/>
              </a:lnSpc>
              <a:spcBef>
                <a:spcPts val="465"/>
              </a:spcBef>
              <a:buChar char="•"/>
              <a:tabLst>
                <a:tab pos="204470" algn="l"/>
              </a:tabLst>
            </a:pPr>
            <a:r>
              <a:rPr dirty="0" sz="2600" spc="-100">
                <a:latin typeface="Arial"/>
                <a:cs typeface="Arial"/>
              </a:rPr>
              <a:t>Intended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to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140">
                <a:latin typeface="Arial"/>
                <a:cs typeface="Arial"/>
              </a:rPr>
              <a:t>be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170">
                <a:latin typeface="Arial"/>
                <a:cs typeface="Arial"/>
              </a:rPr>
              <a:t>an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95">
                <a:latin typeface="Arial"/>
                <a:cs typeface="Arial"/>
              </a:rPr>
              <a:t>improved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110">
                <a:latin typeface="Arial"/>
                <a:cs typeface="Arial"/>
              </a:rPr>
              <a:t>over</a:t>
            </a:r>
            <a:r>
              <a:rPr dirty="0" sz="2600" spc="-120">
                <a:latin typeface="Arial"/>
                <a:cs typeface="Arial"/>
              </a:rPr>
              <a:t> </a:t>
            </a:r>
            <a:r>
              <a:rPr dirty="0" sz="2600" spc="-320">
                <a:latin typeface="Arial"/>
                <a:cs typeface="Arial"/>
              </a:rPr>
              <a:t>LoRA</a:t>
            </a:r>
            <a:endParaRPr sz="2600">
              <a:latin typeface="Arial"/>
              <a:cs typeface="Arial"/>
            </a:endParaRPr>
          </a:p>
          <a:p>
            <a:pPr marL="204470" indent="-179070">
              <a:lnSpc>
                <a:spcPts val="3110"/>
              </a:lnSpc>
              <a:spcBef>
                <a:spcPts val="370"/>
              </a:spcBef>
              <a:buChar char="•"/>
              <a:tabLst>
                <a:tab pos="204470" algn="l"/>
              </a:tabLst>
            </a:pPr>
            <a:r>
              <a:rPr dirty="0" sz="2600" spc="-160">
                <a:latin typeface="Arial"/>
                <a:cs typeface="Arial"/>
              </a:rPr>
              <a:t>Three</a:t>
            </a:r>
            <a:r>
              <a:rPr dirty="0" sz="2600" spc="-135">
                <a:latin typeface="Arial"/>
                <a:cs typeface="Arial"/>
              </a:rPr>
              <a:t> </a:t>
            </a:r>
            <a:r>
              <a:rPr dirty="0" sz="2600" spc="-10">
                <a:latin typeface="Arial"/>
                <a:cs typeface="Arial"/>
              </a:rPr>
              <a:t>goals:</a:t>
            </a:r>
            <a:endParaRPr sz="2600">
              <a:latin typeface="Arial"/>
              <a:cs typeface="Arial"/>
            </a:endParaRPr>
          </a:p>
          <a:p>
            <a:pPr lvl="1" marL="661670" marR="280670" indent="-186690">
              <a:lnSpc>
                <a:spcPts val="2130"/>
              </a:lnSpc>
              <a:spcBef>
                <a:spcPts val="484"/>
              </a:spcBef>
              <a:buChar char="•"/>
              <a:tabLst>
                <a:tab pos="661670" algn="l"/>
                <a:tab pos="725170" algn="l"/>
              </a:tabLst>
            </a:pPr>
            <a:r>
              <a:rPr dirty="0" sz="2200">
                <a:latin typeface="Arial"/>
                <a:cs typeface="Arial"/>
              </a:rPr>
              <a:t>	</a:t>
            </a:r>
            <a:r>
              <a:rPr dirty="0" sz="2200" spc="-80">
                <a:latin typeface="Arial"/>
                <a:cs typeface="Arial"/>
              </a:rPr>
              <a:t>must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10">
                <a:latin typeface="Arial"/>
                <a:cs typeface="Arial"/>
              </a:rPr>
              <a:t>add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or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65">
                <a:latin typeface="Arial"/>
                <a:cs typeface="Arial"/>
              </a:rPr>
              <a:t>update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210">
                <a:latin typeface="Arial"/>
                <a:cs typeface="Arial"/>
              </a:rPr>
              <a:t>as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55">
                <a:latin typeface="Arial"/>
                <a:cs typeface="Arial"/>
              </a:rPr>
              <a:t>few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0">
                <a:latin typeface="Arial"/>
                <a:cs typeface="Arial"/>
              </a:rPr>
              <a:t>parameters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210">
                <a:latin typeface="Arial"/>
                <a:cs typeface="Arial"/>
              </a:rPr>
              <a:t>as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 spc="-100">
                <a:latin typeface="Arial"/>
                <a:cs typeface="Arial"/>
              </a:rPr>
              <a:t>possible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95">
                <a:latin typeface="Arial"/>
                <a:cs typeface="Arial"/>
              </a:rPr>
              <a:t>avoid </a:t>
            </a:r>
            <a:r>
              <a:rPr dirty="0" sz="2200" spc="-55">
                <a:latin typeface="Arial"/>
                <a:cs typeface="Arial"/>
              </a:rPr>
              <a:t>incurring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5">
                <a:latin typeface="Arial"/>
                <a:cs typeface="Arial"/>
              </a:rPr>
              <a:t>storage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and </a:t>
            </a:r>
            <a:r>
              <a:rPr dirty="0" sz="2200" spc="-65">
                <a:latin typeface="Arial"/>
                <a:cs typeface="Arial"/>
              </a:rPr>
              <a:t>memory</a:t>
            </a:r>
            <a:r>
              <a:rPr dirty="0" sz="2200" spc="-114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costs</a:t>
            </a:r>
            <a:endParaRPr sz="2200">
              <a:latin typeface="Arial"/>
              <a:cs typeface="Arial"/>
            </a:endParaRPr>
          </a:p>
          <a:p>
            <a:pPr lvl="1" marL="660400" indent="-185420">
              <a:lnSpc>
                <a:spcPts val="2635"/>
              </a:lnSpc>
              <a:spcBef>
                <a:spcPts val="5"/>
              </a:spcBef>
              <a:buChar char="•"/>
              <a:tabLst>
                <a:tab pos="660400" algn="l"/>
              </a:tabLst>
            </a:pPr>
            <a:r>
              <a:rPr dirty="0" sz="2200" spc="-80">
                <a:latin typeface="Arial"/>
                <a:cs typeface="Arial"/>
              </a:rPr>
              <a:t>should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25">
                <a:latin typeface="Arial"/>
                <a:cs typeface="Arial"/>
              </a:rPr>
              <a:t>achieve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85">
                <a:latin typeface="Arial"/>
                <a:cs typeface="Arial"/>
              </a:rPr>
              <a:t>strong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35">
                <a:latin typeface="Arial"/>
                <a:cs typeface="Arial"/>
              </a:rPr>
              <a:t>accuracy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25">
                <a:latin typeface="Arial"/>
                <a:cs typeface="Arial"/>
              </a:rPr>
              <a:t>after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50">
                <a:latin typeface="Arial"/>
                <a:cs typeface="Arial"/>
              </a:rPr>
              <a:t>training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on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60">
                <a:latin typeface="Arial"/>
                <a:cs typeface="Arial"/>
              </a:rPr>
              <a:t>only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80">
                <a:latin typeface="Arial"/>
                <a:cs typeface="Arial"/>
              </a:rPr>
              <a:t>a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55">
                <a:latin typeface="Arial"/>
                <a:cs typeface="Arial"/>
              </a:rPr>
              <a:t>few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30">
                <a:latin typeface="Arial"/>
                <a:cs typeface="Arial"/>
              </a:rPr>
              <a:t>examples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of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80">
                <a:latin typeface="Arial"/>
                <a:cs typeface="Arial"/>
              </a:rPr>
              <a:t>a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85">
                <a:latin typeface="Arial"/>
                <a:cs typeface="Arial"/>
              </a:rPr>
              <a:t>new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tasks</a:t>
            </a:r>
            <a:endParaRPr sz="2200">
              <a:latin typeface="Arial"/>
              <a:cs typeface="Arial"/>
            </a:endParaRPr>
          </a:p>
          <a:p>
            <a:pPr lvl="1" marL="660400" indent="-185420">
              <a:lnSpc>
                <a:spcPts val="2635"/>
              </a:lnSpc>
              <a:buChar char="•"/>
              <a:tabLst>
                <a:tab pos="660400" algn="l"/>
              </a:tabLst>
            </a:pPr>
            <a:r>
              <a:rPr dirty="0" sz="2200" spc="-80">
                <a:latin typeface="Arial"/>
                <a:cs typeface="Arial"/>
              </a:rPr>
              <a:t>must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50">
                <a:latin typeface="Arial"/>
                <a:cs typeface="Arial"/>
              </a:rPr>
              <a:t>allow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for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mixed-</a:t>
            </a:r>
            <a:r>
              <a:rPr dirty="0" sz="2200" spc="-150">
                <a:latin typeface="Arial"/>
                <a:cs typeface="Arial"/>
              </a:rPr>
              <a:t>task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batches</a:t>
            </a:r>
            <a:endParaRPr sz="2200">
              <a:latin typeface="Arial"/>
              <a:cs typeface="Arial"/>
            </a:endParaRPr>
          </a:p>
          <a:p>
            <a:pPr marL="204470" indent="-179070">
              <a:lnSpc>
                <a:spcPts val="3110"/>
              </a:lnSpc>
              <a:spcBef>
                <a:spcPts val="375"/>
              </a:spcBef>
              <a:buChar char="•"/>
              <a:tabLst>
                <a:tab pos="204470" algn="l"/>
              </a:tabLst>
            </a:pPr>
            <a:r>
              <a:rPr dirty="0" sz="2600">
                <a:solidFill>
                  <a:srgbClr val="2A3C42"/>
                </a:solidFill>
                <a:latin typeface="Arial"/>
                <a:cs typeface="Arial"/>
              </a:rPr>
              <a:t>Main</a:t>
            </a:r>
            <a:r>
              <a:rPr dirty="0" sz="2600" spc="-85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2A3C42"/>
                </a:solidFill>
                <a:latin typeface="Arial"/>
                <a:cs typeface="Arial"/>
              </a:rPr>
              <a:t>idea:</a:t>
            </a:r>
            <a:endParaRPr sz="2600">
              <a:latin typeface="Arial"/>
              <a:cs typeface="Arial"/>
            </a:endParaRPr>
          </a:p>
          <a:p>
            <a:pPr lvl="1" marL="660400" marR="111125" indent="-185420">
              <a:lnSpc>
                <a:spcPts val="2130"/>
              </a:lnSpc>
              <a:spcBef>
                <a:spcPts val="490"/>
              </a:spcBef>
              <a:buChar char="•"/>
              <a:tabLst>
                <a:tab pos="661670" algn="l"/>
              </a:tabLst>
            </a:pP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Rescale</a:t>
            </a:r>
            <a:r>
              <a:rPr dirty="0" sz="2200" spc="-2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inner</a:t>
            </a:r>
            <a:r>
              <a:rPr dirty="0" sz="2200" spc="-2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activations</a:t>
            </a:r>
            <a:r>
              <a:rPr dirty="0" sz="2200" spc="-2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with</a:t>
            </a:r>
            <a:r>
              <a:rPr dirty="0" sz="2200" spc="-15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A3C42"/>
                </a:solidFill>
                <a:latin typeface="Arial"/>
                <a:cs typeface="Arial"/>
              </a:rPr>
              <a:t>lower-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dimensional</a:t>
            </a:r>
            <a:r>
              <a:rPr dirty="0" sz="2200" spc="-2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learned</a:t>
            </a:r>
            <a:r>
              <a:rPr dirty="0" sz="2200" spc="-2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vectors,</a:t>
            </a:r>
            <a:r>
              <a:rPr dirty="0" sz="2200" spc="-2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which</a:t>
            </a:r>
            <a:r>
              <a:rPr dirty="0" sz="2200" spc="-15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2A3C42"/>
                </a:solidFill>
                <a:latin typeface="Arial"/>
                <a:cs typeface="Arial"/>
              </a:rPr>
              <a:t>are </a:t>
            </a:r>
            <a:r>
              <a:rPr dirty="0" sz="2200" spc="-25">
                <a:solidFill>
                  <a:srgbClr val="2A3C42"/>
                </a:solidFill>
                <a:latin typeface="Arial"/>
                <a:cs typeface="Arial"/>
              </a:rPr>
              <a:t>	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injected</a:t>
            </a:r>
            <a:r>
              <a:rPr dirty="0" sz="2200" spc="-3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into</a:t>
            </a:r>
            <a:r>
              <a:rPr dirty="0" sz="2200" spc="-25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the</a:t>
            </a:r>
            <a:r>
              <a:rPr dirty="0" sz="2200" spc="-25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attention</a:t>
            </a:r>
            <a:r>
              <a:rPr dirty="0" sz="2200" spc="-3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and</a:t>
            </a:r>
            <a:r>
              <a:rPr dirty="0" sz="2200" spc="-25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feedforward</a:t>
            </a:r>
            <a:r>
              <a:rPr dirty="0" sz="2200" spc="-25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A3C42"/>
                </a:solidFill>
                <a:latin typeface="Arial"/>
                <a:cs typeface="Arial"/>
              </a:rPr>
              <a:t>modules</a:t>
            </a:r>
            <a:endParaRPr sz="2200">
              <a:latin typeface="Arial"/>
              <a:cs typeface="Arial"/>
            </a:endParaRPr>
          </a:p>
          <a:p>
            <a:pPr marL="204470" indent="-179070">
              <a:lnSpc>
                <a:spcPts val="3110"/>
              </a:lnSpc>
              <a:spcBef>
                <a:spcPts val="390"/>
              </a:spcBef>
              <a:buChar char="•"/>
              <a:tabLst>
                <a:tab pos="204470" algn="l"/>
              </a:tabLst>
            </a:pPr>
            <a:r>
              <a:rPr dirty="0" sz="2600">
                <a:solidFill>
                  <a:srgbClr val="2A3C42"/>
                </a:solidFill>
                <a:latin typeface="Arial"/>
                <a:cs typeface="Arial"/>
              </a:rPr>
              <a:t>Main</a:t>
            </a:r>
            <a:r>
              <a:rPr dirty="0" sz="2600" spc="-8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2A3C42"/>
                </a:solidFill>
                <a:latin typeface="Arial"/>
                <a:cs typeface="Arial"/>
              </a:rPr>
              <a:t>differences</a:t>
            </a:r>
            <a:r>
              <a:rPr dirty="0" sz="2600" spc="-7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2A3C42"/>
                </a:solidFill>
                <a:latin typeface="Arial"/>
                <a:cs typeface="Arial"/>
              </a:rPr>
              <a:t>from</a:t>
            </a:r>
            <a:r>
              <a:rPr dirty="0" sz="2600" spc="-75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2A3C42"/>
                </a:solidFill>
                <a:latin typeface="Arial"/>
                <a:cs typeface="Arial"/>
              </a:rPr>
              <a:t>LoRA:</a:t>
            </a:r>
            <a:endParaRPr sz="2600">
              <a:latin typeface="Arial"/>
              <a:cs typeface="Arial"/>
            </a:endParaRPr>
          </a:p>
          <a:p>
            <a:pPr lvl="1" marL="660400" indent="-185420">
              <a:lnSpc>
                <a:spcPts val="2625"/>
              </a:lnSpc>
              <a:buChar char="•"/>
              <a:tabLst>
                <a:tab pos="660400" algn="l"/>
              </a:tabLst>
            </a:pP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LoRA</a:t>
            </a:r>
            <a:r>
              <a:rPr dirty="0" sz="2200" spc="-14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learns</a:t>
            </a:r>
            <a:r>
              <a:rPr dirty="0" sz="2200" spc="-5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B5563"/>
                </a:solidFill>
                <a:latin typeface="Arial"/>
                <a:cs typeface="Arial"/>
              </a:rPr>
              <a:t>low-rank</a:t>
            </a:r>
            <a:r>
              <a:rPr dirty="0" sz="2200" spc="-15">
                <a:solidFill>
                  <a:srgbClr val="4B5563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4B5563"/>
                </a:solidFill>
                <a:latin typeface="Arial"/>
                <a:cs typeface="Arial"/>
              </a:rPr>
              <a:t>updates</a:t>
            </a:r>
            <a:r>
              <a:rPr dirty="0" sz="2200" spc="-10" b="1">
                <a:solidFill>
                  <a:srgbClr val="4B5563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B5563"/>
                </a:solidFill>
                <a:latin typeface="Arial"/>
                <a:cs typeface="Arial"/>
              </a:rPr>
              <a:t>to</a:t>
            </a:r>
            <a:r>
              <a:rPr dirty="0" sz="2200" spc="-15">
                <a:solidFill>
                  <a:srgbClr val="4B5563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B5563"/>
                </a:solidFill>
                <a:latin typeface="Arial"/>
                <a:cs typeface="Arial"/>
              </a:rPr>
              <a:t>the</a:t>
            </a:r>
            <a:r>
              <a:rPr dirty="0" sz="2200" spc="-15">
                <a:solidFill>
                  <a:srgbClr val="4B5563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B5563"/>
                </a:solidFill>
                <a:latin typeface="Arial"/>
                <a:cs typeface="Arial"/>
              </a:rPr>
              <a:t>attention</a:t>
            </a:r>
            <a:r>
              <a:rPr dirty="0" sz="2200" spc="-10">
                <a:solidFill>
                  <a:srgbClr val="4B5563"/>
                </a:solidFill>
                <a:latin typeface="Arial"/>
                <a:cs typeface="Arial"/>
              </a:rPr>
              <a:t> weights</a:t>
            </a:r>
            <a:endParaRPr sz="2200">
              <a:latin typeface="Arial"/>
              <a:cs typeface="Arial"/>
            </a:endParaRPr>
          </a:p>
          <a:p>
            <a:pPr lvl="1" marL="660400" indent="-185420">
              <a:lnSpc>
                <a:spcPts val="2635"/>
              </a:lnSpc>
              <a:buChar char="•"/>
              <a:tabLst>
                <a:tab pos="660400" algn="l"/>
              </a:tabLst>
            </a:pPr>
            <a:r>
              <a:rPr dirty="0" sz="2200" spc="-55">
                <a:latin typeface="Arial"/>
                <a:cs typeface="Arial"/>
              </a:rPr>
              <a:t>(IA)</a:t>
            </a:r>
            <a:r>
              <a:rPr dirty="0" baseline="32567" sz="2175" spc="-82">
                <a:latin typeface="Arial"/>
                <a:cs typeface="Arial"/>
              </a:rPr>
              <a:t>3</a:t>
            </a:r>
            <a:r>
              <a:rPr dirty="0" baseline="32567" sz="2175" spc="262"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learns</a:t>
            </a:r>
            <a:r>
              <a:rPr dirty="0" sz="2200" spc="-8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A3C42"/>
                </a:solidFill>
                <a:latin typeface="Arial"/>
                <a:cs typeface="Arial"/>
              </a:rPr>
              <a:t>injectable</a:t>
            </a:r>
            <a:r>
              <a:rPr dirty="0" sz="2200" spc="-80">
                <a:solidFill>
                  <a:srgbClr val="2A3C42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A3C42"/>
                </a:solidFill>
                <a:latin typeface="Arial"/>
                <a:cs typeface="Arial"/>
              </a:rPr>
              <a:t>vectors.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3025" y="6605273"/>
            <a:ext cx="76942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“Few-Shot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Parameter-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Efficient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9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Fine-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Tuning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is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Better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and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9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Cheaper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than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In-</a:t>
            </a:r>
            <a:r>
              <a:rPr dirty="0" u="heavy" sz="1400" spc="-6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Context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6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Learning.”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Liu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3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at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al.</a:t>
            </a:r>
            <a:r>
              <a:rPr dirty="0" u="heavy" sz="1400" spc="-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2022.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5"/>
              <a:t>Advantages</a:t>
            </a:r>
            <a:r>
              <a:rPr dirty="0" spc="-225"/>
              <a:t> </a:t>
            </a:r>
            <a:r>
              <a:rPr dirty="0"/>
              <a:t>of</a:t>
            </a:r>
            <a:r>
              <a:rPr dirty="0" spc="-220"/>
              <a:t> </a:t>
            </a:r>
            <a:r>
              <a:rPr dirty="0" spc="-505"/>
              <a:t>Re-</a:t>
            </a:r>
            <a:r>
              <a:rPr dirty="0" spc="-175"/>
              <a:t>Paramaterization</a:t>
            </a:r>
            <a:r>
              <a:rPr dirty="0" spc="-220"/>
              <a:t> </a:t>
            </a:r>
            <a:r>
              <a:rPr dirty="0" spc="-80"/>
              <a:t>Methods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17804" marR="5080" indent="-174625">
              <a:lnSpc>
                <a:spcPts val="3020"/>
              </a:lnSpc>
              <a:spcBef>
                <a:spcPts val="480"/>
              </a:spcBef>
              <a:buChar char="•"/>
              <a:tabLst>
                <a:tab pos="219710" algn="l"/>
              </a:tabLst>
            </a:pPr>
            <a:r>
              <a:rPr dirty="0" u="none" spc="-160">
                <a:solidFill>
                  <a:srgbClr val="000000"/>
                </a:solidFill>
              </a:rPr>
              <a:t>Training</a:t>
            </a:r>
            <a:r>
              <a:rPr dirty="0" u="none" spc="-120">
                <a:solidFill>
                  <a:srgbClr val="000000"/>
                </a:solidFill>
              </a:rPr>
              <a:t> tends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to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50">
                <a:solidFill>
                  <a:srgbClr val="000000"/>
                </a:solidFill>
              </a:rPr>
              <a:t>be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10">
                <a:solidFill>
                  <a:srgbClr val="000000"/>
                </a:solidFill>
              </a:rPr>
              <a:t>more</a:t>
            </a:r>
            <a:r>
              <a:rPr dirty="0" u="none" spc="-114">
                <a:solidFill>
                  <a:srgbClr val="000000"/>
                </a:solidFill>
              </a:rPr>
              <a:t> memory-</a:t>
            </a:r>
            <a:r>
              <a:rPr dirty="0" u="none" spc="-55">
                <a:solidFill>
                  <a:srgbClr val="000000"/>
                </a:solidFill>
              </a:rPr>
              <a:t>efficient,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70">
                <a:solidFill>
                  <a:srgbClr val="000000"/>
                </a:solidFill>
              </a:rPr>
              <a:t>since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25">
                <a:solidFill>
                  <a:srgbClr val="000000"/>
                </a:solidFill>
              </a:rPr>
              <a:t>we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90">
                <a:solidFill>
                  <a:srgbClr val="000000"/>
                </a:solidFill>
              </a:rPr>
              <a:t>only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50">
                <a:solidFill>
                  <a:srgbClr val="000000"/>
                </a:solidFill>
              </a:rPr>
              <a:t>need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25">
                <a:solidFill>
                  <a:srgbClr val="000000"/>
                </a:solidFill>
              </a:rPr>
              <a:t>to </a:t>
            </a:r>
            <a:r>
              <a:rPr dirty="0" u="none" spc="-25">
                <a:solidFill>
                  <a:srgbClr val="000000"/>
                </a:solidFill>
              </a:rPr>
              <a:t>	</a:t>
            </a:r>
            <a:r>
              <a:rPr dirty="0" u="none" spc="-120">
                <a:solidFill>
                  <a:srgbClr val="000000"/>
                </a:solidFill>
              </a:rPr>
              <a:t>calculate</a:t>
            </a:r>
            <a:r>
              <a:rPr dirty="0" u="none" spc="-135">
                <a:solidFill>
                  <a:srgbClr val="000000"/>
                </a:solidFill>
              </a:rPr>
              <a:t> </a:t>
            </a:r>
            <a:r>
              <a:rPr dirty="0" u="none" spc="-125">
                <a:solidFill>
                  <a:srgbClr val="000000"/>
                </a:solidFill>
              </a:rPr>
              <a:t>gradients</a:t>
            </a:r>
            <a:r>
              <a:rPr dirty="0" u="none" spc="-135">
                <a:solidFill>
                  <a:srgbClr val="000000"/>
                </a:solidFill>
              </a:rPr>
              <a:t> </a:t>
            </a:r>
            <a:r>
              <a:rPr dirty="0" u="none" spc="-150">
                <a:solidFill>
                  <a:srgbClr val="000000"/>
                </a:solidFill>
              </a:rPr>
              <a:t>and</a:t>
            </a:r>
            <a:r>
              <a:rPr dirty="0" u="none" spc="-135">
                <a:solidFill>
                  <a:srgbClr val="000000"/>
                </a:solidFill>
              </a:rPr>
              <a:t> </a:t>
            </a:r>
            <a:r>
              <a:rPr dirty="0" u="none" spc="-85">
                <a:solidFill>
                  <a:srgbClr val="000000"/>
                </a:solidFill>
              </a:rPr>
              <a:t>maintain</a:t>
            </a:r>
            <a:r>
              <a:rPr dirty="0" u="none" spc="-135">
                <a:solidFill>
                  <a:srgbClr val="000000"/>
                </a:solidFill>
              </a:rPr>
              <a:t> </a:t>
            </a:r>
            <a:r>
              <a:rPr dirty="0" u="none" spc="-80">
                <a:solidFill>
                  <a:srgbClr val="000000"/>
                </a:solidFill>
              </a:rPr>
              <a:t>optimizer</a:t>
            </a:r>
            <a:r>
              <a:rPr dirty="0" u="none" spc="-130">
                <a:solidFill>
                  <a:srgbClr val="000000"/>
                </a:solidFill>
              </a:rPr>
              <a:t> </a:t>
            </a:r>
            <a:r>
              <a:rPr dirty="0" u="none" spc="-114">
                <a:solidFill>
                  <a:srgbClr val="000000"/>
                </a:solidFill>
              </a:rPr>
              <a:t>state</a:t>
            </a:r>
            <a:r>
              <a:rPr dirty="0" u="none" spc="-135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for</a:t>
            </a:r>
            <a:r>
              <a:rPr dirty="0" u="none" spc="-135">
                <a:solidFill>
                  <a:srgbClr val="000000"/>
                </a:solidFill>
              </a:rPr>
              <a:t> </a:t>
            </a:r>
            <a:r>
              <a:rPr dirty="0" u="none" spc="-240">
                <a:solidFill>
                  <a:srgbClr val="000000"/>
                </a:solidFill>
              </a:rPr>
              <a:t>a</a:t>
            </a:r>
            <a:r>
              <a:rPr dirty="0" u="none" spc="-135">
                <a:solidFill>
                  <a:srgbClr val="000000"/>
                </a:solidFill>
              </a:rPr>
              <a:t> small </a:t>
            </a:r>
            <a:r>
              <a:rPr dirty="0" u="none" spc="-105">
                <a:solidFill>
                  <a:srgbClr val="000000"/>
                </a:solidFill>
              </a:rPr>
              <a:t>number</a:t>
            </a:r>
            <a:r>
              <a:rPr dirty="0" u="none" spc="-90">
                <a:solidFill>
                  <a:srgbClr val="000000"/>
                </a:solidFill>
              </a:rPr>
              <a:t> </a:t>
            </a:r>
            <a:r>
              <a:rPr dirty="0" u="none" spc="-25">
                <a:solidFill>
                  <a:srgbClr val="000000"/>
                </a:solidFill>
              </a:rPr>
              <a:t>of </a:t>
            </a:r>
            <a:r>
              <a:rPr dirty="0" u="none" spc="-25">
                <a:solidFill>
                  <a:srgbClr val="000000"/>
                </a:solidFill>
              </a:rPr>
              <a:t>	</a:t>
            </a:r>
            <a:r>
              <a:rPr dirty="0" u="none" spc="-40">
                <a:solidFill>
                  <a:srgbClr val="000000"/>
                </a:solidFill>
              </a:rPr>
              <a:t>parameters.</a:t>
            </a:r>
          </a:p>
          <a:p>
            <a:pPr marL="218440" indent="-174625">
              <a:lnSpc>
                <a:spcPct val="100000"/>
              </a:lnSpc>
              <a:spcBef>
                <a:spcPts val="630"/>
              </a:spcBef>
              <a:buChar char="•"/>
              <a:tabLst>
                <a:tab pos="219075" algn="l"/>
              </a:tabLst>
            </a:pPr>
            <a:r>
              <a:rPr dirty="0" u="none" spc="-229">
                <a:solidFill>
                  <a:srgbClr val="000000"/>
                </a:solidFill>
              </a:rPr>
              <a:t>These</a:t>
            </a:r>
            <a:r>
              <a:rPr dirty="0" u="none" spc="-130">
                <a:solidFill>
                  <a:srgbClr val="000000"/>
                </a:solidFill>
              </a:rPr>
              <a:t> </a:t>
            </a:r>
            <a:r>
              <a:rPr dirty="0" u="none" spc="-105">
                <a:solidFill>
                  <a:srgbClr val="000000"/>
                </a:solidFill>
              </a:rPr>
              <a:t>methods</a:t>
            </a:r>
            <a:r>
              <a:rPr dirty="0" u="none" spc="-125">
                <a:solidFill>
                  <a:srgbClr val="000000"/>
                </a:solidFill>
              </a:rPr>
              <a:t> </a:t>
            </a:r>
            <a:r>
              <a:rPr dirty="0" u="none" spc="-145">
                <a:solidFill>
                  <a:srgbClr val="000000"/>
                </a:solidFill>
              </a:rPr>
              <a:t>are</a:t>
            </a:r>
            <a:r>
              <a:rPr dirty="0" u="none" spc="-125">
                <a:solidFill>
                  <a:srgbClr val="000000"/>
                </a:solidFill>
              </a:rPr>
              <a:t> </a:t>
            </a:r>
            <a:r>
              <a:rPr dirty="0" u="none" spc="-105">
                <a:solidFill>
                  <a:srgbClr val="000000"/>
                </a:solidFill>
              </a:rPr>
              <a:t>faster</a:t>
            </a:r>
            <a:r>
              <a:rPr dirty="0" u="none" spc="-13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to</a:t>
            </a:r>
            <a:r>
              <a:rPr dirty="0" u="none" spc="-125">
                <a:solidFill>
                  <a:srgbClr val="000000"/>
                </a:solidFill>
              </a:rPr>
              <a:t> </a:t>
            </a:r>
            <a:r>
              <a:rPr dirty="0" u="none" spc="-65">
                <a:solidFill>
                  <a:srgbClr val="000000"/>
                </a:solidFill>
              </a:rPr>
              <a:t>tune</a:t>
            </a:r>
            <a:r>
              <a:rPr dirty="0" u="none" spc="-125">
                <a:solidFill>
                  <a:srgbClr val="000000"/>
                </a:solidFill>
              </a:rPr>
              <a:t> </a:t>
            </a:r>
            <a:r>
              <a:rPr dirty="0" u="none" spc="-80">
                <a:solidFill>
                  <a:srgbClr val="000000"/>
                </a:solidFill>
              </a:rPr>
              <a:t>than</a:t>
            </a:r>
            <a:r>
              <a:rPr dirty="0" u="none" spc="-130">
                <a:solidFill>
                  <a:srgbClr val="000000"/>
                </a:solidFill>
              </a:rPr>
              <a:t> standard</a:t>
            </a:r>
            <a:r>
              <a:rPr dirty="0" u="none" spc="-125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full</a:t>
            </a:r>
            <a:r>
              <a:rPr dirty="0" u="none" spc="-125">
                <a:solidFill>
                  <a:srgbClr val="000000"/>
                </a:solidFill>
              </a:rPr>
              <a:t> </a:t>
            </a:r>
            <a:r>
              <a:rPr dirty="0" u="none" spc="-100">
                <a:solidFill>
                  <a:srgbClr val="000000"/>
                </a:solidFill>
              </a:rPr>
              <a:t>model</a:t>
            </a:r>
            <a:r>
              <a:rPr dirty="0" u="none" spc="-80">
                <a:solidFill>
                  <a:srgbClr val="000000"/>
                </a:solidFill>
              </a:rPr>
              <a:t> </a:t>
            </a:r>
            <a:r>
              <a:rPr dirty="0" u="none" spc="-10">
                <a:solidFill>
                  <a:srgbClr val="000000"/>
                </a:solidFill>
              </a:rPr>
              <a:t>finetuning.</a:t>
            </a:r>
          </a:p>
          <a:p>
            <a:pPr marL="217804" marR="404495" indent="-174625">
              <a:lnSpc>
                <a:spcPts val="3020"/>
              </a:lnSpc>
              <a:spcBef>
                <a:spcPts val="1050"/>
              </a:spcBef>
              <a:buChar char="•"/>
              <a:tabLst>
                <a:tab pos="219710" algn="l"/>
              </a:tabLst>
            </a:pPr>
            <a:r>
              <a:rPr dirty="0" u="none">
                <a:solidFill>
                  <a:srgbClr val="000000"/>
                </a:solidFill>
              </a:rPr>
              <a:t>It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60">
                <a:solidFill>
                  <a:srgbClr val="000000"/>
                </a:solidFill>
              </a:rPr>
              <a:t>is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05">
                <a:solidFill>
                  <a:srgbClr val="000000"/>
                </a:solidFill>
              </a:rPr>
              <a:t>straight-</a:t>
            </a:r>
            <a:r>
              <a:rPr dirty="0" u="none" spc="-65">
                <a:solidFill>
                  <a:srgbClr val="000000"/>
                </a:solidFill>
              </a:rPr>
              <a:t>forward</a:t>
            </a:r>
            <a:r>
              <a:rPr dirty="0" u="none" spc="-110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to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95">
                <a:solidFill>
                  <a:srgbClr val="000000"/>
                </a:solidFill>
              </a:rPr>
              <a:t>swap</a:t>
            </a:r>
            <a:r>
              <a:rPr dirty="0" u="none" spc="-110">
                <a:solidFill>
                  <a:srgbClr val="000000"/>
                </a:solidFill>
              </a:rPr>
              <a:t> between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85">
                <a:solidFill>
                  <a:srgbClr val="000000"/>
                </a:solidFill>
              </a:rPr>
              <a:t>tasks</a:t>
            </a:r>
            <a:r>
              <a:rPr dirty="0" u="none" spc="-110">
                <a:solidFill>
                  <a:srgbClr val="000000"/>
                </a:solidFill>
              </a:rPr>
              <a:t> </a:t>
            </a:r>
            <a:r>
              <a:rPr dirty="0" u="none" spc="-130">
                <a:solidFill>
                  <a:srgbClr val="000000"/>
                </a:solidFill>
              </a:rPr>
              <a:t>by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50">
                <a:solidFill>
                  <a:srgbClr val="000000"/>
                </a:solidFill>
              </a:rPr>
              <a:t>swapping</a:t>
            </a:r>
            <a:r>
              <a:rPr dirty="0" u="none" spc="-110">
                <a:solidFill>
                  <a:srgbClr val="000000"/>
                </a:solidFill>
              </a:rPr>
              <a:t> </a:t>
            </a:r>
            <a:r>
              <a:rPr dirty="0" u="none" spc="-50">
                <a:solidFill>
                  <a:srgbClr val="000000"/>
                </a:solidFill>
              </a:rPr>
              <a:t>in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50">
                <a:solidFill>
                  <a:srgbClr val="000000"/>
                </a:solidFill>
              </a:rPr>
              <a:t>and</a:t>
            </a:r>
            <a:r>
              <a:rPr dirty="0" u="none" spc="-110">
                <a:solidFill>
                  <a:srgbClr val="000000"/>
                </a:solidFill>
              </a:rPr>
              <a:t> </a:t>
            </a:r>
            <a:r>
              <a:rPr dirty="0" u="none" spc="-25">
                <a:solidFill>
                  <a:srgbClr val="000000"/>
                </a:solidFill>
              </a:rPr>
              <a:t>our </a:t>
            </a:r>
            <a:r>
              <a:rPr dirty="0" u="none" spc="-25">
                <a:solidFill>
                  <a:srgbClr val="000000"/>
                </a:solidFill>
              </a:rPr>
              <a:t>	</a:t>
            </a:r>
            <a:r>
              <a:rPr dirty="0" u="none" spc="-70">
                <a:solidFill>
                  <a:srgbClr val="000000"/>
                </a:solidFill>
              </a:rPr>
              <a:t>just</a:t>
            </a:r>
            <a:r>
              <a:rPr dirty="0" u="none" spc="-120">
                <a:solidFill>
                  <a:srgbClr val="000000"/>
                </a:solidFill>
              </a:rPr>
              <a:t> </a:t>
            </a:r>
            <a:r>
              <a:rPr dirty="0" u="none" spc="-45">
                <a:solidFill>
                  <a:srgbClr val="000000"/>
                </a:solidFill>
              </a:rPr>
              <a:t>the</a:t>
            </a:r>
            <a:r>
              <a:rPr dirty="0" u="none" spc="-120">
                <a:solidFill>
                  <a:srgbClr val="000000"/>
                </a:solidFill>
              </a:rPr>
              <a:t> </a:t>
            </a:r>
            <a:r>
              <a:rPr dirty="0" u="none" spc="-70">
                <a:solidFill>
                  <a:srgbClr val="000000"/>
                </a:solidFill>
              </a:rPr>
              <a:t>tuned</a:t>
            </a:r>
            <a:r>
              <a:rPr dirty="0" u="none" spc="-114">
                <a:solidFill>
                  <a:srgbClr val="000000"/>
                </a:solidFill>
              </a:rPr>
              <a:t> </a:t>
            </a:r>
            <a:r>
              <a:rPr dirty="0" u="none" spc="-10">
                <a:solidFill>
                  <a:srgbClr val="000000"/>
                </a:solidFill>
              </a:rPr>
              <a:t>weights.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88722" y="588723"/>
              <a:ext cx="11014710" cy="5680710"/>
            </a:xfrm>
            <a:custGeom>
              <a:avLst/>
              <a:gdLst/>
              <a:ahLst/>
              <a:cxnLst/>
              <a:rect l="l" t="t" r="r" b="b"/>
              <a:pathLst>
                <a:path w="11014710" h="5680710">
                  <a:moveTo>
                    <a:pt x="11014552" y="5680550"/>
                  </a:moveTo>
                  <a:lnTo>
                    <a:pt x="0" y="5680550"/>
                  </a:lnTo>
                  <a:lnTo>
                    <a:pt x="0" y="0"/>
                  </a:lnTo>
                  <a:lnTo>
                    <a:pt x="11014552" y="0"/>
                  </a:lnTo>
                  <a:lnTo>
                    <a:pt x="11014552" y="56805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09715" y="2532570"/>
            <a:ext cx="296926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380"/>
              <a:t>Summary</a:t>
            </a:r>
            <a:endParaRPr sz="6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39" y="83765"/>
            <a:ext cx="268351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85"/>
              <a:t>Prefix</a:t>
            </a:r>
            <a:r>
              <a:rPr dirty="0" sz="4000" spc="-170"/>
              <a:t> </a:t>
            </a:r>
            <a:r>
              <a:rPr dirty="0" sz="4000" spc="-265"/>
              <a:t>Tuning</a:t>
            </a:r>
            <a:endParaRPr sz="4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4150" y="1414669"/>
            <a:ext cx="9283699" cy="48767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924" y="6562074"/>
            <a:ext cx="591883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55">
                <a:latin typeface="Arial"/>
                <a:cs typeface="Arial"/>
              </a:rPr>
              <a:t>http</a:t>
            </a:r>
            <a:r>
              <a:rPr dirty="0" sz="1800" spc="-55">
                <a:latin typeface="Arial"/>
                <a:cs typeface="Arial"/>
                <a:hlinkClick r:id="rId3"/>
              </a:rPr>
              <a:t>s://www.leewayhertz.com/parameter-</a:t>
            </a:r>
            <a:r>
              <a:rPr dirty="0" sz="1800" spc="-50">
                <a:latin typeface="Arial"/>
                <a:cs typeface="Arial"/>
                <a:hlinkClick r:id="rId3"/>
              </a:rPr>
              <a:t>efficient-</a:t>
            </a:r>
            <a:r>
              <a:rPr dirty="0" sz="1800" spc="-40">
                <a:latin typeface="Arial"/>
                <a:cs typeface="Arial"/>
                <a:hlinkClick r:id="rId3"/>
              </a:rPr>
              <a:t>fine-</a:t>
            </a:r>
            <a:r>
              <a:rPr dirty="0" sz="1800" spc="-10">
                <a:latin typeface="Arial"/>
                <a:cs typeface="Arial"/>
                <a:hlinkClick r:id="rId3"/>
              </a:rPr>
              <a:t>tuning/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39" y="83765"/>
            <a:ext cx="304927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45"/>
              <a:t>Prompt</a:t>
            </a:r>
            <a:r>
              <a:rPr dirty="0" sz="4000" spc="-180"/>
              <a:t> </a:t>
            </a:r>
            <a:r>
              <a:rPr dirty="0" sz="4000" spc="-265"/>
              <a:t>Tuning</a:t>
            </a:r>
            <a:endParaRPr sz="4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4150" y="1377950"/>
            <a:ext cx="9283699" cy="41020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924" y="6562074"/>
            <a:ext cx="591883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55">
                <a:latin typeface="Arial"/>
                <a:cs typeface="Arial"/>
              </a:rPr>
              <a:t>http</a:t>
            </a:r>
            <a:r>
              <a:rPr dirty="0" sz="1800" spc="-55">
                <a:latin typeface="Arial"/>
                <a:cs typeface="Arial"/>
                <a:hlinkClick r:id="rId3"/>
              </a:rPr>
              <a:t>s://www.leewayhertz.com/parameter-</a:t>
            </a:r>
            <a:r>
              <a:rPr dirty="0" sz="1800" spc="-50">
                <a:latin typeface="Arial"/>
                <a:cs typeface="Arial"/>
                <a:hlinkClick r:id="rId3"/>
              </a:rPr>
              <a:t>efficient-</a:t>
            </a:r>
            <a:r>
              <a:rPr dirty="0" sz="1800" spc="-40">
                <a:latin typeface="Arial"/>
                <a:cs typeface="Arial"/>
                <a:hlinkClick r:id="rId3"/>
              </a:rPr>
              <a:t>fine-</a:t>
            </a:r>
            <a:r>
              <a:rPr dirty="0" sz="1800" spc="-10">
                <a:latin typeface="Arial"/>
                <a:cs typeface="Arial"/>
                <a:hlinkClick r:id="rId3"/>
              </a:rPr>
              <a:t>tuning/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39" y="83765"/>
            <a:ext cx="828230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80"/>
              <a:t>Adapters: </a:t>
            </a:r>
            <a:r>
              <a:rPr dirty="0" sz="4000" spc="-190"/>
              <a:t>adding</a:t>
            </a:r>
            <a:r>
              <a:rPr dirty="0" sz="4000" spc="-180"/>
              <a:t> </a:t>
            </a:r>
            <a:r>
              <a:rPr dirty="0" sz="4000" spc="-35"/>
              <a:t>in</a:t>
            </a:r>
            <a:r>
              <a:rPr dirty="0" sz="4000" spc="-175"/>
              <a:t> </a:t>
            </a:r>
            <a:r>
              <a:rPr dirty="0" sz="4000" spc="-160"/>
              <a:t>new</a:t>
            </a:r>
            <a:r>
              <a:rPr dirty="0" sz="4000" spc="-185"/>
              <a:t> </a:t>
            </a:r>
            <a:r>
              <a:rPr dirty="0" sz="4000" spc="-120"/>
              <a:t>trainable</a:t>
            </a:r>
            <a:r>
              <a:rPr dirty="0" sz="4000" spc="-175"/>
              <a:t> </a:t>
            </a:r>
            <a:r>
              <a:rPr dirty="0" sz="4000" spc="-145"/>
              <a:t>layers</a:t>
            </a:r>
            <a:endParaRPr sz="40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699" y="990600"/>
            <a:ext cx="8534398" cy="58673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4924" y="6562074"/>
            <a:ext cx="591883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55">
                <a:latin typeface="Arial"/>
                <a:cs typeface="Arial"/>
              </a:rPr>
              <a:t>http</a:t>
            </a:r>
            <a:r>
              <a:rPr dirty="0" sz="1800" spc="-55">
                <a:latin typeface="Arial"/>
                <a:cs typeface="Arial"/>
                <a:hlinkClick r:id="rId3"/>
              </a:rPr>
              <a:t>s://www.leewayhertz.com/parameter-</a:t>
            </a:r>
            <a:r>
              <a:rPr dirty="0" sz="1800" spc="-50">
                <a:latin typeface="Arial"/>
                <a:cs typeface="Arial"/>
                <a:hlinkClick r:id="rId3"/>
              </a:rPr>
              <a:t>efficient-</a:t>
            </a:r>
            <a:r>
              <a:rPr dirty="0" sz="1800" spc="-40">
                <a:latin typeface="Arial"/>
                <a:cs typeface="Arial"/>
                <a:hlinkClick r:id="rId3"/>
              </a:rPr>
              <a:t>fine-</a:t>
            </a:r>
            <a:r>
              <a:rPr dirty="0" sz="1800" spc="-10">
                <a:latin typeface="Arial"/>
                <a:cs typeface="Arial"/>
                <a:hlinkClick r:id="rId3"/>
              </a:rPr>
              <a:t>tuning/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139" y="83765"/>
            <a:ext cx="1114234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360"/>
              <a:t>LoRA:</a:t>
            </a:r>
            <a:r>
              <a:rPr dirty="0" sz="4000" spc="-175"/>
              <a:t> </a:t>
            </a:r>
            <a:r>
              <a:rPr dirty="0" sz="4000" spc="-105"/>
              <a:t>injecting</a:t>
            </a:r>
            <a:r>
              <a:rPr dirty="0" sz="4000" spc="-180"/>
              <a:t> </a:t>
            </a:r>
            <a:r>
              <a:rPr dirty="0" sz="4000" spc="-120"/>
              <a:t>trainable</a:t>
            </a:r>
            <a:r>
              <a:rPr dirty="0" sz="4000" spc="-175"/>
              <a:t> </a:t>
            </a:r>
            <a:r>
              <a:rPr dirty="0" sz="4000" spc="-180"/>
              <a:t>rank</a:t>
            </a:r>
            <a:r>
              <a:rPr dirty="0" sz="4000" spc="-175"/>
              <a:t> </a:t>
            </a:r>
            <a:r>
              <a:rPr dirty="0" sz="4000" spc="-140"/>
              <a:t>decomposition</a:t>
            </a:r>
            <a:r>
              <a:rPr dirty="0" sz="4000" spc="-175"/>
              <a:t> </a:t>
            </a:r>
            <a:r>
              <a:rPr dirty="0" sz="4000" spc="-80"/>
              <a:t>matrices</a:t>
            </a:r>
            <a:endParaRPr sz="4000"/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770744"/>
            <a:ext cx="11809730" cy="4622800"/>
            <a:chOff x="0" y="1770744"/>
            <a:chExt cx="11809730" cy="46228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52108" y="1873624"/>
              <a:ext cx="6257471" cy="441703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770744"/>
              <a:ext cx="5719020" cy="46227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34924" y="6562074"/>
            <a:ext cx="591883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800" spc="-55">
                <a:latin typeface="Arial"/>
                <a:cs typeface="Arial"/>
              </a:rPr>
              <a:t>http</a:t>
            </a:r>
            <a:r>
              <a:rPr dirty="0" sz="1800" spc="-55">
                <a:latin typeface="Arial"/>
                <a:cs typeface="Arial"/>
                <a:hlinkClick r:id="rId4"/>
              </a:rPr>
              <a:t>s://www.leewayhertz.com/parameter-</a:t>
            </a:r>
            <a:r>
              <a:rPr dirty="0" sz="1800" spc="-50">
                <a:latin typeface="Arial"/>
                <a:cs typeface="Arial"/>
                <a:hlinkClick r:id="rId4"/>
              </a:rPr>
              <a:t>efficient-</a:t>
            </a:r>
            <a:r>
              <a:rPr dirty="0" sz="1800" spc="-40">
                <a:latin typeface="Arial"/>
                <a:cs typeface="Arial"/>
                <a:hlinkClick r:id="rId4"/>
              </a:rPr>
              <a:t>fine-</a:t>
            </a:r>
            <a:r>
              <a:rPr dirty="0" sz="1800" spc="-10">
                <a:latin typeface="Arial"/>
                <a:cs typeface="Arial"/>
                <a:hlinkClick r:id="rId4"/>
              </a:rPr>
              <a:t>tuning/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0"/>
              <a:t>Training</a:t>
            </a:r>
            <a:r>
              <a:rPr dirty="0" spc="-210"/>
              <a:t> </a:t>
            </a:r>
            <a:r>
              <a:rPr dirty="0" spc="-305"/>
              <a:t>Subset</a:t>
            </a:r>
            <a:r>
              <a:rPr dirty="0" spc="-204"/>
              <a:t> </a:t>
            </a:r>
            <a:r>
              <a:rPr dirty="0"/>
              <a:t>of</a:t>
            </a:r>
            <a:r>
              <a:rPr dirty="0" spc="-204"/>
              <a:t> </a:t>
            </a:r>
            <a:r>
              <a:rPr dirty="0" spc="-250"/>
              <a:t>Existing</a:t>
            </a:r>
            <a:r>
              <a:rPr dirty="0" spc="-204"/>
              <a:t> </a:t>
            </a:r>
            <a:r>
              <a:rPr dirty="0" spc="-265"/>
              <a:t>Parameters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770304"/>
            <a:ext cx="8175625" cy="178117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355"/>
              </a:spcBef>
              <a:buChar char="•"/>
              <a:tabLst>
                <a:tab pos="187325" algn="l"/>
              </a:tabLst>
            </a:pPr>
            <a:r>
              <a:rPr dirty="0" sz="2800" spc="-90">
                <a:latin typeface="Arial"/>
                <a:cs typeface="Arial"/>
              </a:rPr>
              <a:t>Manually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185">
                <a:latin typeface="Arial"/>
                <a:cs typeface="Arial"/>
              </a:rPr>
              <a:t>chose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65">
                <a:latin typeface="Arial"/>
                <a:cs typeface="Arial"/>
              </a:rPr>
              <a:t>what</a:t>
            </a:r>
            <a:r>
              <a:rPr dirty="0" sz="2800" spc="-12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30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tune</a:t>
            </a:r>
            <a:endParaRPr sz="2800">
              <a:latin typeface="Arial"/>
              <a:cs typeface="Arial"/>
            </a:endParaRPr>
          </a:p>
          <a:p>
            <a:pPr lvl="1" marL="643255" indent="-181610">
              <a:lnSpc>
                <a:spcPct val="100000"/>
              </a:lnSpc>
              <a:spcBef>
                <a:spcPts val="215"/>
              </a:spcBef>
              <a:buChar char="•"/>
              <a:tabLst>
                <a:tab pos="643255" algn="l"/>
              </a:tabLst>
            </a:pPr>
            <a:r>
              <a:rPr dirty="0" sz="2400" spc="-180">
                <a:latin typeface="Arial"/>
                <a:cs typeface="Arial"/>
              </a:rPr>
              <a:t>Just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tune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last </a:t>
            </a:r>
            <a:r>
              <a:rPr dirty="0" sz="2400" spc="-70">
                <a:latin typeface="Arial"/>
                <a:cs typeface="Arial"/>
              </a:rPr>
              <a:t>few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layers</a:t>
            </a:r>
            <a:endParaRPr sz="2400">
              <a:latin typeface="Arial"/>
              <a:cs typeface="Arial"/>
            </a:endParaRPr>
          </a:p>
          <a:p>
            <a:pPr lvl="1" marL="643255" indent="-181610">
              <a:lnSpc>
                <a:spcPct val="100000"/>
              </a:lnSpc>
              <a:spcBef>
                <a:spcPts val="215"/>
              </a:spcBef>
              <a:buChar char="•"/>
              <a:tabLst>
                <a:tab pos="643255" algn="l"/>
              </a:tabLst>
            </a:pPr>
            <a:r>
              <a:rPr dirty="0" sz="2400" spc="-180">
                <a:latin typeface="Arial"/>
                <a:cs typeface="Arial"/>
              </a:rPr>
              <a:t>Just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tune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45">
                <a:latin typeface="Arial"/>
                <a:cs typeface="Arial"/>
              </a:rPr>
              <a:t>bias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85">
                <a:latin typeface="Arial"/>
                <a:cs typeface="Arial"/>
              </a:rPr>
              <a:t>terms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(BitFit)</a:t>
            </a:r>
            <a:endParaRPr sz="24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655"/>
              </a:spcBef>
              <a:buChar char="•"/>
              <a:tabLst>
                <a:tab pos="187325" algn="l"/>
              </a:tabLst>
            </a:pPr>
            <a:r>
              <a:rPr dirty="0" sz="2800" spc="-185">
                <a:latin typeface="Arial"/>
                <a:cs typeface="Arial"/>
              </a:rPr>
              <a:t>Learn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00">
                <a:latin typeface="Arial"/>
                <a:cs typeface="Arial"/>
              </a:rPr>
              <a:t>which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30">
                <a:latin typeface="Arial"/>
                <a:cs typeface="Arial"/>
              </a:rPr>
              <a:t>parameters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need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150">
                <a:latin typeface="Arial"/>
                <a:cs typeface="Arial"/>
              </a:rPr>
              <a:t>be</a:t>
            </a:r>
            <a:r>
              <a:rPr dirty="0" sz="2800" spc="-114">
                <a:latin typeface="Arial"/>
                <a:cs typeface="Arial"/>
              </a:rPr>
              <a:t> </a:t>
            </a:r>
            <a:r>
              <a:rPr dirty="0" sz="2800" spc="-70">
                <a:latin typeface="Arial"/>
                <a:cs typeface="Arial"/>
              </a:rPr>
              <a:t>tuned</a:t>
            </a:r>
            <a:r>
              <a:rPr dirty="0" sz="2800" spc="-110">
                <a:latin typeface="Arial"/>
                <a:cs typeface="Arial"/>
              </a:rPr>
              <a:t> </a:t>
            </a:r>
            <a:r>
              <a:rPr dirty="0" sz="2800" spc="-75">
                <a:latin typeface="Arial"/>
                <a:cs typeface="Arial"/>
              </a:rPr>
              <a:t>(DiffPruning)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Summary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8530" y="1633335"/>
            <a:ext cx="7199298" cy="475235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3025" y="6649723"/>
            <a:ext cx="881697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“Delta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Tuning: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Comprehensive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Study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of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Parameter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Efficient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Methods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for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Pre-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trained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14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Language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Models.”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Ding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et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al.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2023.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88722" y="588723"/>
              <a:ext cx="11014710" cy="5680710"/>
            </a:xfrm>
            <a:custGeom>
              <a:avLst/>
              <a:gdLst/>
              <a:ahLst/>
              <a:cxnLst/>
              <a:rect l="l" t="t" r="r" b="b"/>
              <a:pathLst>
                <a:path w="11014710" h="5680710">
                  <a:moveTo>
                    <a:pt x="11014552" y="5680550"/>
                  </a:moveTo>
                  <a:lnTo>
                    <a:pt x="0" y="5680550"/>
                  </a:lnTo>
                  <a:lnTo>
                    <a:pt x="0" y="0"/>
                  </a:lnTo>
                  <a:lnTo>
                    <a:pt x="11014552" y="0"/>
                  </a:lnTo>
                  <a:lnTo>
                    <a:pt x="11014552" y="56805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80297" y="2532570"/>
            <a:ext cx="223075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400"/>
              <a:t>Results</a:t>
            </a:r>
            <a:endParaRPr sz="6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197548"/>
            <a:ext cx="93548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If</a:t>
            </a:r>
            <a:r>
              <a:rPr dirty="0" sz="2800" spc="-135"/>
              <a:t> </a:t>
            </a:r>
            <a:r>
              <a:rPr dirty="0" sz="2800" spc="-130"/>
              <a:t>you </a:t>
            </a:r>
            <a:r>
              <a:rPr dirty="0" sz="2800" spc="-190"/>
              <a:t>have</a:t>
            </a:r>
            <a:r>
              <a:rPr dirty="0" sz="2800" spc="-130"/>
              <a:t> </a:t>
            </a:r>
            <a:r>
              <a:rPr dirty="0" sz="2800" spc="-45"/>
              <a:t>the</a:t>
            </a:r>
            <a:r>
              <a:rPr dirty="0" sz="2800" spc="-130"/>
              <a:t> </a:t>
            </a:r>
            <a:r>
              <a:rPr dirty="0" sz="2800" spc="-150"/>
              <a:t>resources,</a:t>
            </a:r>
            <a:r>
              <a:rPr dirty="0" sz="2800" spc="-135"/>
              <a:t> </a:t>
            </a:r>
            <a:r>
              <a:rPr dirty="0" sz="2800"/>
              <a:t>full</a:t>
            </a:r>
            <a:r>
              <a:rPr dirty="0" sz="2800" spc="-130"/>
              <a:t> </a:t>
            </a:r>
            <a:r>
              <a:rPr dirty="0" sz="2800" spc="-65"/>
              <a:t>fine-</a:t>
            </a:r>
            <a:r>
              <a:rPr dirty="0" sz="2800" spc="-70"/>
              <a:t>tuning</a:t>
            </a:r>
            <a:r>
              <a:rPr dirty="0" sz="2800" spc="-130"/>
              <a:t> </a:t>
            </a:r>
            <a:r>
              <a:rPr dirty="0" sz="2800" spc="-120"/>
              <a:t>tends</a:t>
            </a:r>
            <a:r>
              <a:rPr dirty="0" sz="2800" spc="-130"/>
              <a:t> </a:t>
            </a:r>
            <a:r>
              <a:rPr dirty="0" sz="2800"/>
              <a:t>to</a:t>
            </a:r>
            <a:r>
              <a:rPr dirty="0" sz="2800" spc="-130"/>
              <a:t> </a:t>
            </a:r>
            <a:r>
              <a:rPr dirty="0" sz="2800" spc="-75"/>
              <a:t>work</a:t>
            </a:r>
            <a:r>
              <a:rPr dirty="0" sz="2800" spc="-135"/>
              <a:t> </a:t>
            </a:r>
            <a:r>
              <a:rPr dirty="0" sz="2800" spc="-45"/>
              <a:t>the</a:t>
            </a:r>
            <a:r>
              <a:rPr dirty="0" sz="2800" spc="-130"/>
              <a:t> </a:t>
            </a:r>
            <a:r>
              <a:rPr dirty="0" sz="2800" spc="-10"/>
              <a:t>best.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9006958" y="1187912"/>
            <a:ext cx="1706880" cy="1521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300"/>
              </a:lnSpc>
              <a:spcBef>
                <a:spcPts val="100"/>
              </a:spcBef>
            </a:pPr>
            <a:r>
              <a:rPr dirty="0" sz="1800" spc="-204">
                <a:solidFill>
                  <a:srgbClr val="396EFC"/>
                </a:solidFill>
                <a:latin typeface="Arial"/>
                <a:cs typeface="Arial"/>
              </a:rPr>
              <a:t>PF:</a:t>
            </a:r>
            <a:r>
              <a:rPr dirty="0" sz="1800" spc="-75">
                <a:solidFill>
                  <a:srgbClr val="396EFC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396EFC"/>
                </a:solidFill>
                <a:latin typeface="Arial"/>
                <a:cs typeface="Arial"/>
              </a:rPr>
              <a:t>prefix</a:t>
            </a:r>
            <a:r>
              <a:rPr dirty="0" sz="1800" spc="-75">
                <a:solidFill>
                  <a:srgbClr val="396EF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96EFC"/>
                </a:solidFill>
                <a:latin typeface="Arial"/>
                <a:cs typeface="Arial"/>
              </a:rPr>
              <a:t>tuning </a:t>
            </a:r>
            <a:r>
              <a:rPr dirty="0" sz="1800" spc="-225">
                <a:solidFill>
                  <a:srgbClr val="A000C6"/>
                </a:solidFill>
                <a:latin typeface="Arial"/>
                <a:cs typeface="Arial"/>
              </a:rPr>
              <a:t>FT:</a:t>
            </a:r>
            <a:r>
              <a:rPr dirty="0" sz="1800" spc="-95">
                <a:solidFill>
                  <a:srgbClr val="A000C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000C6"/>
                </a:solidFill>
                <a:latin typeface="Arial"/>
                <a:cs typeface="Arial"/>
              </a:rPr>
              <a:t>full</a:t>
            </a:r>
            <a:r>
              <a:rPr dirty="0" sz="1800" spc="-90">
                <a:solidFill>
                  <a:srgbClr val="A000C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A000C6"/>
                </a:solidFill>
                <a:latin typeface="Arial"/>
                <a:cs typeface="Arial"/>
              </a:rPr>
              <a:t>fine-</a:t>
            </a:r>
            <a:r>
              <a:rPr dirty="0" sz="1800" spc="-30">
                <a:solidFill>
                  <a:srgbClr val="A000C6"/>
                </a:solidFill>
                <a:latin typeface="Arial"/>
                <a:cs typeface="Arial"/>
              </a:rPr>
              <a:t>tuning </a:t>
            </a:r>
            <a:r>
              <a:rPr dirty="0" sz="1800" spc="-165">
                <a:solidFill>
                  <a:srgbClr val="FC580C"/>
                </a:solidFill>
                <a:latin typeface="Arial"/>
                <a:cs typeface="Arial"/>
              </a:rPr>
              <a:t>AP:</a:t>
            </a:r>
            <a:r>
              <a:rPr dirty="0" sz="1800" spc="-75">
                <a:solidFill>
                  <a:srgbClr val="FC580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C580C"/>
                </a:solidFill>
                <a:latin typeface="Arial"/>
                <a:cs typeface="Arial"/>
              </a:rPr>
              <a:t>adapter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800" spc="-204">
                <a:solidFill>
                  <a:srgbClr val="FD9404"/>
                </a:solidFill>
                <a:latin typeface="Arial"/>
                <a:cs typeface="Arial"/>
              </a:rPr>
              <a:t>LR:</a:t>
            </a:r>
            <a:r>
              <a:rPr dirty="0" sz="1800" spc="-80">
                <a:solidFill>
                  <a:srgbClr val="FD9404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D9404"/>
                </a:solidFill>
                <a:latin typeface="Arial"/>
                <a:cs typeface="Arial"/>
              </a:rPr>
              <a:t>LoRA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912" y="1018821"/>
            <a:ext cx="7630635" cy="542460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006958" y="3485095"/>
            <a:ext cx="2453005" cy="304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80" b="1">
                <a:latin typeface="Arial"/>
                <a:cs typeface="Arial"/>
              </a:rPr>
              <a:t>This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160" b="1">
                <a:latin typeface="Arial"/>
                <a:cs typeface="Arial"/>
              </a:rPr>
              <a:t>survey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spc="-114" b="1">
                <a:latin typeface="Arial"/>
                <a:cs typeface="Arial"/>
              </a:rPr>
              <a:t>overall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spc="-90" b="1">
                <a:latin typeface="Arial"/>
                <a:cs typeface="Arial"/>
              </a:rPr>
              <a:t>found:</a:t>
            </a:r>
            <a:endParaRPr sz="1800">
              <a:latin typeface="Arial"/>
              <a:cs typeface="Arial"/>
            </a:endParaRPr>
          </a:p>
          <a:p>
            <a:pPr marL="12700" marR="864235">
              <a:lnSpc>
                <a:spcPct val="100000"/>
              </a:lnSpc>
            </a:pPr>
            <a:r>
              <a:rPr dirty="0" sz="1800" spc="-85">
                <a:latin typeface="Arial"/>
                <a:cs typeface="Arial"/>
              </a:rPr>
              <a:t>Full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fine-</a:t>
            </a:r>
            <a:r>
              <a:rPr dirty="0" sz="1800" spc="-50">
                <a:latin typeface="Arial"/>
                <a:cs typeface="Arial"/>
              </a:rPr>
              <a:t>tuning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&gt; </a:t>
            </a:r>
            <a:r>
              <a:rPr dirty="0" sz="1800" spc="-215">
                <a:latin typeface="Arial"/>
                <a:cs typeface="Arial"/>
              </a:rPr>
              <a:t>LoRA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&gt;</a:t>
            </a:r>
            <a:endParaRPr sz="1800">
              <a:latin typeface="Arial"/>
              <a:cs typeface="Arial"/>
            </a:endParaRPr>
          </a:p>
          <a:p>
            <a:pPr marL="12700" marR="1070610">
              <a:lnSpc>
                <a:spcPct val="100000"/>
              </a:lnSpc>
            </a:pPr>
            <a:r>
              <a:rPr dirty="0" sz="1800" spc="-90">
                <a:latin typeface="Arial"/>
                <a:cs typeface="Arial"/>
              </a:rPr>
              <a:t>Adapters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&gt; </a:t>
            </a:r>
            <a:r>
              <a:rPr dirty="0" sz="1800" spc="-85">
                <a:latin typeface="Arial"/>
                <a:cs typeface="Arial"/>
              </a:rPr>
              <a:t>Prefix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120">
                <a:latin typeface="Arial"/>
                <a:cs typeface="Arial"/>
              </a:rPr>
              <a:t>Tuning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90">
                <a:latin typeface="Arial"/>
                <a:cs typeface="Arial"/>
              </a:rPr>
              <a:t>&gt; </a:t>
            </a:r>
            <a:r>
              <a:rPr dirty="0" sz="1800" spc="-65">
                <a:latin typeface="Arial"/>
                <a:cs typeface="Arial"/>
              </a:rPr>
              <a:t>Prompt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114">
                <a:latin typeface="Arial"/>
                <a:cs typeface="Arial"/>
              </a:rPr>
              <a:t>Tuning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90" b="1">
                <a:latin typeface="Arial"/>
                <a:cs typeface="Arial"/>
              </a:rPr>
              <a:t>In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125" b="1">
                <a:latin typeface="Arial"/>
                <a:cs typeface="Arial"/>
              </a:rPr>
              <a:t>terms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95" b="1">
                <a:latin typeface="Arial"/>
                <a:cs typeface="Arial"/>
              </a:rPr>
              <a:t>of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spc="-65" b="1">
                <a:latin typeface="Arial"/>
                <a:cs typeface="Arial"/>
              </a:rPr>
              <a:t>performance.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>
              <a:latin typeface="Arial"/>
              <a:cs typeface="Arial"/>
            </a:endParaRPr>
          </a:p>
          <a:p>
            <a:pPr marL="12700" marR="30480">
              <a:lnSpc>
                <a:spcPct val="100000"/>
              </a:lnSpc>
            </a:pPr>
            <a:r>
              <a:rPr dirty="0" sz="1800" spc="-95" i="1">
                <a:latin typeface="Arial"/>
                <a:cs typeface="Arial"/>
              </a:rPr>
              <a:t>Plots</a:t>
            </a:r>
            <a:r>
              <a:rPr dirty="0" sz="1800" spc="-8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for</a:t>
            </a:r>
            <a:r>
              <a:rPr dirty="0" sz="1800" spc="-80" i="1">
                <a:latin typeface="Arial"/>
                <a:cs typeface="Arial"/>
              </a:rPr>
              <a:t> </a:t>
            </a:r>
            <a:r>
              <a:rPr dirty="0" sz="1800" spc="-105" i="1">
                <a:latin typeface="Arial"/>
                <a:cs typeface="Arial"/>
              </a:rPr>
              <a:t>many</a:t>
            </a:r>
            <a:r>
              <a:rPr dirty="0" sz="1800" spc="-80" i="1">
                <a:latin typeface="Arial"/>
                <a:cs typeface="Arial"/>
              </a:rPr>
              <a:t> </a:t>
            </a:r>
            <a:r>
              <a:rPr dirty="0" sz="1800" spc="-85" i="1">
                <a:latin typeface="Arial"/>
                <a:cs typeface="Arial"/>
              </a:rPr>
              <a:t>more</a:t>
            </a:r>
            <a:r>
              <a:rPr dirty="0" sz="1800" spc="-75" i="1">
                <a:latin typeface="Arial"/>
                <a:cs typeface="Arial"/>
              </a:rPr>
              <a:t> tasks </a:t>
            </a:r>
            <a:r>
              <a:rPr dirty="0" sz="1800" spc="-120" i="1">
                <a:latin typeface="Arial"/>
                <a:cs typeface="Arial"/>
              </a:rPr>
              <a:t>can</a:t>
            </a:r>
            <a:r>
              <a:rPr dirty="0" sz="1800" spc="-85" i="1">
                <a:latin typeface="Arial"/>
                <a:cs typeface="Arial"/>
              </a:rPr>
              <a:t> </a:t>
            </a:r>
            <a:r>
              <a:rPr dirty="0" sz="1800" spc="-120" i="1">
                <a:latin typeface="Arial"/>
                <a:cs typeface="Arial"/>
              </a:rPr>
              <a:t>be</a:t>
            </a:r>
            <a:r>
              <a:rPr dirty="0" sz="1800" spc="-85" i="1">
                <a:latin typeface="Arial"/>
                <a:cs typeface="Arial"/>
              </a:rPr>
              <a:t> </a:t>
            </a:r>
            <a:r>
              <a:rPr dirty="0" sz="1800" spc="-65" i="1">
                <a:latin typeface="Arial"/>
                <a:cs typeface="Arial"/>
              </a:rPr>
              <a:t>found</a:t>
            </a:r>
            <a:r>
              <a:rPr dirty="0" sz="1800" spc="-85" i="1">
                <a:latin typeface="Arial"/>
                <a:cs typeface="Arial"/>
              </a:rPr>
              <a:t> </a:t>
            </a:r>
            <a:r>
              <a:rPr dirty="0" sz="1800" spc="-40" i="1">
                <a:latin typeface="Arial"/>
                <a:cs typeface="Arial"/>
              </a:rPr>
              <a:t>in</a:t>
            </a:r>
            <a:r>
              <a:rPr dirty="0" sz="1800" spc="-80" i="1">
                <a:latin typeface="Arial"/>
                <a:cs typeface="Arial"/>
              </a:rPr>
              <a:t> </a:t>
            </a:r>
            <a:r>
              <a:rPr dirty="0" sz="1800" spc="-45" i="1">
                <a:latin typeface="Arial"/>
                <a:cs typeface="Arial"/>
              </a:rPr>
              <a:t>the</a:t>
            </a:r>
            <a:r>
              <a:rPr dirty="0" sz="1800" spc="-85" i="1">
                <a:latin typeface="Arial"/>
                <a:cs typeface="Arial"/>
              </a:rPr>
              <a:t> paper.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3025" y="6649723"/>
            <a:ext cx="881697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“Delta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Tuning: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Comprehensive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Study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of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Parameter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Efficient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Methods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for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Pre-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trained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14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Language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Models.”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Ding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et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al.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2023.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225" y="637457"/>
            <a:ext cx="820800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What</a:t>
            </a:r>
            <a:r>
              <a:rPr dirty="0" spc="-215"/>
              <a:t> </a:t>
            </a:r>
            <a:r>
              <a:rPr dirty="0" spc="-270"/>
              <a:t>does</a:t>
            </a:r>
            <a:r>
              <a:rPr dirty="0" spc="-204"/>
              <a:t> </a:t>
            </a:r>
            <a:r>
              <a:rPr dirty="0" spc="-160"/>
              <a:t>memory</a:t>
            </a:r>
            <a:r>
              <a:rPr dirty="0" spc="-210"/>
              <a:t> </a:t>
            </a:r>
            <a:r>
              <a:rPr dirty="0" spc="-355"/>
              <a:t>usage</a:t>
            </a:r>
            <a:r>
              <a:rPr dirty="0" spc="-210"/>
              <a:t> </a:t>
            </a:r>
            <a:r>
              <a:rPr dirty="0" spc="-130"/>
              <a:t>look</a:t>
            </a:r>
            <a:r>
              <a:rPr dirty="0" spc="-215"/>
              <a:t> </a:t>
            </a:r>
            <a:r>
              <a:rPr dirty="0" spc="-120"/>
              <a:t>like?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903" y="1809040"/>
            <a:ext cx="11517128" cy="266391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594225" y="4648018"/>
            <a:ext cx="586041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158615">
              <a:lnSpc>
                <a:spcPct val="100000"/>
              </a:lnSpc>
              <a:spcBef>
                <a:spcPts val="100"/>
              </a:spcBef>
            </a:pPr>
            <a:r>
              <a:rPr dirty="0" sz="1800" spc="-225">
                <a:solidFill>
                  <a:srgbClr val="A000C6"/>
                </a:solidFill>
                <a:latin typeface="Arial"/>
                <a:cs typeface="Arial"/>
              </a:rPr>
              <a:t>FT:</a:t>
            </a:r>
            <a:r>
              <a:rPr dirty="0" sz="1800" spc="-95">
                <a:solidFill>
                  <a:srgbClr val="A000C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A000C6"/>
                </a:solidFill>
                <a:latin typeface="Arial"/>
                <a:cs typeface="Arial"/>
              </a:rPr>
              <a:t>full</a:t>
            </a:r>
            <a:r>
              <a:rPr dirty="0" sz="1800" spc="-90">
                <a:solidFill>
                  <a:srgbClr val="A000C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A000C6"/>
                </a:solidFill>
                <a:latin typeface="Arial"/>
                <a:cs typeface="Arial"/>
              </a:rPr>
              <a:t>fine-</a:t>
            </a:r>
            <a:r>
              <a:rPr dirty="0" sz="1800" spc="-30">
                <a:solidFill>
                  <a:srgbClr val="A000C6"/>
                </a:solidFill>
                <a:latin typeface="Arial"/>
                <a:cs typeface="Arial"/>
              </a:rPr>
              <a:t>tuning </a:t>
            </a:r>
            <a:r>
              <a:rPr dirty="0" sz="1800" spc="-165">
                <a:solidFill>
                  <a:srgbClr val="FC580C"/>
                </a:solidFill>
                <a:latin typeface="Arial"/>
                <a:cs typeface="Arial"/>
              </a:rPr>
              <a:t>AP:</a:t>
            </a:r>
            <a:r>
              <a:rPr dirty="0" sz="1800" spc="-75">
                <a:solidFill>
                  <a:srgbClr val="FC580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C580C"/>
                </a:solidFill>
                <a:latin typeface="Arial"/>
                <a:cs typeface="Arial"/>
              </a:rPr>
              <a:t>adapter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204">
                <a:solidFill>
                  <a:srgbClr val="FD9404"/>
                </a:solidFill>
                <a:latin typeface="Arial"/>
                <a:cs typeface="Arial"/>
              </a:rPr>
              <a:t>LR:</a:t>
            </a:r>
            <a:r>
              <a:rPr dirty="0" sz="1800" spc="-80">
                <a:solidFill>
                  <a:srgbClr val="FD9404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D9404"/>
                </a:solidFill>
                <a:latin typeface="Arial"/>
                <a:cs typeface="Arial"/>
              </a:rPr>
              <a:t>LoRA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190">
                <a:solidFill>
                  <a:srgbClr val="396EFC"/>
                </a:solidFill>
                <a:latin typeface="Arial"/>
                <a:cs typeface="Arial"/>
              </a:rPr>
              <a:t>BF:</a:t>
            </a:r>
            <a:r>
              <a:rPr dirty="0" sz="1800" spc="-70">
                <a:solidFill>
                  <a:srgbClr val="396EFC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96EFC"/>
                </a:solidFill>
                <a:latin typeface="Arial"/>
                <a:cs typeface="Arial"/>
              </a:rPr>
              <a:t>BitFit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spc="-65">
                <a:latin typeface="Arial"/>
                <a:cs typeface="Arial"/>
              </a:rPr>
              <a:t>Prompt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tuning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0">
                <a:latin typeface="Arial"/>
                <a:cs typeface="Arial"/>
              </a:rPr>
              <a:t>and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prefix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tuning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not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included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30">
                <a:latin typeface="Arial"/>
                <a:cs typeface="Arial"/>
              </a:rPr>
              <a:t>because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they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use </a:t>
            </a:r>
            <a:r>
              <a:rPr dirty="0" sz="1800" spc="-35">
                <a:latin typeface="Arial"/>
                <a:cs typeface="Arial"/>
              </a:rPr>
              <a:t>the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145">
                <a:latin typeface="Arial"/>
                <a:cs typeface="Arial"/>
              </a:rPr>
              <a:t>same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5">
                <a:latin typeface="Arial"/>
                <a:cs typeface="Arial"/>
              </a:rPr>
              <a:t>amount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65">
                <a:latin typeface="Arial"/>
                <a:cs typeface="Arial"/>
              </a:rPr>
              <a:t>memory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180">
                <a:latin typeface="Arial"/>
                <a:cs typeface="Arial"/>
              </a:rPr>
              <a:t>as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full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fine-</a:t>
            </a:r>
            <a:r>
              <a:rPr dirty="0" sz="1800" spc="-10">
                <a:latin typeface="Arial"/>
                <a:cs typeface="Arial"/>
              </a:rPr>
              <a:t>tuning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025" y="6649723"/>
            <a:ext cx="881697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“Delta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Tuning: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Comprehensive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Study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of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Parameter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Efficient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Methods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for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Pre-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trained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14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Language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Models.”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Ding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et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al.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2023.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65"/>
              <a:t>Can</a:t>
            </a:r>
            <a:r>
              <a:rPr dirty="0" spc="-204"/>
              <a:t> </a:t>
            </a:r>
            <a:r>
              <a:rPr dirty="0" spc="-70"/>
              <a:t>the</a:t>
            </a:r>
            <a:r>
              <a:rPr dirty="0" spc="-210"/>
              <a:t> </a:t>
            </a:r>
            <a:r>
              <a:rPr dirty="0" spc="-170"/>
              <a:t>methods</a:t>
            </a:r>
            <a:r>
              <a:rPr dirty="0" spc="-200"/>
              <a:t> </a:t>
            </a:r>
            <a:r>
              <a:rPr dirty="0" spc="-229"/>
              <a:t>be</a:t>
            </a:r>
            <a:r>
              <a:rPr dirty="0" spc="-210"/>
              <a:t> </a:t>
            </a:r>
            <a:r>
              <a:rPr dirty="0" spc="-170"/>
              <a:t>combined?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789459" y="2035060"/>
            <a:ext cx="2249805" cy="2964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78510">
              <a:lnSpc>
                <a:spcPct val="124700"/>
              </a:lnSpc>
              <a:spcBef>
                <a:spcPts val="100"/>
              </a:spcBef>
            </a:pPr>
            <a:r>
              <a:rPr dirty="0" sz="2400" spc="-290">
                <a:solidFill>
                  <a:srgbClr val="A000C6"/>
                </a:solidFill>
                <a:latin typeface="Arial"/>
                <a:cs typeface="Arial"/>
              </a:rPr>
              <a:t>FT:</a:t>
            </a:r>
            <a:r>
              <a:rPr dirty="0" sz="2400" spc="-125">
                <a:solidFill>
                  <a:srgbClr val="A000C6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A000C6"/>
                </a:solidFill>
                <a:latin typeface="Arial"/>
                <a:cs typeface="Arial"/>
              </a:rPr>
              <a:t>BitFit </a:t>
            </a:r>
            <a:r>
              <a:rPr dirty="0" sz="2400" spc="-215">
                <a:solidFill>
                  <a:srgbClr val="FC580C"/>
                </a:solidFill>
                <a:latin typeface="Arial"/>
                <a:cs typeface="Arial"/>
              </a:rPr>
              <a:t>AP:</a:t>
            </a:r>
            <a:r>
              <a:rPr dirty="0" sz="2400" spc="-114">
                <a:solidFill>
                  <a:srgbClr val="FC580C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FC580C"/>
                </a:solidFill>
                <a:latin typeface="Arial"/>
                <a:cs typeface="Arial"/>
              </a:rPr>
              <a:t>adapter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2400" spc="-295">
                <a:solidFill>
                  <a:srgbClr val="396EFC"/>
                </a:solidFill>
                <a:latin typeface="Arial"/>
                <a:cs typeface="Arial"/>
              </a:rPr>
              <a:t>PT:</a:t>
            </a:r>
            <a:r>
              <a:rPr dirty="0" sz="2400" spc="-125">
                <a:solidFill>
                  <a:srgbClr val="396EFC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396EFC"/>
                </a:solidFill>
                <a:latin typeface="Arial"/>
                <a:cs typeface="Arial"/>
              </a:rPr>
              <a:t>prompt</a:t>
            </a:r>
            <a:r>
              <a:rPr dirty="0" sz="2400" spc="-125">
                <a:solidFill>
                  <a:srgbClr val="396EFC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396EFC"/>
                </a:solidFill>
                <a:latin typeface="Arial"/>
                <a:cs typeface="Arial"/>
              </a:rPr>
              <a:t>tuning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2400">
              <a:latin typeface="Arial"/>
              <a:cs typeface="Arial"/>
            </a:endParaRPr>
          </a:p>
          <a:p>
            <a:pPr marL="12700" marR="238760">
              <a:lnSpc>
                <a:spcPts val="2590"/>
              </a:lnSpc>
              <a:spcBef>
                <a:spcPts val="5"/>
              </a:spcBef>
            </a:pPr>
            <a:r>
              <a:rPr dirty="0" sz="2400" spc="-165">
                <a:latin typeface="Arial"/>
                <a:cs typeface="Arial"/>
              </a:rPr>
              <a:t>Results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on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409">
                <a:latin typeface="Arial"/>
                <a:cs typeface="Arial"/>
              </a:rPr>
              <a:t>SST-</a:t>
            </a:r>
            <a:r>
              <a:rPr dirty="0" sz="2400" spc="-50">
                <a:latin typeface="Arial"/>
                <a:cs typeface="Arial"/>
              </a:rPr>
              <a:t>2 </a:t>
            </a:r>
            <a:r>
              <a:rPr dirty="0" sz="2400" spc="-10">
                <a:latin typeface="Arial"/>
                <a:cs typeface="Arial"/>
              </a:rPr>
              <a:t>sentiment </a:t>
            </a:r>
            <a:r>
              <a:rPr dirty="0" sz="2400" spc="-30">
                <a:latin typeface="Arial"/>
                <a:cs typeface="Arial"/>
              </a:rPr>
              <a:t>classification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919" y="1983957"/>
            <a:ext cx="8155199" cy="39055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3025" y="6649723"/>
            <a:ext cx="8816975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 u="heavy" sz="1400" spc="-3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“Delta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Tuning: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4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Comprehensive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8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Study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of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Parameter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Efficient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Methods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for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7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Pre-</a:t>
            </a:r>
            <a:r>
              <a:rPr dirty="0" u="heavy" sz="1400" spc="-5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trained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14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Language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Models.”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9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Ding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et</a:t>
            </a:r>
            <a:r>
              <a:rPr dirty="0" u="heavy" sz="1400" spc="-5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al.</a:t>
            </a:r>
            <a:r>
              <a:rPr dirty="0" u="heavy" sz="1400" spc="-45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dirty="0" u="heavy" sz="14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2023.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88722" y="588723"/>
              <a:ext cx="11014710" cy="5680710"/>
            </a:xfrm>
            <a:custGeom>
              <a:avLst/>
              <a:gdLst/>
              <a:ahLst/>
              <a:cxnLst/>
              <a:rect l="l" t="t" r="r" b="b"/>
              <a:pathLst>
                <a:path w="11014710" h="5680710">
                  <a:moveTo>
                    <a:pt x="11014552" y="5680550"/>
                  </a:moveTo>
                  <a:lnTo>
                    <a:pt x="0" y="5680550"/>
                  </a:lnTo>
                  <a:lnTo>
                    <a:pt x="0" y="0"/>
                  </a:lnTo>
                  <a:lnTo>
                    <a:pt x="11014552" y="0"/>
                  </a:lnTo>
                  <a:lnTo>
                    <a:pt x="11014552" y="56805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28924" y="2532570"/>
            <a:ext cx="752983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29"/>
              <a:t>Options</a:t>
            </a:r>
            <a:r>
              <a:rPr dirty="0" sz="6000" spc="-270"/>
              <a:t> </a:t>
            </a:r>
            <a:r>
              <a:rPr dirty="0" sz="6000" spc="-280"/>
              <a:t>Available</a:t>
            </a:r>
            <a:r>
              <a:rPr dirty="0" sz="6000" spc="-265"/>
              <a:t> </a:t>
            </a:r>
            <a:r>
              <a:rPr dirty="0" sz="6000"/>
              <a:t>to</a:t>
            </a:r>
            <a:r>
              <a:rPr dirty="0" sz="6000" spc="-265"/>
              <a:t> </a:t>
            </a:r>
            <a:r>
              <a:rPr dirty="0" sz="6000" spc="-1080"/>
              <a:t>Y</a:t>
            </a:r>
            <a:r>
              <a:rPr dirty="0" sz="6000" spc="-470"/>
              <a:t>ou</a:t>
            </a:r>
            <a:endParaRPr sz="6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9"/>
              <a:t>How</a:t>
            </a:r>
            <a:r>
              <a:rPr dirty="0" spc="-195"/>
              <a:t> </a:t>
            </a:r>
            <a:r>
              <a:rPr dirty="0" spc="-300"/>
              <a:t>can</a:t>
            </a:r>
            <a:r>
              <a:rPr dirty="0" spc="-185"/>
              <a:t> </a:t>
            </a:r>
            <a:r>
              <a:rPr dirty="0" spc="-200"/>
              <a:t>you</a:t>
            </a:r>
            <a:r>
              <a:rPr dirty="0" spc="-190"/>
              <a:t> </a:t>
            </a:r>
            <a:r>
              <a:rPr dirty="0" spc="-315"/>
              <a:t>use</a:t>
            </a:r>
            <a:r>
              <a:rPr dirty="0" spc="-190"/>
              <a:t> </a:t>
            </a:r>
            <a:r>
              <a:rPr dirty="0" spc="-170"/>
              <a:t>parameter-</a:t>
            </a:r>
            <a:r>
              <a:rPr dirty="0" spc="-85"/>
              <a:t>efficient</a:t>
            </a:r>
            <a:r>
              <a:rPr dirty="0" spc="-190"/>
              <a:t> </a:t>
            </a:r>
            <a:r>
              <a:rPr dirty="0" spc="-75"/>
              <a:t>tuning?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5085" rIns="0" bIns="0" rtlCol="0" vert="horz">
            <a:spAutoFit/>
          </a:bodyPr>
          <a:lstStyle/>
          <a:p>
            <a:pPr marL="218440" indent="-174625">
              <a:lnSpc>
                <a:spcPct val="100000"/>
              </a:lnSpc>
              <a:spcBef>
                <a:spcPts val="355"/>
              </a:spcBef>
              <a:buClr>
                <a:srgbClr val="000000"/>
              </a:buClr>
              <a:buChar char="•"/>
              <a:tabLst>
                <a:tab pos="219075" algn="l"/>
              </a:tabLst>
            </a:pPr>
            <a:r>
              <a:rPr dirty="0" spc="-185">
                <a:hlinkClick r:id="rId2"/>
              </a:rPr>
              <a:t>OpenAI</a:t>
            </a:r>
            <a:r>
              <a:rPr dirty="0" spc="-105">
                <a:hlinkClick r:id="rId2"/>
              </a:rPr>
              <a:t> </a:t>
            </a:r>
            <a:r>
              <a:rPr dirty="0" spc="-65">
                <a:hlinkClick r:id="rId2"/>
              </a:rPr>
              <a:t>finetuning</a:t>
            </a:r>
            <a:r>
              <a:rPr dirty="0" spc="-105">
                <a:hlinkClick r:id="rId2"/>
              </a:rPr>
              <a:t> </a:t>
            </a:r>
            <a:r>
              <a:rPr dirty="0" spc="-285">
                <a:hlinkClick r:id="rId2"/>
              </a:rPr>
              <a:t>API</a:t>
            </a:r>
          </a:p>
          <a:p>
            <a:pPr lvl="1" marL="674370" indent="-181610">
              <a:lnSpc>
                <a:spcPct val="100000"/>
              </a:lnSpc>
              <a:spcBef>
                <a:spcPts val="215"/>
              </a:spcBef>
              <a:buChar char="•"/>
              <a:tabLst>
                <a:tab pos="675005" algn="l"/>
              </a:tabLst>
            </a:pPr>
            <a:r>
              <a:rPr dirty="0" sz="2400">
                <a:latin typeface="Arial"/>
                <a:cs typeface="Arial"/>
              </a:rPr>
              <a:t>It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is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85">
                <a:latin typeface="Arial"/>
                <a:cs typeface="Arial"/>
              </a:rPr>
              <a:t>extremely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likely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70">
                <a:latin typeface="Arial"/>
                <a:cs typeface="Arial"/>
              </a:rPr>
              <a:t>they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are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using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a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5">
                <a:latin typeface="Arial"/>
                <a:cs typeface="Arial"/>
              </a:rPr>
              <a:t>version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one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methods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described.</a:t>
            </a:r>
            <a:endParaRPr sz="2400">
              <a:latin typeface="Arial"/>
              <a:cs typeface="Arial"/>
            </a:endParaRPr>
          </a:p>
          <a:p>
            <a:pPr lvl="1" marL="674370" indent="-181610">
              <a:lnSpc>
                <a:spcPct val="100000"/>
              </a:lnSpc>
              <a:spcBef>
                <a:spcPts val="215"/>
              </a:spcBef>
              <a:buChar char="•"/>
              <a:tabLst>
                <a:tab pos="675005" algn="l"/>
              </a:tabLst>
            </a:pPr>
            <a:r>
              <a:rPr dirty="0" sz="2400" spc="-75">
                <a:latin typeface="Arial"/>
                <a:cs typeface="Arial"/>
              </a:rPr>
              <a:t>Unfortunately,</a:t>
            </a:r>
            <a:r>
              <a:rPr dirty="0" sz="2400" spc="-110">
                <a:latin typeface="Arial"/>
                <a:cs typeface="Arial"/>
              </a:rPr>
              <a:t> we </a:t>
            </a:r>
            <a:r>
              <a:rPr dirty="0" sz="2400" spc="-170">
                <a:latin typeface="Arial"/>
                <a:cs typeface="Arial"/>
              </a:rPr>
              <a:t>can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70">
                <a:latin typeface="Arial"/>
                <a:cs typeface="Arial"/>
              </a:rPr>
              <a:t>only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rely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on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speculation.</a:t>
            </a:r>
            <a:endParaRPr sz="2400">
              <a:latin typeface="Arial"/>
              <a:cs typeface="Arial"/>
            </a:endParaRPr>
          </a:p>
          <a:p>
            <a:pPr lvl="1" marL="674370" indent="-181610">
              <a:lnSpc>
                <a:spcPct val="100000"/>
              </a:lnSpc>
              <a:spcBef>
                <a:spcPts val="210"/>
              </a:spcBef>
              <a:buChar char="•"/>
              <a:tabLst>
                <a:tab pos="675005" algn="l"/>
              </a:tabLst>
            </a:pPr>
            <a:r>
              <a:rPr dirty="0" sz="2400" spc="-95">
                <a:latin typeface="Arial"/>
                <a:cs typeface="Arial"/>
              </a:rPr>
              <a:t>Models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available: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85">
                <a:latin typeface="Arial"/>
                <a:cs typeface="Arial"/>
              </a:rPr>
              <a:t>gpt-3.5-turbo-</a:t>
            </a:r>
            <a:r>
              <a:rPr dirty="0" sz="2400" spc="-90">
                <a:latin typeface="Arial"/>
                <a:cs typeface="Arial"/>
              </a:rPr>
              <a:t>0613,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babbage-</a:t>
            </a:r>
            <a:r>
              <a:rPr dirty="0" sz="2400" spc="-130">
                <a:latin typeface="Arial"/>
                <a:cs typeface="Arial"/>
              </a:rPr>
              <a:t>002,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and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davinci-</a:t>
            </a:r>
            <a:r>
              <a:rPr dirty="0" sz="2400" spc="-25">
                <a:latin typeface="Arial"/>
                <a:cs typeface="Arial"/>
              </a:rPr>
              <a:t>002</a:t>
            </a:r>
            <a:endParaRPr sz="2400">
              <a:latin typeface="Arial"/>
              <a:cs typeface="Arial"/>
            </a:endParaRPr>
          </a:p>
          <a:p>
            <a:pPr marL="218440" indent="-174625">
              <a:lnSpc>
                <a:spcPct val="100000"/>
              </a:lnSpc>
              <a:spcBef>
                <a:spcPts val="660"/>
              </a:spcBef>
              <a:buClr>
                <a:srgbClr val="000000"/>
              </a:buClr>
              <a:buChar char="•"/>
              <a:tabLst>
                <a:tab pos="219075" algn="l"/>
              </a:tabLst>
            </a:pPr>
            <a:r>
              <a:rPr dirty="0" spc="-220">
                <a:hlinkClick r:id="rId3"/>
              </a:rPr>
              <a:t>HuggingFace</a:t>
            </a:r>
            <a:r>
              <a:rPr dirty="0" spc="-130">
                <a:hlinkClick r:id="rId3"/>
              </a:rPr>
              <a:t> </a:t>
            </a:r>
            <a:r>
              <a:rPr dirty="0" spc="-320">
                <a:hlinkClick r:id="rId3"/>
              </a:rPr>
              <a:t>PETM</a:t>
            </a:r>
            <a:r>
              <a:rPr dirty="0" spc="-130">
                <a:hlinkClick r:id="rId3"/>
              </a:rPr>
              <a:t> </a:t>
            </a:r>
            <a:r>
              <a:rPr dirty="0" spc="-10">
                <a:hlinkClick r:id="rId3"/>
              </a:rPr>
              <a:t>Library</a:t>
            </a:r>
          </a:p>
          <a:p>
            <a:pPr lvl="1" marL="674370" indent="-181610">
              <a:lnSpc>
                <a:spcPct val="100000"/>
              </a:lnSpc>
              <a:spcBef>
                <a:spcPts val="215"/>
              </a:spcBef>
              <a:buChar char="•"/>
              <a:tabLst>
                <a:tab pos="675005" algn="l"/>
              </a:tabLst>
            </a:pPr>
            <a:r>
              <a:rPr dirty="0" sz="2400" spc="-229">
                <a:latin typeface="Arial"/>
                <a:cs typeface="Arial"/>
              </a:rPr>
              <a:t>LoRA,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70">
                <a:latin typeface="Arial"/>
                <a:cs typeface="Arial"/>
              </a:rPr>
              <a:t>prefix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tuning,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prompt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tuning,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and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(IA)</a:t>
            </a:r>
            <a:r>
              <a:rPr dirty="0" baseline="31250" sz="2400" spc="-112">
                <a:latin typeface="Arial"/>
                <a:cs typeface="Arial"/>
              </a:rPr>
              <a:t>3</a:t>
            </a:r>
            <a:r>
              <a:rPr dirty="0" baseline="31250" sz="2400" spc="150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all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implemented.</a:t>
            </a:r>
            <a:endParaRPr sz="2400">
              <a:latin typeface="Arial"/>
              <a:cs typeface="Arial"/>
            </a:endParaRPr>
          </a:p>
          <a:p>
            <a:pPr lvl="1" marL="674370" indent="-181610">
              <a:lnSpc>
                <a:spcPct val="100000"/>
              </a:lnSpc>
              <a:spcBef>
                <a:spcPts val="215"/>
              </a:spcBef>
              <a:buChar char="•"/>
              <a:tabLst>
                <a:tab pos="675005" algn="l"/>
              </a:tabLst>
            </a:pPr>
            <a:r>
              <a:rPr dirty="0" sz="2400" spc="-170">
                <a:latin typeface="Arial"/>
                <a:cs typeface="Arial"/>
              </a:rPr>
              <a:t>Several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different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models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available</a:t>
            </a:r>
            <a:r>
              <a:rPr dirty="0" sz="2400" spc="-9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be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adapted.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88722" y="588723"/>
              <a:ext cx="11014710" cy="5680710"/>
            </a:xfrm>
            <a:custGeom>
              <a:avLst/>
              <a:gdLst/>
              <a:ahLst/>
              <a:cxnLst/>
              <a:rect l="l" t="t" r="r" b="b"/>
              <a:pathLst>
                <a:path w="11014710" h="5680710">
                  <a:moveTo>
                    <a:pt x="11014552" y="5680550"/>
                  </a:moveTo>
                  <a:lnTo>
                    <a:pt x="0" y="5680550"/>
                  </a:lnTo>
                  <a:lnTo>
                    <a:pt x="0" y="0"/>
                  </a:lnTo>
                  <a:lnTo>
                    <a:pt x="11014552" y="0"/>
                  </a:lnTo>
                  <a:lnTo>
                    <a:pt x="11014552" y="56805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95712" y="1231475"/>
            <a:ext cx="439928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375"/>
              <a:t>Quiz</a:t>
            </a:r>
            <a:r>
              <a:rPr dirty="0" sz="6000" spc="-315"/>
              <a:t> </a:t>
            </a:r>
            <a:r>
              <a:rPr dirty="0" sz="6000" spc="-220"/>
              <a:t>Question</a:t>
            </a:r>
            <a:endParaRPr sz="6000"/>
          </a:p>
        </p:txBody>
      </p:sp>
      <p:sp>
        <p:nvSpPr>
          <p:cNvPr id="6" name="object 6" descr=""/>
          <p:cNvSpPr txBox="1"/>
          <p:nvPr/>
        </p:nvSpPr>
        <p:spPr>
          <a:xfrm>
            <a:off x="1724645" y="2552112"/>
            <a:ext cx="8736330" cy="2654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spc="-185">
                <a:latin typeface="Arial"/>
                <a:cs typeface="Arial"/>
              </a:rPr>
              <a:t>Suppose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you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65">
                <a:latin typeface="Arial"/>
                <a:cs typeface="Arial"/>
              </a:rPr>
              <a:t>want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75">
                <a:latin typeface="Arial"/>
                <a:cs typeface="Arial"/>
              </a:rPr>
              <a:t>your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60">
                <a:latin typeface="Arial"/>
                <a:cs typeface="Arial"/>
              </a:rPr>
              <a:t>LM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30">
                <a:latin typeface="Arial"/>
                <a:cs typeface="Arial"/>
              </a:rPr>
              <a:t>be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able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50">
                <a:latin typeface="Arial"/>
                <a:cs typeface="Arial"/>
              </a:rPr>
              <a:t>perform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two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different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tasks.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2400">
              <a:latin typeface="Arial"/>
              <a:cs typeface="Arial"/>
            </a:endParaRPr>
          </a:p>
          <a:p>
            <a:pPr algn="ctr">
              <a:lnSpc>
                <a:spcPts val="2590"/>
              </a:lnSpc>
            </a:pPr>
            <a:r>
              <a:rPr dirty="0" sz="2400" spc="-260">
                <a:latin typeface="Arial"/>
                <a:cs typeface="Arial"/>
              </a:rPr>
              <a:t>You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100">
                <a:latin typeface="Arial"/>
                <a:cs typeface="Arial"/>
              </a:rPr>
              <a:t>could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80">
                <a:latin typeface="Arial"/>
                <a:cs typeface="Arial"/>
              </a:rPr>
              <a:t>use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prompt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tuning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tune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a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separate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prompt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70">
                <a:latin typeface="Arial"/>
                <a:cs typeface="Arial"/>
              </a:rPr>
              <a:t>each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task.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590"/>
              </a:lnSpc>
            </a:pPr>
            <a:r>
              <a:rPr dirty="0" sz="2400" spc="-130">
                <a:latin typeface="Arial"/>
                <a:cs typeface="Arial"/>
              </a:rPr>
              <a:t>Or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114">
                <a:latin typeface="Arial"/>
                <a:cs typeface="Arial"/>
              </a:rPr>
              <a:t>you </a:t>
            </a:r>
            <a:r>
              <a:rPr dirty="0" sz="2400" spc="-100">
                <a:latin typeface="Arial"/>
                <a:cs typeface="Arial"/>
              </a:rPr>
              <a:t>could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tune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210">
                <a:latin typeface="Arial"/>
                <a:cs typeface="Arial"/>
              </a:rPr>
              <a:t>a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single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prompt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both</a:t>
            </a:r>
            <a:r>
              <a:rPr dirty="0" sz="2400" spc="-114">
                <a:latin typeface="Arial"/>
                <a:cs typeface="Arial"/>
              </a:rPr>
              <a:t> </a:t>
            </a:r>
            <a:r>
              <a:rPr dirty="0" sz="2400" spc="-160">
                <a:latin typeface="Arial"/>
                <a:cs typeface="Arial"/>
              </a:rPr>
              <a:t>tasks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35">
                <a:latin typeface="Arial"/>
                <a:cs typeface="Arial"/>
              </a:rPr>
              <a:t>simultaneously.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2400">
              <a:latin typeface="Arial"/>
              <a:cs typeface="Arial"/>
            </a:endParaRPr>
          </a:p>
          <a:p>
            <a:pPr algn="ctr" marL="12700" marR="5080">
              <a:lnSpc>
                <a:spcPct val="80000"/>
              </a:lnSpc>
            </a:pPr>
            <a:r>
              <a:rPr dirty="0" sz="2400" spc="-105">
                <a:latin typeface="Arial"/>
                <a:cs typeface="Arial"/>
              </a:rPr>
              <a:t>Under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what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35">
                <a:latin typeface="Arial"/>
                <a:cs typeface="Arial"/>
              </a:rPr>
              <a:t>circumstances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55">
                <a:latin typeface="Arial"/>
                <a:cs typeface="Arial"/>
              </a:rPr>
              <a:t>might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20">
                <a:latin typeface="Arial"/>
                <a:cs typeface="Arial"/>
              </a:rPr>
              <a:t>one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of</a:t>
            </a:r>
            <a:r>
              <a:rPr dirty="0" sz="2400" spc="-100">
                <a:latin typeface="Arial"/>
                <a:cs typeface="Arial"/>
              </a:rPr>
              <a:t> </a:t>
            </a:r>
            <a:r>
              <a:rPr dirty="0" sz="2400" spc="-110">
                <a:latin typeface="Arial"/>
                <a:cs typeface="Arial"/>
              </a:rPr>
              <a:t>these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40">
                <a:latin typeface="Arial"/>
                <a:cs typeface="Arial"/>
              </a:rPr>
              <a:t>approaches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60">
                <a:latin typeface="Arial"/>
                <a:cs typeface="Arial"/>
              </a:rPr>
              <a:t>work</a:t>
            </a:r>
            <a:r>
              <a:rPr dirty="0" sz="2400" spc="-10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better </a:t>
            </a:r>
            <a:r>
              <a:rPr dirty="0" sz="2400" spc="-70">
                <a:latin typeface="Arial"/>
                <a:cs typeface="Arial"/>
              </a:rPr>
              <a:t>than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40">
                <a:latin typeface="Arial"/>
                <a:cs typeface="Arial"/>
              </a:rPr>
              <a:t>the</a:t>
            </a:r>
            <a:r>
              <a:rPr dirty="0" sz="2400" spc="-11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other?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W4L2_PETM.pptx</dc:title>
  <dcterms:created xsi:type="dcterms:W3CDTF">2025-04-22T13:12:11Z</dcterms:created>
  <dcterms:modified xsi:type="dcterms:W3CDTF">2025-04-22T13:12:11Z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2025-04-22T00:00:00Z</vt:filetime>
  </property>
</Properties>
</file>